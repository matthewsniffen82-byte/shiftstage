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f6bfc3885114157" /><Relationship Type="http://schemas.openxmlformats.org/officeDocument/2006/relationships/extended-properties" Target="/docProps/app.xml" Id="R2fef0e9de93e453f" /><Relationship Type="http://schemas.openxmlformats.org/officeDocument/2006/relationships/officeDocument" Target="/ppt/presentation.xml" Id="Rd9a36754bdf1413a" /></Relationships>
</file>

<file path=ppt/presentation.xml><?xml version="1.0" encoding="utf-8"?>
<p:presentation xmlns:p="http://schemas.openxmlformats.org/presentationml/2006/main">
  <p:sldMasterIdLst>
    <p:sldMasterId xmlns:r="http://schemas.openxmlformats.org/officeDocument/2006/relationships" id="2147483648" r:id="Rc70531a17fd541e2"/>
  </p:sldMasterIdLst>
  <p:notesMasterIdLst>
    <p:notesMasterId xmlns:r="http://schemas.openxmlformats.org/officeDocument/2006/relationships" r:id="R6306590fb44c423d"/>
  </p:notesMasterIdLst>
  <p:sldIdLst>
    <p:sldId xmlns:r="http://schemas.openxmlformats.org/officeDocument/2006/relationships" id="256" r:id="R5f8d79fa2bfd4656"/>
    <p:sldId xmlns:r="http://schemas.openxmlformats.org/officeDocument/2006/relationships" id="257" r:id="Rdf6eba6924854319"/>
    <p:sldId xmlns:r="http://schemas.openxmlformats.org/officeDocument/2006/relationships" id="258" r:id="R6fffe0e23bea49cf"/>
    <p:sldId xmlns:r="http://schemas.openxmlformats.org/officeDocument/2006/relationships" id="259" r:id="R6ac2451726634ad0"/>
    <p:sldId xmlns:r="http://schemas.openxmlformats.org/officeDocument/2006/relationships" id="260" r:id="Rcf5196826a3540ab"/>
    <p:sldId xmlns:r="http://schemas.openxmlformats.org/officeDocument/2006/relationships" id="261" r:id="Rcc04ec12b2e241a5"/>
    <p:sldId xmlns:r="http://schemas.openxmlformats.org/officeDocument/2006/relationships" id="262" r:id="R3beb9da9415b464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28f6276a8344a27" /><Relationship Type="http://schemas.openxmlformats.org/officeDocument/2006/relationships/slideMaster" Target="/ppt/slideMasters/slideMaster1.xml" Id="Rc70531a17fd541e2" /><Relationship Type="http://schemas.openxmlformats.org/officeDocument/2006/relationships/notesMaster" Target="/ppt/notesMasters/notesMaster1.xml" Id="R6306590fb44c423d" /><Relationship Type="http://schemas.openxmlformats.org/officeDocument/2006/relationships/presProps" Target="/ppt/presProps.xml" Id="R279f27f50aa84b7a" /><Relationship Type="http://schemas.openxmlformats.org/officeDocument/2006/relationships/tableStyles" Target="/ppt/tableStyles.xml" Id="Rbbbef87a90064e94" /><Relationship Type="http://schemas.openxmlformats.org/officeDocument/2006/relationships/slide" Target="/ppt/slides/slide1.xml" Id="R5f8d79fa2bfd4656" /><Relationship Type="http://schemas.openxmlformats.org/officeDocument/2006/relationships/slide" Target="/ppt/slides/slide2.xml" Id="Rdf6eba6924854319" /><Relationship Type="http://schemas.openxmlformats.org/officeDocument/2006/relationships/slide" Target="/ppt/slides/slide3.xml" Id="R6fffe0e23bea49cf" /><Relationship Type="http://schemas.openxmlformats.org/officeDocument/2006/relationships/slide" Target="/ppt/slides/slide4.xml" Id="R6ac2451726634ad0" /><Relationship Type="http://schemas.openxmlformats.org/officeDocument/2006/relationships/slide" Target="/ppt/slides/slide5.xml" Id="Rcf5196826a3540ab" /><Relationship Type="http://schemas.openxmlformats.org/officeDocument/2006/relationships/slide" Target="/ppt/slides/slide6.xml" Id="Rcc04ec12b2e241a5" /><Relationship Type="http://schemas.openxmlformats.org/officeDocument/2006/relationships/slide" Target="/ppt/slides/slide7.xml" Id="R3beb9da9415b464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611fac4a7704f1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3466f12384741a2" /><Relationship Type="http://schemas.openxmlformats.org/officeDocument/2006/relationships/notesMaster" Target="/ppt/notesMasters/notesMaster1.xml" Id="Rcad6fa90ff5e4d54" /></Relationships>
</file>

<file path=ppt/notesSlides/_rels/notesSlide2.xml.rels>&#65279;<?xml version="1.0" encoding="utf-8"?><Relationships xmlns="http://schemas.openxmlformats.org/package/2006/relationships"><Relationship Type="http://schemas.openxmlformats.org/officeDocument/2006/relationships/slide" Target="/ppt/slides/slide2.xml" Id="R3ef013c8126a4f3d" /><Relationship Type="http://schemas.openxmlformats.org/officeDocument/2006/relationships/notesMaster" Target="/ppt/notesMasters/notesMaster1.xml" Id="Rddd79f459653441a" /></Relationships>
</file>

<file path=ppt/notesSlides/_rels/notesSlide3.xml.rels>&#65279;<?xml version="1.0" encoding="utf-8"?><Relationships xmlns="http://schemas.openxmlformats.org/package/2006/relationships"><Relationship Type="http://schemas.openxmlformats.org/officeDocument/2006/relationships/slide" Target="/ppt/slides/slide3.xml" Id="R4c020131f26548b3" /><Relationship Type="http://schemas.openxmlformats.org/officeDocument/2006/relationships/notesMaster" Target="/ppt/notesMasters/notesMaster1.xml" Id="R782c88c98406417f" /></Relationships>
</file>

<file path=ppt/notesSlides/_rels/notesSlide4.xml.rels>&#65279;<?xml version="1.0" encoding="utf-8"?><Relationships xmlns="http://schemas.openxmlformats.org/package/2006/relationships"><Relationship Type="http://schemas.openxmlformats.org/officeDocument/2006/relationships/slide" Target="/ppt/slides/slide4.xml" Id="R0eab8e8926b34af2" /><Relationship Type="http://schemas.openxmlformats.org/officeDocument/2006/relationships/notesMaster" Target="/ppt/notesMasters/notesMaster1.xml" Id="R5b89b4fc6dba4b62" /></Relationships>
</file>

<file path=ppt/notesSlides/_rels/notesSlide5.xml.rels>&#65279;<?xml version="1.0" encoding="utf-8"?><Relationships xmlns="http://schemas.openxmlformats.org/package/2006/relationships"><Relationship Type="http://schemas.openxmlformats.org/officeDocument/2006/relationships/slide" Target="/ppt/slides/slide5.xml" Id="R7ef7d36a9dd148b4" /><Relationship Type="http://schemas.openxmlformats.org/officeDocument/2006/relationships/notesMaster" Target="/ppt/notesMasters/notesMaster1.xml" Id="Rd7096927009d4cd7" /></Relationships>
</file>

<file path=ppt/notesSlides/_rels/notesSlide6.xml.rels>&#65279;<?xml version="1.0" encoding="utf-8"?><Relationships xmlns="http://schemas.openxmlformats.org/package/2006/relationships"><Relationship Type="http://schemas.openxmlformats.org/officeDocument/2006/relationships/slide" Target="/ppt/slides/slide6.xml" Id="R933aae1bcb2743e4" /><Relationship Type="http://schemas.openxmlformats.org/officeDocument/2006/relationships/notesMaster" Target="/ppt/notesMasters/notesMaster1.xml" Id="R6a75e2ca00e94b0c" /></Relationships>
</file>

<file path=ppt/notesSlides/_rels/notesSlide7.xml.rels>&#65279;<?xml version="1.0" encoding="utf-8"?><Relationships xmlns="http://schemas.openxmlformats.org/package/2006/relationships"><Relationship Type="http://schemas.openxmlformats.org/officeDocument/2006/relationships/slide" Target="/ppt/slides/slide7.xml" Id="R33463f08e60d4811" /><Relationship Type="http://schemas.openxmlformats.org/officeDocument/2006/relationships/notesMaster" Target="/ppt/notesMasters/notesMaster1.xml" Id="R580a688aa35a4ab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MyDancr connects the way guests discover a dancer and club with the way they interact once inside. For a marketing team responsible for 30 clubs, the proposal is to test a consistent guest experience and measure how people respond at each location. The 30-club operating context comes from the prospective customer description supplied by the presenter. It is not MyDancr adoption or traction. VIP sales growth and improved guest satisfaction are pilot objectives, not demonstrated outcomes. Product screens show fictional demo content. All performance figures in this deck are illustrative. The conceptual lounge cover uses previously generated artwork and does not depict a participating venue. Artwork: output/presentations/assets/polished-deck/lounge-cover.png. Generation prompt: output/presentations/assets/polished-deck/cover-prompt.txt.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 Begin with customer choice. A guest can discover a dancer, review their profile and see the associated club before deciding to visit. The venue then provides arrival options. This is a connected product journey, not proof that every profile view generates a new customer. The screenshot is an existing demo venue capture with generic club labels. Marketing can review platform sources such as the venue scroll card, venue detail, dancer profile and MyDancr TV. TV reporting includes impressions, engaged views, completions and club/profile actions. Following and saved offers support an ongoing connection, but the deck makes no promise of repeat attendance or automated retention campaigns. Pickup depends on venue participation and availability. Entry requirements remain with the club.</a:t>
            </a:r>
          </a:p>
          <a:p xmlns:a="http://schemas.openxmlformats.org/drawingml/2006/main">
            <a:r>
              <a:t/>
            </a:r>
          </a:p>
          <a:p xmlns:a="http://schemas.openxmlformats.org/drawingml/2006/main">
            <a:r>
              <a:t>Product references, reviewed October 2, 2026:</a:t>
            </a:r>
          </a:p>
          <a:p xmlns:a="http://schemas.openxmlformats.org/drawingml/2006/main">
            <a:r>
              <a:t>D:\Codex\MyDancr-clean-2026-09-11\app\dashboard\VenueValueAnalytics.tsx</a:t>
            </a:r>
          </a:p>
          <a:p xmlns:a="http://schemas.openxmlformats.org/drawingml/2006/main">
            <a:r>
              <a:t>D:\Codex\MyDancr-clean-2026-09-11\src\live-shell\app\02-venue-interactions.js</a:t>
            </a:r>
          </a:p>
          <a:p xmlns:a="http://schemas.openxmlformats.org/drawingml/2006/main">
            <a:r>
              <a:t>D:\Codex\MyDancr-clean-2026-09-11\app\dashboard\CustomerDashboardPanels.tsx</a:t>
            </a:r>
          </a:p>
          <a:p xmlns:a="http://schemas.openxmlformats.org/drawingml/2006/main">
            <a:r>
              <a:t>D:\Codex\MyDancr-clean-2026-09-11\tmp\aesthetic-review\clubs-mobile.png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 The handoff happens through a table QR code. Arriving at a venue does not automatically switch the public website into the internal view. A guest who discovered a dancer externally can open that dancer’s full profile inside if the dancer is visible and available on the internal roster. Dancers choose internal, external or both visibility at NFC check-in. Shared profile identity and media provide continuity, while the internal view uses table-request controls. Guests can also discover someone new on the internal roster. Staff can acknowledge, complete or dismiss requests, and guests can cancel an open request. This supports choice and a simpler request process. Neither a request nor staff acknowledgment guarantees a dancer assignment or VIP booking. A completed request state is an operational status, not proof of a sale.</a:t>
            </a:r>
          </a:p>
          <a:p xmlns:a="http://schemas.openxmlformats.org/drawingml/2006/main">
            <a:r>
              <a:t/>
            </a:r>
          </a:p>
          <a:p xmlns:a="http://schemas.openxmlformats.org/drawingml/2006/main">
            <a:r>
              <a:t>Product references, reviewed October 2, 2026:</a:t>
            </a:r>
          </a:p>
          <a:p xmlns:a="http://schemas.openxmlformats.org/drawingml/2006/main">
            <a:r>
              <a:t>D:\Codex\MyDancr-clean-2026-09-11\app\internal\InternalRoster.tsx</a:t>
            </a:r>
          </a:p>
          <a:p xmlns:a="http://schemas.openxmlformats.org/drawingml/2006/main">
            <a:r>
              <a:t>D:\Codex\MyDancr-clean-2026-09-11\app\dashboard\VenueNfcTagPanel.tsx</a:t>
            </a:r>
          </a:p>
          <a:p xmlns:a="http://schemas.openxmlformats.org/drawingml/2006/main">
            <a:r>
              <a:t>D:\Codex\MyDancr-clean-2026-09-11\.qa\internal-brightness\live-desktop.png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 A better guest experience is the central value proposition. The commercial hypothesis is that a guest who can make a more informed choice and send a clear request may be more likely to discuss or purchase a VIP experience. The pilot must test this hypothesis. MyDancr currently supports discovery, arrival actions and staff-coordinated requests. This deck does not claim integrated VIP booking, payment, point-of-sale data, automatic request-to-sale attribution or proven revenue uplift. A request can result in no meeting or purchase. A completed request is not a completed sale. Venue records should establish actual VIP purchases and revenue. Agree a feasible reconciliation method and metric definitions with the pilot venues before launch. Ask guests a brief, optional survey about how easy it was to find and request their preferred dancer. Avoid treating request volume alone as success.</a:t>
            </a:r>
          </a:p>
          <a:p xmlns:a="http://schemas.openxmlformats.org/drawingml/2006/main">
            <a:r>
              <a:t/>
            </a:r>
          </a:p>
          <a:p xmlns:a="http://schemas.openxmlformats.org/drawingml/2006/main">
            <a:r>
              <a:t>Product references, reviewed October 2, 2026:</a:t>
            </a:r>
          </a:p>
          <a:p xmlns:a="http://schemas.openxmlformats.org/drawingml/2006/main">
            <a:r>
              <a:t>D:\Codex\MyDancr-clean-2026-09-11\app\internal\InternalRoster.tsx</a:t>
            </a:r>
          </a:p>
          <a:p xmlns:a="http://schemas.openxmlformats.org/drawingml/2006/main">
            <a:r>
              <a:t>D:\Codex\MyDancr-clean-2026-09-11\app\dashboard\VenueValueAnalytics.tsx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 This example shows the type of activity marketing can review for one venue. Every number is illustrative, not current operating results, customer traction or a forecast. Previous-period claims = 400, confirmed uses = 240 and pickups = 80. Current-period claims = 480, uses = 312 and pickups = 96. Changes are +20%, +30% and +20%. The conversion comparison uses each period’s claims and its corresponding confirmed-use cohort: 240/400 = 60%, and 312/480 = 65%, a 5-percentage-point difference. The audience table shows 18,400 card impressions, 4,200 unique browsers, 640 direction opens and 185 new venue followers. Unique browsers represent browser identities rather than an exact count of people. Confirmed pass use is not total venue attendance or a count of incremental customers. These figures do not establish paid-media return or VIP revenue. Use source-level actions to guide questions about content, offers and arrival arrangements. The example preserves the original editable native chart and embedded workbook.</a:t>
            </a:r>
          </a:p>
          <a:p xmlns:a="http://schemas.openxmlformats.org/drawingml/2006/main">
            <a:r>
              <a:t/>
            </a:r>
          </a:p>
          <a:p xmlns:a="http://schemas.openxmlformats.org/drawingml/2006/main">
            <a:r>
              <a:t>Product references, reviewed October 2, 2026:</a:t>
            </a:r>
          </a:p>
          <a:p xmlns:a="http://schemas.openxmlformats.org/drawingml/2006/main">
            <a:r>
              <a:t>D:\Codex\MyDancr-clean-2026-09-11\app\dashboard\VenueValueAnalytics.tsx</a:t>
            </a:r>
          </a:p>
          <a:p xmlns:a="http://schemas.openxmlformats.org/drawingml/2006/main">
            <a:r>
              <a:t>D:\Codex\MyDancr-clean-2026-09-11\src\lib\dancr\venue-analytics.ts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 A marketing lead responsible for 30 clubs needs comparable definitions and reporting periods. This three-club sample shows a proposed review format. It is an assembled management report, not an existing consolidated corporate dashboard or a single-login portfolio view. A wider corporate reporting workflow requires separate scoping. All figures are illustrative. Claims sum to 1,240, pass uses to 784, pickup requests to 228 and new venue followers to 455. The weighted conversion rate is 784/1,240 = 63.2258%, displayed as 63.2%, rather than the simple mean of the three percentages. Club A accounts for 39.8% of sample uses, Club B 28.1% and Club C 32.1%. The 15-percentage-point spread is a prompt to investigate, not evidence of the cause. Consider operating hours, offers, guest mix and arrival processes. Do not rank marketing teams or extrapolate the results across 30 clubs without context. New follower totals represent venue follows rather than deduplicated group customers.</a:t>
            </a:r>
          </a:p>
          <a:p xmlns:a="http://schemas.openxmlformats.org/drawingml/2006/main">
            <a:r>
              <a:t/>
            </a:r>
          </a:p>
          <a:p xmlns:a="http://schemas.openxmlformats.org/drawingml/2006/main">
            <a:r>
              <a:t>Product references, reviewed October 2, 2026:</a:t>
            </a:r>
          </a:p>
          <a:p xmlns:a="http://schemas.openxmlformats.org/drawingml/2006/main">
            <a:r>
              <a:t>D:\Codex\MyDancr-clean-2026-09-11\app\dashboard\VenueValueAnalytics.tsx</a:t>
            </a:r>
          </a:p>
          <a:p xmlns:a="http://schemas.openxmlformats.org/drawingml/2006/main">
            <a:r>
              <a:t>D:\Codex\MyDancr-clean-2026-09-11\src\lib\dancr\venue-access.ts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Ask for agreement on three pilot locations and the marketing lead who will coordinate with venue managers. This is a proposed pilot, not a commitment already made by the operator. Agree duration, commercial terms, responsibilities, baseline and success thresholds before launch. Review MyDancr activity with venue-confirmed VIP purchases and revenue, plus guest and staff feedback. Prefer comparable weekdays and periods and account for changes in promotions and operating conditions. A before/after comparison alone cannot prove that MyDancr caused an increase in sales. The company should decide whether wider adoption is justified by the combined evidence of guest usage, a better request experience, actual commercial results and manageable staff effort. A broader rollout and corporate reporting should follow a separate scope and implementation plan. No price, performance guarantee, integration or group deployment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dc5b5219dab48c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d920c8e4f2f4248" /><Relationship Type="http://schemas.openxmlformats.org/officeDocument/2006/relationships/slideLayout" Target="/ppt/slideLayouts/slideLayout1.xml" Id="Rf4c0dd7c27cc48a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4c0dd7c27cc48a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2d0f70ad18943e9" /><Relationship Type="http://schemas.openxmlformats.org/officeDocument/2006/relationships/image" Target="/ppt/media/image.png" Id="R9167a257e4ad41b6" /><Relationship Type="http://schemas.openxmlformats.org/officeDocument/2006/relationships/image" Target="/ppt/media/image2.png" Id="R35f12a315d58402f" /><Relationship Type="http://schemas.openxmlformats.org/officeDocument/2006/relationships/notesSlide" Target="/ppt/notesSlides/notesSlide1.xml" Id="R7faaf3a1192d472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7091c2beb2e4a2a" /><Relationship Type="http://schemas.openxmlformats.org/officeDocument/2006/relationships/image" Target="/ppt/media/image3.png" Id="R30afe12767be4b73" /><Relationship Type="http://schemas.openxmlformats.org/officeDocument/2006/relationships/notesSlide" Target="/ppt/notesSlides/notesSlide2.xml" Id="Rd5c6f7ee64374a1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ab1c7616da64a4b" /><Relationship Type="http://schemas.openxmlformats.org/officeDocument/2006/relationships/image" Target="/ppt/media/image4.png" Id="Racea59efd27c4746" /><Relationship Type="http://schemas.openxmlformats.org/officeDocument/2006/relationships/notesSlide" Target="/ppt/notesSlides/notesSlide3.xml" Id="R53ae66e86568417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1f727242fac4ff4" /><Relationship Type="http://schemas.openxmlformats.org/officeDocument/2006/relationships/notesSlide" Target="/ppt/notesSlides/notesSlide4.xml" Id="R42c5297fe79c4c1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98e19a350874f7e" /><Relationship Type="http://schemas.openxmlformats.org/officeDocument/2006/relationships/chart" Target="/ppt/slides/charts/chart1.xml" Id="R815d3bf09bae438b" /><Relationship Type="http://schemas.openxmlformats.org/officeDocument/2006/relationships/notesSlide" Target="/ppt/notesSlides/notesSlide5.xml" Id="R22238a7f145b427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853d81bd02f4f20" /><Relationship Type="http://schemas.openxmlformats.org/officeDocument/2006/relationships/notesSlide" Target="/ppt/notesSlides/notesSlide6.xml" Id="Re22ffc6107084f5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2309a0313694716" /><Relationship Type="http://schemas.openxmlformats.org/officeDocument/2006/relationships/notesSlide" Target="/ppt/notesSlides/notesSlide7.xml" Id="R107c3f89e2c8473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Previous 30 days</c:v>
          </c:tx>
          <c:spPr>
            <a:solidFill xmlns:a="http://schemas.openxmlformats.org/drawingml/2006/main">
              <a:srgbClr val="67557C"/>
            </a:solidFill>
          </c:spPr>
          <c:cat>
            <c:strRef>
              <c:f>'Chart Data'!$A$2:$A$4</c:f>
              <c:strCache>
                <c:ptCount val="3"/>
                <c:pt idx="0">
                  <c:v>Pass claims</c:v>
                </c:pt>
                <c:pt idx="1">
                  <c:v>QR pass uses</c:v>
                </c:pt>
                <c:pt idx="2">
                  <c:v>Pickup requests</c:v>
                </c:pt>
              </c:strCache>
            </c:strRef>
          </c:cat>
          <c:val>
            <c:numRef>
              <c:f>'Chart Data'!$B$2:$B$4</c:f>
              <c:numCache>
                <c:formatCode>General</c:formatCode>
                <c:ptCount val="3"/>
                <c:pt idx="0">
                  <c:v>400</c:v>
                </c:pt>
                <c:pt idx="1">
                  <c:v>240</c:v>
                </c:pt>
                <c:pt idx="2">
                  <c:v>80</c:v>
                </c:pt>
              </c:numCache>
            </c:numRef>
          </c:val>
        </c:ser>
        <c:ser>
          <c:idx val="1"/>
          <c:order val="1"/>
          <c:tx>
            <c:v>September</c:v>
          </c:tx>
          <c:spPr>
            <a:solidFill xmlns:a="http://schemas.openxmlformats.org/drawingml/2006/main">
              <a:srgbClr val="B88AFF"/>
            </a:solidFill>
          </c:spPr>
          <c:cat>
            <c:strRef>
              <c:f>'Chart Data'!$C$2:$C$4</c:f>
              <c:strCache>
                <c:ptCount val="3"/>
                <c:pt idx="0">
                  <c:v>Pass claims</c:v>
                </c:pt>
                <c:pt idx="1">
                  <c:v>QR pass uses</c:v>
                </c:pt>
                <c:pt idx="2">
                  <c:v>Pickup requests</c:v>
                </c:pt>
              </c:strCache>
            </c:strRef>
          </c:cat>
          <c:val>
            <c:numRef>
              <c:f>'Chart Data'!$D$2:$D$4</c:f>
              <c:numCache>
                <c:formatCode>General</c:formatCode>
                <c:ptCount val="3"/>
                <c:pt idx="0">
                  <c:v>480</c:v>
                </c:pt>
                <c:pt idx="1">
                  <c:v>312</c:v>
                </c:pt>
                <c:pt idx="2">
                  <c:v>96</c:v>
                </c:pt>
              </c:numCache>
            </c:numRef>
          </c:val>
        </c:ser>
        <c:dLbls>
          <c:txPr>
            <a:bodyPr xmlns:a="http://schemas.openxmlformats.org/drawingml/2006/main" anchorCtr="1"/>
            <a:lstStyle xmlns:a="http://schemas.openxmlformats.org/drawingml/2006/main"/>
            <a:p xmlns:a="http://schemas.openxmlformats.org/drawingml/2006/main">
              <a:pPr>
                <a:defRPr sz="1200">
                  <a:solidFill>
                    <a:srgbClr val="FAF8FF"/>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l"/>
        <c:majorGridlines>
          <c:spPr>
            <a:ln xmlns:a="http://schemas.openxmlformats.org/drawingml/2006/main" w="4763">
              <a:solidFill>
                <a:srgbClr val="443653"/>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C6C1D1"/>
                </a:solidFill>
                <a:latin typeface="Arial"/>
                <a:ea typeface="Arial"/>
                <a:cs typeface="Aria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FAF8FF"/>
                </a:solidFill>
                <a:latin typeface="Arial"/>
                <a:ea typeface="Arial"/>
                <a:cs typeface="Arial"/>
              </a:defRPr>
            </a:pPr>
          </a:p>
        </c:txPr>
        <c:crossAx val="48650112"/>
        <c:crossBetween val="between"/>
      </c:valAx>
      <c:spPr>
        <a:solidFill xmlns:a="http://schemas.openxmlformats.org/drawingml/2006/main">
          <a:srgbClr val="09070E"/>
        </a:solidFill>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C6C1D1"/>
              </a:solidFill>
              <a:latin typeface="Arial"/>
              <a:ea typeface="Arial"/>
              <a:cs typeface="Arial"/>
            </a:defRPr>
          </a:pPr>
        </a:p>
      </c:txPr>
    </c:legend>
    <c:plotVisOnly val="1"/>
  </c:chart>
  <c:spPr>
    <a:solidFill xmlns:a="http://schemas.openxmlformats.org/drawingml/2006/main">
      <a:srgbClr val="09070E"/>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9167a257e4ad41b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5f12a315d58402f"/>
          <a:stretch xmlns:a="http://schemas.openxmlformats.org/drawingml/2006/main"/>
        </p:blipFill>
        <p:spPr>
          <a:xfrm xmlns:a="http://schemas.openxmlformats.org/drawingml/2006/main">
            <a:off x="533400" y="468135"/>
            <a:ext cx="2133600" cy="66393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C4DDEF81-28CB-4332-9133-872D5CCD9026}"/>
              </a:ext>
            </a:extLst>
          </p:cNvPr>
          <p:cNvSpPr>
            <a:spLocks xmlns:a="http://schemas.openxmlformats.org/drawingml/2006/main" noGrp="1"/>
          </p:cNvSpPr>
          <p:nvPr/>
        </p:nvSpPr>
        <p:spPr>
          <a:xfrm xmlns:a="http://schemas.openxmlformats.org/drawingml/2006/main">
            <a:off x="609600" y="2143125"/>
            <a:ext cx="747712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650" b="1">
                <a:solidFill>
                  <a:srgbClr val="FAF8FF"/>
                </a:solidFill>
                <a:latin typeface="Arial"/>
                <a:ea typeface="Arial"/>
                <a:cs typeface="Arial"/>
              </a:defRPr>
            </a:pPr>
            <a:r>
              <a:rPr sz="4650" b="1">
                <a:solidFill>
                  <a:srgbClr val="FAF8FF"/>
                </a:solidFill>
                <a:latin typeface="Arial"/>
                <a:ea typeface="Arial"/>
                <a:cs typeface="Arial"/>
              </a:rPr>
              <a:t>Guest discovery &amp;</a:t>
            </a:r>
          </a:p>
          <a:p xmlns:a="http://schemas.openxmlformats.org/drawingml/2006/main">
            <a:pPr>
              <a:defRPr sz="4650" b="1">
                <a:solidFill>
                  <a:srgbClr val="FAF8FF"/>
                </a:solidFill>
                <a:latin typeface="Arial"/>
                <a:ea typeface="Arial"/>
                <a:cs typeface="Arial"/>
              </a:defRPr>
            </a:pPr>
            <a:r>
              <a:rPr sz="4650" b="1">
                <a:solidFill>
                  <a:srgbClr val="FAF8FF"/>
                </a:solidFill>
                <a:latin typeface="Arial"/>
                <a:ea typeface="Arial"/>
                <a:cs typeface="Arial"/>
              </a:rPr>
              <a:t>the club experience</a:t>
            </a:r>
          </a:p>
        </p:txBody>
      </p:sp>
      <p:sp>
        <p:nvSpPr>
          <p:cNvPr id="10" name="">
            <a:extLst xmlns:a="http://schemas.openxmlformats.org/drawingml/2006/main">
              <a:ext uri="{FF2B5EF4-FFF2-40B4-BE49-F238E27FC236}">
                <a16:creationId xmlns:a16="http://schemas.microsoft.com/office/drawing/2014/main" id="{8F63424D-DD8C-4B57-8A92-01E19E917F14}"/>
              </a:ext>
            </a:extLst>
          </p:cNvPr>
          <p:cNvSpPr>
            <a:spLocks xmlns:a="http://schemas.openxmlformats.org/drawingml/2006/main" noGrp="1"/>
          </p:cNvSpPr>
          <p:nvPr/>
        </p:nvSpPr>
        <p:spPr>
          <a:xfrm xmlns:a="http://schemas.openxmlformats.org/drawingml/2006/main">
            <a:off x="647700" y="4181475"/>
            <a:ext cx="6619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BBB8C9"/>
                </a:solidFill>
                <a:latin typeface="Arial"/>
                <a:ea typeface="Arial"/>
                <a:cs typeface="Arial"/>
              </a:defRPr>
            </a:pPr>
            <a:r>
              <a:rPr sz="2100" b="0">
                <a:solidFill>
                  <a:srgbClr val="BBB8C9"/>
                </a:solidFill>
                <a:latin typeface="Arial"/>
                <a:ea typeface="Arial"/>
                <a:cs typeface="Arial"/>
              </a:rPr>
              <a:t>A marketing proposal for a company</a:t>
            </a:r>
          </a:p>
          <a:p xmlns:a="http://schemas.openxmlformats.org/drawingml/2006/main">
            <a:pPr>
              <a:defRPr sz="2100" b="0">
                <a:solidFill>
                  <a:srgbClr val="BBB8C9"/>
                </a:solidFill>
                <a:latin typeface="Arial"/>
                <a:ea typeface="Arial"/>
                <a:cs typeface="Arial"/>
              </a:defRPr>
            </a:pPr>
            <a:r>
              <a:rPr sz="2100" b="0">
                <a:solidFill>
                  <a:srgbClr val="BBB8C9"/>
                </a:solidFill>
                <a:latin typeface="Arial"/>
                <a:ea typeface="Arial"/>
                <a:cs typeface="Arial"/>
              </a:rPr>
              <a:t>operating 30 clubs</a:t>
            </a:r>
          </a:p>
        </p:txBody>
      </p:sp>
      <p:sp>
        <p:nvSpPr>
          <p:cNvPr id="11" name="">
            <a:extLst xmlns:a="http://schemas.openxmlformats.org/drawingml/2006/main">
              <a:ext uri="{FF2B5EF4-FFF2-40B4-BE49-F238E27FC236}">
                <a16:creationId xmlns:a16="http://schemas.microsoft.com/office/drawing/2014/main" id="{7AEE7793-BB8F-4A37-AC16-5116E80E28B9}"/>
              </a:ext>
            </a:extLst>
          </p:cNvPr>
          <p:cNvSpPr>
            <a:spLocks xmlns:a="http://schemas.openxmlformats.org/drawingml/2006/main" noGrp="1"/>
          </p:cNvSpPr>
          <p:nvPr/>
        </p:nvSpPr>
        <p:spPr>
          <a:xfrm xmlns:a="http://schemas.openxmlformats.org/drawingml/2006/main">
            <a:off x="647700" y="5848350"/>
            <a:ext cx="762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D3C3E9"/>
                </a:solidFill>
                <a:latin typeface="Arial"/>
                <a:ea typeface="Arial"/>
                <a:cs typeface="Arial"/>
              </a:defRPr>
            </a:pPr>
            <a:r>
              <a:rPr sz="1575" b="0">
                <a:solidFill>
                  <a:srgbClr val="D3C3E9"/>
                </a:solidFill>
                <a:latin typeface="Arial"/>
                <a:ea typeface="Arial"/>
                <a:cs typeface="Arial"/>
              </a:rPr>
              <a:t>Easier guest requests and more VIP sales opportunities</a:t>
            </a:r>
          </a:p>
        </p:txBody>
      </p:sp>
      <p:sp>
        <p:nvSpPr>
          <p:cNvPr id="12" name="">
            <a:extLst xmlns:a="http://schemas.openxmlformats.org/drawingml/2006/main">
              <a:ext uri="{FF2B5EF4-FFF2-40B4-BE49-F238E27FC236}">
                <a16:creationId xmlns:a16="http://schemas.microsoft.com/office/drawing/2014/main" id="{01BB7177-CB4D-48D7-A942-05364F540C1B}"/>
              </a:ext>
            </a:extLst>
          </p:cNvPr>
          <p:cNvSpPr>
            <a:spLocks xmlns:a="http://schemas.openxmlformats.org/drawingml/2006/main" noGrp="1"/>
          </p:cNvSpPr>
          <p:nvPr/>
        </p:nvSpPr>
        <p:spPr>
          <a:xfrm xmlns:a="http://schemas.openxmlformats.org/drawingml/2006/main">
            <a:off x="10572750" y="6457950"/>
            <a:ext cx="1009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125" b="0">
                <a:solidFill>
                  <a:srgbClr val="B8B0C4"/>
                </a:solidFill>
                <a:latin typeface="Arial"/>
                <a:ea typeface="Arial"/>
                <a:cs typeface="Arial"/>
              </a:defRPr>
            </a:pPr>
            <a:r>
              <a:rPr sz="1125" b="0">
                <a:solidFill>
                  <a:srgbClr val="B8B0C4"/>
                </a:solidFill>
                <a:latin typeface="Arial"/>
                <a:ea typeface="Arial"/>
                <a:cs typeface="Arial"/>
              </a:rPr>
              <a:t>01 / 07</a:t>
            </a:r>
          </a:p>
        </p:txBody>
      </p:sp>
    </p:spTree>
    <p:extLst>
      <p:ext uri="{BB962C8B-B14F-4D97-AF65-F5344CB8AC3E}">
        <p14:creationId xmlns:p14="http://schemas.microsoft.com/office/powerpoint/2010/main" val="1808670197"/>
      </p:ext>
    </p:extLst>
  </p:cSld>
</p:sld>
</file>

<file path=ppt/slides/slide2.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30afe12767be4b73"/>
          <a:stretch xmlns:a="http://schemas.openxmlformats.org/drawingml/2006/main"/>
        </p:blipFill>
        <p:spPr>
          <a:xfrm xmlns:a="http://schemas.openxmlformats.org/drawingml/2006/main">
            <a:off x="8724900" y="790575"/>
            <a:ext cx="2543175" cy="5514975"/>
          </a:xfrm>
          <a:prstGeom xmlns:a="http://schemas.openxmlformats.org/drawingml/2006/main" prst="rect">
            <a:avLst/>
          </a:prstGeom>
        </p:spPr>
      </p:pic>
      <p:sp>
        <p:nvSpPr>
          <p:cNvPr id="14" name="Demo venue label Club D">
            <a:extLst xmlns:a="http://schemas.openxmlformats.org/drawingml/2006/main">
              <a:ext uri="{FF2B5EF4-FFF2-40B4-BE49-F238E27FC236}">
                <a16:creationId xmlns:a16="http://schemas.microsoft.com/office/drawing/2014/main" id="{80269E64-4683-4590-AA51-7124D0058E89}"/>
              </a:ext>
            </a:extLst>
          </p:cNvPr>
          <p:cNvSpPr>
            <a:spLocks xmlns:a="http://schemas.openxmlformats.org/drawingml/2006/main" noGrp="1"/>
          </p:cNvSpPr>
          <p:nvPr/>
        </p:nvSpPr>
        <p:spPr>
          <a:xfrm xmlns:a="http://schemas.openxmlformats.org/drawingml/2006/main">
            <a:off x="9812095" y="1444376"/>
            <a:ext cx="750620" cy="129467"/>
          </a:xfrm>
          <a:prstGeom xmlns:a="http://schemas.openxmlformats.org/drawingml/2006/main" prst="rect">
            <a:avLst/>
          </a:prstGeom>
          <a:solidFill xmlns:a="http://schemas.openxmlformats.org/drawingml/2006/main">
            <a:srgbClr val="111111"/>
          </a:solidFill>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578" b="1">
                <a:solidFill>
                  <a:srgbClr val="FFFFFF"/>
                </a:solidFill>
                <a:latin typeface="Arial"/>
                <a:ea typeface="Arial"/>
                <a:cs typeface="Arial"/>
              </a:defRPr>
            </a:pPr>
            <a:r>
              <a:rPr sz="713" b="1">
                <a:solidFill>
                  <a:srgbClr val="FFFFFF"/>
                </a:solidFill>
                <a:latin typeface="Arial"/>
                <a:ea typeface="Arial"/>
                <a:cs typeface="Arial"/>
              </a:rPr>
              <a:t>CLUB D</a:t>
            </a:r>
          </a:p>
        </p:txBody>
      </p:sp>
      <p:sp>
        <p:nvSpPr>
          <p:cNvPr id="15" name="Demo venue label Club A">
            <a:extLst xmlns:a="http://schemas.openxmlformats.org/drawingml/2006/main">
              <a:ext uri="{FF2B5EF4-FFF2-40B4-BE49-F238E27FC236}">
                <a16:creationId xmlns:a16="http://schemas.microsoft.com/office/drawing/2014/main" id="{00C00396-70F0-4982-A01A-5EC00F74D0B4}"/>
              </a:ext>
            </a:extLst>
          </p:cNvPr>
          <p:cNvSpPr>
            <a:spLocks xmlns:a="http://schemas.openxmlformats.org/drawingml/2006/main" noGrp="1"/>
          </p:cNvSpPr>
          <p:nvPr/>
        </p:nvSpPr>
        <p:spPr>
          <a:xfrm xmlns:a="http://schemas.openxmlformats.org/drawingml/2006/main">
            <a:off x="9812095" y="3496323"/>
            <a:ext cx="757086" cy="135934"/>
          </a:xfrm>
          <a:prstGeom xmlns:a="http://schemas.openxmlformats.org/drawingml/2006/main" prst="rect">
            <a:avLst/>
          </a:prstGeom>
          <a:solidFill xmlns:a="http://schemas.openxmlformats.org/drawingml/2006/main">
            <a:srgbClr val="111111"/>
          </a:solidFill>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619" b="1">
                <a:solidFill>
                  <a:srgbClr val="FFFFFF"/>
                </a:solidFill>
                <a:latin typeface="Arial"/>
                <a:ea typeface="Arial"/>
                <a:cs typeface="Arial"/>
              </a:defRPr>
            </a:pPr>
            <a:r>
              <a:rPr sz="764" b="1">
                <a:solidFill>
                  <a:srgbClr val="FFFFFF"/>
                </a:solidFill>
                <a:latin typeface="Arial"/>
                <a:ea typeface="Arial"/>
                <a:cs typeface="Arial"/>
              </a:rPr>
              <a:t>CLUB A</a:t>
            </a:r>
          </a:p>
        </p:txBody>
      </p:sp>
      <p:sp>
        <p:nvSpPr>
          <p:cNvPr id="16" name="Demo venue label Club E">
            <a:extLst xmlns:a="http://schemas.openxmlformats.org/drawingml/2006/main">
              <a:ext uri="{FF2B5EF4-FFF2-40B4-BE49-F238E27FC236}">
                <a16:creationId xmlns:a16="http://schemas.microsoft.com/office/drawing/2014/main" id="{326192C6-BC80-4229-82D8-903727AEC660}"/>
              </a:ext>
            </a:extLst>
          </p:cNvPr>
          <p:cNvSpPr>
            <a:spLocks xmlns:a="http://schemas.openxmlformats.org/drawingml/2006/main" noGrp="1"/>
          </p:cNvSpPr>
          <p:nvPr/>
        </p:nvSpPr>
        <p:spPr>
          <a:xfrm xmlns:a="http://schemas.openxmlformats.org/drawingml/2006/main">
            <a:off x="9812095" y="5567672"/>
            <a:ext cx="776601" cy="129467"/>
          </a:xfrm>
          <a:prstGeom xmlns:a="http://schemas.openxmlformats.org/drawingml/2006/main" prst="rect">
            <a:avLst/>
          </a:prstGeom>
          <a:solidFill xmlns:a="http://schemas.openxmlformats.org/drawingml/2006/main">
            <a:srgbClr val="111111"/>
          </a:solidFill>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578" b="1">
                <a:solidFill>
                  <a:srgbClr val="FFFFFF"/>
                </a:solidFill>
                <a:latin typeface="Arial"/>
                <a:ea typeface="Arial"/>
                <a:cs typeface="Arial"/>
              </a:defRPr>
            </a:pPr>
            <a:r>
              <a:rPr sz="713" b="1">
                <a:solidFill>
                  <a:srgbClr val="FFFFFF"/>
                </a:solidFill>
                <a:latin typeface="Arial"/>
                <a:ea typeface="Arial"/>
                <a:cs typeface="Arial"/>
              </a:rPr>
              <a:t>CLUB E</a:t>
            </a:r>
          </a:p>
        </p:txBody>
      </p:sp>
      <p:sp>
        <p:nvSpPr>
          <p:cNvPr id="29" name="">
            <a:extLst xmlns:a="http://schemas.openxmlformats.org/drawingml/2006/main">
              <a:ext uri="{FF2B5EF4-FFF2-40B4-BE49-F238E27FC236}">
                <a16:creationId xmlns:a16="http://schemas.microsoft.com/office/drawing/2014/main" id="{7AFA4678-4481-4058-AA57-F487A3BAA2DA}"/>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FAF8FF"/>
                </a:solidFill>
                <a:latin typeface="Arial"/>
                <a:ea typeface="Arial"/>
                <a:cs typeface="Arial"/>
              </a:defRPr>
            </a:pPr>
            <a:r>
              <a:rPr sz="3600" b="1">
                <a:solidFill>
                  <a:srgbClr val="FAF8FF"/>
                </a:solidFill>
                <a:latin typeface="Arial"/>
                <a:ea typeface="Arial"/>
                <a:cs typeface="Arial"/>
              </a:rPr>
              <a:t>Discovery before the visit</a:t>
            </a:r>
          </a:p>
        </p:txBody>
      </p:sp>
      <p:sp>
        <p:nvSpPr>
          <p:cNvPr id="30" name="">
            <a:extLst xmlns:a="http://schemas.openxmlformats.org/drawingml/2006/main">
              <a:ext uri="{FF2B5EF4-FFF2-40B4-BE49-F238E27FC236}">
                <a16:creationId xmlns:a16="http://schemas.microsoft.com/office/drawing/2014/main" id="{D03E9E17-AE3C-40A1-AB15-04E9AE2E490E}"/>
              </a:ext>
            </a:extLst>
          </p:cNvPr>
          <p:cNvSpPr>
            <a:spLocks xmlns:a="http://schemas.openxmlformats.org/drawingml/2006/main" noGrp="1"/>
          </p:cNvSpPr>
          <p:nvPr/>
        </p:nvSpPr>
        <p:spPr>
          <a:xfrm xmlns:a="http://schemas.openxmlformats.org/drawingml/2006/main">
            <a:off x="609600" y="11906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BBB8C9"/>
                </a:solidFill>
                <a:latin typeface="Arial"/>
                <a:ea typeface="Arial"/>
                <a:cs typeface="Arial"/>
              </a:defRPr>
            </a:pPr>
            <a:r>
              <a:rPr sz="1650" b="0">
                <a:solidFill>
                  <a:srgbClr val="BBB8C9"/>
                </a:solidFill>
                <a:latin typeface="Arial"/>
                <a:ea typeface="Arial"/>
                <a:cs typeface="Arial"/>
              </a:rPr>
              <a:t>Give guests a more informed way to choose a dancer and club</a:t>
            </a:r>
          </a:p>
        </p:txBody>
      </p:sp>
      <p:sp>
        <p:nvSpPr>
          <p:cNvPr id="31" name="">
            <a:extLst xmlns:a="http://schemas.openxmlformats.org/drawingml/2006/main">
              <a:ext uri="{FF2B5EF4-FFF2-40B4-BE49-F238E27FC236}">
                <a16:creationId xmlns:a16="http://schemas.microsoft.com/office/drawing/2014/main" id="{7C9AF930-7446-4AEA-99B2-E8DCACAC6AF3}"/>
              </a:ext>
            </a:extLst>
          </p:cNvPr>
          <p:cNvSpPr>
            <a:spLocks xmlns:a="http://schemas.openxmlformats.org/drawingml/2006/main" noGrp="1"/>
          </p:cNvSpPr>
          <p:nvPr/>
        </p:nvSpPr>
        <p:spPr>
          <a:xfrm xmlns:a="http://schemas.openxmlformats.org/drawingml/2006/main">
            <a:off x="609600" y="6457950"/>
            <a:ext cx="228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918A9F"/>
                </a:solidFill>
                <a:latin typeface="Arial"/>
                <a:ea typeface="Arial"/>
                <a:cs typeface="Arial"/>
              </a:defRPr>
            </a:pPr>
            <a:r>
              <a:rPr sz="1125" b="1">
                <a:solidFill>
                  <a:srgbClr val="918A9F"/>
                </a:solidFill>
                <a:latin typeface="Arial"/>
                <a:ea typeface="Arial"/>
                <a:cs typeface="Arial"/>
              </a:rPr>
              <a:t>MyDancr</a:t>
            </a:r>
          </a:p>
        </p:txBody>
      </p:sp>
      <p:sp>
        <p:nvSpPr>
          <p:cNvPr id="32" name="">
            <a:extLst xmlns:a="http://schemas.openxmlformats.org/drawingml/2006/main">
              <a:ext uri="{FF2B5EF4-FFF2-40B4-BE49-F238E27FC236}">
                <a16:creationId xmlns:a16="http://schemas.microsoft.com/office/drawing/2014/main" id="{9BDAD056-C26B-4EC0-A2A4-1A9D89FBD34D}"/>
              </a:ext>
            </a:extLst>
          </p:cNvPr>
          <p:cNvSpPr>
            <a:spLocks xmlns:a="http://schemas.openxmlformats.org/drawingml/2006/main" noGrp="1"/>
          </p:cNvSpPr>
          <p:nvPr/>
        </p:nvSpPr>
        <p:spPr>
          <a:xfrm xmlns:a="http://schemas.openxmlformats.org/drawingml/2006/main">
            <a:off x="10572750" y="6457950"/>
            <a:ext cx="1009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125" b="0">
                <a:solidFill>
                  <a:srgbClr val="918A9F"/>
                </a:solidFill>
                <a:latin typeface="Arial"/>
                <a:ea typeface="Arial"/>
                <a:cs typeface="Arial"/>
              </a:defRPr>
            </a:pPr>
            <a:r>
              <a:rPr sz="1125" b="0">
                <a:solidFill>
                  <a:srgbClr val="918A9F"/>
                </a:solidFill>
                <a:latin typeface="Arial"/>
                <a:ea typeface="Arial"/>
                <a:cs typeface="Arial"/>
              </a:rPr>
              <a:t>02 / 07</a:t>
            </a:r>
          </a:p>
        </p:txBody>
      </p:sp>
      <p:sp>
        <p:nvSpPr>
          <p:cNvPr id="33" name="">
            <a:extLst xmlns:a="http://schemas.openxmlformats.org/drawingml/2006/main">
              <a:ext uri="{FF2B5EF4-FFF2-40B4-BE49-F238E27FC236}">
                <a16:creationId xmlns:a16="http://schemas.microsoft.com/office/drawing/2014/main" id="{A10FBE69-AA7A-44D6-B90D-D110C85B59B1}"/>
              </a:ext>
            </a:extLst>
          </p:cNvPr>
          <p:cNvSpPr>
            <a:spLocks xmlns:a="http://schemas.openxmlformats.org/drawingml/2006/main" noGrp="1"/>
          </p:cNvSpPr>
          <p:nvPr/>
        </p:nvSpPr>
        <p:spPr>
          <a:xfrm xmlns:a="http://schemas.openxmlformats.org/drawingml/2006/main">
            <a:off x="609600" y="1962150"/>
            <a:ext cx="7486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FAF8FF"/>
                </a:solidFill>
                <a:latin typeface="Arial"/>
                <a:ea typeface="Arial"/>
                <a:cs typeface="Arial"/>
              </a:defRPr>
            </a:pPr>
            <a:r>
              <a:rPr sz="2025" b="1">
                <a:solidFill>
                  <a:srgbClr val="FAF8FF"/>
                </a:solidFill>
                <a:latin typeface="Arial"/>
                <a:ea typeface="Arial"/>
                <a:cs typeface="Arial"/>
              </a:rPr>
              <a:t>A personal reason to visit</a:t>
            </a:r>
          </a:p>
        </p:txBody>
      </p:sp>
      <p:sp>
        <p:nvSpPr>
          <p:cNvPr id="34" name="">
            <a:extLst xmlns:a="http://schemas.openxmlformats.org/drawingml/2006/main">
              <a:ext uri="{FF2B5EF4-FFF2-40B4-BE49-F238E27FC236}">
                <a16:creationId xmlns:a16="http://schemas.microsoft.com/office/drawing/2014/main" id="{8A0C8275-52D4-45EC-8F08-0D51727B8D32}"/>
              </a:ext>
            </a:extLst>
          </p:cNvPr>
          <p:cNvSpPr>
            <a:spLocks xmlns:a="http://schemas.openxmlformats.org/drawingml/2006/main" noGrp="1"/>
          </p:cNvSpPr>
          <p:nvPr/>
        </p:nvSpPr>
        <p:spPr>
          <a:xfrm xmlns:a="http://schemas.openxmlformats.org/drawingml/2006/main">
            <a:off x="609600" y="2400300"/>
            <a:ext cx="74866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BBB8C9"/>
                </a:solidFill>
                <a:latin typeface="Arial"/>
                <a:ea typeface="Arial"/>
                <a:cs typeface="Arial"/>
              </a:defRPr>
            </a:pPr>
            <a:r>
              <a:rPr sz="1800" b="0">
                <a:solidFill>
                  <a:srgbClr val="BBB8C9"/>
                </a:solidFill>
                <a:latin typeface="Arial"/>
                <a:ea typeface="Arial"/>
                <a:cs typeface="Arial"/>
              </a:rPr>
              <a:t>Guests explore dancer photos, videos and working status.</a:t>
            </a:r>
          </a:p>
          <a:p xmlns:a="http://schemas.openxmlformats.org/drawingml/2006/main">
            <a:pPr>
              <a:defRPr sz="1800" b="0">
                <a:solidFill>
                  <a:srgbClr val="BBB8C9"/>
                </a:solidFill>
                <a:latin typeface="Arial"/>
                <a:ea typeface="Arial"/>
                <a:cs typeface="Arial"/>
              </a:defRPr>
            </a:pPr>
            <a:r>
              <a:rPr sz="1800" b="0">
                <a:solidFill>
                  <a:srgbClr val="BBB8C9"/>
                </a:solidFill>
                <a:latin typeface="Arial"/>
                <a:ea typeface="Arial"/>
                <a:cs typeface="Arial"/>
              </a:rPr>
              <a:t>Club pages and MyDancr TV help them explore the venue.</a:t>
            </a:r>
          </a:p>
        </p:txBody>
      </p:sp>
      <p:sp>
        <p:nvSpPr>
          <p:cNvPr id="35" name="">
            <a:extLst xmlns:a="http://schemas.openxmlformats.org/drawingml/2006/main">
              <a:ext uri="{FF2B5EF4-FFF2-40B4-BE49-F238E27FC236}">
                <a16:creationId xmlns:a16="http://schemas.microsoft.com/office/drawing/2014/main" id="{C82C58A7-B30F-4E74-9C38-8CA47AE2AB24}"/>
              </a:ext>
            </a:extLst>
          </p:cNvPr>
          <p:cNvSpPr>
            <a:spLocks xmlns:a="http://schemas.openxmlformats.org/drawingml/2006/main" noGrp="1"/>
          </p:cNvSpPr>
          <p:nvPr/>
        </p:nvSpPr>
        <p:spPr>
          <a:xfrm xmlns:a="http://schemas.openxmlformats.org/drawingml/2006/main">
            <a:off x="609600" y="3381375"/>
            <a:ext cx="7486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FAF8FF"/>
                </a:solidFill>
                <a:latin typeface="Arial"/>
                <a:ea typeface="Arial"/>
                <a:cs typeface="Arial"/>
              </a:defRPr>
            </a:pPr>
            <a:r>
              <a:rPr sz="2025" b="1">
                <a:solidFill>
                  <a:srgbClr val="FAF8FF"/>
                </a:solidFill>
                <a:latin typeface="Arial"/>
                <a:ea typeface="Arial"/>
                <a:cs typeface="Arial"/>
              </a:rPr>
              <a:t>An actionable club page</a:t>
            </a:r>
          </a:p>
        </p:txBody>
      </p:sp>
      <p:sp>
        <p:nvSpPr>
          <p:cNvPr id="36" name="">
            <a:extLst xmlns:a="http://schemas.openxmlformats.org/drawingml/2006/main">
              <a:ext uri="{FF2B5EF4-FFF2-40B4-BE49-F238E27FC236}">
                <a16:creationId xmlns:a16="http://schemas.microsoft.com/office/drawing/2014/main" id="{30ACA6AC-952D-4CC1-889F-F0703D148938}"/>
              </a:ext>
            </a:extLst>
          </p:cNvPr>
          <p:cNvSpPr>
            <a:spLocks xmlns:a="http://schemas.openxmlformats.org/drawingml/2006/main" noGrp="1"/>
          </p:cNvSpPr>
          <p:nvPr/>
        </p:nvSpPr>
        <p:spPr>
          <a:xfrm xmlns:a="http://schemas.openxmlformats.org/drawingml/2006/main">
            <a:off x="609600" y="3819525"/>
            <a:ext cx="74866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BBB8C9"/>
                </a:solidFill>
                <a:latin typeface="Arial"/>
                <a:ea typeface="Arial"/>
                <a:cs typeface="Arial"/>
              </a:defRPr>
            </a:pPr>
            <a:r>
              <a:rPr sz="1800" b="0">
                <a:solidFill>
                  <a:srgbClr val="BBB8C9"/>
                </a:solidFill>
                <a:latin typeface="Arial"/>
                <a:ea typeface="Arial"/>
                <a:cs typeface="Arial"/>
              </a:rPr>
              <a:t>Guests can open directions, claim an entry pass or</a:t>
            </a:r>
          </a:p>
          <a:p xmlns:a="http://schemas.openxmlformats.org/drawingml/2006/main">
            <a:pPr>
              <a:defRPr sz="1800" b="0">
                <a:solidFill>
                  <a:srgbClr val="BBB8C9"/>
                </a:solidFill>
                <a:latin typeface="Arial"/>
                <a:ea typeface="Arial"/>
                <a:cs typeface="Arial"/>
              </a:defRPr>
            </a:pPr>
            <a:r>
              <a:rPr sz="1800" b="0">
                <a:solidFill>
                  <a:srgbClr val="BBB8C9"/>
                </a:solidFill>
                <a:latin typeface="Arial"/>
                <a:ea typeface="Arial"/>
                <a:cs typeface="Arial"/>
              </a:rPr>
              <a:t>request pickup where the club offers it.</a:t>
            </a:r>
          </a:p>
        </p:txBody>
      </p:sp>
      <p:sp>
        <p:nvSpPr>
          <p:cNvPr id="37" name="">
            <a:extLst xmlns:a="http://schemas.openxmlformats.org/drawingml/2006/main">
              <a:ext uri="{FF2B5EF4-FFF2-40B4-BE49-F238E27FC236}">
                <a16:creationId xmlns:a16="http://schemas.microsoft.com/office/drawing/2014/main" id="{8AA56DBE-562D-45C4-87B2-4697B4F7363C}"/>
              </a:ext>
            </a:extLst>
          </p:cNvPr>
          <p:cNvSpPr>
            <a:spLocks xmlns:a="http://schemas.openxmlformats.org/drawingml/2006/main" noGrp="1"/>
          </p:cNvSpPr>
          <p:nvPr/>
        </p:nvSpPr>
        <p:spPr>
          <a:xfrm xmlns:a="http://schemas.openxmlformats.org/drawingml/2006/main">
            <a:off x="609600" y="4800600"/>
            <a:ext cx="7486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FAF8FF"/>
                </a:solidFill>
                <a:latin typeface="Arial"/>
                <a:ea typeface="Arial"/>
                <a:cs typeface="Arial"/>
              </a:defRPr>
            </a:pPr>
            <a:r>
              <a:rPr sz="2025" b="1">
                <a:solidFill>
                  <a:srgbClr val="FAF8FF"/>
                </a:solidFill>
                <a:latin typeface="Arial"/>
                <a:ea typeface="Arial"/>
                <a:cs typeface="Arial"/>
              </a:rPr>
              <a:t>An ongoing connection</a:t>
            </a:r>
          </a:p>
        </p:txBody>
      </p:sp>
      <p:sp>
        <p:nvSpPr>
          <p:cNvPr id="38" name="">
            <a:extLst xmlns:a="http://schemas.openxmlformats.org/drawingml/2006/main">
              <a:ext uri="{FF2B5EF4-FFF2-40B4-BE49-F238E27FC236}">
                <a16:creationId xmlns:a16="http://schemas.microsoft.com/office/drawing/2014/main" id="{6F3FAC06-7AE6-4DBA-A00A-4556EA459471}"/>
              </a:ext>
            </a:extLst>
          </p:cNvPr>
          <p:cNvSpPr>
            <a:spLocks xmlns:a="http://schemas.openxmlformats.org/drawingml/2006/main" noGrp="1"/>
          </p:cNvSpPr>
          <p:nvPr/>
        </p:nvSpPr>
        <p:spPr>
          <a:xfrm xmlns:a="http://schemas.openxmlformats.org/drawingml/2006/main">
            <a:off x="609600" y="5238750"/>
            <a:ext cx="74866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BBB8C9"/>
                </a:solidFill>
                <a:latin typeface="Arial"/>
                <a:ea typeface="Arial"/>
                <a:cs typeface="Arial"/>
              </a:defRPr>
            </a:pPr>
            <a:r>
              <a:rPr sz="1800" b="0">
                <a:solidFill>
                  <a:srgbClr val="BBB8C9"/>
                </a:solidFill>
                <a:latin typeface="Arial"/>
                <a:ea typeface="Arial"/>
                <a:cs typeface="Arial"/>
              </a:rPr>
              <a:t>Guests can follow dancers and clubs, save offers</a:t>
            </a:r>
          </a:p>
          <a:p xmlns:a="http://schemas.openxmlformats.org/drawingml/2006/main">
            <a:pPr>
              <a:defRPr sz="1800" b="0">
                <a:solidFill>
                  <a:srgbClr val="BBB8C9"/>
                </a:solidFill>
                <a:latin typeface="Arial"/>
                <a:ea typeface="Arial"/>
                <a:cs typeface="Arial"/>
              </a:defRPr>
            </a:pPr>
            <a:r>
              <a:rPr sz="1800" b="0">
                <a:solidFill>
                  <a:srgbClr val="BBB8C9"/>
                </a:solidFill>
                <a:latin typeface="Arial"/>
                <a:ea typeface="Arial"/>
                <a:cs typeface="Arial"/>
              </a:rPr>
              <a:t>and mark “I’m Going” to signal interest in a visit.</a:t>
            </a:r>
          </a:p>
        </p:txBody>
      </p:sp>
    </p:spTree>
    <p:extLst>
      <p:ext uri="{BB962C8B-B14F-4D97-AF65-F5344CB8AC3E}">
        <p14:creationId xmlns:p14="http://schemas.microsoft.com/office/powerpoint/2010/main" val="416010741"/>
      </p:ext>
    </p:extLst>
  </p:cSld>
</p:sld>
</file>

<file path=ppt/slides/slide3.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acea59efd27c4746"/>
          <a:stretch xmlns:a="http://schemas.openxmlformats.org/drawingml/2006/main"/>
        </p:blipFill>
        <p:spPr>
          <a:xfrm xmlns:a="http://schemas.openxmlformats.org/drawingml/2006/main">
            <a:off x="7229475" y="1571625"/>
            <a:ext cx="4286250" cy="4798600"/>
          </a:xfrm>
          <a:prstGeom xmlns:a="http://schemas.openxmlformats.org/drawingml/2006/main" prst="rect">
            <a:avLst/>
          </a:prstGeom>
        </p:spPr>
      </p:pic>
      <p:sp>
        <p:nvSpPr>
          <p:cNvPr id="17" name="Demo venue label Club A">
            <a:extLst xmlns:a="http://schemas.openxmlformats.org/drawingml/2006/main">
              <a:ext uri="{FF2B5EF4-FFF2-40B4-BE49-F238E27FC236}">
                <a16:creationId xmlns:a16="http://schemas.microsoft.com/office/drawing/2014/main" id="{3E7FC25D-CBC5-4590-8FFD-9A9B51B93E8C}"/>
              </a:ext>
            </a:extLst>
          </p:cNvPr>
          <p:cNvSpPr>
            <a:spLocks xmlns:a="http://schemas.openxmlformats.org/drawingml/2006/main" noGrp="1"/>
          </p:cNvSpPr>
          <p:nvPr/>
        </p:nvSpPr>
        <p:spPr>
          <a:xfrm xmlns:a="http://schemas.openxmlformats.org/drawingml/2006/main">
            <a:off x="7925991" y="1842865"/>
            <a:ext cx="264542" cy="56927"/>
          </a:xfrm>
          <a:prstGeom xmlns:a="http://schemas.openxmlformats.org/drawingml/2006/main" prst="rect">
            <a:avLst/>
          </a:prstGeom>
          <a:solidFill xmlns:a="http://schemas.openxmlformats.org/drawingml/2006/main">
            <a:srgbClr val="09090B"/>
          </a:solidFill>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8" b="1">
                <a:solidFill>
                  <a:srgbClr val="FFFFFF"/>
                </a:solidFill>
                <a:latin typeface="Arial"/>
                <a:ea typeface="Arial"/>
                <a:cs typeface="Arial"/>
              </a:defRPr>
            </a:pPr>
            <a:r>
              <a:rPr sz="290" b="1">
                <a:solidFill>
                  <a:srgbClr val="FFFFFF"/>
                </a:solidFill>
                <a:latin typeface="Arial"/>
                <a:ea typeface="Arial"/>
                <a:cs typeface="Arial"/>
              </a:rPr>
              <a:t>CLUB A</a:t>
            </a:r>
          </a:p>
        </p:txBody>
      </p:sp>
      <p:sp>
        <p:nvSpPr>
          <p:cNvPr id="31" name="">
            <a:extLst xmlns:a="http://schemas.openxmlformats.org/drawingml/2006/main">
              <a:ext uri="{FF2B5EF4-FFF2-40B4-BE49-F238E27FC236}">
                <a16:creationId xmlns:a16="http://schemas.microsoft.com/office/drawing/2014/main" id="{170D51A0-54B2-4FBA-9F45-75C85D863E31}"/>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FAF8FF"/>
                </a:solidFill>
                <a:latin typeface="Arial"/>
                <a:ea typeface="Arial"/>
                <a:cs typeface="Arial"/>
              </a:defRPr>
            </a:pPr>
            <a:r>
              <a:rPr sz="3600" b="1">
                <a:solidFill>
                  <a:srgbClr val="FAF8FF"/>
                </a:solidFill>
                <a:latin typeface="Arial"/>
                <a:ea typeface="Arial"/>
                <a:cs typeface="Arial"/>
              </a:rPr>
              <a:t>An easier request at the table</a:t>
            </a:r>
          </a:p>
        </p:txBody>
      </p:sp>
      <p:sp>
        <p:nvSpPr>
          <p:cNvPr id="32" name="">
            <a:extLst xmlns:a="http://schemas.openxmlformats.org/drawingml/2006/main">
              <a:ext uri="{FF2B5EF4-FFF2-40B4-BE49-F238E27FC236}">
                <a16:creationId xmlns:a16="http://schemas.microsoft.com/office/drawing/2014/main" id="{4217D745-F3C5-4148-A36F-977ADE12DDC3}"/>
              </a:ext>
            </a:extLst>
          </p:cNvPr>
          <p:cNvSpPr>
            <a:spLocks xmlns:a="http://schemas.openxmlformats.org/drawingml/2006/main" noGrp="1"/>
          </p:cNvSpPr>
          <p:nvPr/>
        </p:nvSpPr>
        <p:spPr>
          <a:xfrm xmlns:a="http://schemas.openxmlformats.org/drawingml/2006/main">
            <a:off x="609600" y="11906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BBB8C9"/>
                </a:solidFill>
                <a:latin typeface="Arial"/>
                <a:ea typeface="Arial"/>
                <a:cs typeface="Arial"/>
              </a:defRPr>
            </a:pPr>
            <a:r>
              <a:rPr sz="1650" b="0">
                <a:solidFill>
                  <a:srgbClr val="BBB8C9"/>
                </a:solidFill>
                <a:latin typeface="Arial"/>
                <a:ea typeface="Arial"/>
                <a:cs typeface="Arial"/>
              </a:rPr>
              <a:t>The same dancer profile connects the public and in-club experiences</a:t>
            </a:r>
          </a:p>
        </p:txBody>
      </p:sp>
      <p:sp>
        <p:nvSpPr>
          <p:cNvPr id="33" name="">
            <a:extLst xmlns:a="http://schemas.openxmlformats.org/drawingml/2006/main">
              <a:ext uri="{FF2B5EF4-FFF2-40B4-BE49-F238E27FC236}">
                <a16:creationId xmlns:a16="http://schemas.microsoft.com/office/drawing/2014/main" id="{91E9D323-480A-4E0A-ABF1-E5C6E2286881}"/>
              </a:ext>
            </a:extLst>
          </p:cNvPr>
          <p:cNvSpPr>
            <a:spLocks xmlns:a="http://schemas.openxmlformats.org/drawingml/2006/main" noGrp="1"/>
          </p:cNvSpPr>
          <p:nvPr/>
        </p:nvSpPr>
        <p:spPr>
          <a:xfrm xmlns:a="http://schemas.openxmlformats.org/drawingml/2006/main">
            <a:off x="609600" y="6457950"/>
            <a:ext cx="228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918A9F"/>
                </a:solidFill>
                <a:latin typeface="Arial"/>
                <a:ea typeface="Arial"/>
                <a:cs typeface="Arial"/>
              </a:defRPr>
            </a:pPr>
            <a:r>
              <a:rPr sz="1125" b="1">
                <a:solidFill>
                  <a:srgbClr val="918A9F"/>
                </a:solidFill>
                <a:latin typeface="Arial"/>
                <a:ea typeface="Arial"/>
                <a:cs typeface="Arial"/>
              </a:rPr>
              <a:t>MyDancr</a:t>
            </a:r>
          </a:p>
        </p:txBody>
      </p:sp>
      <p:sp>
        <p:nvSpPr>
          <p:cNvPr id="34" name="">
            <a:extLst xmlns:a="http://schemas.openxmlformats.org/drawingml/2006/main">
              <a:ext uri="{FF2B5EF4-FFF2-40B4-BE49-F238E27FC236}">
                <a16:creationId xmlns:a16="http://schemas.microsoft.com/office/drawing/2014/main" id="{5B86A24B-BC43-40F0-8AAD-8ED33D2106C4}"/>
              </a:ext>
            </a:extLst>
          </p:cNvPr>
          <p:cNvSpPr>
            <a:spLocks xmlns:a="http://schemas.openxmlformats.org/drawingml/2006/main" noGrp="1"/>
          </p:cNvSpPr>
          <p:nvPr/>
        </p:nvSpPr>
        <p:spPr>
          <a:xfrm xmlns:a="http://schemas.openxmlformats.org/drawingml/2006/main">
            <a:off x="10572750" y="6457950"/>
            <a:ext cx="1009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125" b="0">
                <a:solidFill>
                  <a:srgbClr val="918A9F"/>
                </a:solidFill>
                <a:latin typeface="Arial"/>
                <a:ea typeface="Arial"/>
                <a:cs typeface="Arial"/>
              </a:defRPr>
            </a:pPr>
            <a:r>
              <a:rPr sz="1125" b="0">
                <a:solidFill>
                  <a:srgbClr val="918A9F"/>
                </a:solidFill>
                <a:latin typeface="Arial"/>
                <a:ea typeface="Arial"/>
                <a:cs typeface="Arial"/>
              </a:rPr>
              <a:t>03 / 07</a:t>
            </a:r>
          </a:p>
        </p:txBody>
      </p:sp>
      <p:sp>
        <p:nvSpPr>
          <p:cNvPr id="35" name="">
            <a:extLst xmlns:a="http://schemas.openxmlformats.org/drawingml/2006/main">
              <a:ext uri="{FF2B5EF4-FFF2-40B4-BE49-F238E27FC236}">
                <a16:creationId xmlns:a16="http://schemas.microsoft.com/office/drawing/2014/main" id="{014BAF01-112A-43F6-831B-A4B8E5AE401A}"/>
              </a:ext>
            </a:extLst>
          </p:cNvPr>
          <p:cNvSpPr>
            <a:spLocks xmlns:a="http://schemas.openxmlformats.org/drawingml/2006/main" noGrp="1"/>
          </p:cNvSpPr>
          <p:nvPr/>
        </p:nvSpPr>
        <p:spPr>
          <a:xfrm xmlns:a="http://schemas.openxmlformats.org/drawingml/2006/main">
            <a:off x="609600" y="196215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FAF8FF"/>
                </a:solidFill>
                <a:latin typeface="Arial"/>
                <a:ea typeface="Arial"/>
                <a:cs typeface="Arial"/>
              </a:defRPr>
            </a:pPr>
            <a:r>
              <a:rPr sz="2025" b="1">
                <a:solidFill>
                  <a:srgbClr val="FAF8FF"/>
                </a:solidFill>
                <a:latin typeface="Arial"/>
                <a:ea typeface="Arial"/>
                <a:cs typeface="Arial"/>
              </a:rPr>
              <a:t>Scan the table QR code</a:t>
            </a:r>
          </a:p>
        </p:txBody>
      </p:sp>
      <p:sp>
        <p:nvSpPr>
          <p:cNvPr id="36" name="">
            <a:extLst xmlns:a="http://schemas.openxmlformats.org/drawingml/2006/main">
              <a:ext uri="{FF2B5EF4-FFF2-40B4-BE49-F238E27FC236}">
                <a16:creationId xmlns:a16="http://schemas.microsoft.com/office/drawing/2014/main" id="{8A8F9011-C24C-464B-8396-E126EFFCD496}"/>
              </a:ext>
            </a:extLst>
          </p:cNvPr>
          <p:cNvSpPr>
            <a:spLocks xmlns:a="http://schemas.openxmlformats.org/drawingml/2006/main" noGrp="1"/>
          </p:cNvSpPr>
          <p:nvPr/>
        </p:nvSpPr>
        <p:spPr>
          <a:xfrm xmlns:a="http://schemas.openxmlformats.org/drawingml/2006/main">
            <a:off x="609600" y="2400300"/>
            <a:ext cx="6191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BBB8C9"/>
                </a:solidFill>
                <a:latin typeface="Arial"/>
                <a:ea typeface="Arial"/>
                <a:cs typeface="Arial"/>
              </a:defRPr>
            </a:pPr>
            <a:r>
              <a:rPr sz="1800" b="0">
                <a:solidFill>
                  <a:srgbClr val="BBB8C9"/>
                </a:solidFill>
                <a:latin typeface="Arial"/>
                <a:ea typeface="Arial"/>
                <a:cs typeface="Arial"/>
              </a:rPr>
              <a:t>Inside the club, the guest opens the roster</a:t>
            </a:r>
          </a:p>
          <a:p xmlns:a="http://schemas.openxmlformats.org/drawingml/2006/main">
            <a:pPr>
              <a:defRPr sz="1800" b="0">
                <a:solidFill>
                  <a:srgbClr val="BBB8C9"/>
                </a:solidFill>
                <a:latin typeface="Arial"/>
                <a:ea typeface="Arial"/>
                <a:cs typeface="Arial"/>
              </a:defRPr>
            </a:pPr>
            <a:r>
              <a:rPr sz="1800" b="0">
                <a:solidFill>
                  <a:srgbClr val="BBB8C9"/>
                </a:solidFill>
                <a:latin typeface="Arial"/>
                <a:ea typeface="Arial"/>
                <a:cs typeface="Arial"/>
              </a:rPr>
              <a:t>through the QR code at their table.</a:t>
            </a:r>
          </a:p>
        </p:txBody>
      </p:sp>
      <p:sp>
        <p:nvSpPr>
          <p:cNvPr id="37" name="">
            <a:extLst xmlns:a="http://schemas.openxmlformats.org/drawingml/2006/main">
              <a:ext uri="{FF2B5EF4-FFF2-40B4-BE49-F238E27FC236}">
                <a16:creationId xmlns:a16="http://schemas.microsoft.com/office/drawing/2014/main" id="{E1B34CE0-4A5E-4974-9B03-263CB93A0D62}"/>
              </a:ext>
            </a:extLst>
          </p:cNvPr>
          <p:cNvSpPr>
            <a:spLocks xmlns:a="http://schemas.openxmlformats.org/drawingml/2006/main" noGrp="1"/>
          </p:cNvSpPr>
          <p:nvPr/>
        </p:nvSpPr>
        <p:spPr>
          <a:xfrm xmlns:a="http://schemas.openxmlformats.org/drawingml/2006/main">
            <a:off x="609600" y="333375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FAF8FF"/>
                </a:solidFill>
                <a:latin typeface="Arial"/>
                <a:ea typeface="Arial"/>
                <a:cs typeface="Arial"/>
              </a:defRPr>
            </a:pPr>
            <a:r>
              <a:rPr sz="2025" b="1">
                <a:solidFill>
                  <a:srgbClr val="FAF8FF"/>
                </a:solidFill>
                <a:latin typeface="Arial"/>
                <a:ea typeface="Arial"/>
                <a:cs typeface="Arial"/>
              </a:rPr>
              <a:t>Find the dancer they want to see</a:t>
            </a:r>
          </a:p>
        </p:txBody>
      </p:sp>
      <p:sp>
        <p:nvSpPr>
          <p:cNvPr id="38" name="">
            <a:extLst xmlns:a="http://schemas.openxmlformats.org/drawingml/2006/main">
              <a:ext uri="{FF2B5EF4-FFF2-40B4-BE49-F238E27FC236}">
                <a16:creationId xmlns:a16="http://schemas.microsoft.com/office/drawing/2014/main" id="{0A3EFD04-C37C-46E7-930D-BD0A8DFCAA01}"/>
              </a:ext>
            </a:extLst>
          </p:cNvPr>
          <p:cNvSpPr>
            <a:spLocks xmlns:a="http://schemas.openxmlformats.org/drawingml/2006/main" noGrp="1"/>
          </p:cNvSpPr>
          <p:nvPr/>
        </p:nvSpPr>
        <p:spPr>
          <a:xfrm xmlns:a="http://schemas.openxmlformats.org/drawingml/2006/main">
            <a:off x="609600" y="3771900"/>
            <a:ext cx="6191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BBB8C9"/>
                </a:solidFill>
                <a:latin typeface="Arial"/>
                <a:ea typeface="Arial"/>
                <a:cs typeface="Arial"/>
              </a:defRPr>
            </a:pPr>
            <a:r>
              <a:rPr sz="1800" b="0">
                <a:solidFill>
                  <a:srgbClr val="BBB8C9"/>
                </a:solidFill>
                <a:latin typeface="Arial"/>
                <a:ea typeface="Arial"/>
                <a:cs typeface="Arial"/>
              </a:rPr>
              <a:t>Available dancers link to the same full profiles</a:t>
            </a:r>
          </a:p>
          <a:p xmlns:a="http://schemas.openxmlformats.org/drawingml/2006/main">
            <a:pPr>
              <a:defRPr sz="1800" b="0">
                <a:solidFill>
                  <a:srgbClr val="BBB8C9"/>
                </a:solidFill>
                <a:latin typeface="Arial"/>
                <a:ea typeface="Arial"/>
                <a:cs typeface="Arial"/>
              </a:defRPr>
            </a:pPr>
            <a:r>
              <a:rPr sz="1800" b="0">
                <a:solidFill>
                  <a:srgbClr val="BBB8C9"/>
                </a:solidFill>
                <a:latin typeface="Arial"/>
                <a:ea typeface="Arial"/>
                <a:cs typeface="Arial"/>
              </a:rPr>
              <a:t>and media guests can explore on public MyDancr.</a:t>
            </a:r>
          </a:p>
        </p:txBody>
      </p:sp>
      <p:sp>
        <p:nvSpPr>
          <p:cNvPr id="39" name="">
            <a:extLst xmlns:a="http://schemas.openxmlformats.org/drawingml/2006/main">
              <a:ext uri="{FF2B5EF4-FFF2-40B4-BE49-F238E27FC236}">
                <a16:creationId xmlns:a16="http://schemas.microsoft.com/office/drawing/2014/main" id="{EAB5D23B-6F97-4830-BBB9-AE4FDB41F6A4}"/>
              </a:ext>
            </a:extLst>
          </p:cNvPr>
          <p:cNvSpPr>
            <a:spLocks xmlns:a="http://schemas.openxmlformats.org/drawingml/2006/main" noGrp="1"/>
          </p:cNvSpPr>
          <p:nvPr/>
        </p:nvSpPr>
        <p:spPr>
          <a:xfrm xmlns:a="http://schemas.openxmlformats.org/drawingml/2006/main">
            <a:off x="609600" y="470535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FAF8FF"/>
                </a:solidFill>
                <a:latin typeface="Arial"/>
                <a:ea typeface="Arial"/>
                <a:cs typeface="Arial"/>
              </a:defRPr>
            </a:pPr>
            <a:r>
              <a:rPr sz="2025" b="1">
                <a:solidFill>
                  <a:srgbClr val="FAF8FF"/>
                </a:solidFill>
                <a:latin typeface="Arial"/>
                <a:ea typeface="Arial"/>
                <a:cs typeface="Arial"/>
              </a:rPr>
              <a:t>Send a request to club staff</a:t>
            </a:r>
          </a:p>
        </p:txBody>
      </p:sp>
      <p:sp>
        <p:nvSpPr>
          <p:cNvPr id="40" name="">
            <a:extLst xmlns:a="http://schemas.openxmlformats.org/drawingml/2006/main">
              <a:ext uri="{FF2B5EF4-FFF2-40B4-BE49-F238E27FC236}">
                <a16:creationId xmlns:a16="http://schemas.microsoft.com/office/drawing/2014/main" id="{54C38B99-6C7F-4046-87EA-788C7FF3671F}"/>
              </a:ext>
            </a:extLst>
          </p:cNvPr>
          <p:cNvSpPr>
            <a:spLocks xmlns:a="http://schemas.openxmlformats.org/drawingml/2006/main" noGrp="1"/>
          </p:cNvSpPr>
          <p:nvPr/>
        </p:nvSpPr>
        <p:spPr>
          <a:xfrm xmlns:a="http://schemas.openxmlformats.org/drawingml/2006/main">
            <a:off x="609600" y="5143500"/>
            <a:ext cx="6191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BBB8C9"/>
                </a:solidFill>
                <a:latin typeface="Arial"/>
                <a:ea typeface="Arial"/>
                <a:cs typeface="Arial"/>
              </a:defRPr>
            </a:pPr>
            <a:r>
              <a:rPr sz="1800" b="0">
                <a:solidFill>
                  <a:srgbClr val="BBB8C9"/>
                </a:solidFill>
                <a:latin typeface="Arial"/>
                <a:ea typeface="Arial"/>
                <a:cs typeface="Arial"/>
              </a:rPr>
              <a:t>The guest chooses a dancer and requests them</a:t>
            </a:r>
          </a:p>
          <a:p xmlns:a="http://schemas.openxmlformats.org/drawingml/2006/main">
            <a:pPr>
              <a:defRPr sz="1800" b="0">
                <a:solidFill>
                  <a:srgbClr val="BBB8C9"/>
                </a:solidFill>
                <a:latin typeface="Arial"/>
                <a:ea typeface="Arial"/>
                <a:cs typeface="Arial"/>
              </a:defRPr>
            </a:pPr>
            <a:r>
              <a:rPr sz="1800" b="0">
                <a:solidFill>
                  <a:srgbClr val="BBB8C9"/>
                </a:solidFill>
                <a:latin typeface="Arial"/>
                <a:ea typeface="Arial"/>
                <a:cs typeface="Arial"/>
              </a:rPr>
              <a:t>at the table. Staff coordinate the next step.</a:t>
            </a:r>
          </a:p>
        </p:txBody>
      </p:sp>
      <p:sp>
        <p:nvSpPr>
          <p:cNvPr id="41" name="">
            <a:extLst xmlns:a="http://schemas.openxmlformats.org/drawingml/2006/main">
              <a:ext uri="{FF2B5EF4-FFF2-40B4-BE49-F238E27FC236}">
                <a16:creationId xmlns:a16="http://schemas.microsoft.com/office/drawing/2014/main" id="{D0031DDD-0670-4282-AE24-A744BB82F8D8}"/>
              </a:ext>
            </a:extLst>
          </p:cNvPr>
          <p:cNvSpPr>
            <a:spLocks xmlns:a="http://schemas.openxmlformats.org/drawingml/2006/main" noGrp="1"/>
          </p:cNvSpPr>
          <p:nvPr/>
        </p:nvSpPr>
        <p:spPr>
          <a:xfrm xmlns:a="http://schemas.openxmlformats.org/drawingml/2006/main">
            <a:off x="609600" y="6067425"/>
            <a:ext cx="6419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D4C4E8"/>
                </a:solidFill>
                <a:latin typeface="Arial"/>
                <a:ea typeface="Arial"/>
                <a:cs typeface="Arial"/>
              </a:defRPr>
            </a:pPr>
            <a:r>
              <a:rPr sz="1275" b="0">
                <a:solidFill>
                  <a:srgbClr val="D4C4E8"/>
                </a:solidFill>
                <a:latin typeface="Arial"/>
                <a:ea typeface="Arial"/>
                <a:cs typeface="Arial"/>
              </a:rPr>
              <a:t>Roster visibility and availability depend on check-in and staff confirmation.</a:t>
            </a:r>
          </a:p>
        </p:txBody>
      </p:sp>
    </p:spTree>
    <p:extLst>
      <p:ext uri="{BB962C8B-B14F-4D97-AF65-F5344CB8AC3E}">
        <p14:creationId xmlns:p14="http://schemas.microsoft.com/office/powerpoint/2010/main" val="1612359973"/>
      </p:ext>
    </p:extLst>
  </p:cSld>
</p:sld>
</file>

<file path=ppt/slides/slide4.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graphicFrame>
        <p:nvGraphicFramePr>
          <p:cNvPr id="28" name=""/>
          <p:cNvGraphicFramePr/>
          <p:nvPr/>
        </p:nvGraphicFramePr>
        <p:xfrm>
          <a:off xmlns:a="http://schemas.openxmlformats.org/drawingml/2006/main" x="6372225" y="2457450"/>
          <a:ext xmlns:a="http://schemas.openxmlformats.org/drawingml/2006/main" cx="5200650" cy="3124200"/>
        </p:xfrm>
        <a:graphic xmlns:a="http://schemas.openxmlformats.org/drawingml/2006/main">
          <a:graphicData uri="http://schemas.openxmlformats.org/drawingml/2006/table">
            <a:tbl>
              <a:tblPr/>
              <a:tblGrid>
                <a:gridCol w="1895475"/>
                <a:gridCol w="1104900"/>
                <a:gridCol w="1095375"/>
                <a:gridCol w="1104900"/>
              </a:tblGrid>
              <a:tr h="624840">
                <a:tc>
                  <a:txBody>
                    <a:bodyPr>
                      <a:noAutofit/>
                    </a:bodyPr>
                    <a:lstStyle/>
                    <a:p>
                      <a:pPr algn="l">
                        <a:buNone/>
                      </a:pPr>
                      <a:r>
                        <a:rPr sz="1425" b="1">
                          <a:solidFill>
                            <a:srgbClr val="D6C6F0"/>
                          </a:solidFill>
                          <a:latin typeface="Arial"/>
                          <a:ea typeface="Arial"/>
                          <a:cs typeface="Arial"/>
                        </a:rPr>
                        <a:t>Pilot measure</a:t>
                      </a:r>
                    </a:p>
                  </a:txBody>
                  <a:tcPr marL="91440" marR="91440" marT="45720" marB="45720" anchor="ctr">
                    <a:solidFill>
                      <a:srgbClr val="261C37"/>
                    </a:solidFill>
                  </a:tcPr>
                </a:tc>
                <a:tc gridSpan="3">
                  <a:txBody>
                    <a:bodyPr>
                      <a:noAutofit/>
                    </a:bodyPr>
                    <a:lstStyle/>
                    <a:p>
                      <a:pPr algn="r">
                        <a:buNone/>
                      </a:pPr>
                      <a:r>
                        <a:rPr sz="1425" b="1">
                          <a:solidFill>
                            <a:srgbClr val="D6C6F0"/>
                          </a:solidFill>
                          <a:latin typeface="Arial"/>
                          <a:ea typeface="Arial"/>
                          <a:cs typeface="Arial"/>
                        </a:rPr>
                        <a:t>Evidence to review</a:t>
                      </a:r>
                    </a:p>
                  </a:txBody>
                  <a:tcPr marL="91440" marR="91440" marT="45720" marB="45720" anchor="ctr">
                    <a:solidFill>
                      <a:srgbClr val="261C37"/>
                    </a:solidFill>
                  </a:tcPr>
                </a:tc>
                <a:tc hMerge="1">
                  <a:txBody>
                    <a:bodyPr>
                      <a:noAutofit/>
                    </a:bodyPr>
                    <a:lstStyle/>
                    <a:p>
                      <a:pPr algn="r">
                        <a:buNone/>
                      </a:pPr>
                      <a:r>
                        <a:rPr sz="1425" b="1">
                          <a:solidFill>
                            <a:srgbClr val="D6C6F0"/>
                          </a:solidFill>
                          <a:latin typeface="Arial"/>
                          <a:ea typeface="Arial"/>
                          <a:cs typeface="Arial"/>
                        </a:rPr>
                        <a:t/>
                      </a:r>
                    </a:p>
                  </a:txBody>
                  <a:tcPr marL="91440" marR="91440" marT="45720" marB="45720" anchor="ctr">
                    <a:solidFill>
                      <a:srgbClr val="261C37"/>
                    </a:solidFill>
                  </a:tcPr>
                </a:tc>
                <a:tc hMerge="1">
                  <a:txBody>
                    <a:bodyPr>
                      <a:noAutofit/>
                    </a:bodyPr>
                    <a:lstStyle/>
                    <a:p>
                      <a:pPr algn="r">
                        <a:buNone/>
                      </a:pPr>
                      <a:r>
                        <a:rPr sz="1425" b="1">
                          <a:solidFill>
                            <a:srgbClr val="D6C6F0"/>
                          </a:solidFill>
                          <a:latin typeface="Arial"/>
                          <a:ea typeface="Arial"/>
                          <a:cs typeface="Arial"/>
                        </a:rPr>
                        <a:t/>
                      </a:r>
                    </a:p>
                  </a:txBody>
                  <a:tcPr marL="91440" marR="91440" marT="45720" marB="45720" anchor="ctr">
                    <a:solidFill>
                      <a:srgbClr val="261C37"/>
                    </a:solidFill>
                  </a:tcPr>
                </a:tc>
              </a:tr>
              <a:tr h="624840">
                <a:tc>
                  <a:txBody>
                    <a:bodyPr>
                      <a:noAutofit/>
                    </a:bodyPr>
                    <a:lstStyle/>
                    <a:p>
                      <a:pPr algn="l">
                        <a:buNone/>
                      </a:pPr>
                      <a:r>
                        <a:rPr sz="1650" b="1">
                          <a:solidFill>
                            <a:srgbClr val="FAF8FF"/>
                          </a:solidFill>
                          <a:latin typeface="Arial"/>
                          <a:ea typeface="Arial"/>
                          <a:cs typeface="Arial"/>
                        </a:rPr>
                        <a:t>Guest preference</a:t>
                      </a:r>
                    </a:p>
                  </a:txBody>
                  <a:tcPr marL="91440" marR="91440" marT="45720" marB="45720" anchor="ctr">
                    <a:solidFill>
                      <a:srgbClr val="110E19"/>
                    </a:solidFill>
                  </a:tcPr>
                </a:tc>
                <a:tc gridSpan="3">
                  <a:txBody>
                    <a:bodyPr>
                      <a:noAutofit/>
                    </a:bodyPr>
                    <a:lstStyle/>
                    <a:p>
                      <a:pPr algn="r">
                        <a:buNone/>
                      </a:pPr>
                      <a:r>
                        <a:rPr sz="1650" b="0">
                          <a:solidFill>
                            <a:srgbClr val="FAF8FF"/>
                          </a:solidFill>
                          <a:latin typeface="Arial"/>
                          <a:ea typeface="Arial"/>
                          <a:cs typeface="Arial"/>
                        </a:rPr>
                        <a:t>Dancer and table</a:t>
                      </a:r>
                    </a:p>
                    <a:p>
                      <a:pPr algn="r">
                        <a:buNone/>
                      </a:pPr>
                      <a:r>
                        <a:rPr sz="1650" b="0">
                          <a:solidFill>
                            <a:srgbClr val="FAF8FF"/>
                          </a:solidFill>
                          <a:latin typeface="Arial"/>
                          <a:ea typeface="Arial"/>
                          <a:cs typeface="Arial"/>
                        </a:rPr>
                        <a:t>request activity</a:t>
                      </a:r>
                    </a:p>
                  </a:txBody>
                  <a:tcPr marL="91440" marR="91440" marT="45720" marB="45720" anchor="ctr">
                    <a:solidFill>
                      <a:srgbClr val="110E19"/>
                    </a:solidFill>
                  </a:tcPr>
                </a:tc>
                <a:tc hMerge="1">
                  <a:txBody>
                    <a:bodyPr>
                      <a:noAutofit/>
                    </a:bodyPr>
                    <a:lstStyle/>
                    <a:p>
                      <a:pPr algn="r">
                        <a:buNone/>
                      </a:pPr>
                      <a:r>
                        <a:rPr sz="1650" b="0">
                          <a:solidFill>
                            <a:srgbClr val="FAF8FF"/>
                          </a:solidFill>
                          <a:latin typeface="Arial"/>
                          <a:ea typeface="Arial"/>
                          <a:cs typeface="Arial"/>
                        </a:rPr>
                        <a:t/>
                      </a:r>
                    </a:p>
                  </a:txBody>
                  <a:tcPr marL="91440" marR="91440" marT="45720" marB="45720" anchor="ctr">
                    <a:solidFill>
                      <a:srgbClr val="110E19"/>
                    </a:solidFill>
                  </a:tcPr>
                </a:tc>
                <a:tc hMerge="1">
                  <a:txBody>
                    <a:bodyPr>
                      <a:noAutofit/>
                    </a:bodyPr>
                    <a:lstStyle/>
                    <a:p>
                      <a:pPr algn="r">
                        <a:buNone/>
                      </a:pPr>
                      <a:r>
                        <a:rPr sz="1650" b="0">
                          <a:solidFill>
                            <a:srgbClr val="FAF8FF"/>
                          </a:solidFill>
                          <a:latin typeface="Arial"/>
                          <a:ea typeface="Arial"/>
                          <a:cs typeface="Arial"/>
                        </a:rPr>
                        <a:t/>
                      </a:r>
                    </a:p>
                  </a:txBody>
                  <a:tcPr marL="91440" marR="91440" marT="45720" marB="45720" anchor="ctr">
                    <a:solidFill>
                      <a:srgbClr val="110E19"/>
                    </a:solidFill>
                  </a:tcPr>
                </a:tc>
              </a:tr>
              <a:tr h="624840">
                <a:tc>
                  <a:txBody>
                    <a:bodyPr>
                      <a:noAutofit/>
                    </a:bodyPr>
                    <a:lstStyle/>
                    <a:p>
                      <a:pPr algn="l">
                        <a:buNone/>
                      </a:pPr>
                      <a:r>
                        <a:rPr sz="1650" b="1">
                          <a:solidFill>
                            <a:srgbClr val="FAF8FF"/>
                          </a:solidFill>
                          <a:latin typeface="Arial"/>
                          <a:ea typeface="Arial"/>
                          <a:cs typeface="Arial"/>
                        </a:rPr>
                        <a:t>VIP purchases</a:t>
                      </a:r>
                    </a:p>
                  </a:txBody>
                  <a:tcPr marL="91440" marR="91440" marT="45720" marB="45720" anchor="ctr">
                    <a:solidFill>
                      <a:srgbClr val="171220"/>
                    </a:solidFill>
                  </a:tcPr>
                </a:tc>
                <a:tc gridSpan="3">
                  <a:txBody>
                    <a:bodyPr>
                      <a:noAutofit/>
                    </a:bodyPr>
                    <a:lstStyle/>
                    <a:p>
                      <a:pPr algn="r">
                        <a:buNone/>
                      </a:pPr>
                      <a:r>
                        <a:rPr sz="1650" b="0">
                          <a:solidFill>
                            <a:srgbClr val="FAF8FF"/>
                          </a:solidFill>
                          <a:latin typeface="Arial"/>
                          <a:ea typeface="Arial"/>
                          <a:cs typeface="Arial"/>
                        </a:rPr>
                        <a:t>Completed purchases</a:t>
                      </a:r>
                    </a:p>
                    <a:p>
                      <a:pPr algn="r">
                        <a:buNone/>
                      </a:pPr>
                      <a:r>
                        <a:rPr sz="1650" b="0">
                          <a:solidFill>
                            <a:srgbClr val="FAF8FF"/>
                          </a:solidFill>
                          <a:latin typeface="Arial"/>
                          <a:ea typeface="Arial"/>
                          <a:cs typeface="Arial"/>
                        </a:rPr>
                        <a:t>in club records</a:t>
                      </a:r>
                    </a:p>
                  </a:txBody>
                  <a:tcPr marL="91440" marR="91440" marT="45720" marB="45720" anchor="ctr">
                    <a:solidFill>
                      <a:srgbClr val="171220"/>
                    </a:solidFill>
                  </a:tcPr>
                </a:tc>
                <a:tc hMerge="1">
                  <a:txBody>
                    <a:bodyPr>
                      <a:noAutofit/>
                    </a:bodyPr>
                    <a:lstStyle/>
                    <a:p>
                      <a:pPr algn="r">
                        <a:buNone/>
                      </a:pPr>
                      <a:r>
                        <a:rPr sz="1650" b="0">
                          <a:solidFill>
                            <a:srgbClr val="FAF8FF"/>
                          </a:solidFill>
                          <a:latin typeface="Arial"/>
                          <a:ea typeface="Arial"/>
                          <a:cs typeface="Arial"/>
                        </a:rPr>
                        <a:t/>
                      </a:r>
                    </a:p>
                  </a:txBody>
                  <a:tcPr marL="91440" marR="91440" marT="45720" marB="45720" anchor="ctr">
                    <a:solidFill>
                      <a:srgbClr val="171220"/>
                    </a:solidFill>
                  </a:tcPr>
                </a:tc>
                <a:tc hMerge="1">
                  <a:txBody>
                    <a:bodyPr>
                      <a:noAutofit/>
                    </a:bodyPr>
                    <a:lstStyle/>
                    <a:p>
                      <a:pPr algn="r">
                        <a:buNone/>
                      </a:pPr>
                      <a:r>
                        <a:rPr sz="1650" b="0">
                          <a:solidFill>
                            <a:srgbClr val="FAF8FF"/>
                          </a:solidFill>
                          <a:latin typeface="Arial"/>
                          <a:ea typeface="Arial"/>
                          <a:cs typeface="Arial"/>
                        </a:rPr>
                        <a:t/>
                      </a:r>
                    </a:p>
                  </a:txBody>
                  <a:tcPr marL="91440" marR="91440" marT="45720" marB="45720" anchor="ctr">
                    <a:solidFill>
                      <a:srgbClr val="171220"/>
                    </a:solidFill>
                  </a:tcPr>
                </a:tc>
              </a:tr>
              <a:tr h="624840">
                <a:tc>
                  <a:txBody>
                    <a:bodyPr>
                      <a:noAutofit/>
                    </a:bodyPr>
                    <a:lstStyle/>
                    <a:p>
                      <a:pPr algn="l">
                        <a:buNone/>
                      </a:pPr>
                      <a:r>
                        <a:rPr sz="1650" b="1">
                          <a:solidFill>
                            <a:srgbClr val="FAF8FF"/>
                          </a:solidFill>
                          <a:latin typeface="Arial"/>
                          <a:ea typeface="Arial"/>
                          <a:cs typeface="Arial"/>
                        </a:rPr>
                        <a:t>VIP revenue</a:t>
                      </a:r>
                    </a:p>
                  </a:txBody>
                  <a:tcPr marL="91440" marR="91440" marT="45720" marB="45720" anchor="ctr">
                    <a:solidFill>
                      <a:srgbClr val="110E19"/>
                    </a:solidFill>
                  </a:tcPr>
                </a:tc>
                <a:tc gridSpan="3">
                  <a:txBody>
                    <a:bodyPr>
                      <a:noAutofit/>
                    </a:bodyPr>
                    <a:lstStyle/>
                    <a:p>
                      <a:pPr algn="r">
                        <a:buNone/>
                      </a:pPr>
                      <a:r>
                        <a:rPr sz="1650" b="0">
                          <a:solidFill>
                            <a:srgbClr val="FAF8FF"/>
                          </a:solidFill>
                          <a:latin typeface="Arial"/>
                          <a:ea typeface="Arial"/>
                          <a:cs typeface="Arial"/>
                        </a:rPr>
                        <a:t>Sales recorded</a:t>
                      </a:r>
                    </a:p>
                    <a:p>
                      <a:pPr algn="r">
                        <a:buNone/>
                      </a:pPr>
                      <a:r>
                        <a:rPr sz="1650" b="0">
                          <a:solidFill>
                            <a:srgbClr val="FAF8FF"/>
                          </a:solidFill>
                          <a:latin typeface="Arial"/>
                          <a:ea typeface="Arial"/>
                          <a:cs typeface="Arial"/>
                        </a:rPr>
                        <a:t>by the venue</a:t>
                      </a:r>
                    </a:p>
                  </a:txBody>
                  <a:tcPr marL="91440" marR="91440" marT="45720" marB="45720" anchor="ctr">
                    <a:solidFill>
                      <a:srgbClr val="110E19"/>
                    </a:solidFill>
                  </a:tcPr>
                </a:tc>
                <a:tc hMerge="1">
                  <a:txBody>
                    <a:bodyPr>
                      <a:noAutofit/>
                    </a:bodyPr>
                    <a:lstStyle/>
                    <a:p>
                      <a:pPr algn="r">
                        <a:buNone/>
                      </a:pPr>
                      <a:r>
                        <a:rPr sz="1650" b="0">
                          <a:solidFill>
                            <a:srgbClr val="FAF8FF"/>
                          </a:solidFill>
                          <a:latin typeface="Arial"/>
                          <a:ea typeface="Arial"/>
                          <a:cs typeface="Arial"/>
                        </a:rPr>
                        <a:t/>
                      </a:r>
                    </a:p>
                  </a:txBody>
                  <a:tcPr marL="91440" marR="91440" marT="45720" marB="45720" anchor="ctr">
                    <a:solidFill>
                      <a:srgbClr val="110E19"/>
                    </a:solidFill>
                  </a:tcPr>
                </a:tc>
                <a:tc hMerge="1">
                  <a:txBody>
                    <a:bodyPr>
                      <a:noAutofit/>
                    </a:bodyPr>
                    <a:lstStyle/>
                    <a:p>
                      <a:pPr algn="r">
                        <a:buNone/>
                      </a:pPr>
                      <a:r>
                        <a:rPr sz="1650" b="0">
                          <a:solidFill>
                            <a:srgbClr val="FAF8FF"/>
                          </a:solidFill>
                          <a:latin typeface="Arial"/>
                          <a:ea typeface="Arial"/>
                          <a:cs typeface="Arial"/>
                        </a:rPr>
                        <a:t/>
                      </a:r>
                    </a:p>
                  </a:txBody>
                  <a:tcPr marL="91440" marR="91440" marT="45720" marB="45720" anchor="ctr">
                    <a:solidFill>
                      <a:srgbClr val="110E19"/>
                    </a:solidFill>
                  </a:tcPr>
                </a:tc>
              </a:tr>
              <a:tr h="624840">
                <a:tc>
                  <a:txBody>
                    <a:bodyPr>
                      <a:noAutofit/>
                    </a:bodyPr>
                    <a:lstStyle/>
                    <a:p>
                      <a:pPr algn="l">
                        <a:buNone/>
                      </a:pPr>
                      <a:r>
                        <a:rPr sz="1650" b="1">
                          <a:solidFill>
                            <a:srgbClr val="FAF8FF"/>
                          </a:solidFill>
                          <a:latin typeface="Arial"/>
                          <a:ea typeface="Arial"/>
                          <a:cs typeface="Arial"/>
                        </a:rPr>
                        <a:t>Guest experience</a:t>
                      </a:r>
                    </a:p>
                  </a:txBody>
                  <a:tcPr marL="91440" marR="91440" marT="45720" marB="45720" anchor="ctr">
                    <a:solidFill>
                      <a:srgbClr val="171220"/>
                    </a:solidFill>
                  </a:tcPr>
                </a:tc>
                <a:tc gridSpan="3">
                  <a:txBody>
                    <a:bodyPr>
                      <a:noAutofit/>
                    </a:bodyPr>
                    <a:lstStyle/>
                    <a:p>
                      <a:pPr algn="r">
                        <a:buNone/>
                      </a:pPr>
                      <a:r>
                        <a:rPr sz="1650" b="0">
                          <a:solidFill>
                            <a:srgbClr val="FAF8FF"/>
                          </a:solidFill>
                          <a:latin typeface="Arial"/>
                          <a:ea typeface="Arial"/>
                          <a:cs typeface="Arial"/>
                        </a:rPr>
                        <a:t>Short survey on ease</a:t>
                      </a:r>
                    </a:p>
                    <a:p>
                      <a:pPr algn="r">
                        <a:buNone/>
                      </a:pPr>
                      <a:r>
                        <a:rPr sz="1650" b="0">
                          <a:solidFill>
                            <a:srgbClr val="FAF8FF"/>
                          </a:solidFill>
                          <a:latin typeface="Arial"/>
                          <a:ea typeface="Arial"/>
                          <a:cs typeface="Arial"/>
                        </a:rPr>
                        <a:t>of finding and requesting</a:t>
                      </a:r>
                    </a:p>
                  </a:txBody>
                  <a:tcPr marL="91440" marR="91440" marT="45720" marB="45720" anchor="ctr">
                    <a:solidFill>
                      <a:srgbClr val="171220"/>
                    </a:solidFill>
                  </a:tcPr>
                </a:tc>
                <a:tc hMerge="1">
                  <a:txBody>
                    <a:bodyPr>
                      <a:noAutofit/>
                    </a:bodyPr>
                    <a:lstStyle/>
                    <a:p>
                      <a:pPr algn="r">
                        <a:buNone/>
                      </a:pPr>
                      <a:r>
                        <a:rPr sz="1650" b="0">
                          <a:solidFill>
                            <a:srgbClr val="FAF8FF"/>
                          </a:solidFill>
                          <a:latin typeface="Arial"/>
                          <a:ea typeface="Arial"/>
                          <a:cs typeface="Arial"/>
                        </a:rPr>
                        <a:t/>
                      </a:r>
                    </a:p>
                  </a:txBody>
                  <a:tcPr marL="91440" marR="91440" marT="45720" marB="45720" anchor="ctr">
                    <a:solidFill>
                      <a:srgbClr val="171220"/>
                    </a:solidFill>
                  </a:tcPr>
                </a:tc>
                <a:tc hMerge="1">
                  <a:txBody>
                    <a:bodyPr>
                      <a:noAutofit/>
                    </a:bodyPr>
                    <a:lstStyle/>
                    <a:p>
                      <a:pPr algn="r">
                        <a:buNone/>
                      </a:pPr>
                      <a:r>
                        <a:rPr sz="1650" b="0">
                          <a:solidFill>
                            <a:srgbClr val="FAF8FF"/>
                          </a:solidFill>
                          <a:latin typeface="Arial"/>
                          <a:ea typeface="Arial"/>
                          <a:cs typeface="Arial"/>
                        </a:rPr>
                        <a:t/>
                      </a:r>
                    </a:p>
                  </a:txBody>
                  <a:tcPr marL="91440" marR="91440" marT="45720" marB="45720" anchor="ctr">
                    <a:solidFill>
                      <a:srgbClr val="171220"/>
                    </a:solidFill>
                  </a:tcPr>
                </a:tc>
              </a:tr>
            </a:tbl>
          </a:graphicData>
        </a:graphic>
      </p:graphicFrame>
      <p:sp>
        <p:nvSpPr>
          <p:cNvPr id="16" name="">
            <a:extLst xmlns:a="http://schemas.openxmlformats.org/drawingml/2006/main">
              <a:ext uri="{FF2B5EF4-FFF2-40B4-BE49-F238E27FC236}">
                <a16:creationId xmlns:a16="http://schemas.microsoft.com/office/drawing/2014/main" id="{F634B182-28D6-4A96-A610-07382EA3EF23}"/>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FAF8FF"/>
                </a:solidFill>
                <a:latin typeface="Arial"/>
                <a:ea typeface="Arial"/>
                <a:cs typeface="Arial"/>
              </a:defRPr>
            </a:pPr>
            <a:r>
              <a:rPr sz="3600" b="1">
                <a:solidFill>
                  <a:srgbClr val="FAF8FF"/>
                </a:solidFill>
                <a:latin typeface="Arial"/>
                <a:ea typeface="Arial"/>
                <a:cs typeface="Arial"/>
              </a:rPr>
              <a:t>The VIP sales opportunity</a:t>
            </a:r>
          </a:p>
        </p:txBody>
      </p:sp>
      <p:sp>
        <p:nvSpPr>
          <p:cNvPr id="17" name="">
            <a:extLst xmlns:a="http://schemas.openxmlformats.org/drawingml/2006/main">
              <a:ext uri="{FF2B5EF4-FFF2-40B4-BE49-F238E27FC236}">
                <a16:creationId xmlns:a16="http://schemas.microsoft.com/office/drawing/2014/main" id="{E5D3999A-A7BB-47C1-9F7E-A72FF3EB9332}"/>
              </a:ext>
            </a:extLst>
          </p:cNvPr>
          <p:cNvSpPr>
            <a:spLocks xmlns:a="http://schemas.openxmlformats.org/drawingml/2006/main" noGrp="1"/>
          </p:cNvSpPr>
          <p:nvPr/>
        </p:nvSpPr>
        <p:spPr>
          <a:xfrm xmlns:a="http://schemas.openxmlformats.org/drawingml/2006/main">
            <a:off x="609600" y="11906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BBB8C9"/>
                </a:solidFill>
                <a:latin typeface="Arial"/>
                <a:ea typeface="Arial"/>
                <a:cs typeface="Arial"/>
              </a:defRPr>
            </a:pPr>
            <a:r>
              <a:rPr sz="1650" b="0">
                <a:solidFill>
                  <a:srgbClr val="BBB8C9"/>
                </a:solidFill>
                <a:latin typeface="Arial"/>
                <a:ea typeface="Arial"/>
                <a:cs typeface="Arial"/>
              </a:rPr>
              <a:t>A clearer guest preference gives staff a concrete conversation to act on</a:t>
            </a:r>
          </a:p>
        </p:txBody>
      </p:sp>
      <p:sp>
        <p:nvSpPr>
          <p:cNvPr id="18" name="">
            <a:extLst xmlns:a="http://schemas.openxmlformats.org/drawingml/2006/main">
              <a:ext uri="{FF2B5EF4-FFF2-40B4-BE49-F238E27FC236}">
                <a16:creationId xmlns:a16="http://schemas.microsoft.com/office/drawing/2014/main" id="{0C1EFC0A-C3ED-449D-912D-13692040F1DE}"/>
              </a:ext>
            </a:extLst>
          </p:cNvPr>
          <p:cNvSpPr>
            <a:spLocks xmlns:a="http://schemas.openxmlformats.org/drawingml/2006/main" noGrp="1"/>
          </p:cNvSpPr>
          <p:nvPr/>
        </p:nvSpPr>
        <p:spPr>
          <a:xfrm xmlns:a="http://schemas.openxmlformats.org/drawingml/2006/main">
            <a:off x="609600" y="6457950"/>
            <a:ext cx="228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918A9F"/>
                </a:solidFill>
                <a:latin typeface="Arial"/>
                <a:ea typeface="Arial"/>
                <a:cs typeface="Arial"/>
              </a:defRPr>
            </a:pPr>
            <a:r>
              <a:rPr sz="1125" b="1">
                <a:solidFill>
                  <a:srgbClr val="918A9F"/>
                </a:solidFill>
                <a:latin typeface="Arial"/>
                <a:ea typeface="Arial"/>
                <a:cs typeface="Arial"/>
              </a:rPr>
              <a:t>MyDancr</a:t>
            </a:r>
          </a:p>
        </p:txBody>
      </p:sp>
      <p:sp>
        <p:nvSpPr>
          <p:cNvPr id="19" name="">
            <a:extLst xmlns:a="http://schemas.openxmlformats.org/drawingml/2006/main">
              <a:ext uri="{FF2B5EF4-FFF2-40B4-BE49-F238E27FC236}">
                <a16:creationId xmlns:a16="http://schemas.microsoft.com/office/drawing/2014/main" id="{4B85AFC9-3A7D-48A1-A60F-D2D48CD0A3EB}"/>
              </a:ext>
            </a:extLst>
          </p:cNvPr>
          <p:cNvSpPr>
            <a:spLocks xmlns:a="http://schemas.openxmlformats.org/drawingml/2006/main" noGrp="1"/>
          </p:cNvSpPr>
          <p:nvPr/>
        </p:nvSpPr>
        <p:spPr>
          <a:xfrm xmlns:a="http://schemas.openxmlformats.org/drawingml/2006/main">
            <a:off x="10572750" y="6457950"/>
            <a:ext cx="1009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125" b="0">
                <a:solidFill>
                  <a:srgbClr val="918A9F"/>
                </a:solidFill>
                <a:latin typeface="Arial"/>
                <a:ea typeface="Arial"/>
                <a:cs typeface="Arial"/>
              </a:defRPr>
            </a:pPr>
            <a:r>
              <a:rPr sz="1125" b="0">
                <a:solidFill>
                  <a:srgbClr val="918A9F"/>
                </a:solidFill>
                <a:latin typeface="Arial"/>
                <a:ea typeface="Arial"/>
                <a:cs typeface="Arial"/>
              </a:rPr>
              <a:t>04 / 07</a:t>
            </a:r>
          </a:p>
        </p:txBody>
      </p:sp>
      <p:sp>
        <p:nvSpPr>
          <p:cNvPr id="20" name="">
            <a:extLst xmlns:a="http://schemas.openxmlformats.org/drawingml/2006/main">
              <a:ext uri="{FF2B5EF4-FFF2-40B4-BE49-F238E27FC236}">
                <a16:creationId xmlns:a16="http://schemas.microsoft.com/office/drawing/2014/main" id="{665462B7-0A69-4E69-A6F8-ADD88BF409DD}"/>
              </a:ext>
            </a:extLst>
          </p:cNvPr>
          <p:cNvSpPr>
            <a:spLocks xmlns:a="http://schemas.openxmlformats.org/drawingml/2006/main" noGrp="1"/>
          </p:cNvSpPr>
          <p:nvPr/>
        </p:nvSpPr>
        <p:spPr>
          <a:xfrm xmlns:a="http://schemas.openxmlformats.org/drawingml/2006/main">
            <a:off x="609600" y="19145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FAF8FF"/>
                </a:solidFill>
                <a:latin typeface="Arial"/>
                <a:ea typeface="Arial"/>
                <a:cs typeface="Arial"/>
              </a:defRPr>
            </a:pPr>
            <a:r>
              <a:rPr sz="2025" b="1">
                <a:solidFill>
                  <a:srgbClr val="FAF8FF"/>
                </a:solidFill>
                <a:latin typeface="Arial"/>
                <a:ea typeface="Arial"/>
                <a:cs typeface="Arial"/>
              </a:rPr>
              <a:t>More confidence in the choice</a:t>
            </a:r>
          </a:p>
        </p:txBody>
      </p:sp>
      <p:sp>
        <p:nvSpPr>
          <p:cNvPr id="21" name="">
            <a:extLst xmlns:a="http://schemas.openxmlformats.org/drawingml/2006/main">
              <a:ext uri="{FF2B5EF4-FFF2-40B4-BE49-F238E27FC236}">
                <a16:creationId xmlns:a16="http://schemas.microsoft.com/office/drawing/2014/main" id="{60B94509-21CF-4299-8224-A9B2536C8BB7}"/>
              </a:ext>
            </a:extLst>
          </p:cNvPr>
          <p:cNvSpPr>
            <a:spLocks xmlns:a="http://schemas.openxmlformats.org/drawingml/2006/main" noGrp="1"/>
          </p:cNvSpPr>
          <p:nvPr/>
        </p:nvSpPr>
        <p:spPr>
          <a:xfrm xmlns:a="http://schemas.openxmlformats.org/drawingml/2006/main">
            <a:off x="609600" y="2352675"/>
            <a:ext cx="5334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BBB8C9"/>
                </a:solidFill>
                <a:latin typeface="Arial"/>
                <a:ea typeface="Arial"/>
                <a:cs typeface="Arial"/>
              </a:defRPr>
            </a:pPr>
            <a:r>
              <a:rPr sz="1725" b="0">
                <a:solidFill>
                  <a:srgbClr val="BBB8C9"/>
                </a:solidFill>
                <a:latin typeface="Arial"/>
                <a:ea typeface="Arial"/>
                <a:cs typeface="Arial"/>
              </a:rPr>
              <a:t>Photos and videos help guests decide whom</a:t>
            </a:r>
          </a:p>
          <a:p xmlns:a="http://schemas.openxmlformats.org/drawingml/2006/main">
            <a:pPr>
              <a:defRPr sz="1725" b="0">
                <a:solidFill>
                  <a:srgbClr val="BBB8C9"/>
                </a:solidFill>
                <a:latin typeface="Arial"/>
                <a:ea typeface="Arial"/>
                <a:cs typeface="Arial"/>
              </a:defRPr>
            </a:pPr>
            <a:r>
              <a:rPr sz="1725" b="0">
                <a:solidFill>
                  <a:srgbClr val="BBB8C9"/>
                </a:solidFill>
                <a:latin typeface="Arial"/>
                <a:ea typeface="Arial"/>
                <a:cs typeface="Arial"/>
              </a:rPr>
              <a:t>they want to meet before sending a request.</a:t>
            </a:r>
          </a:p>
        </p:txBody>
      </p:sp>
      <p:sp>
        <p:nvSpPr>
          <p:cNvPr id="22" name="">
            <a:extLst xmlns:a="http://schemas.openxmlformats.org/drawingml/2006/main">
              <a:ext uri="{FF2B5EF4-FFF2-40B4-BE49-F238E27FC236}">
                <a16:creationId xmlns:a16="http://schemas.microsoft.com/office/drawing/2014/main" id="{F2517B36-E428-4F13-8767-6EFEF815706A}"/>
              </a:ext>
            </a:extLst>
          </p:cNvPr>
          <p:cNvSpPr>
            <a:spLocks xmlns:a="http://schemas.openxmlformats.org/drawingml/2006/main" noGrp="1"/>
          </p:cNvSpPr>
          <p:nvPr/>
        </p:nvSpPr>
        <p:spPr>
          <a:xfrm xmlns:a="http://schemas.openxmlformats.org/drawingml/2006/main">
            <a:off x="609600" y="3381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FAF8FF"/>
                </a:solidFill>
                <a:latin typeface="Arial"/>
                <a:ea typeface="Arial"/>
                <a:cs typeface="Arial"/>
              </a:defRPr>
            </a:pPr>
            <a:r>
              <a:rPr sz="2025" b="1">
                <a:solidFill>
                  <a:srgbClr val="FAF8FF"/>
                </a:solidFill>
                <a:latin typeface="Arial"/>
                <a:ea typeface="Arial"/>
                <a:cs typeface="Arial"/>
              </a:rPr>
              <a:t>A direct handoff to staff</a:t>
            </a:r>
          </a:p>
        </p:txBody>
      </p:sp>
      <p:sp>
        <p:nvSpPr>
          <p:cNvPr id="23" name="">
            <a:extLst xmlns:a="http://schemas.openxmlformats.org/drawingml/2006/main">
              <a:ext uri="{FF2B5EF4-FFF2-40B4-BE49-F238E27FC236}">
                <a16:creationId xmlns:a16="http://schemas.microsoft.com/office/drawing/2014/main" id="{36C2B486-9A6C-4278-B61A-2F03945D84CE}"/>
              </a:ext>
            </a:extLst>
          </p:cNvPr>
          <p:cNvSpPr>
            <a:spLocks xmlns:a="http://schemas.openxmlformats.org/drawingml/2006/main" noGrp="1"/>
          </p:cNvSpPr>
          <p:nvPr/>
        </p:nvSpPr>
        <p:spPr>
          <a:xfrm xmlns:a="http://schemas.openxmlformats.org/drawingml/2006/main">
            <a:off x="609600" y="3819525"/>
            <a:ext cx="5334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BBB8C9"/>
                </a:solidFill>
                <a:latin typeface="Arial"/>
                <a:ea typeface="Arial"/>
                <a:cs typeface="Arial"/>
              </a:defRPr>
            </a:pPr>
            <a:r>
              <a:rPr sz="1725" b="0">
                <a:solidFill>
                  <a:srgbClr val="BBB8C9"/>
                </a:solidFill>
                <a:latin typeface="Arial"/>
                <a:ea typeface="Arial"/>
                <a:cs typeface="Arial"/>
              </a:rPr>
              <a:t>The request identifies the dancer and table.</a:t>
            </a:r>
          </a:p>
          <a:p xmlns:a="http://schemas.openxmlformats.org/drawingml/2006/main">
            <a:pPr>
              <a:defRPr sz="1725" b="0">
                <a:solidFill>
                  <a:srgbClr val="BBB8C9"/>
                </a:solidFill>
                <a:latin typeface="Arial"/>
                <a:ea typeface="Arial"/>
                <a:cs typeface="Arial"/>
              </a:defRPr>
            </a:pPr>
            <a:r>
              <a:rPr sz="1725" b="0">
                <a:solidFill>
                  <a:srgbClr val="BBB8C9"/>
                </a:solidFill>
                <a:latin typeface="Arial"/>
                <a:ea typeface="Arial"/>
                <a:cs typeface="Arial"/>
              </a:rPr>
              <a:t>Staff confirm availability and discuss options.</a:t>
            </a:r>
          </a:p>
        </p:txBody>
      </p:sp>
      <p:sp>
        <p:nvSpPr>
          <p:cNvPr id="24" name="">
            <a:extLst xmlns:a="http://schemas.openxmlformats.org/drawingml/2006/main">
              <a:ext uri="{FF2B5EF4-FFF2-40B4-BE49-F238E27FC236}">
                <a16:creationId xmlns:a16="http://schemas.microsoft.com/office/drawing/2014/main" id="{F1AA5B78-9AE9-4624-BC1D-ECBB7A32BDAA}"/>
              </a:ext>
            </a:extLst>
          </p:cNvPr>
          <p:cNvSpPr>
            <a:spLocks xmlns:a="http://schemas.openxmlformats.org/drawingml/2006/main" noGrp="1"/>
          </p:cNvSpPr>
          <p:nvPr/>
        </p:nvSpPr>
        <p:spPr>
          <a:xfrm xmlns:a="http://schemas.openxmlformats.org/drawingml/2006/main">
            <a:off x="609600" y="48482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FAF8FF"/>
                </a:solidFill>
                <a:latin typeface="Arial"/>
                <a:ea typeface="Arial"/>
                <a:cs typeface="Arial"/>
              </a:defRPr>
            </a:pPr>
            <a:r>
              <a:rPr sz="2025" b="1">
                <a:solidFill>
                  <a:srgbClr val="FAF8FF"/>
                </a:solidFill>
                <a:latin typeface="Arial"/>
                <a:ea typeface="Arial"/>
                <a:cs typeface="Arial"/>
              </a:rPr>
              <a:t>Commercial results to test</a:t>
            </a:r>
          </a:p>
        </p:txBody>
      </p:sp>
      <p:sp>
        <p:nvSpPr>
          <p:cNvPr id="25" name="">
            <a:extLst xmlns:a="http://schemas.openxmlformats.org/drawingml/2006/main">
              <a:ext uri="{FF2B5EF4-FFF2-40B4-BE49-F238E27FC236}">
                <a16:creationId xmlns:a16="http://schemas.microsoft.com/office/drawing/2014/main" id="{87CDD040-98D7-4CB4-ABCB-41C2268B9539}"/>
              </a:ext>
            </a:extLst>
          </p:cNvPr>
          <p:cNvSpPr>
            <a:spLocks xmlns:a="http://schemas.openxmlformats.org/drawingml/2006/main" noGrp="1"/>
          </p:cNvSpPr>
          <p:nvPr/>
        </p:nvSpPr>
        <p:spPr>
          <a:xfrm xmlns:a="http://schemas.openxmlformats.org/drawingml/2006/main">
            <a:off x="609600" y="5286375"/>
            <a:ext cx="5334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BBB8C9"/>
                </a:solidFill>
                <a:latin typeface="Arial"/>
                <a:ea typeface="Arial"/>
                <a:cs typeface="Arial"/>
              </a:defRPr>
            </a:pPr>
            <a:r>
              <a:rPr sz="1725" b="0">
                <a:solidFill>
                  <a:srgbClr val="BBB8C9"/>
                </a:solidFill>
                <a:latin typeface="Arial"/>
                <a:ea typeface="Arial"/>
                <a:cs typeface="Arial"/>
              </a:rPr>
              <a:t>Evaluate whether easier requests support more</a:t>
            </a:r>
          </a:p>
          <a:p xmlns:a="http://schemas.openxmlformats.org/drawingml/2006/main">
            <a:pPr>
              <a:defRPr sz="1725" b="0">
                <a:solidFill>
                  <a:srgbClr val="BBB8C9"/>
                </a:solidFill>
                <a:latin typeface="Arial"/>
                <a:ea typeface="Arial"/>
                <a:cs typeface="Arial"/>
              </a:defRPr>
            </a:pPr>
            <a:r>
              <a:rPr sz="1725" b="0">
                <a:solidFill>
                  <a:srgbClr val="BBB8C9"/>
                </a:solidFill>
                <a:latin typeface="Arial"/>
                <a:ea typeface="Arial"/>
                <a:cs typeface="Arial"/>
              </a:rPr>
              <a:t>VIP purchases and greater guest satisfaction.</a:t>
            </a:r>
          </a:p>
        </p:txBody>
      </p:sp>
      <p:sp>
        <p:nvSpPr>
          <p:cNvPr id="26" name="">
            <a:extLst xmlns:a="http://schemas.openxmlformats.org/drawingml/2006/main">
              <a:ext uri="{FF2B5EF4-FFF2-40B4-BE49-F238E27FC236}">
                <a16:creationId xmlns:a16="http://schemas.microsoft.com/office/drawing/2014/main" id="{B7FCD962-64E5-4D30-8F68-FE96D3804EDA}"/>
              </a:ext>
            </a:extLst>
          </p:cNvPr>
          <p:cNvSpPr>
            <a:spLocks xmlns:a="http://schemas.openxmlformats.org/drawingml/2006/main" noGrp="1"/>
          </p:cNvSpPr>
          <p:nvPr/>
        </p:nvSpPr>
        <p:spPr>
          <a:xfrm xmlns:a="http://schemas.openxmlformats.org/drawingml/2006/main">
            <a:off x="6372225" y="1962150"/>
            <a:ext cx="5200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B88AFF"/>
                </a:solidFill>
                <a:latin typeface="Arial"/>
                <a:ea typeface="Arial"/>
                <a:cs typeface="Arial"/>
              </a:defRPr>
            </a:pPr>
            <a:r>
              <a:rPr sz="1950" b="1">
                <a:solidFill>
                  <a:srgbClr val="B88AFF"/>
                </a:solidFill>
                <a:latin typeface="Arial"/>
                <a:ea typeface="Arial"/>
                <a:cs typeface="Arial"/>
              </a:rPr>
              <a:t>Evidence for the pilot</a:t>
            </a:r>
          </a:p>
        </p:txBody>
      </p:sp>
      <p:sp>
        <p:nvSpPr>
          <p:cNvPr id="27" name="">
            <a:extLst xmlns:a="http://schemas.openxmlformats.org/drawingml/2006/main">
              <a:ext uri="{FF2B5EF4-FFF2-40B4-BE49-F238E27FC236}">
                <a16:creationId xmlns:a16="http://schemas.microsoft.com/office/drawing/2014/main" id="{66F63E88-9651-412D-A93D-EF10680CEEF9}"/>
              </a:ext>
            </a:extLst>
          </p:cNvPr>
          <p:cNvSpPr>
            <a:spLocks xmlns:a="http://schemas.openxmlformats.org/drawingml/2006/main" noGrp="1"/>
          </p:cNvSpPr>
          <p:nvPr/>
        </p:nvSpPr>
        <p:spPr>
          <a:xfrm xmlns:a="http://schemas.openxmlformats.org/drawingml/2006/main">
            <a:off x="6372225" y="5800725"/>
            <a:ext cx="5200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BB8C9"/>
                </a:solidFill>
                <a:latin typeface="Arial"/>
                <a:ea typeface="Arial"/>
                <a:cs typeface="Arial"/>
              </a:defRPr>
            </a:pPr>
            <a:r>
              <a:rPr sz="1350" b="0">
                <a:solidFill>
                  <a:srgbClr val="BBB8C9"/>
                </a:solidFill>
                <a:latin typeface="Arial"/>
                <a:ea typeface="Arial"/>
                <a:cs typeface="Arial"/>
              </a:rPr>
              <a:t>Proposed evaluation: reconcile requests with club sales records.</a:t>
            </a:r>
          </a:p>
        </p:txBody>
      </p:sp>
    </p:spTree>
    <p:extLst>
      <p:ext uri="{BB962C8B-B14F-4D97-AF65-F5344CB8AC3E}">
        <p14:creationId xmlns:p14="http://schemas.microsoft.com/office/powerpoint/2010/main" val="1080678236"/>
      </p:ext>
    </p:extLst>
  </p:cSld>
</p:sld>
</file>

<file path=ppt/slides/slide5.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graphicFrame>
        <p:nvGraphicFramePr>
          <p:cNvPr id="59" name="Chart"/>
          <p:cNvGraphicFramePr/>
          <p:nvPr/>
        </p:nvGraphicFramePr>
        <p:xfrm>
          <a:off xmlns:a="http://schemas.openxmlformats.org/drawingml/2006/main" x="609600" y="3333750"/>
          <a:ext xmlns:a="http://schemas.openxmlformats.org/drawingml/2006/main" cx="6419850" cy="2276475"/>
        </p:xfrm>
        <a:graphic xmlns:a="http://schemas.openxmlformats.org/drawingml/2006/main">
          <a:graphicData uri="http://schemas.openxmlformats.org/drawingml/2006/chart">
            <c:chart xmlns:r="http://schemas.openxmlformats.org/officeDocument/2006/relationships" xmlns:c="http://schemas.openxmlformats.org/drawingml/2006/chart" r:id="R815d3bf09bae438b"/>
          </a:graphicData>
        </a:graphic>
      </p:graphicFrame>
      <p:graphicFrame>
        <p:nvGraphicFramePr>
          <p:cNvPr id="60" name=""/>
          <p:cNvGraphicFramePr/>
          <p:nvPr/>
        </p:nvGraphicFramePr>
        <p:xfrm>
          <a:off xmlns:a="http://schemas.openxmlformats.org/drawingml/2006/main" x="7429500" y="3371850"/>
          <a:ext xmlns:a="http://schemas.openxmlformats.org/drawingml/2006/main" cx="4143375" cy="2228850"/>
        </p:xfrm>
        <a:graphic xmlns:a="http://schemas.openxmlformats.org/drawingml/2006/main">
          <a:graphicData uri="http://schemas.openxmlformats.org/drawingml/2006/table">
            <a:tbl>
              <a:tblPr/>
              <a:tblGrid>
                <a:gridCol w="2876550"/>
                <a:gridCol w="1266825"/>
              </a:tblGrid>
              <a:tr h="445770">
                <a:tc>
                  <a:txBody>
                    <a:bodyPr>
                      <a:noAutofit/>
                    </a:bodyPr>
                    <a:lstStyle/>
                    <a:p>
                      <a:pPr algn="l">
                        <a:buNone/>
                      </a:pPr>
                      <a:r>
                        <a:rPr sz="1500" b="1">
                          <a:solidFill>
                            <a:srgbClr val="D6C6F0"/>
                          </a:solidFill>
                          <a:latin typeface="Arial"/>
                          <a:ea typeface="Arial"/>
                          <a:cs typeface="Arial"/>
                        </a:rPr>
                        <a:t>Audience &amp; intent</a:t>
                      </a:r>
                    </a:p>
                  </a:txBody>
                  <a:tcPr marL="91440" marR="91440" marT="45720" marB="45720" anchor="ctr">
                    <a:solidFill>
                      <a:srgbClr val="261C37"/>
                    </a:solidFill>
                  </a:tcPr>
                </a:tc>
                <a:tc>
                  <a:txBody>
                    <a:bodyPr>
                      <a:noAutofit/>
                    </a:bodyPr>
                    <a:lstStyle/>
                    <a:p>
                      <a:pPr algn="r">
                        <a:buNone/>
                      </a:pPr>
                      <a:r>
                        <a:rPr sz="1500" b="1">
                          <a:solidFill>
                            <a:srgbClr val="D6C6F0"/>
                          </a:solidFill>
                          <a:latin typeface="Arial"/>
                          <a:ea typeface="Arial"/>
                          <a:cs typeface="Arial"/>
                        </a:rPr>
                        <a:t>Count</a:t>
                      </a:r>
                    </a:p>
                  </a:txBody>
                  <a:tcPr marL="91440" marR="91440" marT="45720" marB="45720" anchor="ctr">
                    <a:solidFill>
                      <a:srgbClr val="261C37"/>
                    </a:solidFill>
                  </a:tcPr>
                </a:tc>
              </a:tr>
              <a:tr h="445770">
                <a:tc>
                  <a:txBody>
                    <a:bodyPr>
                      <a:noAutofit/>
                    </a:bodyPr>
                    <a:lstStyle/>
                    <a:p>
                      <a:pPr algn="l">
                        <a:buNone/>
                      </a:pPr>
                      <a:r>
                        <a:rPr sz="1575" b="1">
                          <a:solidFill>
                            <a:srgbClr val="FAF8FF"/>
                          </a:solidFill>
                          <a:latin typeface="Arial"/>
                          <a:ea typeface="Arial"/>
                          <a:cs typeface="Arial"/>
                        </a:rPr>
                        <a:t>Card impressions</a:t>
                      </a:r>
                    </a:p>
                  </a:txBody>
                  <a:tcPr marL="91440" marR="91440" marT="45720" marB="45720" anchor="ctr">
                    <a:solidFill>
                      <a:srgbClr val="110E19"/>
                    </a:solidFill>
                  </a:tcPr>
                </a:tc>
                <a:tc>
                  <a:txBody>
                    <a:bodyPr>
                      <a:noAutofit/>
                    </a:bodyPr>
                    <a:lstStyle/>
                    <a:p>
                      <a:pPr algn="r">
                        <a:buNone/>
                      </a:pPr>
                      <a:r>
                        <a:rPr sz="1575" b="0">
                          <a:solidFill>
                            <a:srgbClr val="FAF8FF"/>
                          </a:solidFill>
                          <a:latin typeface="Arial"/>
                          <a:ea typeface="Arial"/>
                          <a:cs typeface="Arial"/>
                        </a:rPr>
                        <a:t>18,400</a:t>
                      </a:r>
                    </a:p>
                  </a:txBody>
                  <a:tcPr marL="91440" marR="91440" marT="45720" marB="45720" anchor="ctr">
                    <a:solidFill>
                      <a:srgbClr val="110E19"/>
                    </a:solidFill>
                  </a:tcPr>
                </a:tc>
              </a:tr>
              <a:tr h="445770">
                <a:tc>
                  <a:txBody>
                    <a:bodyPr>
                      <a:noAutofit/>
                    </a:bodyPr>
                    <a:lstStyle/>
                    <a:p>
                      <a:pPr algn="l">
                        <a:buNone/>
                      </a:pPr>
                      <a:r>
                        <a:rPr sz="1575" b="1">
                          <a:solidFill>
                            <a:srgbClr val="FAF8FF"/>
                          </a:solidFill>
                          <a:latin typeface="Arial"/>
                          <a:ea typeface="Arial"/>
                          <a:cs typeface="Arial"/>
                        </a:rPr>
                        <a:t>Unique browsers</a:t>
                      </a:r>
                    </a:p>
                  </a:txBody>
                  <a:tcPr marL="91440" marR="91440" marT="45720" marB="45720" anchor="ctr">
                    <a:solidFill>
                      <a:srgbClr val="171220"/>
                    </a:solidFill>
                  </a:tcPr>
                </a:tc>
                <a:tc>
                  <a:txBody>
                    <a:bodyPr>
                      <a:noAutofit/>
                    </a:bodyPr>
                    <a:lstStyle/>
                    <a:p>
                      <a:pPr algn="r">
                        <a:buNone/>
                      </a:pPr>
                      <a:r>
                        <a:rPr sz="1575" b="0">
                          <a:solidFill>
                            <a:srgbClr val="FAF8FF"/>
                          </a:solidFill>
                          <a:latin typeface="Arial"/>
                          <a:ea typeface="Arial"/>
                          <a:cs typeface="Arial"/>
                        </a:rPr>
                        <a:t>4,200</a:t>
                      </a:r>
                    </a:p>
                  </a:txBody>
                  <a:tcPr marL="91440" marR="91440" marT="45720" marB="45720" anchor="ctr">
                    <a:solidFill>
                      <a:srgbClr val="171220"/>
                    </a:solidFill>
                  </a:tcPr>
                </a:tc>
              </a:tr>
              <a:tr h="445770">
                <a:tc>
                  <a:txBody>
                    <a:bodyPr>
                      <a:noAutofit/>
                    </a:bodyPr>
                    <a:lstStyle/>
                    <a:p>
                      <a:pPr algn="l">
                        <a:buNone/>
                      </a:pPr>
                      <a:r>
                        <a:rPr sz="1575" b="1">
                          <a:solidFill>
                            <a:srgbClr val="FAF8FF"/>
                          </a:solidFill>
                          <a:latin typeface="Arial"/>
                          <a:ea typeface="Arial"/>
                          <a:cs typeface="Arial"/>
                        </a:rPr>
                        <a:t>Directions opened</a:t>
                      </a:r>
                    </a:p>
                  </a:txBody>
                  <a:tcPr marL="91440" marR="91440" marT="45720" marB="45720" anchor="ctr">
                    <a:solidFill>
                      <a:srgbClr val="110E19"/>
                    </a:solidFill>
                  </a:tcPr>
                </a:tc>
                <a:tc>
                  <a:txBody>
                    <a:bodyPr>
                      <a:noAutofit/>
                    </a:bodyPr>
                    <a:lstStyle/>
                    <a:p>
                      <a:pPr algn="r">
                        <a:buNone/>
                      </a:pPr>
                      <a:r>
                        <a:rPr sz="1575" b="0">
                          <a:solidFill>
                            <a:srgbClr val="FAF8FF"/>
                          </a:solidFill>
                          <a:latin typeface="Arial"/>
                          <a:ea typeface="Arial"/>
                          <a:cs typeface="Arial"/>
                        </a:rPr>
                        <a:t>640</a:t>
                      </a:r>
                    </a:p>
                  </a:txBody>
                  <a:tcPr marL="91440" marR="91440" marT="45720" marB="45720" anchor="ctr">
                    <a:solidFill>
                      <a:srgbClr val="110E19"/>
                    </a:solidFill>
                  </a:tcPr>
                </a:tc>
              </a:tr>
              <a:tr h="445770">
                <a:tc>
                  <a:txBody>
                    <a:bodyPr>
                      <a:noAutofit/>
                    </a:bodyPr>
                    <a:lstStyle/>
                    <a:p>
                      <a:pPr algn="l">
                        <a:buNone/>
                      </a:pPr>
                      <a:r>
                        <a:rPr sz="1575" b="1">
                          <a:solidFill>
                            <a:srgbClr val="FAF8FF"/>
                          </a:solidFill>
                          <a:latin typeface="Arial"/>
                          <a:ea typeface="Arial"/>
                          <a:cs typeface="Arial"/>
                        </a:rPr>
                        <a:t>New followers</a:t>
                      </a:r>
                    </a:p>
                  </a:txBody>
                  <a:tcPr marL="91440" marR="91440" marT="45720" marB="45720" anchor="ctr">
                    <a:solidFill>
                      <a:srgbClr val="171220"/>
                    </a:solidFill>
                  </a:tcPr>
                </a:tc>
                <a:tc>
                  <a:txBody>
                    <a:bodyPr>
                      <a:noAutofit/>
                    </a:bodyPr>
                    <a:lstStyle/>
                    <a:p>
                      <a:pPr algn="r">
                        <a:buNone/>
                      </a:pPr>
                      <a:r>
                        <a:rPr sz="1575" b="0">
                          <a:solidFill>
                            <a:srgbClr val="FAF8FF"/>
                          </a:solidFill>
                          <a:latin typeface="Arial"/>
                          <a:ea typeface="Arial"/>
                          <a:cs typeface="Arial"/>
                        </a:rPr>
                        <a:t>185</a:t>
                      </a:r>
                    </a:p>
                  </a:txBody>
                  <a:tcPr marL="91440" marR="91440" marT="45720" marB="45720" anchor="ctr">
                    <a:solidFill>
                      <a:srgbClr val="171220"/>
                    </a:solidFill>
                  </a:tcPr>
                </a:tc>
              </a:tr>
            </a:tbl>
          </a:graphicData>
        </a:graphic>
      </p:graphicFrame>
      <p:sp>
        <p:nvSpPr>
          <p:cNvPr id="42" name="">
            <a:extLst xmlns:a="http://schemas.openxmlformats.org/drawingml/2006/main">
              <a:ext uri="{FF2B5EF4-FFF2-40B4-BE49-F238E27FC236}">
                <a16:creationId xmlns:a16="http://schemas.microsoft.com/office/drawing/2014/main" id="{6372133C-233F-4605-96FE-BE5DA7AC47A8}"/>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FAF8FF"/>
                </a:solidFill>
                <a:latin typeface="Arial"/>
                <a:ea typeface="Arial"/>
                <a:cs typeface="Arial"/>
              </a:defRPr>
            </a:pPr>
            <a:r>
              <a:rPr sz="3450" b="1">
                <a:solidFill>
                  <a:srgbClr val="FAF8FF"/>
                </a:solidFill>
                <a:latin typeface="Arial"/>
                <a:ea typeface="Arial"/>
                <a:cs typeface="Arial"/>
              </a:rPr>
              <a:t>Marketing performance at Club A</a:t>
            </a:r>
          </a:p>
        </p:txBody>
      </p:sp>
      <p:sp>
        <p:nvSpPr>
          <p:cNvPr id="43" name="">
            <a:extLst xmlns:a="http://schemas.openxmlformats.org/drawingml/2006/main">
              <a:ext uri="{FF2B5EF4-FFF2-40B4-BE49-F238E27FC236}">
                <a16:creationId xmlns:a16="http://schemas.microsoft.com/office/drawing/2014/main" id="{F5EAA8E9-107A-4E02-B4FC-642D89E448EE}"/>
              </a:ext>
            </a:extLst>
          </p:cNvPr>
          <p:cNvSpPr>
            <a:spLocks xmlns:a="http://schemas.openxmlformats.org/drawingml/2006/main" noGrp="1"/>
          </p:cNvSpPr>
          <p:nvPr/>
        </p:nvSpPr>
        <p:spPr>
          <a:xfrm xmlns:a="http://schemas.openxmlformats.org/drawingml/2006/main">
            <a:off x="609600" y="11906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BBB8C9"/>
                </a:solidFill>
                <a:latin typeface="Arial"/>
                <a:ea typeface="Arial"/>
                <a:cs typeface="Arial"/>
              </a:defRPr>
            </a:pPr>
            <a:r>
              <a:rPr sz="1650" b="0">
                <a:solidFill>
                  <a:srgbClr val="BBB8C9"/>
                </a:solidFill>
                <a:latin typeface="Arial"/>
                <a:ea typeface="Arial"/>
                <a:cs typeface="Arial"/>
              </a:rPr>
              <a:t>Illustrative 30-day report for September 2026, compared with the previous 30 days</a:t>
            </a:r>
          </a:p>
        </p:txBody>
      </p:sp>
      <p:sp>
        <p:nvSpPr>
          <p:cNvPr id="44" name="">
            <a:extLst xmlns:a="http://schemas.openxmlformats.org/drawingml/2006/main">
              <a:ext uri="{FF2B5EF4-FFF2-40B4-BE49-F238E27FC236}">
                <a16:creationId xmlns:a16="http://schemas.microsoft.com/office/drawing/2014/main" id="{8733F41D-DF99-4253-AC34-99D0459561D8}"/>
              </a:ext>
            </a:extLst>
          </p:cNvPr>
          <p:cNvSpPr>
            <a:spLocks xmlns:a="http://schemas.openxmlformats.org/drawingml/2006/main" noGrp="1"/>
          </p:cNvSpPr>
          <p:nvPr/>
        </p:nvSpPr>
        <p:spPr>
          <a:xfrm xmlns:a="http://schemas.openxmlformats.org/drawingml/2006/main">
            <a:off x="609600" y="6457950"/>
            <a:ext cx="228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918A9F"/>
                </a:solidFill>
                <a:latin typeface="Arial"/>
                <a:ea typeface="Arial"/>
                <a:cs typeface="Arial"/>
              </a:defRPr>
            </a:pPr>
            <a:r>
              <a:rPr sz="1125" b="1">
                <a:solidFill>
                  <a:srgbClr val="918A9F"/>
                </a:solidFill>
                <a:latin typeface="Arial"/>
                <a:ea typeface="Arial"/>
                <a:cs typeface="Arial"/>
              </a:rPr>
              <a:t>MyDancr</a:t>
            </a:r>
          </a:p>
        </p:txBody>
      </p:sp>
      <p:sp>
        <p:nvSpPr>
          <p:cNvPr id="45" name="">
            <a:extLst xmlns:a="http://schemas.openxmlformats.org/drawingml/2006/main">
              <a:ext uri="{FF2B5EF4-FFF2-40B4-BE49-F238E27FC236}">
                <a16:creationId xmlns:a16="http://schemas.microsoft.com/office/drawing/2014/main" id="{988F2573-BF02-4232-A68E-A36EE908E495}"/>
              </a:ext>
            </a:extLst>
          </p:cNvPr>
          <p:cNvSpPr>
            <a:spLocks xmlns:a="http://schemas.openxmlformats.org/drawingml/2006/main" noGrp="1"/>
          </p:cNvSpPr>
          <p:nvPr/>
        </p:nvSpPr>
        <p:spPr>
          <a:xfrm xmlns:a="http://schemas.openxmlformats.org/drawingml/2006/main">
            <a:off x="10572750" y="6457950"/>
            <a:ext cx="1009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125" b="0">
                <a:solidFill>
                  <a:srgbClr val="918A9F"/>
                </a:solidFill>
                <a:latin typeface="Arial"/>
                <a:ea typeface="Arial"/>
                <a:cs typeface="Arial"/>
              </a:defRPr>
            </a:pPr>
            <a:r>
              <a:rPr sz="1125" b="0">
                <a:solidFill>
                  <a:srgbClr val="918A9F"/>
                </a:solidFill>
                <a:latin typeface="Arial"/>
                <a:ea typeface="Arial"/>
                <a:cs typeface="Arial"/>
              </a:rPr>
              <a:t>05 / 07</a:t>
            </a:r>
          </a:p>
        </p:txBody>
      </p:sp>
      <p:sp>
        <p:nvSpPr>
          <p:cNvPr id="46" name="">
            <a:extLst xmlns:a="http://schemas.openxmlformats.org/drawingml/2006/main">
              <a:ext uri="{FF2B5EF4-FFF2-40B4-BE49-F238E27FC236}">
                <a16:creationId xmlns:a16="http://schemas.microsoft.com/office/drawing/2014/main" id="{4A863807-8716-4E30-8D95-17C2A798B992}"/>
              </a:ext>
            </a:extLst>
          </p:cNvPr>
          <p:cNvSpPr>
            <a:spLocks xmlns:a="http://schemas.openxmlformats.org/drawingml/2006/main" noGrp="1"/>
          </p:cNvSpPr>
          <p:nvPr/>
        </p:nvSpPr>
        <p:spPr>
          <a:xfrm xmlns:a="http://schemas.openxmlformats.org/drawingml/2006/main">
            <a:off x="609600" y="1790700"/>
            <a:ext cx="2552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200" b="1">
                <a:solidFill>
                  <a:srgbClr val="B88AFF"/>
                </a:solidFill>
                <a:latin typeface="Arial"/>
                <a:ea typeface="Arial"/>
                <a:cs typeface="Arial"/>
              </a:defRPr>
            </a:pPr>
            <a:r>
              <a:rPr sz="4200" b="1">
                <a:solidFill>
                  <a:srgbClr val="B88AFF"/>
                </a:solidFill>
                <a:latin typeface="Arial"/>
                <a:ea typeface="Arial"/>
                <a:cs typeface="Arial"/>
              </a:rPr>
              <a:t>480</a:t>
            </a:r>
          </a:p>
        </p:txBody>
      </p:sp>
      <p:sp>
        <p:nvSpPr>
          <p:cNvPr id="47" name="">
            <a:extLst xmlns:a="http://schemas.openxmlformats.org/drawingml/2006/main">
              <a:ext uri="{FF2B5EF4-FFF2-40B4-BE49-F238E27FC236}">
                <a16:creationId xmlns:a16="http://schemas.microsoft.com/office/drawing/2014/main" id="{FA620AC9-FEC1-4B6B-9C0D-DFAE5D38205F}"/>
              </a:ext>
            </a:extLst>
          </p:cNvPr>
          <p:cNvSpPr>
            <a:spLocks xmlns:a="http://schemas.openxmlformats.org/drawingml/2006/main" noGrp="1"/>
          </p:cNvSpPr>
          <p:nvPr/>
        </p:nvSpPr>
        <p:spPr>
          <a:xfrm xmlns:a="http://schemas.openxmlformats.org/drawingml/2006/main">
            <a:off x="609600" y="2476500"/>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FAF8FF"/>
                </a:solidFill>
                <a:latin typeface="Arial"/>
                <a:ea typeface="Arial"/>
                <a:cs typeface="Arial"/>
              </a:defRPr>
            </a:pPr>
            <a:r>
              <a:rPr sz="1650" b="1">
                <a:solidFill>
                  <a:srgbClr val="FAF8FF"/>
                </a:solidFill>
                <a:latin typeface="Arial"/>
                <a:ea typeface="Arial"/>
                <a:cs typeface="Arial"/>
              </a:rPr>
              <a:t>Passes claimed</a:t>
            </a:r>
          </a:p>
        </p:txBody>
      </p:sp>
      <p:sp>
        <p:nvSpPr>
          <p:cNvPr id="48" name="">
            <a:extLst xmlns:a="http://schemas.openxmlformats.org/drawingml/2006/main">
              <a:ext uri="{FF2B5EF4-FFF2-40B4-BE49-F238E27FC236}">
                <a16:creationId xmlns:a16="http://schemas.microsoft.com/office/drawing/2014/main" id="{898BB49B-24C7-48EF-A80E-CDA9F62E49D6}"/>
              </a:ext>
            </a:extLst>
          </p:cNvPr>
          <p:cNvSpPr>
            <a:spLocks xmlns:a="http://schemas.openxmlformats.org/drawingml/2006/main" noGrp="1"/>
          </p:cNvSpPr>
          <p:nvPr/>
        </p:nvSpPr>
        <p:spPr>
          <a:xfrm xmlns:a="http://schemas.openxmlformats.org/drawingml/2006/main">
            <a:off x="609600" y="2847975"/>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DBAE"/>
                </a:solidFill>
                <a:latin typeface="Arial"/>
                <a:ea typeface="Arial"/>
                <a:cs typeface="Arial"/>
              </a:defRPr>
            </a:pPr>
            <a:r>
              <a:rPr sz="1350" b="0">
                <a:solidFill>
                  <a:srgbClr val="66DBAE"/>
                </a:solidFill>
                <a:latin typeface="Arial"/>
                <a:ea typeface="Arial"/>
                <a:cs typeface="Arial"/>
              </a:rPr>
              <a:t>+20% vs prior period</a:t>
            </a:r>
          </a:p>
        </p:txBody>
      </p:sp>
      <p:sp>
        <p:nvSpPr>
          <p:cNvPr id="49" name="">
            <a:extLst xmlns:a="http://schemas.openxmlformats.org/drawingml/2006/main">
              <a:ext uri="{FF2B5EF4-FFF2-40B4-BE49-F238E27FC236}">
                <a16:creationId xmlns:a16="http://schemas.microsoft.com/office/drawing/2014/main" id="{36CD3C22-0219-48B3-AF20-10E7613E32F7}"/>
              </a:ext>
            </a:extLst>
          </p:cNvPr>
          <p:cNvSpPr>
            <a:spLocks xmlns:a="http://schemas.openxmlformats.org/drawingml/2006/main" noGrp="1"/>
          </p:cNvSpPr>
          <p:nvPr/>
        </p:nvSpPr>
        <p:spPr>
          <a:xfrm xmlns:a="http://schemas.openxmlformats.org/drawingml/2006/main">
            <a:off x="3400425" y="1790700"/>
            <a:ext cx="2552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200" b="1">
                <a:solidFill>
                  <a:srgbClr val="B88AFF"/>
                </a:solidFill>
                <a:latin typeface="Arial"/>
                <a:ea typeface="Arial"/>
                <a:cs typeface="Arial"/>
              </a:defRPr>
            </a:pPr>
            <a:r>
              <a:rPr sz="4200" b="1">
                <a:solidFill>
                  <a:srgbClr val="B88AFF"/>
                </a:solidFill>
                <a:latin typeface="Arial"/>
                <a:ea typeface="Arial"/>
                <a:cs typeface="Arial"/>
              </a:rPr>
              <a:t>312</a:t>
            </a:r>
          </a:p>
        </p:txBody>
      </p:sp>
      <p:sp>
        <p:nvSpPr>
          <p:cNvPr id="50" name="">
            <a:extLst xmlns:a="http://schemas.openxmlformats.org/drawingml/2006/main">
              <a:ext uri="{FF2B5EF4-FFF2-40B4-BE49-F238E27FC236}">
                <a16:creationId xmlns:a16="http://schemas.microsoft.com/office/drawing/2014/main" id="{F5FE145A-FC54-4B9A-9C64-8DDD42F9398C}"/>
              </a:ext>
            </a:extLst>
          </p:cNvPr>
          <p:cNvSpPr>
            <a:spLocks xmlns:a="http://schemas.openxmlformats.org/drawingml/2006/main" noGrp="1"/>
          </p:cNvSpPr>
          <p:nvPr/>
        </p:nvSpPr>
        <p:spPr>
          <a:xfrm xmlns:a="http://schemas.openxmlformats.org/drawingml/2006/main">
            <a:off x="3400425" y="2476500"/>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FAF8FF"/>
                </a:solidFill>
                <a:latin typeface="Arial"/>
                <a:ea typeface="Arial"/>
                <a:cs typeface="Arial"/>
              </a:defRPr>
            </a:pPr>
            <a:r>
              <a:rPr sz="1650" b="1">
                <a:solidFill>
                  <a:srgbClr val="FAF8FF"/>
                </a:solidFill>
                <a:latin typeface="Arial"/>
                <a:ea typeface="Arial"/>
                <a:cs typeface="Arial"/>
              </a:rPr>
              <a:t>Confirmed pass uses</a:t>
            </a:r>
          </a:p>
        </p:txBody>
      </p:sp>
      <p:sp>
        <p:nvSpPr>
          <p:cNvPr id="51" name="">
            <a:extLst xmlns:a="http://schemas.openxmlformats.org/drawingml/2006/main">
              <a:ext uri="{FF2B5EF4-FFF2-40B4-BE49-F238E27FC236}">
                <a16:creationId xmlns:a16="http://schemas.microsoft.com/office/drawing/2014/main" id="{F7D5F579-A792-4B6B-9A64-D9A43C5D86A4}"/>
              </a:ext>
            </a:extLst>
          </p:cNvPr>
          <p:cNvSpPr>
            <a:spLocks xmlns:a="http://schemas.openxmlformats.org/drawingml/2006/main" noGrp="1"/>
          </p:cNvSpPr>
          <p:nvPr/>
        </p:nvSpPr>
        <p:spPr>
          <a:xfrm xmlns:a="http://schemas.openxmlformats.org/drawingml/2006/main">
            <a:off x="3400425" y="2847975"/>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DBAE"/>
                </a:solidFill>
                <a:latin typeface="Arial"/>
                <a:ea typeface="Arial"/>
                <a:cs typeface="Arial"/>
              </a:defRPr>
            </a:pPr>
            <a:r>
              <a:rPr sz="1350" b="0">
                <a:solidFill>
                  <a:srgbClr val="66DBAE"/>
                </a:solidFill>
                <a:latin typeface="Arial"/>
                <a:ea typeface="Arial"/>
                <a:cs typeface="Arial"/>
              </a:rPr>
              <a:t>+30% vs prior period</a:t>
            </a:r>
          </a:p>
        </p:txBody>
      </p:sp>
      <p:sp>
        <p:nvSpPr>
          <p:cNvPr id="52" name="">
            <a:extLst xmlns:a="http://schemas.openxmlformats.org/drawingml/2006/main">
              <a:ext uri="{FF2B5EF4-FFF2-40B4-BE49-F238E27FC236}">
                <a16:creationId xmlns:a16="http://schemas.microsoft.com/office/drawing/2014/main" id="{67D08653-BE66-4D5F-8D0D-60D9FE2514A1}"/>
              </a:ext>
            </a:extLst>
          </p:cNvPr>
          <p:cNvSpPr>
            <a:spLocks xmlns:a="http://schemas.openxmlformats.org/drawingml/2006/main" noGrp="1"/>
          </p:cNvSpPr>
          <p:nvPr/>
        </p:nvSpPr>
        <p:spPr>
          <a:xfrm xmlns:a="http://schemas.openxmlformats.org/drawingml/2006/main">
            <a:off x="6191250" y="1790700"/>
            <a:ext cx="2552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200" b="1">
                <a:solidFill>
                  <a:srgbClr val="B88AFF"/>
                </a:solidFill>
                <a:latin typeface="Arial"/>
                <a:ea typeface="Arial"/>
                <a:cs typeface="Arial"/>
              </a:defRPr>
            </a:pPr>
            <a:r>
              <a:rPr sz="4200" b="1">
                <a:solidFill>
                  <a:srgbClr val="B88AFF"/>
                </a:solidFill>
                <a:latin typeface="Arial"/>
                <a:ea typeface="Arial"/>
                <a:cs typeface="Arial"/>
              </a:rPr>
              <a:t>65%</a:t>
            </a:r>
          </a:p>
        </p:txBody>
      </p:sp>
      <p:sp>
        <p:nvSpPr>
          <p:cNvPr id="53" name="">
            <a:extLst xmlns:a="http://schemas.openxmlformats.org/drawingml/2006/main">
              <a:ext uri="{FF2B5EF4-FFF2-40B4-BE49-F238E27FC236}">
                <a16:creationId xmlns:a16="http://schemas.microsoft.com/office/drawing/2014/main" id="{F5786729-CBD4-4C0B-B5F5-F61543AA5EA7}"/>
              </a:ext>
            </a:extLst>
          </p:cNvPr>
          <p:cNvSpPr>
            <a:spLocks xmlns:a="http://schemas.openxmlformats.org/drawingml/2006/main" noGrp="1"/>
          </p:cNvSpPr>
          <p:nvPr/>
        </p:nvSpPr>
        <p:spPr>
          <a:xfrm xmlns:a="http://schemas.openxmlformats.org/drawingml/2006/main">
            <a:off x="6191250" y="2476500"/>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FAF8FF"/>
                </a:solidFill>
                <a:latin typeface="Arial"/>
                <a:ea typeface="Arial"/>
                <a:cs typeface="Arial"/>
              </a:defRPr>
            </a:pPr>
            <a:r>
              <a:rPr sz="1650" b="1">
                <a:solidFill>
                  <a:srgbClr val="FAF8FF"/>
                </a:solidFill>
                <a:latin typeface="Arial"/>
                <a:ea typeface="Arial"/>
                <a:cs typeface="Arial"/>
              </a:rPr>
              <a:t>Claim-to-use rate</a:t>
            </a:r>
          </a:p>
        </p:txBody>
      </p:sp>
      <p:sp>
        <p:nvSpPr>
          <p:cNvPr id="54" name="">
            <a:extLst xmlns:a="http://schemas.openxmlformats.org/drawingml/2006/main">
              <a:ext uri="{FF2B5EF4-FFF2-40B4-BE49-F238E27FC236}">
                <a16:creationId xmlns:a16="http://schemas.microsoft.com/office/drawing/2014/main" id="{76CDFC12-AE38-4B2D-A63D-85C7D4F6A1E1}"/>
              </a:ext>
            </a:extLst>
          </p:cNvPr>
          <p:cNvSpPr>
            <a:spLocks xmlns:a="http://schemas.openxmlformats.org/drawingml/2006/main" noGrp="1"/>
          </p:cNvSpPr>
          <p:nvPr/>
        </p:nvSpPr>
        <p:spPr>
          <a:xfrm xmlns:a="http://schemas.openxmlformats.org/drawingml/2006/main">
            <a:off x="6191250" y="2847975"/>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DBAE"/>
                </a:solidFill>
                <a:latin typeface="Arial"/>
                <a:ea typeface="Arial"/>
                <a:cs typeface="Arial"/>
              </a:defRPr>
            </a:pPr>
            <a:r>
              <a:rPr sz="1350" b="0">
                <a:solidFill>
                  <a:srgbClr val="66DBAE"/>
                </a:solidFill>
                <a:latin typeface="Arial"/>
                <a:ea typeface="Arial"/>
                <a:cs typeface="Arial"/>
              </a:rPr>
              <a:t>+5 percentage points</a:t>
            </a:r>
          </a:p>
        </p:txBody>
      </p:sp>
      <p:sp>
        <p:nvSpPr>
          <p:cNvPr id="55" name="">
            <a:extLst xmlns:a="http://schemas.openxmlformats.org/drawingml/2006/main">
              <a:ext uri="{FF2B5EF4-FFF2-40B4-BE49-F238E27FC236}">
                <a16:creationId xmlns:a16="http://schemas.microsoft.com/office/drawing/2014/main" id="{45D75691-A1DE-4794-BD5D-1F3CFD81B4E5}"/>
              </a:ext>
            </a:extLst>
          </p:cNvPr>
          <p:cNvSpPr>
            <a:spLocks xmlns:a="http://schemas.openxmlformats.org/drawingml/2006/main" noGrp="1"/>
          </p:cNvSpPr>
          <p:nvPr/>
        </p:nvSpPr>
        <p:spPr>
          <a:xfrm xmlns:a="http://schemas.openxmlformats.org/drawingml/2006/main">
            <a:off x="8982075" y="1790700"/>
            <a:ext cx="2552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200" b="1">
                <a:solidFill>
                  <a:srgbClr val="B88AFF"/>
                </a:solidFill>
                <a:latin typeface="Arial"/>
                <a:ea typeface="Arial"/>
                <a:cs typeface="Arial"/>
              </a:defRPr>
            </a:pPr>
            <a:r>
              <a:rPr sz="4200" b="1">
                <a:solidFill>
                  <a:srgbClr val="B88AFF"/>
                </a:solidFill>
                <a:latin typeface="Arial"/>
                <a:ea typeface="Arial"/>
                <a:cs typeface="Arial"/>
              </a:rPr>
              <a:t>96</a:t>
            </a:r>
          </a:p>
        </p:txBody>
      </p:sp>
      <p:sp>
        <p:nvSpPr>
          <p:cNvPr id="56" name="">
            <a:extLst xmlns:a="http://schemas.openxmlformats.org/drawingml/2006/main">
              <a:ext uri="{FF2B5EF4-FFF2-40B4-BE49-F238E27FC236}">
                <a16:creationId xmlns:a16="http://schemas.microsoft.com/office/drawing/2014/main" id="{68C2A27F-7368-4CD8-8FA2-59B01A2F2187}"/>
              </a:ext>
            </a:extLst>
          </p:cNvPr>
          <p:cNvSpPr>
            <a:spLocks xmlns:a="http://schemas.openxmlformats.org/drawingml/2006/main" noGrp="1"/>
          </p:cNvSpPr>
          <p:nvPr/>
        </p:nvSpPr>
        <p:spPr>
          <a:xfrm xmlns:a="http://schemas.openxmlformats.org/drawingml/2006/main">
            <a:off x="8982075" y="2476500"/>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1">
                <a:solidFill>
                  <a:srgbClr val="FAF8FF"/>
                </a:solidFill>
                <a:latin typeface="Arial"/>
                <a:ea typeface="Arial"/>
                <a:cs typeface="Arial"/>
              </a:defRPr>
            </a:pPr>
            <a:r>
              <a:rPr sz="1650" b="1">
                <a:solidFill>
                  <a:srgbClr val="FAF8FF"/>
                </a:solidFill>
                <a:latin typeface="Arial"/>
                <a:ea typeface="Arial"/>
                <a:cs typeface="Arial"/>
              </a:rPr>
              <a:t>Pickup requests</a:t>
            </a:r>
          </a:p>
        </p:txBody>
      </p:sp>
      <p:sp>
        <p:nvSpPr>
          <p:cNvPr id="57" name="">
            <a:extLst xmlns:a="http://schemas.openxmlformats.org/drawingml/2006/main">
              <a:ext uri="{FF2B5EF4-FFF2-40B4-BE49-F238E27FC236}">
                <a16:creationId xmlns:a16="http://schemas.microsoft.com/office/drawing/2014/main" id="{F53B17CA-A85A-418F-AA96-04F3CFB09BEC}"/>
              </a:ext>
            </a:extLst>
          </p:cNvPr>
          <p:cNvSpPr>
            <a:spLocks xmlns:a="http://schemas.openxmlformats.org/drawingml/2006/main" noGrp="1"/>
          </p:cNvSpPr>
          <p:nvPr/>
        </p:nvSpPr>
        <p:spPr>
          <a:xfrm xmlns:a="http://schemas.openxmlformats.org/drawingml/2006/main">
            <a:off x="8982075" y="2847975"/>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DBAE"/>
                </a:solidFill>
                <a:latin typeface="Arial"/>
                <a:ea typeface="Arial"/>
                <a:cs typeface="Arial"/>
              </a:defRPr>
            </a:pPr>
            <a:r>
              <a:rPr sz="1350" b="0">
                <a:solidFill>
                  <a:srgbClr val="66DBAE"/>
                </a:solidFill>
                <a:latin typeface="Arial"/>
                <a:ea typeface="Arial"/>
                <a:cs typeface="Arial"/>
              </a:rPr>
              <a:t>+20% vs prior period</a:t>
            </a:r>
          </a:p>
        </p:txBody>
      </p:sp>
      <p:sp>
        <p:nvSpPr>
          <p:cNvPr id="58" name="">
            <a:extLst xmlns:a="http://schemas.openxmlformats.org/drawingml/2006/main">
              <a:ext uri="{FF2B5EF4-FFF2-40B4-BE49-F238E27FC236}">
                <a16:creationId xmlns:a16="http://schemas.microsoft.com/office/drawing/2014/main" id="{F2CF7F8C-7485-46FE-B9EA-20864FDE6BBA}"/>
              </a:ext>
            </a:extLst>
          </p:cNvPr>
          <p:cNvSpPr>
            <a:spLocks xmlns:a="http://schemas.openxmlformats.org/drawingml/2006/main" noGrp="1"/>
          </p:cNvSpPr>
          <p:nvPr/>
        </p:nvSpPr>
        <p:spPr>
          <a:xfrm xmlns:a="http://schemas.openxmlformats.org/drawingml/2006/main">
            <a:off x="609600" y="59245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BBB8C9"/>
                </a:solidFill>
                <a:latin typeface="Arial"/>
                <a:ea typeface="Arial"/>
                <a:cs typeface="Arial"/>
              </a:defRPr>
            </a:pPr>
            <a:r>
              <a:rPr sz="1275" b="0">
                <a:solidFill>
                  <a:srgbClr val="BBB8C9"/>
                </a:solidFill>
                <a:latin typeface="Arial"/>
                <a:ea typeface="Arial"/>
                <a:cs typeface="Arial"/>
              </a:rPr>
              <a:t>Illustrative data. The 65% rate uses 312 confirmed uses from the same 480-pass cohort.</a:t>
            </a:r>
          </a:p>
          <a:p xmlns:a="http://schemas.openxmlformats.org/drawingml/2006/main">
            <a:pPr>
              <a:defRPr sz="1275" b="0">
                <a:solidFill>
                  <a:srgbClr val="BBB8C9"/>
                </a:solidFill>
                <a:latin typeface="Arial"/>
                <a:ea typeface="Arial"/>
                <a:cs typeface="Arial"/>
              </a:defRPr>
            </a:pPr>
            <a:r>
              <a:rPr sz="1275" b="0">
                <a:solidFill>
                  <a:srgbClr val="BBB8C9"/>
                </a:solidFill>
                <a:latin typeface="Arial"/>
                <a:ea typeface="Arial"/>
                <a:cs typeface="Arial"/>
              </a:rPr>
              <a:t>Pass uses measure pass activity. VIP purchases and revenue require venue sales records.</a:t>
            </a:r>
          </a:p>
        </p:txBody>
      </p:sp>
    </p:spTree>
    <p:extLst>
      <p:ext uri="{BB962C8B-B14F-4D97-AF65-F5344CB8AC3E}">
        <p14:creationId xmlns:p14="http://schemas.microsoft.com/office/powerpoint/2010/main" val="2071491846"/>
      </p:ext>
    </p:extLst>
  </p:cSld>
</p:sld>
</file>

<file path=ppt/slides/slide6.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graphicFrame>
        <p:nvGraphicFramePr>
          <p:cNvPr id="36" name=""/>
          <p:cNvGraphicFramePr/>
          <p:nvPr/>
        </p:nvGraphicFramePr>
        <p:xfrm>
          <a:off xmlns:a="http://schemas.openxmlformats.org/drawingml/2006/main" x="619125" y="1905000"/>
          <a:ext xmlns:a="http://schemas.openxmlformats.org/drawingml/2006/main" cx="10953750" cy="2714625"/>
        </p:xfrm>
        <a:graphic xmlns:a="http://schemas.openxmlformats.org/drawingml/2006/main">
          <a:graphicData uri="http://schemas.openxmlformats.org/drawingml/2006/table">
            <a:tbl>
              <a:tblPr/>
              <a:tblGrid>
                <a:gridCol w="2333625"/>
                <a:gridCol w="1647825"/>
                <a:gridCol w="1647825"/>
                <a:gridCol w="1857375"/>
                <a:gridCol w="1752600"/>
                <a:gridCol w="1714500"/>
              </a:tblGrid>
              <a:tr h="542925">
                <a:tc>
                  <a:txBody>
                    <a:bodyPr>
                      <a:noAutofit/>
                    </a:bodyPr>
                    <a:lstStyle/>
                    <a:p>
                      <a:pPr algn="l">
                        <a:buNone/>
                      </a:pPr>
                      <a:r>
                        <a:rPr sz="1650" b="1">
                          <a:solidFill>
                            <a:srgbClr val="D6C6F0"/>
                          </a:solidFill>
                          <a:latin typeface="Arial"/>
                          <a:ea typeface="Arial"/>
                          <a:cs typeface="Arial"/>
                        </a:rPr>
                        <a:t>Club</a:t>
                      </a:r>
                    </a:p>
                  </a:txBody>
                  <a:tcPr marL="91440" marR="91440" marT="45720" marB="45720" anchor="ctr">
                    <a:solidFill>
                      <a:srgbClr val="261C37"/>
                    </a:solidFill>
                  </a:tcPr>
                </a:tc>
                <a:tc>
                  <a:txBody>
                    <a:bodyPr>
                      <a:noAutofit/>
                    </a:bodyPr>
                    <a:lstStyle/>
                    <a:p>
                      <a:pPr algn="r">
                        <a:buNone/>
                      </a:pPr>
                      <a:r>
                        <a:rPr sz="1650" b="1">
                          <a:solidFill>
                            <a:srgbClr val="D6C6F0"/>
                          </a:solidFill>
                          <a:latin typeface="Arial"/>
                          <a:ea typeface="Arial"/>
                          <a:cs typeface="Arial"/>
                        </a:rPr>
                        <a:t>Passes</a:t>
                      </a:r>
                    </a:p>
                    <a:p>
                      <a:pPr algn="r">
                        <a:buNone/>
                      </a:pPr>
                      <a:r>
                        <a:rPr sz="1650" b="1">
                          <a:solidFill>
                            <a:srgbClr val="D6C6F0"/>
                          </a:solidFill>
                          <a:latin typeface="Arial"/>
                          <a:ea typeface="Arial"/>
                          <a:cs typeface="Arial"/>
                        </a:rPr>
                        <a:t>claimed</a:t>
                      </a:r>
                    </a:p>
                  </a:txBody>
                  <a:tcPr marL="91440" marR="91440" marT="45720" marB="45720" anchor="ctr">
                    <a:solidFill>
                      <a:srgbClr val="261C37"/>
                    </a:solidFill>
                  </a:tcPr>
                </a:tc>
                <a:tc>
                  <a:txBody>
                    <a:bodyPr>
                      <a:noAutofit/>
                    </a:bodyPr>
                    <a:lstStyle/>
                    <a:p>
                      <a:pPr algn="r">
                        <a:buNone/>
                      </a:pPr>
                      <a:r>
                        <a:rPr sz="1650" b="1">
                          <a:solidFill>
                            <a:srgbClr val="D6C6F0"/>
                          </a:solidFill>
                          <a:latin typeface="Arial"/>
                          <a:ea typeface="Arial"/>
                          <a:cs typeface="Arial"/>
                        </a:rPr>
                        <a:t>Passes</a:t>
                      </a:r>
                    </a:p>
                    <a:p>
                      <a:pPr algn="r">
                        <a:buNone/>
                      </a:pPr>
                      <a:r>
                        <a:rPr sz="1650" b="1">
                          <a:solidFill>
                            <a:srgbClr val="D6C6F0"/>
                          </a:solidFill>
                          <a:latin typeface="Arial"/>
                          <a:ea typeface="Arial"/>
                          <a:cs typeface="Arial"/>
                        </a:rPr>
                        <a:t>used</a:t>
                      </a:r>
                    </a:p>
                  </a:txBody>
                  <a:tcPr marL="91440" marR="91440" marT="45720" marB="45720" anchor="ctr">
                    <a:solidFill>
                      <a:srgbClr val="261C37"/>
                    </a:solidFill>
                  </a:tcPr>
                </a:tc>
                <a:tc>
                  <a:txBody>
                    <a:bodyPr>
                      <a:noAutofit/>
                    </a:bodyPr>
                    <a:lstStyle/>
                    <a:p>
                      <a:pPr algn="r">
                        <a:buNone/>
                      </a:pPr>
                      <a:r>
                        <a:rPr sz="1650" b="1">
                          <a:solidFill>
                            <a:srgbClr val="D6C6F0"/>
                          </a:solidFill>
                          <a:latin typeface="Arial"/>
                          <a:ea typeface="Arial"/>
                          <a:cs typeface="Arial"/>
                        </a:rPr>
                        <a:t>Pass-use</a:t>
                      </a:r>
                    </a:p>
                    <a:p>
                      <a:pPr algn="r">
                        <a:buNone/>
                      </a:pPr>
                      <a:r>
                        <a:rPr sz="1650" b="1">
                          <a:solidFill>
                            <a:srgbClr val="D6C6F0"/>
                          </a:solidFill>
                          <a:latin typeface="Arial"/>
                          <a:ea typeface="Arial"/>
                          <a:cs typeface="Arial"/>
                        </a:rPr>
                        <a:t>rate</a:t>
                      </a:r>
                    </a:p>
                  </a:txBody>
                  <a:tcPr marL="91440" marR="91440" marT="45720" marB="45720" anchor="ctr">
                    <a:solidFill>
                      <a:srgbClr val="261C37"/>
                    </a:solidFill>
                  </a:tcPr>
                </a:tc>
                <a:tc>
                  <a:txBody>
                    <a:bodyPr>
                      <a:noAutofit/>
                    </a:bodyPr>
                    <a:lstStyle/>
                    <a:p>
                      <a:pPr algn="r">
                        <a:buNone/>
                      </a:pPr>
                      <a:r>
                        <a:rPr sz="1650" b="1">
                          <a:solidFill>
                            <a:srgbClr val="D6C6F0"/>
                          </a:solidFill>
                          <a:latin typeface="Arial"/>
                          <a:ea typeface="Arial"/>
                          <a:cs typeface="Arial"/>
                        </a:rPr>
                        <a:t>Pickup</a:t>
                      </a:r>
                    </a:p>
                    <a:p>
                      <a:pPr algn="r">
                        <a:buNone/>
                      </a:pPr>
                      <a:r>
                        <a:rPr sz="1650" b="1">
                          <a:solidFill>
                            <a:srgbClr val="D6C6F0"/>
                          </a:solidFill>
                          <a:latin typeface="Arial"/>
                          <a:ea typeface="Arial"/>
                          <a:cs typeface="Arial"/>
                        </a:rPr>
                        <a:t>requests</a:t>
                      </a:r>
                    </a:p>
                  </a:txBody>
                  <a:tcPr marL="91440" marR="91440" marT="45720" marB="45720" anchor="ctr">
                    <a:solidFill>
                      <a:srgbClr val="261C37"/>
                    </a:solidFill>
                  </a:tcPr>
                </a:tc>
                <a:tc>
                  <a:txBody>
                    <a:bodyPr>
                      <a:noAutofit/>
                    </a:bodyPr>
                    <a:lstStyle/>
                    <a:p>
                      <a:pPr algn="r">
                        <a:buNone/>
                      </a:pPr>
                      <a:r>
                        <a:rPr sz="1650" b="1">
                          <a:solidFill>
                            <a:srgbClr val="D6C6F0"/>
                          </a:solidFill>
                          <a:latin typeface="Arial"/>
                          <a:ea typeface="Arial"/>
                          <a:cs typeface="Arial"/>
                        </a:rPr>
                        <a:t>New</a:t>
                      </a:r>
                    </a:p>
                    <a:p>
                      <a:pPr algn="r">
                        <a:buNone/>
                      </a:pPr>
                      <a:r>
                        <a:rPr sz="1650" b="1">
                          <a:solidFill>
                            <a:srgbClr val="D6C6F0"/>
                          </a:solidFill>
                          <a:latin typeface="Arial"/>
                          <a:ea typeface="Arial"/>
                          <a:cs typeface="Arial"/>
                        </a:rPr>
                        <a:t>followers</a:t>
                      </a:r>
                    </a:p>
                  </a:txBody>
                  <a:tcPr marL="91440" marR="91440" marT="45720" marB="45720" anchor="ctr">
                    <a:solidFill>
                      <a:srgbClr val="261C37"/>
                    </a:solidFill>
                  </a:tcPr>
                </a:tc>
              </a:tr>
              <a:tr h="542925">
                <a:tc>
                  <a:txBody>
                    <a:bodyPr>
                      <a:noAutofit/>
                    </a:bodyPr>
                    <a:lstStyle/>
                    <a:p>
                      <a:pPr algn="l">
                        <a:buNone/>
                      </a:pPr>
                      <a:r>
                        <a:rPr sz="1800" b="1">
                          <a:solidFill>
                            <a:srgbClr val="FAF8FF"/>
                          </a:solidFill>
                          <a:latin typeface="Arial"/>
                          <a:ea typeface="Arial"/>
                          <a:cs typeface="Arial"/>
                        </a:rPr>
                        <a:t>Club A</a:t>
                      </a:r>
                    </a:p>
                  </a:txBody>
                  <a:tcPr marL="91440" marR="91440" marT="45720" marB="45720" anchor="ctr">
                    <a:solidFill>
                      <a:srgbClr val="110E19"/>
                    </a:solidFill>
                  </a:tcPr>
                </a:tc>
                <a:tc>
                  <a:txBody>
                    <a:bodyPr>
                      <a:noAutofit/>
                    </a:bodyPr>
                    <a:lstStyle/>
                    <a:p>
                      <a:pPr algn="r">
                        <a:buNone/>
                      </a:pPr>
                      <a:r>
                        <a:rPr sz="1800" b="0">
                          <a:solidFill>
                            <a:srgbClr val="FAF8FF"/>
                          </a:solidFill>
                          <a:latin typeface="Arial"/>
                          <a:ea typeface="Arial"/>
                          <a:cs typeface="Arial"/>
                        </a:rPr>
                        <a:t>480</a:t>
                      </a:r>
                    </a:p>
                  </a:txBody>
                  <a:tcPr marL="91440" marR="91440" marT="45720" marB="45720" anchor="ctr">
                    <a:solidFill>
                      <a:srgbClr val="110E19"/>
                    </a:solidFill>
                  </a:tcPr>
                </a:tc>
                <a:tc>
                  <a:txBody>
                    <a:bodyPr>
                      <a:noAutofit/>
                    </a:bodyPr>
                    <a:lstStyle/>
                    <a:p>
                      <a:pPr algn="r">
                        <a:buNone/>
                      </a:pPr>
                      <a:r>
                        <a:rPr sz="1800" b="0">
                          <a:solidFill>
                            <a:srgbClr val="FAF8FF"/>
                          </a:solidFill>
                          <a:latin typeface="Arial"/>
                          <a:ea typeface="Arial"/>
                          <a:cs typeface="Arial"/>
                        </a:rPr>
                        <a:t>312</a:t>
                      </a:r>
                    </a:p>
                  </a:txBody>
                  <a:tcPr marL="91440" marR="91440" marT="45720" marB="45720" anchor="ctr">
                    <a:solidFill>
                      <a:srgbClr val="110E19"/>
                    </a:solidFill>
                  </a:tcPr>
                </a:tc>
                <a:tc>
                  <a:txBody>
                    <a:bodyPr>
                      <a:noAutofit/>
                    </a:bodyPr>
                    <a:lstStyle/>
                    <a:p>
                      <a:pPr algn="r">
                        <a:buNone/>
                      </a:pPr>
                      <a:r>
                        <a:rPr sz="1800" b="0">
                          <a:solidFill>
                            <a:srgbClr val="FAF8FF"/>
                          </a:solidFill>
                          <a:latin typeface="Arial"/>
                          <a:ea typeface="Arial"/>
                          <a:cs typeface="Arial"/>
                        </a:rPr>
                        <a:t>65.0%</a:t>
                      </a:r>
                    </a:p>
                  </a:txBody>
                  <a:tcPr marL="91440" marR="91440" marT="45720" marB="45720" anchor="ctr">
                    <a:solidFill>
                      <a:srgbClr val="110E19"/>
                    </a:solidFill>
                  </a:tcPr>
                </a:tc>
                <a:tc>
                  <a:txBody>
                    <a:bodyPr>
                      <a:noAutofit/>
                    </a:bodyPr>
                    <a:lstStyle/>
                    <a:p>
                      <a:pPr algn="r">
                        <a:buNone/>
                      </a:pPr>
                      <a:r>
                        <a:rPr sz="1800" b="0">
                          <a:solidFill>
                            <a:srgbClr val="FAF8FF"/>
                          </a:solidFill>
                          <a:latin typeface="Arial"/>
                          <a:ea typeface="Arial"/>
                          <a:cs typeface="Arial"/>
                        </a:rPr>
                        <a:t>96</a:t>
                      </a:r>
                    </a:p>
                  </a:txBody>
                  <a:tcPr marL="91440" marR="91440" marT="45720" marB="45720" anchor="ctr">
                    <a:solidFill>
                      <a:srgbClr val="110E19"/>
                    </a:solidFill>
                  </a:tcPr>
                </a:tc>
                <a:tc>
                  <a:txBody>
                    <a:bodyPr>
                      <a:noAutofit/>
                    </a:bodyPr>
                    <a:lstStyle/>
                    <a:p>
                      <a:pPr algn="r">
                        <a:buNone/>
                      </a:pPr>
                      <a:r>
                        <a:rPr sz="1800" b="0">
                          <a:solidFill>
                            <a:srgbClr val="FAF8FF"/>
                          </a:solidFill>
                          <a:latin typeface="Arial"/>
                          <a:ea typeface="Arial"/>
                          <a:cs typeface="Arial"/>
                        </a:rPr>
                        <a:t>185</a:t>
                      </a:r>
                    </a:p>
                  </a:txBody>
                  <a:tcPr marL="91440" marR="91440" marT="45720" marB="45720" anchor="ctr">
                    <a:solidFill>
                      <a:srgbClr val="110E19"/>
                    </a:solidFill>
                  </a:tcPr>
                </a:tc>
              </a:tr>
              <a:tr h="542925">
                <a:tc>
                  <a:txBody>
                    <a:bodyPr>
                      <a:noAutofit/>
                    </a:bodyPr>
                    <a:lstStyle/>
                    <a:p>
                      <a:pPr algn="l">
                        <a:buNone/>
                      </a:pPr>
                      <a:r>
                        <a:rPr sz="1800" b="1">
                          <a:solidFill>
                            <a:srgbClr val="FAF8FF"/>
                          </a:solidFill>
                          <a:latin typeface="Arial"/>
                          <a:ea typeface="Arial"/>
                          <a:cs typeface="Arial"/>
                        </a:rPr>
                        <a:t>Club B</a:t>
                      </a:r>
                    </a:p>
                  </a:txBody>
                  <a:tcPr marL="91440" marR="91440" marT="45720" marB="45720" anchor="ctr">
                    <a:solidFill>
                      <a:srgbClr val="171220"/>
                    </a:solidFill>
                  </a:tcPr>
                </a:tc>
                <a:tc>
                  <a:txBody>
                    <a:bodyPr>
                      <a:noAutofit/>
                    </a:bodyPr>
                    <a:lstStyle/>
                    <a:p>
                      <a:pPr algn="r">
                        <a:buNone/>
                      </a:pPr>
                      <a:r>
                        <a:rPr sz="1800" b="0">
                          <a:solidFill>
                            <a:srgbClr val="FAF8FF"/>
                          </a:solidFill>
                          <a:latin typeface="Arial"/>
                          <a:ea typeface="Arial"/>
                          <a:cs typeface="Arial"/>
                        </a:rPr>
                        <a:t>400</a:t>
                      </a:r>
                    </a:p>
                  </a:txBody>
                  <a:tcPr marL="91440" marR="91440" marT="45720" marB="45720" anchor="ctr">
                    <a:solidFill>
                      <a:srgbClr val="171220"/>
                    </a:solidFill>
                  </a:tcPr>
                </a:tc>
                <a:tc>
                  <a:txBody>
                    <a:bodyPr>
                      <a:noAutofit/>
                    </a:bodyPr>
                    <a:lstStyle/>
                    <a:p>
                      <a:pPr algn="r">
                        <a:buNone/>
                      </a:pPr>
                      <a:r>
                        <a:rPr sz="1800" b="0">
                          <a:solidFill>
                            <a:srgbClr val="FAF8FF"/>
                          </a:solidFill>
                          <a:latin typeface="Arial"/>
                          <a:ea typeface="Arial"/>
                          <a:cs typeface="Arial"/>
                        </a:rPr>
                        <a:t>220</a:t>
                      </a:r>
                    </a:p>
                  </a:txBody>
                  <a:tcPr marL="91440" marR="91440" marT="45720" marB="45720" anchor="ctr">
                    <a:solidFill>
                      <a:srgbClr val="171220"/>
                    </a:solidFill>
                  </a:tcPr>
                </a:tc>
                <a:tc>
                  <a:txBody>
                    <a:bodyPr>
                      <a:noAutofit/>
                    </a:bodyPr>
                    <a:lstStyle/>
                    <a:p>
                      <a:pPr algn="r">
                        <a:buNone/>
                      </a:pPr>
                      <a:r>
                        <a:rPr sz="1800" b="0">
                          <a:solidFill>
                            <a:srgbClr val="FAF8FF"/>
                          </a:solidFill>
                          <a:latin typeface="Arial"/>
                          <a:ea typeface="Arial"/>
                          <a:cs typeface="Arial"/>
                        </a:rPr>
                        <a:t>55.0%</a:t>
                      </a:r>
                    </a:p>
                  </a:txBody>
                  <a:tcPr marL="91440" marR="91440" marT="45720" marB="45720" anchor="ctr">
                    <a:solidFill>
                      <a:srgbClr val="171220"/>
                    </a:solidFill>
                  </a:tcPr>
                </a:tc>
                <a:tc>
                  <a:txBody>
                    <a:bodyPr>
                      <a:noAutofit/>
                    </a:bodyPr>
                    <a:lstStyle/>
                    <a:p>
                      <a:pPr algn="r">
                        <a:buNone/>
                      </a:pPr>
                      <a:r>
                        <a:rPr sz="1800" b="0">
                          <a:solidFill>
                            <a:srgbClr val="FAF8FF"/>
                          </a:solidFill>
                          <a:latin typeface="Arial"/>
                          <a:ea typeface="Arial"/>
                          <a:cs typeface="Arial"/>
                        </a:rPr>
                        <a:t>72</a:t>
                      </a:r>
                    </a:p>
                  </a:txBody>
                  <a:tcPr marL="91440" marR="91440" marT="45720" marB="45720" anchor="ctr">
                    <a:solidFill>
                      <a:srgbClr val="171220"/>
                    </a:solidFill>
                  </a:tcPr>
                </a:tc>
                <a:tc>
                  <a:txBody>
                    <a:bodyPr>
                      <a:noAutofit/>
                    </a:bodyPr>
                    <a:lstStyle/>
                    <a:p>
                      <a:pPr algn="r">
                        <a:buNone/>
                      </a:pPr>
                      <a:r>
                        <a:rPr sz="1800" b="0">
                          <a:solidFill>
                            <a:srgbClr val="FAF8FF"/>
                          </a:solidFill>
                          <a:latin typeface="Arial"/>
                          <a:ea typeface="Arial"/>
                          <a:cs typeface="Arial"/>
                        </a:rPr>
                        <a:t>150</a:t>
                      </a:r>
                    </a:p>
                  </a:txBody>
                  <a:tcPr marL="91440" marR="91440" marT="45720" marB="45720" anchor="ctr">
                    <a:solidFill>
                      <a:srgbClr val="171220"/>
                    </a:solidFill>
                  </a:tcPr>
                </a:tc>
              </a:tr>
              <a:tr h="542925">
                <a:tc>
                  <a:txBody>
                    <a:bodyPr>
                      <a:noAutofit/>
                    </a:bodyPr>
                    <a:lstStyle/>
                    <a:p>
                      <a:pPr algn="l">
                        <a:buNone/>
                      </a:pPr>
                      <a:r>
                        <a:rPr sz="1800" b="1">
                          <a:solidFill>
                            <a:srgbClr val="FAF8FF"/>
                          </a:solidFill>
                          <a:latin typeface="Arial"/>
                          <a:ea typeface="Arial"/>
                          <a:cs typeface="Arial"/>
                        </a:rPr>
                        <a:t>Club C</a:t>
                      </a:r>
                    </a:p>
                  </a:txBody>
                  <a:tcPr marL="91440" marR="91440" marT="45720" marB="45720" anchor="ctr">
                    <a:solidFill>
                      <a:srgbClr val="110E19"/>
                    </a:solidFill>
                  </a:tcPr>
                </a:tc>
                <a:tc>
                  <a:txBody>
                    <a:bodyPr>
                      <a:noAutofit/>
                    </a:bodyPr>
                    <a:lstStyle/>
                    <a:p>
                      <a:pPr algn="r">
                        <a:buNone/>
                      </a:pPr>
                      <a:r>
                        <a:rPr sz="1800" b="0">
                          <a:solidFill>
                            <a:srgbClr val="FAF8FF"/>
                          </a:solidFill>
                          <a:latin typeface="Arial"/>
                          <a:ea typeface="Arial"/>
                          <a:cs typeface="Arial"/>
                        </a:rPr>
                        <a:t>360</a:t>
                      </a:r>
                    </a:p>
                  </a:txBody>
                  <a:tcPr marL="91440" marR="91440" marT="45720" marB="45720" anchor="ctr">
                    <a:solidFill>
                      <a:srgbClr val="110E19"/>
                    </a:solidFill>
                  </a:tcPr>
                </a:tc>
                <a:tc>
                  <a:txBody>
                    <a:bodyPr>
                      <a:noAutofit/>
                    </a:bodyPr>
                    <a:lstStyle/>
                    <a:p>
                      <a:pPr algn="r">
                        <a:buNone/>
                      </a:pPr>
                      <a:r>
                        <a:rPr sz="1800" b="0">
                          <a:solidFill>
                            <a:srgbClr val="FAF8FF"/>
                          </a:solidFill>
                          <a:latin typeface="Arial"/>
                          <a:ea typeface="Arial"/>
                          <a:cs typeface="Arial"/>
                        </a:rPr>
                        <a:t>252</a:t>
                      </a:r>
                    </a:p>
                  </a:txBody>
                  <a:tcPr marL="91440" marR="91440" marT="45720" marB="45720" anchor="ctr">
                    <a:solidFill>
                      <a:srgbClr val="110E19"/>
                    </a:solidFill>
                  </a:tcPr>
                </a:tc>
                <a:tc>
                  <a:txBody>
                    <a:bodyPr>
                      <a:noAutofit/>
                    </a:bodyPr>
                    <a:lstStyle/>
                    <a:p>
                      <a:pPr algn="r">
                        <a:buNone/>
                      </a:pPr>
                      <a:r>
                        <a:rPr sz="1800" b="0">
                          <a:solidFill>
                            <a:srgbClr val="FAF8FF"/>
                          </a:solidFill>
                          <a:latin typeface="Arial"/>
                          <a:ea typeface="Arial"/>
                          <a:cs typeface="Arial"/>
                        </a:rPr>
                        <a:t>70.0%</a:t>
                      </a:r>
                    </a:p>
                  </a:txBody>
                  <a:tcPr marL="91440" marR="91440" marT="45720" marB="45720" anchor="ctr">
                    <a:solidFill>
                      <a:srgbClr val="110E19"/>
                    </a:solidFill>
                  </a:tcPr>
                </a:tc>
                <a:tc>
                  <a:txBody>
                    <a:bodyPr>
                      <a:noAutofit/>
                    </a:bodyPr>
                    <a:lstStyle/>
                    <a:p>
                      <a:pPr algn="r">
                        <a:buNone/>
                      </a:pPr>
                      <a:r>
                        <a:rPr sz="1800" b="0">
                          <a:solidFill>
                            <a:srgbClr val="FAF8FF"/>
                          </a:solidFill>
                          <a:latin typeface="Arial"/>
                          <a:ea typeface="Arial"/>
                          <a:cs typeface="Arial"/>
                        </a:rPr>
                        <a:t>60</a:t>
                      </a:r>
                    </a:p>
                  </a:txBody>
                  <a:tcPr marL="91440" marR="91440" marT="45720" marB="45720" anchor="ctr">
                    <a:solidFill>
                      <a:srgbClr val="110E19"/>
                    </a:solidFill>
                  </a:tcPr>
                </a:tc>
                <a:tc>
                  <a:txBody>
                    <a:bodyPr>
                      <a:noAutofit/>
                    </a:bodyPr>
                    <a:lstStyle/>
                    <a:p>
                      <a:pPr algn="r">
                        <a:buNone/>
                      </a:pPr>
                      <a:r>
                        <a:rPr sz="1800" b="0">
                          <a:solidFill>
                            <a:srgbClr val="FAF8FF"/>
                          </a:solidFill>
                          <a:latin typeface="Arial"/>
                          <a:ea typeface="Arial"/>
                          <a:cs typeface="Arial"/>
                        </a:rPr>
                        <a:t>120</a:t>
                      </a:r>
                    </a:p>
                  </a:txBody>
                  <a:tcPr marL="91440" marR="91440" marT="45720" marB="45720" anchor="ctr">
                    <a:solidFill>
                      <a:srgbClr val="110E19"/>
                    </a:solidFill>
                  </a:tcPr>
                </a:tc>
              </a:tr>
              <a:tr h="542925">
                <a:tc>
                  <a:txBody>
                    <a:bodyPr>
                      <a:noAutofit/>
                    </a:bodyPr>
                    <a:lstStyle/>
                    <a:p>
                      <a:pPr algn="l">
                        <a:buNone/>
                      </a:pPr>
                      <a:r>
                        <a:rPr sz="1800" b="1">
                          <a:solidFill>
                            <a:srgbClr val="FAF8FF"/>
                          </a:solidFill>
                          <a:latin typeface="Arial"/>
                          <a:ea typeface="Arial"/>
                          <a:cs typeface="Arial"/>
                        </a:rPr>
                        <a:t>Group total</a:t>
                      </a:r>
                    </a:p>
                  </a:txBody>
                  <a:tcPr marL="91440" marR="91440" marT="45720" marB="45720" anchor="ctr">
                    <a:solidFill>
                      <a:srgbClr val="241A32"/>
                    </a:solidFill>
                  </a:tcPr>
                </a:tc>
                <a:tc>
                  <a:txBody>
                    <a:bodyPr>
                      <a:noAutofit/>
                    </a:bodyPr>
                    <a:lstStyle/>
                    <a:p>
                      <a:pPr algn="r">
                        <a:buNone/>
                      </a:pPr>
                      <a:r>
                        <a:rPr sz="1800" b="1">
                          <a:solidFill>
                            <a:srgbClr val="FAF8FF"/>
                          </a:solidFill>
                          <a:latin typeface="Arial"/>
                          <a:ea typeface="Arial"/>
                          <a:cs typeface="Arial"/>
                        </a:rPr>
                        <a:t>1,240</a:t>
                      </a:r>
                    </a:p>
                  </a:txBody>
                  <a:tcPr marL="91440" marR="91440" marT="45720" marB="45720" anchor="ctr">
                    <a:solidFill>
                      <a:srgbClr val="241A32"/>
                    </a:solidFill>
                  </a:tcPr>
                </a:tc>
                <a:tc>
                  <a:txBody>
                    <a:bodyPr>
                      <a:noAutofit/>
                    </a:bodyPr>
                    <a:lstStyle/>
                    <a:p>
                      <a:pPr algn="r">
                        <a:buNone/>
                      </a:pPr>
                      <a:r>
                        <a:rPr sz="1800" b="1">
                          <a:solidFill>
                            <a:srgbClr val="FAF8FF"/>
                          </a:solidFill>
                          <a:latin typeface="Arial"/>
                          <a:ea typeface="Arial"/>
                          <a:cs typeface="Arial"/>
                        </a:rPr>
                        <a:t>784</a:t>
                      </a:r>
                    </a:p>
                  </a:txBody>
                  <a:tcPr marL="91440" marR="91440" marT="45720" marB="45720" anchor="ctr">
                    <a:solidFill>
                      <a:srgbClr val="241A32"/>
                    </a:solidFill>
                  </a:tcPr>
                </a:tc>
                <a:tc>
                  <a:txBody>
                    <a:bodyPr>
                      <a:noAutofit/>
                    </a:bodyPr>
                    <a:lstStyle/>
                    <a:p>
                      <a:pPr algn="r">
                        <a:buNone/>
                      </a:pPr>
                      <a:r>
                        <a:rPr sz="1800" b="1">
                          <a:solidFill>
                            <a:srgbClr val="FAF8FF"/>
                          </a:solidFill>
                          <a:latin typeface="Arial"/>
                          <a:ea typeface="Arial"/>
                          <a:cs typeface="Arial"/>
                        </a:rPr>
                        <a:t>63.2%</a:t>
                      </a:r>
                    </a:p>
                  </a:txBody>
                  <a:tcPr marL="91440" marR="91440" marT="45720" marB="45720" anchor="ctr">
                    <a:solidFill>
                      <a:srgbClr val="241A32"/>
                    </a:solidFill>
                  </a:tcPr>
                </a:tc>
                <a:tc>
                  <a:txBody>
                    <a:bodyPr>
                      <a:noAutofit/>
                    </a:bodyPr>
                    <a:lstStyle/>
                    <a:p>
                      <a:pPr algn="r">
                        <a:buNone/>
                      </a:pPr>
                      <a:r>
                        <a:rPr sz="1800" b="1">
                          <a:solidFill>
                            <a:srgbClr val="FAF8FF"/>
                          </a:solidFill>
                          <a:latin typeface="Arial"/>
                          <a:ea typeface="Arial"/>
                          <a:cs typeface="Arial"/>
                        </a:rPr>
                        <a:t>228</a:t>
                      </a:r>
                    </a:p>
                  </a:txBody>
                  <a:tcPr marL="91440" marR="91440" marT="45720" marB="45720" anchor="ctr">
                    <a:solidFill>
                      <a:srgbClr val="241A32"/>
                    </a:solidFill>
                  </a:tcPr>
                </a:tc>
                <a:tc>
                  <a:txBody>
                    <a:bodyPr>
                      <a:noAutofit/>
                    </a:bodyPr>
                    <a:lstStyle/>
                    <a:p>
                      <a:pPr algn="r">
                        <a:buNone/>
                      </a:pPr>
                      <a:r>
                        <a:rPr sz="1800" b="1">
                          <a:solidFill>
                            <a:srgbClr val="FAF8FF"/>
                          </a:solidFill>
                          <a:latin typeface="Arial"/>
                          <a:ea typeface="Arial"/>
                          <a:cs typeface="Arial"/>
                        </a:rPr>
                        <a:t>455</a:t>
                      </a:r>
                    </a:p>
                  </a:txBody>
                  <a:tcPr marL="91440" marR="91440" marT="45720" marB="45720" anchor="ctr">
                    <a:solidFill>
                      <a:srgbClr val="241A32"/>
                    </a:solidFill>
                  </a:tcPr>
                </a:tc>
              </a:tr>
            </a:tbl>
          </a:graphicData>
        </a:graphic>
      </p:graphicFrame>
      <p:sp>
        <p:nvSpPr>
          <p:cNvPr id="25" name="">
            <a:extLst xmlns:a="http://schemas.openxmlformats.org/drawingml/2006/main">
              <a:ext uri="{FF2B5EF4-FFF2-40B4-BE49-F238E27FC236}">
                <a16:creationId xmlns:a16="http://schemas.microsoft.com/office/drawing/2014/main" id="{1C9E1BAB-5F08-4BBC-BD1F-116BE2389D7D}"/>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FAF8FF"/>
                </a:solidFill>
                <a:latin typeface="Arial"/>
                <a:ea typeface="Arial"/>
                <a:cs typeface="Arial"/>
              </a:defRPr>
            </a:pPr>
            <a:r>
              <a:rPr sz="3450" b="1">
                <a:solidFill>
                  <a:srgbClr val="FAF8FF"/>
                </a:solidFill>
                <a:latin typeface="Arial"/>
                <a:ea typeface="Arial"/>
                <a:cs typeface="Arial"/>
              </a:rPr>
              <a:t>A comparable view of each club</a:t>
            </a:r>
          </a:p>
        </p:txBody>
      </p:sp>
      <p:sp>
        <p:nvSpPr>
          <p:cNvPr id="26" name="">
            <a:extLst xmlns:a="http://schemas.openxmlformats.org/drawingml/2006/main">
              <a:ext uri="{FF2B5EF4-FFF2-40B4-BE49-F238E27FC236}">
                <a16:creationId xmlns:a16="http://schemas.microsoft.com/office/drawing/2014/main" id="{B8B55715-CE46-437B-93EA-346C29ACE7BF}"/>
              </a:ext>
            </a:extLst>
          </p:cNvPr>
          <p:cNvSpPr>
            <a:spLocks xmlns:a="http://schemas.openxmlformats.org/drawingml/2006/main" noGrp="1"/>
          </p:cNvSpPr>
          <p:nvPr/>
        </p:nvSpPr>
        <p:spPr>
          <a:xfrm xmlns:a="http://schemas.openxmlformats.org/drawingml/2006/main">
            <a:off x="609600" y="11906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BBB8C9"/>
                </a:solidFill>
                <a:latin typeface="Arial"/>
                <a:ea typeface="Arial"/>
                <a:cs typeface="Arial"/>
              </a:defRPr>
            </a:pPr>
            <a:r>
              <a:rPr sz="1650" b="0">
                <a:solidFill>
                  <a:srgbClr val="BBB8C9"/>
                </a:solidFill>
                <a:latin typeface="Arial"/>
                <a:ea typeface="Arial"/>
                <a:cs typeface="Arial"/>
              </a:rPr>
              <a:t>Illustrative comparison for three locations using the same 30-day reporting period</a:t>
            </a:r>
          </a:p>
        </p:txBody>
      </p:sp>
      <p:sp>
        <p:nvSpPr>
          <p:cNvPr id="27" name="">
            <a:extLst xmlns:a="http://schemas.openxmlformats.org/drawingml/2006/main">
              <a:ext uri="{FF2B5EF4-FFF2-40B4-BE49-F238E27FC236}">
                <a16:creationId xmlns:a16="http://schemas.microsoft.com/office/drawing/2014/main" id="{F189DBEA-8700-4B39-86B0-89F28DF4B0C1}"/>
              </a:ext>
            </a:extLst>
          </p:cNvPr>
          <p:cNvSpPr>
            <a:spLocks xmlns:a="http://schemas.openxmlformats.org/drawingml/2006/main" noGrp="1"/>
          </p:cNvSpPr>
          <p:nvPr/>
        </p:nvSpPr>
        <p:spPr>
          <a:xfrm xmlns:a="http://schemas.openxmlformats.org/drawingml/2006/main">
            <a:off x="609600" y="6457950"/>
            <a:ext cx="228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918A9F"/>
                </a:solidFill>
                <a:latin typeface="Arial"/>
                <a:ea typeface="Arial"/>
                <a:cs typeface="Arial"/>
              </a:defRPr>
            </a:pPr>
            <a:r>
              <a:rPr sz="1125" b="1">
                <a:solidFill>
                  <a:srgbClr val="918A9F"/>
                </a:solidFill>
                <a:latin typeface="Arial"/>
                <a:ea typeface="Arial"/>
                <a:cs typeface="Arial"/>
              </a:rPr>
              <a:t>MyDancr</a:t>
            </a:r>
          </a:p>
        </p:txBody>
      </p:sp>
      <p:sp>
        <p:nvSpPr>
          <p:cNvPr id="28" name="">
            <a:extLst xmlns:a="http://schemas.openxmlformats.org/drawingml/2006/main">
              <a:ext uri="{FF2B5EF4-FFF2-40B4-BE49-F238E27FC236}">
                <a16:creationId xmlns:a16="http://schemas.microsoft.com/office/drawing/2014/main" id="{C4A9CCAF-4229-4DD8-A510-C5FDD5C82172}"/>
              </a:ext>
            </a:extLst>
          </p:cNvPr>
          <p:cNvSpPr>
            <a:spLocks xmlns:a="http://schemas.openxmlformats.org/drawingml/2006/main" noGrp="1"/>
          </p:cNvSpPr>
          <p:nvPr/>
        </p:nvSpPr>
        <p:spPr>
          <a:xfrm xmlns:a="http://schemas.openxmlformats.org/drawingml/2006/main">
            <a:off x="10572750" y="6457950"/>
            <a:ext cx="1009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125" b="0">
                <a:solidFill>
                  <a:srgbClr val="918A9F"/>
                </a:solidFill>
                <a:latin typeface="Arial"/>
                <a:ea typeface="Arial"/>
                <a:cs typeface="Arial"/>
              </a:defRPr>
            </a:pPr>
            <a:r>
              <a:rPr sz="1125" b="0">
                <a:solidFill>
                  <a:srgbClr val="918A9F"/>
                </a:solidFill>
                <a:latin typeface="Arial"/>
                <a:ea typeface="Arial"/>
                <a:cs typeface="Arial"/>
              </a:rPr>
              <a:t>06 / 07</a:t>
            </a:r>
          </a:p>
        </p:txBody>
      </p:sp>
      <p:sp>
        <p:nvSpPr>
          <p:cNvPr id="29" name="">
            <a:extLst xmlns:a="http://schemas.openxmlformats.org/drawingml/2006/main">
              <a:ext uri="{FF2B5EF4-FFF2-40B4-BE49-F238E27FC236}">
                <a16:creationId xmlns:a16="http://schemas.microsoft.com/office/drawing/2014/main" id="{1FA499DF-507B-440D-8C9A-F9FA0D64D82F}"/>
              </a:ext>
            </a:extLst>
          </p:cNvPr>
          <p:cNvSpPr>
            <a:spLocks xmlns:a="http://schemas.openxmlformats.org/drawingml/2006/main" noGrp="1"/>
          </p:cNvSpPr>
          <p:nvPr/>
        </p:nvSpPr>
        <p:spPr>
          <a:xfrm xmlns:a="http://schemas.openxmlformats.org/drawingml/2006/main">
            <a:off x="609600" y="489585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75" b="1">
                <a:solidFill>
                  <a:srgbClr val="B88AFF"/>
                </a:solidFill>
                <a:latin typeface="Arial"/>
                <a:ea typeface="Arial"/>
                <a:cs typeface="Arial"/>
              </a:defRPr>
            </a:pPr>
            <a:r>
              <a:rPr sz="2775" b="1">
                <a:solidFill>
                  <a:srgbClr val="B88AFF"/>
                </a:solidFill>
                <a:latin typeface="Arial"/>
                <a:ea typeface="Arial"/>
                <a:cs typeface="Arial"/>
              </a:rPr>
              <a:t>15 percentage points</a:t>
            </a:r>
          </a:p>
        </p:txBody>
      </p:sp>
      <p:sp>
        <p:nvSpPr>
          <p:cNvPr id="30" name="">
            <a:extLst xmlns:a="http://schemas.openxmlformats.org/drawingml/2006/main">
              <a:ext uri="{FF2B5EF4-FFF2-40B4-BE49-F238E27FC236}">
                <a16:creationId xmlns:a16="http://schemas.microsoft.com/office/drawing/2014/main" id="{D3F0B8BE-0016-4774-95F7-C0545F8E16FB}"/>
              </a:ext>
            </a:extLst>
          </p:cNvPr>
          <p:cNvSpPr>
            <a:spLocks xmlns:a="http://schemas.openxmlformats.org/drawingml/2006/main" noGrp="1"/>
          </p:cNvSpPr>
          <p:nvPr/>
        </p:nvSpPr>
        <p:spPr>
          <a:xfrm xmlns:a="http://schemas.openxmlformats.org/drawingml/2006/main">
            <a:off x="609600" y="5410200"/>
            <a:ext cx="523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FAF8FF"/>
                </a:solidFill>
                <a:latin typeface="Arial"/>
                <a:ea typeface="Arial"/>
                <a:cs typeface="Arial"/>
              </a:defRPr>
            </a:pPr>
            <a:r>
              <a:rPr sz="1725" b="1">
                <a:solidFill>
                  <a:srgbClr val="FAF8FF"/>
                </a:solidFill>
                <a:latin typeface="Arial"/>
                <a:ea typeface="Arial"/>
                <a:cs typeface="Arial"/>
              </a:rPr>
              <a:t>Spread in pass-use rates</a:t>
            </a:r>
          </a:p>
        </p:txBody>
      </p:sp>
      <p:sp>
        <p:nvSpPr>
          <p:cNvPr id="31" name="">
            <a:extLst xmlns:a="http://schemas.openxmlformats.org/drawingml/2006/main">
              <a:ext uri="{FF2B5EF4-FFF2-40B4-BE49-F238E27FC236}">
                <a16:creationId xmlns:a16="http://schemas.microsoft.com/office/drawing/2014/main" id="{53669B67-2DE9-49BE-9673-005A99CB1707}"/>
              </a:ext>
            </a:extLst>
          </p:cNvPr>
          <p:cNvSpPr>
            <a:spLocks xmlns:a="http://schemas.openxmlformats.org/drawingml/2006/main" noGrp="1"/>
          </p:cNvSpPr>
          <p:nvPr/>
        </p:nvSpPr>
        <p:spPr>
          <a:xfrm xmlns:a="http://schemas.openxmlformats.org/drawingml/2006/main">
            <a:off x="609600" y="5781675"/>
            <a:ext cx="5238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BBB8C9"/>
                </a:solidFill>
                <a:latin typeface="Arial"/>
                <a:ea typeface="Arial"/>
                <a:cs typeface="Arial"/>
              </a:defRPr>
            </a:pPr>
            <a:r>
              <a:rPr sz="1500" b="0">
                <a:solidFill>
                  <a:srgbClr val="BBB8C9"/>
                </a:solidFill>
                <a:latin typeface="Arial"/>
                <a:ea typeface="Arial"/>
                <a:cs typeface="Arial"/>
              </a:rPr>
              <a:t>55% at Club B versus 70% at Club C.</a:t>
            </a:r>
          </a:p>
        </p:txBody>
      </p:sp>
      <p:sp>
        <p:nvSpPr>
          <p:cNvPr id="32" name="">
            <a:extLst xmlns:a="http://schemas.openxmlformats.org/drawingml/2006/main">
              <a:ext uri="{FF2B5EF4-FFF2-40B4-BE49-F238E27FC236}">
                <a16:creationId xmlns:a16="http://schemas.microsoft.com/office/drawing/2014/main" id="{E6C65448-2F1D-4A0C-8926-A815D28C0F0B}"/>
              </a:ext>
            </a:extLst>
          </p:cNvPr>
          <p:cNvSpPr>
            <a:spLocks xmlns:a="http://schemas.openxmlformats.org/drawingml/2006/main" noGrp="1"/>
          </p:cNvSpPr>
          <p:nvPr/>
        </p:nvSpPr>
        <p:spPr>
          <a:xfrm xmlns:a="http://schemas.openxmlformats.org/drawingml/2006/main">
            <a:off x="6429375" y="4953000"/>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B88AFF"/>
                </a:solidFill>
                <a:latin typeface="Arial"/>
                <a:ea typeface="Arial"/>
                <a:cs typeface="Arial"/>
              </a:defRPr>
            </a:pPr>
            <a:r>
              <a:rPr sz="2175" b="1">
                <a:solidFill>
                  <a:srgbClr val="B88AFF"/>
                </a:solidFill>
                <a:latin typeface="Arial"/>
                <a:ea typeface="Arial"/>
                <a:cs typeface="Arial"/>
              </a:rPr>
              <a:t>Questions for marketing</a:t>
            </a:r>
          </a:p>
        </p:txBody>
      </p:sp>
      <p:sp>
        <p:nvSpPr>
          <p:cNvPr id="33" name="">
            <a:extLst xmlns:a="http://schemas.openxmlformats.org/drawingml/2006/main">
              <a:ext uri="{FF2B5EF4-FFF2-40B4-BE49-F238E27FC236}">
                <a16:creationId xmlns:a16="http://schemas.microsoft.com/office/drawing/2014/main" id="{1929FEA4-08C3-4DCB-A3EB-0F218B925902}"/>
              </a:ext>
            </a:extLst>
          </p:cNvPr>
          <p:cNvSpPr>
            <a:spLocks xmlns:a="http://schemas.openxmlformats.org/drawingml/2006/main" noGrp="1"/>
          </p:cNvSpPr>
          <p:nvPr/>
        </p:nvSpPr>
        <p:spPr>
          <a:xfrm xmlns:a="http://schemas.openxmlformats.org/drawingml/2006/main">
            <a:off x="6429375" y="5429250"/>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1">
                <a:solidFill>
                  <a:srgbClr val="FAF8FF"/>
                </a:solidFill>
                <a:latin typeface="Arial"/>
                <a:ea typeface="Arial"/>
                <a:cs typeface="Arial"/>
              </a:defRPr>
            </a:pPr>
            <a:r>
              <a:rPr sz="1575" b="1">
                <a:solidFill>
                  <a:srgbClr val="FAF8FF"/>
                </a:solidFill>
                <a:latin typeface="Arial"/>
                <a:ea typeface="Arial"/>
                <a:cs typeface="Arial"/>
              </a:rPr>
              <a:t>Review offers, guest mix and arrival handling.</a:t>
            </a:r>
          </a:p>
        </p:txBody>
      </p:sp>
      <p:sp>
        <p:nvSpPr>
          <p:cNvPr id="34" name="">
            <a:extLst xmlns:a="http://schemas.openxmlformats.org/drawingml/2006/main">
              <a:ext uri="{FF2B5EF4-FFF2-40B4-BE49-F238E27FC236}">
                <a16:creationId xmlns:a16="http://schemas.microsoft.com/office/drawing/2014/main" id="{B1A65E87-D544-49A0-BB3B-199383149E43}"/>
              </a:ext>
            </a:extLst>
          </p:cNvPr>
          <p:cNvSpPr>
            <a:spLocks xmlns:a="http://schemas.openxmlformats.org/drawingml/2006/main" noGrp="1"/>
          </p:cNvSpPr>
          <p:nvPr/>
        </p:nvSpPr>
        <p:spPr>
          <a:xfrm xmlns:a="http://schemas.openxmlformats.org/drawingml/2006/main">
            <a:off x="6429375" y="5800725"/>
            <a:ext cx="5143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425" b="0">
                <a:solidFill>
                  <a:srgbClr val="BBB8C9"/>
                </a:solidFill>
                <a:latin typeface="Arial"/>
                <a:ea typeface="Arial"/>
                <a:cs typeface="Arial"/>
              </a:defRPr>
            </a:pPr>
            <a:r>
              <a:rPr sz="1425" b="0">
                <a:solidFill>
                  <a:srgbClr val="BBB8C9"/>
                </a:solidFill>
                <a:latin typeface="Arial"/>
                <a:ea typeface="Arial"/>
                <a:cs typeface="Arial"/>
              </a:rPr>
              <a:t>Use venue context before choosing a wider rollout.</a:t>
            </a:r>
          </a:p>
        </p:txBody>
      </p:sp>
      <p:sp>
        <p:nvSpPr>
          <p:cNvPr id="35" name="">
            <a:extLst xmlns:a="http://schemas.openxmlformats.org/drawingml/2006/main">
              <a:ext uri="{FF2B5EF4-FFF2-40B4-BE49-F238E27FC236}">
                <a16:creationId xmlns:a16="http://schemas.microsoft.com/office/drawing/2014/main" id="{3F0720FF-6073-4C01-AC48-086C87B41F83}"/>
              </a:ext>
            </a:extLst>
          </p:cNvPr>
          <p:cNvSpPr>
            <a:spLocks xmlns:a="http://schemas.openxmlformats.org/drawingml/2006/main" noGrp="1"/>
          </p:cNvSpPr>
          <p:nvPr/>
        </p:nvSpPr>
        <p:spPr>
          <a:xfrm xmlns:a="http://schemas.openxmlformats.org/drawingml/2006/main">
            <a:off x="609600" y="6172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BBB8C9"/>
                </a:solidFill>
                <a:latin typeface="Arial"/>
                <a:ea typeface="Arial"/>
                <a:cs typeface="Arial"/>
              </a:defRPr>
            </a:pPr>
            <a:r>
              <a:rPr sz="1200" b="0">
                <a:solidFill>
                  <a:srgbClr val="BBB8C9"/>
                </a:solidFill>
                <a:latin typeface="Arial"/>
                <a:ea typeface="Arial"/>
                <a:cs typeface="Arial"/>
              </a:rPr>
              <a:t>Sample assembled report. Company-wide dashboard scope remains to be agreed. Group rate: 784 / 1,240 = 63.2%.</a:t>
            </a:r>
          </a:p>
        </p:txBody>
      </p:sp>
    </p:spTree>
    <p:extLst>
      <p:ext uri="{BB962C8B-B14F-4D97-AF65-F5344CB8AC3E}">
        <p14:creationId xmlns:p14="http://schemas.microsoft.com/office/powerpoint/2010/main" val="1415057821"/>
      </p:ext>
    </p:extLst>
  </p:cSld>
</p:sld>
</file>

<file path=ppt/slides/slide7.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graphicFrame>
        <p:nvGraphicFramePr>
          <p:cNvPr id="40" name=""/>
          <p:cNvGraphicFramePr/>
          <p:nvPr/>
        </p:nvGraphicFramePr>
        <p:xfrm>
          <a:off xmlns:a="http://schemas.openxmlformats.org/drawingml/2006/main" x="6477000" y="2447925"/>
          <a:ext xmlns:a="http://schemas.openxmlformats.org/drawingml/2006/main" cx="5105400" cy="3095625"/>
        </p:xfrm>
        <a:graphic xmlns:a="http://schemas.openxmlformats.org/drawingml/2006/main">
          <a:graphicData uri="http://schemas.openxmlformats.org/drawingml/2006/table">
            <a:tbl>
              <a:tblPr/>
              <a:tblGrid>
                <a:gridCol w="1762125"/>
                <a:gridCol w="3343275"/>
              </a:tblGrid>
              <a:tr h="619125">
                <a:tc>
                  <a:txBody>
                    <a:bodyPr>
                      <a:noAutofit/>
                    </a:bodyPr>
                    <a:lstStyle/>
                    <a:p>
                      <a:pPr algn="l">
                        <a:buNone/>
                      </a:pPr>
                      <a:r>
                        <a:rPr sz="1500" b="1">
                          <a:solidFill>
                            <a:srgbClr val="D6C6F0"/>
                          </a:solidFill>
                          <a:latin typeface="Arial"/>
                          <a:ea typeface="Arial"/>
                          <a:cs typeface="Arial"/>
                        </a:rPr>
                        <a:t>Decision measure</a:t>
                      </a:r>
                    </a:p>
                  </a:txBody>
                  <a:tcPr marL="91440" marR="91440" marT="45720" marB="45720" anchor="ctr">
                    <a:solidFill>
                      <a:srgbClr val="261C37"/>
                    </a:solidFill>
                  </a:tcPr>
                </a:tc>
                <a:tc>
                  <a:txBody>
                    <a:bodyPr>
                      <a:noAutofit/>
                    </a:bodyPr>
                    <a:lstStyle/>
                    <a:p>
                      <a:pPr algn="l">
                        <a:buNone/>
                      </a:pPr>
                      <a:r>
                        <a:rPr sz="1500" b="1">
                          <a:solidFill>
                            <a:srgbClr val="D6C6F0"/>
                          </a:solidFill>
                          <a:latin typeface="Arial"/>
                          <a:ea typeface="Arial"/>
                          <a:cs typeface="Arial"/>
                        </a:rPr>
                        <a:t>Evidence</a:t>
                      </a:r>
                    </a:p>
                  </a:txBody>
                  <a:tcPr marL="91440" marR="91440" marT="45720" marB="45720" anchor="ctr">
                    <a:solidFill>
                      <a:srgbClr val="261C37"/>
                    </a:solidFill>
                  </a:tcPr>
                </a:tc>
              </a:tr>
              <a:tr h="619125">
                <a:tc>
                  <a:txBody>
                    <a:bodyPr>
                      <a:noAutofit/>
                    </a:bodyPr>
                    <a:lstStyle/>
                    <a:p>
                      <a:pPr algn="l">
                        <a:buNone/>
                      </a:pPr>
                      <a:r>
                        <a:rPr sz="1575" b="1">
                          <a:solidFill>
                            <a:srgbClr val="FAF8FF"/>
                          </a:solidFill>
                          <a:latin typeface="Arial"/>
                          <a:ea typeface="Arial"/>
                          <a:cs typeface="Arial"/>
                        </a:rPr>
                        <a:t>Acquisition</a:t>
                      </a:r>
                    </a:p>
                  </a:txBody>
                  <a:tcPr marL="91440" marR="91440" marT="45720" marB="45720" anchor="ctr">
                    <a:solidFill>
                      <a:srgbClr val="110E19"/>
                    </a:solidFill>
                  </a:tcPr>
                </a:tc>
                <a:tc>
                  <a:txBody>
                    <a:bodyPr>
                      <a:noAutofit/>
                    </a:bodyPr>
                    <a:lstStyle/>
                    <a:p>
                      <a:pPr algn="l">
                        <a:buNone/>
                      </a:pPr>
                      <a:r>
                        <a:rPr sz="1575" b="0">
                          <a:solidFill>
                            <a:srgbClr val="FAF8FF"/>
                          </a:solidFill>
                          <a:latin typeface="Arial"/>
                          <a:ea typeface="Arial"/>
                          <a:cs typeface="Arial"/>
                        </a:rPr>
                        <a:t>Pass claims, confirmed uses</a:t>
                      </a:r>
                    </a:p>
                    <a:p>
                      <a:pPr algn="l">
                        <a:buNone/>
                      </a:pPr>
                      <a:r>
                        <a:rPr sz="1575" b="0">
                          <a:solidFill>
                            <a:srgbClr val="FAF8FF"/>
                          </a:solidFill>
                          <a:latin typeface="Arial"/>
                          <a:ea typeface="Arial"/>
                          <a:cs typeface="Arial"/>
                        </a:rPr>
                        <a:t>and directions by source</a:t>
                      </a:r>
                    </a:p>
                  </a:txBody>
                  <a:tcPr marL="91440" marR="91440" marT="45720" marB="45720" anchor="ctr">
                    <a:solidFill>
                      <a:srgbClr val="110E19"/>
                    </a:solidFill>
                  </a:tcPr>
                </a:tc>
              </a:tr>
              <a:tr h="619125">
                <a:tc>
                  <a:txBody>
                    <a:bodyPr>
                      <a:noAutofit/>
                    </a:bodyPr>
                    <a:lstStyle/>
                    <a:p>
                      <a:pPr algn="l">
                        <a:buNone/>
                      </a:pPr>
                      <a:r>
                        <a:rPr sz="1575" b="1">
                          <a:solidFill>
                            <a:srgbClr val="FAF8FF"/>
                          </a:solidFill>
                          <a:latin typeface="Arial"/>
                          <a:ea typeface="Arial"/>
                          <a:cs typeface="Arial"/>
                        </a:rPr>
                        <a:t>VIP outcomes</a:t>
                      </a:r>
                    </a:p>
                  </a:txBody>
                  <a:tcPr marL="91440" marR="91440" marT="45720" marB="45720" anchor="ctr">
                    <a:solidFill>
                      <a:srgbClr val="171220"/>
                    </a:solidFill>
                  </a:tcPr>
                </a:tc>
                <a:tc>
                  <a:txBody>
                    <a:bodyPr>
                      <a:noAutofit/>
                    </a:bodyPr>
                    <a:lstStyle/>
                    <a:p>
                      <a:pPr algn="l">
                        <a:buNone/>
                      </a:pPr>
                      <a:r>
                        <a:rPr sz="1575" b="0">
                          <a:solidFill>
                            <a:srgbClr val="FAF8FF"/>
                          </a:solidFill>
                          <a:latin typeface="Arial"/>
                          <a:ea typeface="Arial"/>
                          <a:cs typeface="Arial"/>
                        </a:rPr>
                        <a:t>Completed purchases and</a:t>
                      </a:r>
                    </a:p>
                    <a:p>
                      <a:pPr algn="l">
                        <a:buNone/>
                      </a:pPr>
                      <a:r>
                        <a:rPr sz="1575" b="0">
                          <a:solidFill>
                            <a:srgbClr val="FAF8FF"/>
                          </a:solidFill>
                          <a:latin typeface="Arial"/>
                          <a:ea typeface="Arial"/>
                          <a:cs typeface="Arial"/>
                        </a:rPr>
                        <a:t>revenue from club records</a:t>
                      </a:r>
                    </a:p>
                  </a:txBody>
                  <a:tcPr marL="91440" marR="91440" marT="45720" marB="45720" anchor="ctr">
                    <a:solidFill>
                      <a:srgbClr val="171220"/>
                    </a:solidFill>
                  </a:tcPr>
                </a:tc>
              </a:tr>
              <a:tr h="619125">
                <a:tc>
                  <a:txBody>
                    <a:bodyPr>
                      <a:noAutofit/>
                    </a:bodyPr>
                    <a:lstStyle/>
                    <a:p>
                      <a:pPr algn="l">
                        <a:buNone/>
                      </a:pPr>
                      <a:r>
                        <a:rPr sz="1575" b="1">
                          <a:solidFill>
                            <a:srgbClr val="FAF8FF"/>
                          </a:solidFill>
                          <a:latin typeface="Arial"/>
                          <a:ea typeface="Arial"/>
                          <a:cs typeface="Arial"/>
                        </a:rPr>
                        <a:t>Guest experience</a:t>
                      </a:r>
                    </a:p>
                  </a:txBody>
                  <a:tcPr marL="91440" marR="91440" marT="45720" marB="45720" anchor="ctr">
                    <a:solidFill>
                      <a:srgbClr val="110E19"/>
                    </a:solidFill>
                  </a:tcPr>
                </a:tc>
                <a:tc>
                  <a:txBody>
                    <a:bodyPr>
                      <a:noAutofit/>
                    </a:bodyPr>
                    <a:lstStyle/>
                    <a:p>
                      <a:pPr algn="l">
                        <a:buNone/>
                      </a:pPr>
                      <a:r>
                        <a:rPr sz="1575" b="0">
                          <a:solidFill>
                            <a:srgbClr val="FAF8FF"/>
                          </a:solidFill>
                          <a:latin typeface="Arial"/>
                          <a:ea typeface="Arial"/>
                          <a:cs typeface="Arial"/>
                        </a:rPr>
                        <a:t>Ease of finding and</a:t>
                      </a:r>
                    </a:p>
                    <a:p>
                      <a:pPr algn="l">
                        <a:buNone/>
                      </a:pPr>
                      <a:r>
                        <a:rPr sz="1575" b="0">
                          <a:solidFill>
                            <a:srgbClr val="FAF8FF"/>
                          </a:solidFill>
                          <a:latin typeface="Arial"/>
                          <a:ea typeface="Arial"/>
                          <a:cs typeface="Arial"/>
                        </a:rPr>
                        <a:t>requesting a preferred dancer</a:t>
                      </a:r>
                    </a:p>
                  </a:txBody>
                  <a:tcPr marL="91440" marR="91440" marT="45720" marB="45720" anchor="ctr">
                    <a:solidFill>
                      <a:srgbClr val="110E19"/>
                    </a:solidFill>
                  </a:tcPr>
                </a:tc>
              </a:tr>
              <a:tr h="619125">
                <a:tc>
                  <a:txBody>
                    <a:bodyPr>
                      <a:noAutofit/>
                    </a:bodyPr>
                    <a:lstStyle/>
                    <a:p>
                      <a:pPr algn="l">
                        <a:buNone/>
                      </a:pPr>
                      <a:r>
                        <a:rPr sz="1575" b="1">
                          <a:solidFill>
                            <a:srgbClr val="FAF8FF"/>
                          </a:solidFill>
                          <a:latin typeface="Arial"/>
                          <a:ea typeface="Arial"/>
                          <a:cs typeface="Arial"/>
                        </a:rPr>
                        <a:t>Staff adoption</a:t>
                      </a:r>
                    </a:p>
                  </a:txBody>
                  <a:tcPr marL="91440" marR="91440" marT="45720" marB="45720" anchor="ctr">
                    <a:solidFill>
                      <a:srgbClr val="171220"/>
                    </a:solidFill>
                  </a:tcPr>
                </a:tc>
                <a:tc>
                  <a:txBody>
                    <a:bodyPr>
                      <a:noAutofit/>
                    </a:bodyPr>
                    <a:lstStyle/>
                    <a:p>
                      <a:pPr algn="l">
                        <a:buNone/>
                      </a:pPr>
                      <a:r>
                        <a:rPr sz="1575" b="0">
                          <a:solidFill>
                            <a:srgbClr val="FAF8FF"/>
                          </a:solidFill>
                          <a:latin typeface="Arial"/>
                          <a:ea typeface="Arial"/>
                          <a:cs typeface="Arial"/>
                        </a:rPr>
                        <a:t>Request handling and</a:t>
                      </a:r>
                    </a:p>
                    <a:p>
                      <a:pPr algn="l">
                        <a:buNone/>
                      </a:pPr>
                      <a:r>
                        <a:rPr sz="1575" b="0">
                          <a:solidFill>
                            <a:srgbClr val="FAF8FF"/>
                          </a:solidFill>
                          <a:latin typeface="Arial"/>
                          <a:ea typeface="Arial"/>
                          <a:cs typeface="Arial"/>
                        </a:rPr>
                        <a:t>feedback from venue teams</a:t>
                      </a:r>
                    </a:p>
                  </a:txBody>
                  <a:tcPr marL="91440" marR="91440" marT="45720" marB="45720" anchor="ctr">
                    <a:solidFill>
                      <a:srgbClr val="171220"/>
                    </a:solidFill>
                  </a:tcPr>
                </a:tc>
              </a:tr>
            </a:tbl>
          </a:graphicData>
        </a:graphic>
      </p:graphicFrame>
      <p:sp>
        <p:nvSpPr>
          <p:cNvPr id="22" name="">
            <a:extLst xmlns:a="http://schemas.openxmlformats.org/drawingml/2006/main">
              <a:ext uri="{FF2B5EF4-FFF2-40B4-BE49-F238E27FC236}">
                <a16:creationId xmlns:a16="http://schemas.microsoft.com/office/drawing/2014/main" id="{C3CBE769-CE98-430A-B527-3A34CE60A60E}"/>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FAF8FF"/>
                </a:solidFill>
                <a:latin typeface="Arial"/>
                <a:ea typeface="Arial"/>
                <a:cs typeface="Arial"/>
              </a:defRPr>
            </a:pPr>
            <a:r>
              <a:rPr sz="3600" b="1">
                <a:solidFill>
                  <a:srgbClr val="FAF8FF"/>
                </a:solidFill>
                <a:latin typeface="Arial"/>
                <a:ea typeface="Arial"/>
                <a:cs typeface="Arial"/>
              </a:rPr>
              <a:t>A pilot with three clubs</a:t>
            </a:r>
          </a:p>
        </p:txBody>
      </p:sp>
      <p:sp>
        <p:nvSpPr>
          <p:cNvPr id="23" name="">
            <a:extLst xmlns:a="http://schemas.openxmlformats.org/drawingml/2006/main">
              <a:ext uri="{FF2B5EF4-FFF2-40B4-BE49-F238E27FC236}">
                <a16:creationId xmlns:a16="http://schemas.microsoft.com/office/drawing/2014/main" id="{23BD84B0-7E84-4EB7-92B8-0028F38C2C5C}"/>
              </a:ext>
            </a:extLst>
          </p:cNvPr>
          <p:cNvSpPr>
            <a:spLocks xmlns:a="http://schemas.openxmlformats.org/drawingml/2006/main" noGrp="1"/>
          </p:cNvSpPr>
          <p:nvPr/>
        </p:nvSpPr>
        <p:spPr>
          <a:xfrm xmlns:a="http://schemas.openxmlformats.org/drawingml/2006/main">
            <a:off x="609600" y="11906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BBB8C9"/>
                </a:solidFill>
                <a:latin typeface="Arial"/>
                <a:ea typeface="Arial"/>
                <a:cs typeface="Arial"/>
              </a:defRPr>
            </a:pPr>
            <a:r>
              <a:rPr sz="1650" b="0">
                <a:solidFill>
                  <a:srgbClr val="BBB8C9"/>
                </a:solidFill>
                <a:latin typeface="Arial"/>
                <a:ea typeface="Arial"/>
                <a:cs typeface="Arial"/>
              </a:rPr>
              <a:t>A proposed test of guest adoption, experience and commercial value</a:t>
            </a:r>
          </a:p>
        </p:txBody>
      </p:sp>
      <p:sp>
        <p:nvSpPr>
          <p:cNvPr id="24" name="">
            <a:extLst xmlns:a="http://schemas.openxmlformats.org/drawingml/2006/main">
              <a:ext uri="{FF2B5EF4-FFF2-40B4-BE49-F238E27FC236}">
                <a16:creationId xmlns:a16="http://schemas.microsoft.com/office/drawing/2014/main" id="{732E4067-10CF-4D51-9AF9-3D40E514EB58}"/>
              </a:ext>
            </a:extLst>
          </p:cNvPr>
          <p:cNvSpPr>
            <a:spLocks xmlns:a="http://schemas.openxmlformats.org/drawingml/2006/main" noGrp="1"/>
          </p:cNvSpPr>
          <p:nvPr/>
        </p:nvSpPr>
        <p:spPr>
          <a:xfrm xmlns:a="http://schemas.openxmlformats.org/drawingml/2006/main">
            <a:off x="609600" y="6457950"/>
            <a:ext cx="228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918A9F"/>
                </a:solidFill>
                <a:latin typeface="Arial"/>
                <a:ea typeface="Arial"/>
                <a:cs typeface="Arial"/>
              </a:defRPr>
            </a:pPr>
            <a:r>
              <a:rPr sz="1125" b="1">
                <a:solidFill>
                  <a:srgbClr val="918A9F"/>
                </a:solidFill>
                <a:latin typeface="Arial"/>
                <a:ea typeface="Arial"/>
                <a:cs typeface="Arial"/>
              </a:rPr>
              <a:t>MyDancr</a:t>
            </a:r>
          </a:p>
        </p:txBody>
      </p:sp>
      <p:sp>
        <p:nvSpPr>
          <p:cNvPr id="25" name="">
            <a:extLst xmlns:a="http://schemas.openxmlformats.org/drawingml/2006/main">
              <a:ext uri="{FF2B5EF4-FFF2-40B4-BE49-F238E27FC236}">
                <a16:creationId xmlns:a16="http://schemas.microsoft.com/office/drawing/2014/main" id="{5C4AF620-3829-4627-91CB-BBE09AD8EA30}"/>
              </a:ext>
            </a:extLst>
          </p:cNvPr>
          <p:cNvSpPr>
            <a:spLocks xmlns:a="http://schemas.openxmlformats.org/drawingml/2006/main" noGrp="1"/>
          </p:cNvSpPr>
          <p:nvPr/>
        </p:nvSpPr>
        <p:spPr>
          <a:xfrm xmlns:a="http://schemas.openxmlformats.org/drawingml/2006/main">
            <a:off x="10572750" y="6457950"/>
            <a:ext cx="1009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125" b="0">
                <a:solidFill>
                  <a:srgbClr val="918A9F"/>
                </a:solidFill>
                <a:latin typeface="Arial"/>
                <a:ea typeface="Arial"/>
                <a:cs typeface="Arial"/>
              </a:defRPr>
            </a:pPr>
            <a:r>
              <a:rPr sz="1125" b="0">
                <a:solidFill>
                  <a:srgbClr val="918A9F"/>
                </a:solidFill>
                <a:latin typeface="Arial"/>
                <a:ea typeface="Arial"/>
                <a:cs typeface="Arial"/>
              </a:rPr>
              <a:t>07 / 07</a:t>
            </a:r>
          </a:p>
        </p:txBody>
      </p:sp>
      <p:sp>
        <p:nvSpPr>
          <p:cNvPr id="26" name="">
            <a:extLst xmlns:a="http://schemas.openxmlformats.org/drawingml/2006/main">
              <a:ext uri="{FF2B5EF4-FFF2-40B4-BE49-F238E27FC236}">
                <a16:creationId xmlns:a16="http://schemas.microsoft.com/office/drawing/2014/main" id="{56446B1B-F6AF-4839-BF90-E633C8B7C24D}"/>
              </a:ext>
            </a:extLst>
          </p:cNvPr>
          <p:cNvSpPr>
            <a:spLocks xmlns:a="http://schemas.openxmlformats.org/drawingml/2006/main" noGrp="1"/>
          </p:cNvSpPr>
          <p:nvPr/>
        </p:nvSpPr>
        <p:spPr>
          <a:xfrm xmlns:a="http://schemas.openxmlformats.org/drawingml/2006/main">
            <a:off x="609600" y="195262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B88AFF"/>
                </a:solidFill>
                <a:latin typeface="Arial"/>
                <a:ea typeface="Arial"/>
                <a:cs typeface="Arial"/>
              </a:defRPr>
            </a:pPr>
            <a:r>
              <a:rPr sz="1800" b="1">
                <a:solidFill>
                  <a:srgbClr val="B88AFF"/>
                </a:solidFill>
                <a:latin typeface="Arial"/>
                <a:ea typeface="Arial"/>
                <a:cs typeface="Arial"/>
              </a:rPr>
              <a:t>01</a:t>
            </a:r>
          </a:p>
        </p:txBody>
      </p:sp>
      <p:sp>
        <p:nvSpPr>
          <p:cNvPr id="27" name="">
            <a:extLst xmlns:a="http://schemas.openxmlformats.org/drawingml/2006/main">
              <a:ext uri="{FF2B5EF4-FFF2-40B4-BE49-F238E27FC236}">
                <a16:creationId xmlns:a16="http://schemas.microsoft.com/office/drawing/2014/main" id="{ACE12E4B-8587-45E4-8DBB-C7036D87DB97}"/>
              </a:ext>
            </a:extLst>
          </p:cNvPr>
          <p:cNvSpPr>
            <a:spLocks xmlns:a="http://schemas.openxmlformats.org/drawingml/2006/main" noGrp="1"/>
          </p:cNvSpPr>
          <p:nvPr/>
        </p:nvSpPr>
        <p:spPr>
          <a:xfrm xmlns:a="http://schemas.openxmlformats.org/drawingml/2006/main">
            <a:off x="1190625" y="1933575"/>
            <a:ext cx="4714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FAF8FF"/>
                </a:solidFill>
                <a:latin typeface="Arial"/>
                <a:ea typeface="Arial"/>
                <a:cs typeface="Arial"/>
              </a:defRPr>
            </a:pPr>
            <a:r>
              <a:rPr sz="1800" b="1">
                <a:solidFill>
                  <a:srgbClr val="FAF8FF"/>
                </a:solidFill>
                <a:latin typeface="Arial"/>
                <a:ea typeface="Arial"/>
                <a:cs typeface="Arial"/>
              </a:rPr>
              <a:t>Select Club A, Club B and Club C</a:t>
            </a:r>
          </a:p>
        </p:txBody>
      </p:sp>
      <p:sp>
        <p:nvSpPr>
          <p:cNvPr id="28" name="">
            <a:extLst xmlns:a="http://schemas.openxmlformats.org/drawingml/2006/main">
              <a:ext uri="{FF2B5EF4-FFF2-40B4-BE49-F238E27FC236}">
                <a16:creationId xmlns:a16="http://schemas.microsoft.com/office/drawing/2014/main" id="{E2FCFE26-9F84-4388-8928-0C716681E6C0}"/>
              </a:ext>
            </a:extLst>
          </p:cNvPr>
          <p:cNvSpPr>
            <a:spLocks xmlns:a="http://schemas.openxmlformats.org/drawingml/2006/main" noGrp="1"/>
          </p:cNvSpPr>
          <p:nvPr/>
        </p:nvSpPr>
        <p:spPr>
          <a:xfrm xmlns:a="http://schemas.openxmlformats.org/drawingml/2006/main">
            <a:off x="1190625" y="2305050"/>
            <a:ext cx="4714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BBB8C9"/>
                </a:solidFill>
                <a:latin typeface="Arial"/>
                <a:ea typeface="Arial"/>
                <a:cs typeface="Arial"/>
              </a:defRPr>
            </a:pPr>
            <a:r>
              <a:rPr sz="1500" b="0">
                <a:solidFill>
                  <a:srgbClr val="BBB8C9"/>
                </a:solidFill>
                <a:latin typeface="Arial"/>
                <a:ea typeface="Arial"/>
                <a:cs typeface="Arial"/>
              </a:rPr>
              <a:t>Choose a marketing lead and a manager at each venue.</a:t>
            </a:r>
          </a:p>
        </p:txBody>
      </p:sp>
      <p:sp>
        <p:nvSpPr>
          <p:cNvPr id="29" name="">
            <a:extLst xmlns:a="http://schemas.openxmlformats.org/drawingml/2006/main">
              <a:ext uri="{FF2B5EF4-FFF2-40B4-BE49-F238E27FC236}">
                <a16:creationId xmlns:a16="http://schemas.microsoft.com/office/drawing/2014/main" id="{0AE75AEC-9FD9-4561-AAA1-3D06E2954A1A}"/>
              </a:ext>
            </a:extLst>
          </p:cNvPr>
          <p:cNvSpPr>
            <a:spLocks xmlns:a="http://schemas.openxmlformats.org/drawingml/2006/main" noGrp="1"/>
          </p:cNvSpPr>
          <p:nvPr/>
        </p:nvSpPr>
        <p:spPr>
          <a:xfrm xmlns:a="http://schemas.openxmlformats.org/drawingml/2006/main">
            <a:off x="609600" y="292417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B88AFF"/>
                </a:solidFill>
                <a:latin typeface="Arial"/>
                <a:ea typeface="Arial"/>
                <a:cs typeface="Arial"/>
              </a:defRPr>
            </a:pPr>
            <a:r>
              <a:rPr sz="1800" b="1">
                <a:solidFill>
                  <a:srgbClr val="B88AFF"/>
                </a:solidFill>
                <a:latin typeface="Arial"/>
                <a:ea typeface="Arial"/>
                <a:cs typeface="Arial"/>
              </a:rPr>
              <a:t>02</a:t>
            </a:r>
          </a:p>
        </p:txBody>
      </p:sp>
      <p:sp>
        <p:nvSpPr>
          <p:cNvPr id="30" name="">
            <a:extLst xmlns:a="http://schemas.openxmlformats.org/drawingml/2006/main">
              <a:ext uri="{FF2B5EF4-FFF2-40B4-BE49-F238E27FC236}">
                <a16:creationId xmlns:a16="http://schemas.microsoft.com/office/drawing/2014/main" id="{2CD4C847-9481-48E9-B33D-D4D2AFA94110}"/>
              </a:ext>
            </a:extLst>
          </p:cNvPr>
          <p:cNvSpPr>
            <a:spLocks xmlns:a="http://schemas.openxmlformats.org/drawingml/2006/main" noGrp="1"/>
          </p:cNvSpPr>
          <p:nvPr/>
        </p:nvSpPr>
        <p:spPr>
          <a:xfrm xmlns:a="http://schemas.openxmlformats.org/drawingml/2006/main">
            <a:off x="1190625" y="2905125"/>
            <a:ext cx="4714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FAF8FF"/>
                </a:solidFill>
                <a:latin typeface="Arial"/>
                <a:ea typeface="Arial"/>
                <a:cs typeface="Arial"/>
              </a:defRPr>
            </a:pPr>
            <a:r>
              <a:rPr sz="1800" b="1">
                <a:solidFill>
                  <a:srgbClr val="FAF8FF"/>
                </a:solidFill>
                <a:latin typeface="Arial"/>
                <a:ea typeface="Arial"/>
                <a:cs typeface="Arial"/>
              </a:rPr>
              <a:t>Prepare the guest journey</a:t>
            </a:r>
          </a:p>
        </p:txBody>
      </p:sp>
      <p:sp>
        <p:nvSpPr>
          <p:cNvPr id="31" name="">
            <a:extLst xmlns:a="http://schemas.openxmlformats.org/drawingml/2006/main">
              <a:ext uri="{FF2B5EF4-FFF2-40B4-BE49-F238E27FC236}">
                <a16:creationId xmlns:a16="http://schemas.microsoft.com/office/drawing/2014/main" id="{D5DB2A05-C4FC-49D9-85D0-E3314D10E498}"/>
              </a:ext>
            </a:extLst>
          </p:cNvPr>
          <p:cNvSpPr>
            <a:spLocks xmlns:a="http://schemas.openxmlformats.org/drawingml/2006/main" noGrp="1"/>
          </p:cNvSpPr>
          <p:nvPr/>
        </p:nvSpPr>
        <p:spPr>
          <a:xfrm xmlns:a="http://schemas.openxmlformats.org/drawingml/2006/main">
            <a:off x="1190625" y="3276600"/>
            <a:ext cx="4714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BBB8C9"/>
                </a:solidFill>
                <a:latin typeface="Arial"/>
                <a:ea typeface="Arial"/>
                <a:cs typeface="Arial"/>
              </a:defRPr>
            </a:pPr>
            <a:r>
              <a:rPr sz="1500" b="0">
                <a:solidFill>
                  <a:srgbClr val="BBB8C9"/>
                </a:solidFill>
                <a:latin typeface="Arial"/>
                <a:ea typeface="Arial"/>
                <a:cs typeface="Arial"/>
              </a:rPr>
              <a:t>Confirm profiles, entry offers, table QR codes and staff training.</a:t>
            </a:r>
          </a:p>
        </p:txBody>
      </p:sp>
      <p:sp>
        <p:nvSpPr>
          <p:cNvPr id="32" name="">
            <a:extLst xmlns:a="http://schemas.openxmlformats.org/drawingml/2006/main">
              <a:ext uri="{FF2B5EF4-FFF2-40B4-BE49-F238E27FC236}">
                <a16:creationId xmlns:a16="http://schemas.microsoft.com/office/drawing/2014/main" id="{670FB7DD-209A-4E59-8C1C-30B0BFAC5ED1}"/>
              </a:ext>
            </a:extLst>
          </p:cNvPr>
          <p:cNvSpPr>
            <a:spLocks xmlns:a="http://schemas.openxmlformats.org/drawingml/2006/main" noGrp="1"/>
          </p:cNvSpPr>
          <p:nvPr/>
        </p:nvSpPr>
        <p:spPr>
          <a:xfrm xmlns:a="http://schemas.openxmlformats.org/drawingml/2006/main">
            <a:off x="609600" y="389572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B88AFF"/>
                </a:solidFill>
                <a:latin typeface="Arial"/>
                <a:ea typeface="Arial"/>
                <a:cs typeface="Arial"/>
              </a:defRPr>
            </a:pPr>
            <a:r>
              <a:rPr sz="1800" b="1">
                <a:solidFill>
                  <a:srgbClr val="B88AFF"/>
                </a:solidFill>
                <a:latin typeface="Arial"/>
                <a:ea typeface="Arial"/>
                <a:cs typeface="Arial"/>
              </a:rPr>
              <a:t>03</a:t>
            </a:r>
          </a:p>
        </p:txBody>
      </p:sp>
      <p:sp>
        <p:nvSpPr>
          <p:cNvPr id="33" name="">
            <a:extLst xmlns:a="http://schemas.openxmlformats.org/drawingml/2006/main">
              <a:ext uri="{FF2B5EF4-FFF2-40B4-BE49-F238E27FC236}">
                <a16:creationId xmlns:a16="http://schemas.microsoft.com/office/drawing/2014/main" id="{CC3264BD-BAD8-4A9A-8E04-8232E8BBA8E8}"/>
              </a:ext>
            </a:extLst>
          </p:cNvPr>
          <p:cNvSpPr>
            <a:spLocks xmlns:a="http://schemas.openxmlformats.org/drawingml/2006/main" noGrp="1"/>
          </p:cNvSpPr>
          <p:nvPr/>
        </p:nvSpPr>
        <p:spPr>
          <a:xfrm xmlns:a="http://schemas.openxmlformats.org/drawingml/2006/main">
            <a:off x="1190625" y="3876675"/>
            <a:ext cx="4714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FAF8FF"/>
                </a:solidFill>
                <a:latin typeface="Arial"/>
                <a:ea typeface="Arial"/>
                <a:cs typeface="Arial"/>
              </a:defRPr>
            </a:pPr>
            <a:r>
              <a:rPr sz="1800" b="1">
                <a:solidFill>
                  <a:srgbClr val="FAF8FF"/>
                </a:solidFill>
                <a:latin typeface="Arial"/>
                <a:ea typeface="Arial"/>
                <a:cs typeface="Arial"/>
              </a:rPr>
              <a:t>Agree the baseline and measures</a:t>
            </a:r>
          </a:p>
        </p:txBody>
      </p:sp>
      <p:sp>
        <p:nvSpPr>
          <p:cNvPr id="34" name="">
            <a:extLst xmlns:a="http://schemas.openxmlformats.org/drawingml/2006/main">
              <a:ext uri="{FF2B5EF4-FFF2-40B4-BE49-F238E27FC236}">
                <a16:creationId xmlns:a16="http://schemas.microsoft.com/office/drawing/2014/main" id="{ABD3162C-03CE-41E5-9339-5CD70359DA4B}"/>
              </a:ext>
            </a:extLst>
          </p:cNvPr>
          <p:cNvSpPr>
            <a:spLocks xmlns:a="http://schemas.openxmlformats.org/drawingml/2006/main" noGrp="1"/>
          </p:cNvSpPr>
          <p:nvPr/>
        </p:nvSpPr>
        <p:spPr>
          <a:xfrm xmlns:a="http://schemas.openxmlformats.org/drawingml/2006/main">
            <a:off x="1190625" y="4248150"/>
            <a:ext cx="4714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BBB8C9"/>
                </a:solidFill>
                <a:latin typeface="Arial"/>
                <a:ea typeface="Arial"/>
                <a:cs typeface="Arial"/>
              </a:defRPr>
            </a:pPr>
            <a:r>
              <a:rPr sz="1500" b="0">
                <a:solidFill>
                  <a:srgbClr val="BBB8C9"/>
                </a:solidFill>
                <a:latin typeface="Arial"/>
                <a:ea typeface="Arial"/>
                <a:cs typeface="Arial"/>
              </a:rPr>
              <a:t>Set the review period, success criteria and VIP sales reconciliation.</a:t>
            </a:r>
          </a:p>
        </p:txBody>
      </p:sp>
      <p:sp>
        <p:nvSpPr>
          <p:cNvPr id="35" name="">
            <a:extLst xmlns:a="http://schemas.openxmlformats.org/drawingml/2006/main">
              <a:ext uri="{FF2B5EF4-FFF2-40B4-BE49-F238E27FC236}">
                <a16:creationId xmlns:a16="http://schemas.microsoft.com/office/drawing/2014/main" id="{16CC6EB9-D0AF-4465-9314-6DF2BE5D5976}"/>
              </a:ext>
            </a:extLst>
          </p:cNvPr>
          <p:cNvSpPr>
            <a:spLocks xmlns:a="http://schemas.openxmlformats.org/drawingml/2006/main" noGrp="1"/>
          </p:cNvSpPr>
          <p:nvPr/>
        </p:nvSpPr>
        <p:spPr>
          <a:xfrm xmlns:a="http://schemas.openxmlformats.org/drawingml/2006/main">
            <a:off x="609600" y="486727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B88AFF"/>
                </a:solidFill>
                <a:latin typeface="Arial"/>
                <a:ea typeface="Arial"/>
                <a:cs typeface="Arial"/>
              </a:defRPr>
            </a:pPr>
            <a:r>
              <a:rPr sz="1800" b="1">
                <a:solidFill>
                  <a:srgbClr val="B88AFF"/>
                </a:solidFill>
                <a:latin typeface="Arial"/>
                <a:ea typeface="Arial"/>
                <a:cs typeface="Arial"/>
              </a:rPr>
              <a:t>04</a:t>
            </a:r>
          </a:p>
        </p:txBody>
      </p:sp>
      <p:sp>
        <p:nvSpPr>
          <p:cNvPr id="36" name="">
            <a:extLst xmlns:a="http://schemas.openxmlformats.org/drawingml/2006/main">
              <a:ext uri="{FF2B5EF4-FFF2-40B4-BE49-F238E27FC236}">
                <a16:creationId xmlns:a16="http://schemas.microsoft.com/office/drawing/2014/main" id="{CC17DCEA-93A5-489B-8910-798D44CC8227}"/>
              </a:ext>
            </a:extLst>
          </p:cNvPr>
          <p:cNvSpPr>
            <a:spLocks xmlns:a="http://schemas.openxmlformats.org/drawingml/2006/main" noGrp="1"/>
          </p:cNvSpPr>
          <p:nvPr/>
        </p:nvSpPr>
        <p:spPr>
          <a:xfrm xmlns:a="http://schemas.openxmlformats.org/drawingml/2006/main">
            <a:off x="1190625" y="4848225"/>
            <a:ext cx="4714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FAF8FF"/>
                </a:solidFill>
                <a:latin typeface="Arial"/>
                <a:ea typeface="Arial"/>
                <a:cs typeface="Arial"/>
              </a:defRPr>
            </a:pPr>
            <a:r>
              <a:rPr sz="1800" b="1">
                <a:solidFill>
                  <a:srgbClr val="FAF8FF"/>
                </a:solidFill>
                <a:latin typeface="Arial"/>
                <a:ea typeface="Arial"/>
                <a:cs typeface="Arial"/>
              </a:rPr>
              <a:t>Review before expanding</a:t>
            </a:r>
          </a:p>
        </p:txBody>
      </p:sp>
      <p:sp>
        <p:nvSpPr>
          <p:cNvPr id="37" name="">
            <a:extLst xmlns:a="http://schemas.openxmlformats.org/drawingml/2006/main">
              <a:ext uri="{FF2B5EF4-FFF2-40B4-BE49-F238E27FC236}">
                <a16:creationId xmlns:a16="http://schemas.microsoft.com/office/drawing/2014/main" id="{B3F76980-768F-4DB2-ABC1-010C175363A2}"/>
              </a:ext>
            </a:extLst>
          </p:cNvPr>
          <p:cNvSpPr>
            <a:spLocks xmlns:a="http://schemas.openxmlformats.org/drawingml/2006/main" noGrp="1"/>
          </p:cNvSpPr>
          <p:nvPr/>
        </p:nvSpPr>
        <p:spPr>
          <a:xfrm xmlns:a="http://schemas.openxmlformats.org/drawingml/2006/main">
            <a:off x="1190625" y="5219700"/>
            <a:ext cx="4714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BBB8C9"/>
                </a:solidFill>
                <a:latin typeface="Arial"/>
                <a:ea typeface="Arial"/>
                <a:cs typeface="Arial"/>
              </a:defRPr>
            </a:pPr>
            <a:r>
              <a:rPr sz="1500" b="0">
                <a:solidFill>
                  <a:srgbClr val="BBB8C9"/>
                </a:solidFill>
                <a:latin typeface="Arial"/>
                <a:ea typeface="Arial"/>
                <a:cs typeface="Arial"/>
              </a:rPr>
              <a:t>Assess guest feedback, actual sales and the effort required from staff.</a:t>
            </a:r>
          </a:p>
        </p:txBody>
      </p:sp>
      <p:sp>
        <p:nvSpPr>
          <p:cNvPr id="38" name="">
            <a:extLst xmlns:a="http://schemas.openxmlformats.org/drawingml/2006/main">
              <a:ext uri="{FF2B5EF4-FFF2-40B4-BE49-F238E27FC236}">
                <a16:creationId xmlns:a16="http://schemas.microsoft.com/office/drawing/2014/main" id="{103ACDFC-0C4D-4EB4-B856-7E7D167381BA}"/>
              </a:ext>
            </a:extLst>
          </p:cNvPr>
          <p:cNvSpPr>
            <a:spLocks xmlns:a="http://schemas.openxmlformats.org/drawingml/2006/main" noGrp="1"/>
          </p:cNvSpPr>
          <p:nvPr/>
        </p:nvSpPr>
        <p:spPr>
          <a:xfrm xmlns:a="http://schemas.openxmlformats.org/drawingml/2006/main">
            <a:off x="6477000" y="1952625"/>
            <a:ext cx="5105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B88AFF"/>
                </a:solidFill>
                <a:latin typeface="Arial"/>
                <a:ea typeface="Arial"/>
                <a:cs typeface="Arial"/>
              </a:defRPr>
            </a:pPr>
            <a:r>
              <a:rPr sz="1950" b="1">
                <a:solidFill>
                  <a:srgbClr val="B88AFF"/>
                </a:solidFill>
                <a:latin typeface="Arial"/>
                <a:ea typeface="Arial"/>
                <a:cs typeface="Arial"/>
              </a:rPr>
              <a:t>Pilot review scorecard</a:t>
            </a:r>
          </a:p>
        </p:txBody>
      </p:sp>
      <p:sp>
        <p:nvSpPr>
          <p:cNvPr id="39" name="">
            <a:extLst xmlns:a="http://schemas.openxmlformats.org/drawingml/2006/main">
              <a:ext uri="{FF2B5EF4-FFF2-40B4-BE49-F238E27FC236}">
                <a16:creationId xmlns:a16="http://schemas.microsoft.com/office/drawing/2014/main" id="{B072A9B2-76D1-4F82-AC07-03702B140514}"/>
              </a:ext>
            </a:extLst>
          </p:cNvPr>
          <p:cNvSpPr>
            <a:spLocks xmlns:a="http://schemas.openxmlformats.org/drawingml/2006/main" noGrp="1"/>
          </p:cNvSpPr>
          <p:nvPr/>
        </p:nvSpPr>
        <p:spPr>
          <a:xfrm xmlns:a="http://schemas.openxmlformats.org/drawingml/2006/main">
            <a:off x="609600" y="5972175"/>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FAF8FF"/>
                </a:solidFill>
                <a:latin typeface="Arial"/>
                <a:ea typeface="Arial"/>
                <a:cs typeface="Arial"/>
              </a:defRPr>
            </a:pPr>
            <a:r>
              <a:rPr sz="2025" b="1">
                <a:solidFill>
                  <a:srgbClr val="FAF8FF"/>
                </a:solidFill>
                <a:latin typeface="Arial"/>
                <a:ea typeface="Arial"/>
                <a:cs typeface="Arial"/>
              </a:rPr>
              <a:t>Decision requested: three pilot clubs and a marketing lead.</a:t>
            </a:r>
          </a:p>
        </p:txBody>
      </p:sp>
    </p:spTree>
    <p:extLst>
      <p:ext uri="{BB962C8B-B14F-4D97-AF65-F5344CB8AC3E}">
        <p14:creationId xmlns:p14="http://schemas.microsoft.com/office/powerpoint/2010/main" val="9664102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2026-10-02T08:56:50.0860000Z</dcterms:created>
  <dcterms:modified xsi:type="dcterms:W3CDTF">2026-10-02T08:56:50.0860000Z</dcterms:modified>
</coreProperties>
</file>