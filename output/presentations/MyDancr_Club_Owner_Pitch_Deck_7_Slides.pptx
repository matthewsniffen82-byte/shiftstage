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489779d66b4a9a" /><Relationship Type="http://schemas.openxmlformats.org/officeDocument/2006/relationships/extended-properties" Target="/docProps/app.xml" Id="R371563f5d9c24164" /><Relationship Type="http://schemas.openxmlformats.org/officeDocument/2006/relationships/officeDocument" Target="/ppt/presentation.xml" Id="Rfcb3c8fcdfb44e76" /></Relationships>
</file>

<file path=ppt/presentation.xml><?xml version="1.0" encoding="utf-8"?>
<p:presentation xmlns:p="http://schemas.openxmlformats.org/presentationml/2006/main">
  <p:sldMasterIdLst>
    <p:sldMasterId xmlns:r="http://schemas.openxmlformats.org/officeDocument/2006/relationships" id="2147483648" r:id="R1655feccb23f4844"/>
  </p:sldMasterIdLst>
  <p:notesMasterIdLst>
    <p:notesMasterId xmlns:r="http://schemas.openxmlformats.org/officeDocument/2006/relationships" r:id="R105262f9eecb486a"/>
  </p:notesMasterIdLst>
  <p:sldIdLst>
    <p:sldId xmlns:r="http://schemas.openxmlformats.org/officeDocument/2006/relationships" id="256" r:id="Rd32c64f4d1324135"/>
    <p:sldId xmlns:r="http://schemas.openxmlformats.org/officeDocument/2006/relationships" id="257" r:id="R91c5c28a286247b7"/>
    <p:sldId xmlns:r="http://schemas.openxmlformats.org/officeDocument/2006/relationships" id="258" r:id="Rbdcae235f7e248a4"/>
    <p:sldId xmlns:r="http://schemas.openxmlformats.org/officeDocument/2006/relationships" id="259" r:id="R9c3840dc22884efe"/>
    <p:sldId xmlns:r="http://schemas.openxmlformats.org/officeDocument/2006/relationships" id="260" r:id="R4c5c5a0da48447b0"/>
    <p:sldId xmlns:r="http://schemas.openxmlformats.org/officeDocument/2006/relationships" id="261" r:id="R67cdd718f8c84ccc"/>
    <p:sldId xmlns:r="http://schemas.openxmlformats.org/officeDocument/2006/relationships" id="262" r:id="Rfe2dec7aede044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0ca4ccd1f54732" /><Relationship Type="http://schemas.openxmlformats.org/officeDocument/2006/relationships/slideMaster" Target="/ppt/slideMasters/slideMaster1.xml" Id="R1655feccb23f4844" /><Relationship Type="http://schemas.openxmlformats.org/officeDocument/2006/relationships/notesMaster" Target="/ppt/notesMasters/notesMaster1.xml" Id="R105262f9eecb486a" /><Relationship Type="http://schemas.openxmlformats.org/officeDocument/2006/relationships/presProps" Target="/ppt/presProps.xml" Id="R16bb19418b3749c1" /><Relationship Type="http://schemas.openxmlformats.org/officeDocument/2006/relationships/tableStyles" Target="/ppt/tableStyles.xml" Id="R03f82ae3cad0496f" /><Relationship Type="http://schemas.openxmlformats.org/officeDocument/2006/relationships/slide" Target="/ppt/slides/slide1.xml" Id="Rd32c64f4d1324135" /><Relationship Type="http://schemas.openxmlformats.org/officeDocument/2006/relationships/slide" Target="/ppt/slides/slide2.xml" Id="R91c5c28a286247b7" /><Relationship Type="http://schemas.openxmlformats.org/officeDocument/2006/relationships/slide" Target="/ppt/slides/slide3.xml" Id="Rbdcae235f7e248a4" /><Relationship Type="http://schemas.openxmlformats.org/officeDocument/2006/relationships/slide" Target="/ppt/slides/slide4.xml" Id="R9c3840dc22884efe" /><Relationship Type="http://schemas.openxmlformats.org/officeDocument/2006/relationships/slide" Target="/ppt/slides/slide5.xml" Id="R4c5c5a0da48447b0" /><Relationship Type="http://schemas.openxmlformats.org/officeDocument/2006/relationships/slide" Target="/ppt/slides/slide6.xml" Id="R67cdd718f8c84ccc" /><Relationship Type="http://schemas.openxmlformats.org/officeDocument/2006/relationships/slide" Target="/ppt/slides/slide7.xml" Id="Rfe2dec7aede044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9cbece316a4f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7552268f2041f2" /><Relationship Type="http://schemas.openxmlformats.org/officeDocument/2006/relationships/notesMaster" Target="/ppt/notesMasters/notesMaster1.xml" Id="R498fa96c526e4b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a85e67ee7946ac" /><Relationship Type="http://schemas.openxmlformats.org/officeDocument/2006/relationships/notesMaster" Target="/ppt/notesMasters/notesMaster1.xml" Id="Rf7bfe6f01e144a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6f48bc9d9141dd" /><Relationship Type="http://schemas.openxmlformats.org/officeDocument/2006/relationships/notesMaster" Target="/ppt/notesMasters/notesMaster1.xml" Id="R2a2e539cb7014a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1b389e7e7f4580" /><Relationship Type="http://schemas.openxmlformats.org/officeDocument/2006/relationships/notesMaster" Target="/ppt/notesMasters/notesMaster1.xml" Id="R4d6be35bd75f40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43cd4f3f3748c8" /><Relationship Type="http://schemas.openxmlformats.org/officeDocument/2006/relationships/notesMaster" Target="/ppt/notesMasters/notesMaster1.xml" Id="R184b4c3b4f0b4b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a1c2d3400249d7" /><Relationship Type="http://schemas.openxmlformats.org/officeDocument/2006/relationships/notesMaster" Target="/ppt/notesMasters/notesMaster1.xml" Id="R53250a9fab7748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8b46f3f684414d" /><Relationship Type="http://schemas.openxmlformats.org/officeDocument/2006/relationships/notesMaster" Target="/ppt/notesMasters/notesMaster1.xml" Id="R4aa551dff3194e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provides public discovery and guest actions alongside venue-scoped operational tools and reporting. This presentation contains seven slides. Product screens use fictional demo venues and profiles. The analytics examples are invented for illustration and are not operating results or promises of financial return. Corporate comparison is a management reporting example; do not present a consolidated corporate dashboard or a single-login multi-venue switcher as an implemented feature.</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D:\Codex\MyDancr-clean-2026-09-11\public\dancr-brand-tokens.v1.css</a:t>
            </a:r>
          </a:p>
          <a:p xmlns:a="http://schemas.openxmlformats.org/drawingml/2006/main">
            <a:r>
              <a:t>D:\Codex\MyDancr-clean-2026-09-11\outputs\dancr-hero.png</a:t>
            </a:r>
          </a:p>
          <a:p xmlns:a="http://schemas.openxmlformats.org/drawingml/2006/main">
            <a:r>
              <a:t>D:\Codex\MyDancr-clean-2026-09-11\outputs\mydancr-logo-current.png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demo capture, not live business performance; details of styling may differ from the current app. Free Entry includes independent arrival-method, transport and guest-list paths. Guest-list submission sends contact information to the venue and issues an entry pass. Pickup availability depends on the club. A saved I’m Going choice is intent, not a confirmed arrival. Following and saved offers are customer features; do not promise guaranteed repeat visits.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D:\Codex\MyDancr-clean-2026-09-11\tmp\aesthetic-review\clubs-mobile.png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 fictional demo table roster. NFC check-in sets working status and dancers choose internal and external visibility. Guests browse full profiles and send table requests. Staff coordinate requests and confirm availability. A request does not guarantee a booking or assignment.</a:t>
            </a:r>
          </a:p>
          <a:p xmlns:a="http://schemas.openxmlformats.org/drawingml/2006/main">
            <a:r>
              <a:t/>
            </a:r>
          </a:p>
          <a:p xmlns:a="http://schemas.openxmlformats.org/drawingml/2006/main">
            <a:r>
              <a:t>Product source references:</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D:\Codex\MyDancr-clean-2026-09-11\app\dashboard\VenueDashboardPanels.tsx</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capabilities come from the existing deck and the current venue dashboard. Pickup service depends on the club. Owner, manager and staff permissions differ. MyDancr prepares the club page and manages Club Deals; venue users review their page and request changes. This slide makes no claim of a corporate multi-venue dashboard.</a:t>
            </a:r>
          </a:p>
          <a:p xmlns:a="http://schemas.openxmlformats.org/drawingml/2006/main">
            <a:r>
              <a:t/>
            </a:r>
          </a:p>
          <a:p xmlns:a="http://schemas.openxmlformats.org/drawingml/2006/main">
            <a:r>
              <a:t>Product source references:</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D:\Codex\MyDancr-clean-2026-09-11\app\dashboard\VenueTeamPanel.tsx</a:t>
            </a:r>
          </a:p>
          <a:p xmlns:a="http://schemas.openxmlformats.org/drawingml/2006/main">
            <a:r>
              <a:t>D:\Codex\MyDancr-clean-2026-09-11\app\dashboard\VenueDashboardPanels.tsx</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illustrative. Current: claims 480, confirmed pass uses 312, pickups 96, impressions 18,400, unique browsers 4,200, directions 640, new followers 185. Previous 30 days: claims 400, pass uses 240, pickups 80. Changes are (current / previous - 1): 20%, 30%, 20%. Conversion is cohort redemptions / passes claimed = 312 / 480 = 65%; the example deliberately assumes period admissions and cohort redemptions coincide. Real data can differ. The product supports Tonight, 7 days and 30 days; this slide uses an illustrative closed 30-day report, not an existing custom-date picker. Current per-club reports include customer actions by source, activity tied to individual dancers, and attributed TV video activity. Cost per admission is unavailable until subscription cost for the same period is connected. No revenue or ROI estimate is presented.</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figure is invented for demonstration. Pass claims sum to 1,240; confirmed pass uses sum to 784; pickups sum to 228; new followers sum to 455. Group conversion is the weighted ratio 784 / 1,240 = 63.2258%, shown as 63.2%, not the unweighted average of venue percentages. As on slide 5, each venue assumes the same-period confirmed pass uses belong to that period’s claims. New follower totals are venue follows, not deduplicated group customers. Suggested management questions are hypotheses for review, not causal conclusions or guaranteed performance gains. The current application resolves access per venue; the comparison shown here is an illustrative assembled report and does not claim an implemented corporate roll-up dashboard, portfolio login or automatic consolidated export. Use common reporting windows, local operating context and consistent metric definitions when comparing locations.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pilot discussion, not a committed offer or implementation timetable. Agree scope, responsibilities and commercial terms separately. Do not promise a specific financial result. Review each venue with consistent reporting periods and the metric definitions shown on slides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50091705b546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0dcf83d4ae4b92" /><Relationship Type="http://schemas.openxmlformats.org/officeDocument/2006/relationships/slideLayout" Target="/ppt/slideLayouts/slideLayout1.xml" Id="Rcb2f3cfd832d40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2f3cfd832d40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2d9add0ef4439f" /><Relationship Type="http://schemas.openxmlformats.org/officeDocument/2006/relationships/image" Target="/ppt/media/image.png" Id="R2bab51ec657d4c87" /><Relationship Type="http://schemas.openxmlformats.org/officeDocument/2006/relationships/image" Target="/ppt/media/image2.png" Id="Raf437dd5546b4bbd" /><Relationship Type="http://schemas.openxmlformats.org/officeDocument/2006/relationships/notesSlide" Target="/ppt/notesSlides/notesSlide1.xml" Id="R64dcf001badb45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408df9f1694d2c" /><Relationship Type="http://schemas.openxmlformats.org/officeDocument/2006/relationships/image" Target="/ppt/media/image3.png" Id="R1fea47d8940e4ab7" /><Relationship Type="http://schemas.openxmlformats.org/officeDocument/2006/relationships/notesSlide" Target="/ppt/notesSlides/notesSlide2.xml" Id="R6170a8ce81bf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2665c22ade4510" /><Relationship Type="http://schemas.openxmlformats.org/officeDocument/2006/relationships/image" Target="/ppt/media/image4.png" Id="R679dae16ee754cda" /><Relationship Type="http://schemas.openxmlformats.org/officeDocument/2006/relationships/notesSlide" Target="/ppt/notesSlides/notesSlide3.xml" Id="R77473c3caf994b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caa10f239d4658" /><Relationship Type="http://schemas.openxmlformats.org/officeDocument/2006/relationships/notesSlide" Target="/ppt/notesSlides/notesSlide4.xml" Id="Rb57471281bbe4e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4112bb4567447a" /><Relationship Type="http://schemas.openxmlformats.org/officeDocument/2006/relationships/chart" Target="/ppt/slides/charts/chart1.xml" Id="R49ec97b8d82a4515" /><Relationship Type="http://schemas.openxmlformats.org/officeDocument/2006/relationships/notesSlide" Target="/ppt/notesSlides/notesSlide5.xml" Id="Rf79576666e3f4d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01fb03c9a54c83" /><Relationship Type="http://schemas.openxmlformats.org/officeDocument/2006/relationships/notesSlide" Target="/ppt/notesSlides/notesSlide6.xml" Id="R2bded5cbbe1c46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a0b762d405494a" /><Relationship Type="http://schemas.openxmlformats.org/officeDocument/2006/relationships/notesSlide" Target="/ppt/notesSlides/notesSlide7.xml" Id="R170bd540613f44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1242D-1293-4DD9-934F-9AAC731BB6B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2" name="">
            <a:extLst xmlns:a="http://schemas.openxmlformats.org/drawingml/2006/main">
              <a:ext uri="{FF2B5EF4-FFF2-40B4-BE49-F238E27FC236}">
                <a16:creationId xmlns:a16="http://schemas.microsoft.com/office/drawing/2014/main" id="{464664FC-938A-4832-AFE8-A4A68F1B9312}"/>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1 / 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bab51ec657d4c87"/>
          <a:stretch xmlns:a="http://schemas.openxmlformats.org/drawingml/2006/main"/>
        </p:blipFill>
        <p:spPr>
          <a:xfrm xmlns:a="http://schemas.openxmlformats.org/drawingml/2006/main">
            <a:off x="7677150" y="1976788"/>
            <a:ext cx="4257675" cy="2380549"/>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437dd5546b4bbd"/>
          <a:stretch xmlns:a="http://schemas.openxmlformats.org/drawingml/2006/main"/>
        </p:blipFill>
        <p:spPr>
          <a:xfrm xmlns:a="http://schemas.openxmlformats.org/drawingml/2006/main">
            <a:off x="590550" y="491502"/>
            <a:ext cx="2809875" cy="8743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BBA8BF-43D5-473F-A160-F0ABEE62B2C5}"/>
              </a:ext>
            </a:extLst>
          </p:cNvPr>
          <p:cNvSpPr>
            <a:spLocks xmlns:a="http://schemas.openxmlformats.org/drawingml/2006/main" noGrp="1"/>
          </p:cNvSpPr>
          <p:nvPr/>
        </p:nvSpPr>
        <p:spPr>
          <a:xfrm xmlns:a="http://schemas.openxmlformats.org/drawingml/2006/main">
            <a:off x="571500" y="1914525"/>
            <a:ext cx="7572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75" b="1">
                <a:solidFill>
                  <a:srgbClr val="FAF8FF"/>
                </a:solidFill>
                <a:latin typeface="Arial"/>
                <a:ea typeface="Arial"/>
                <a:cs typeface="Arial"/>
              </a:defRPr>
            </a:pPr>
            <a:r>
              <a:rPr sz="4575" b="1">
                <a:solidFill>
                  <a:srgbClr val="FAF8FF"/>
                </a:solidFill>
                <a:latin typeface="Arial"/>
                <a:ea typeface="Arial"/>
                <a:cs typeface="Arial"/>
              </a:rPr>
              <a:t>Club operations &amp;</a:t>
            </a:r>
          </a:p>
          <a:p xmlns:a="http://schemas.openxmlformats.org/drawingml/2006/main">
            <a:pPr>
              <a:buNone/>
              <a:defRPr sz="4575" b="1">
                <a:solidFill>
                  <a:srgbClr val="FAF8FF"/>
                </a:solidFill>
                <a:latin typeface="Arial"/>
                <a:ea typeface="Arial"/>
                <a:cs typeface="Arial"/>
              </a:defRPr>
            </a:pPr>
            <a:r>
              <a:rPr sz="4575" b="1">
                <a:solidFill>
                  <a:srgbClr val="FAF8FF"/>
                </a:solidFill>
                <a:latin typeface="Arial"/>
                <a:ea typeface="Arial"/>
                <a:cs typeface="Arial"/>
              </a:rPr>
              <a:t>guest discovery</a:t>
            </a:r>
          </a:p>
        </p:txBody>
      </p:sp>
      <p:sp>
        <p:nvSpPr>
          <p:cNvPr id="6" name="">
            <a:extLst xmlns:a="http://schemas.openxmlformats.org/drawingml/2006/main">
              <a:ext uri="{FF2B5EF4-FFF2-40B4-BE49-F238E27FC236}">
                <a16:creationId xmlns:a16="http://schemas.microsoft.com/office/drawing/2014/main" id="{D8A07424-3E21-4087-A6E0-A948263367C7}"/>
              </a:ext>
            </a:extLst>
          </p:cNvPr>
          <p:cNvSpPr>
            <a:spLocks xmlns:a="http://schemas.openxmlformats.org/drawingml/2006/main" noGrp="1"/>
          </p:cNvSpPr>
          <p:nvPr/>
        </p:nvSpPr>
        <p:spPr>
          <a:xfrm xmlns:a="http://schemas.openxmlformats.org/drawingml/2006/main">
            <a:off x="619125" y="3762375"/>
            <a:ext cx="652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C6C1D1"/>
                </a:solidFill>
                <a:latin typeface="Arial"/>
                <a:ea typeface="Arial"/>
                <a:cs typeface="Arial"/>
              </a:defRPr>
            </a:pPr>
            <a:r>
              <a:rPr sz="2250" b="0">
                <a:solidFill>
                  <a:srgbClr val="C6C1D1"/>
                </a:solidFill>
                <a:latin typeface="Arial"/>
                <a:ea typeface="Arial"/>
                <a:cs typeface="Arial"/>
              </a:rPr>
              <a:t>For club owners and groups</a:t>
            </a:r>
          </a:p>
          <a:p xmlns:a="http://schemas.openxmlformats.org/drawingml/2006/main">
            <a:pPr>
              <a:buNone/>
              <a:defRPr sz="2250" b="0">
                <a:solidFill>
                  <a:srgbClr val="C6C1D1"/>
                </a:solidFill>
                <a:latin typeface="Arial"/>
                <a:ea typeface="Arial"/>
                <a:cs typeface="Arial"/>
              </a:defRPr>
            </a:pPr>
            <a:r>
              <a:rPr sz="2250" b="0">
                <a:solidFill>
                  <a:srgbClr val="C6C1D1"/>
                </a:solidFill>
                <a:latin typeface="Arial"/>
                <a:ea typeface="Arial"/>
                <a:cs typeface="Arial"/>
              </a:rPr>
              <a:t>operating multiple venues</a:t>
            </a:r>
          </a:p>
        </p:txBody>
      </p:sp>
      <p:sp>
        <p:nvSpPr>
          <p:cNvPr id="7" name="">
            <a:extLst xmlns:a="http://schemas.openxmlformats.org/drawingml/2006/main">
              <a:ext uri="{FF2B5EF4-FFF2-40B4-BE49-F238E27FC236}">
                <a16:creationId xmlns:a16="http://schemas.microsoft.com/office/drawing/2014/main" id="{0EE95C7C-C9EA-4C7A-A501-F6F6A9F1D03E}"/>
              </a:ext>
            </a:extLst>
          </p:cNvPr>
          <p:cNvSpPr>
            <a:spLocks xmlns:a="http://schemas.openxmlformats.org/drawingml/2006/main" noGrp="1"/>
          </p:cNvSpPr>
          <p:nvPr/>
        </p:nvSpPr>
        <p:spPr>
          <a:xfrm xmlns:a="http://schemas.openxmlformats.org/drawingml/2006/main">
            <a:off x="619125" y="5095875"/>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AF8FF"/>
                </a:solidFill>
                <a:latin typeface="Arial"/>
                <a:ea typeface="Arial"/>
                <a:cs typeface="Arial"/>
              </a:defRPr>
            </a:pPr>
            <a:r>
              <a:rPr sz="1950" b="0">
                <a:solidFill>
                  <a:srgbClr val="FAF8FF"/>
                </a:solidFill>
                <a:latin typeface="Arial"/>
                <a:ea typeface="Arial"/>
                <a:cs typeface="Arial"/>
              </a:rPr>
              <a:t>Connect the guest experience with the club floor</a:t>
            </a:r>
          </a:p>
          <a:p xmlns:a="http://schemas.openxmlformats.org/drawingml/2006/main">
            <a:pPr>
              <a:buNone/>
              <a:defRPr sz="1950" b="0">
                <a:solidFill>
                  <a:srgbClr val="FAF8FF"/>
                </a:solidFill>
                <a:latin typeface="Arial"/>
                <a:ea typeface="Arial"/>
                <a:cs typeface="Arial"/>
              </a:defRPr>
            </a:pPr>
            <a:r>
              <a:rPr sz="1950" b="0">
                <a:solidFill>
                  <a:srgbClr val="FAF8FF"/>
                </a:solidFill>
                <a:latin typeface="Arial"/>
                <a:ea typeface="Arial"/>
                <a:cs typeface="Arial"/>
              </a:rPr>
              <a:t>and measurable activity at each location.</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D63A7C-0929-4D08-B3D6-337B5401DC35}"/>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The guest experience</a:t>
            </a:r>
          </a:p>
        </p:txBody>
      </p:sp>
      <p:sp>
        <p:nvSpPr>
          <p:cNvPr id="2" name="">
            <a:extLst xmlns:a="http://schemas.openxmlformats.org/drawingml/2006/main">
              <a:ext uri="{FF2B5EF4-FFF2-40B4-BE49-F238E27FC236}">
                <a16:creationId xmlns:a16="http://schemas.microsoft.com/office/drawing/2014/main" id="{AD214686-117B-44A4-8B88-BB5C77253DBF}"/>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Discovery, visit planning and entry in one customer journey</a:t>
            </a:r>
          </a:p>
        </p:txBody>
      </p:sp>
      <p:sp>
        <p:nvSpPr>
          <p:cNvPr id="3" name="">
            <a:extLst xmlns:a="http://schemas.openxmlformats.org/drawingml/2006/main">
              <a:ext uri="{FF2B5EF4-FFF2-40B4-BE49-F238E27FC236}">
                <a16:creationId xmlns:a16="http://schemas.microsoft.com/office/drawing/2014/main" id="{DF904837-8E3D-474C-95AD-EABB1E39FC96}"/>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5DC19584-EE3F-4A5B-B4EC-CFB4991D277E}"/>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2 / 7</a:t>
            </a:r>
          </a:p>
        </p:txBody>
      </p:sp>
      <p:sp>
        <p:nvSpPr>
          <p:cNvPr id="5" name="">
            <a:extLst xmlns:a="http://schemas.openxmlformats.org/drawingml/2006/main">
              <a:ext uri="{FF2B5EF4-FFF2-40B4-BE49-F238E27FC236}">
                <a16:creationId xmlns:a16="http://schemas.microsoft.com/office/drawing/2014/main" id="{6952C330-4409-4F8F-9F4C-378BD2B7F9D0}"/>
              </a:ext>
            </a:extLst>
          </p:cNvPr>
          <p:cNvSpPr>
            <a:spLocks xmlns:a="http://schemas.openxmlformats.org/drawingml/2006/main" noGrp="1"/>
          </p:cNvSpPr>
          <p:nvPr/>
        </p:nvSpPr>
        <p:spPr>
          <a:xfrm xmlns:a="http://schemas.openxmlformats.org/drawingml/2006/main">
            <a:off x="619125" y="19335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Find a club and see who’s working</a:t>
            </a:r>
          </a:p>
        </p:txBody>
      </p:sp>
      <p:sp>
        <p:nvSpPr>
          <p:cNvPr id="6" name="">
            <a:extLst xmlns:a="http://schemas.openxmlformats.org/drawingml/2006/main">
              <a:ext uri="{FF2B5EF4-FFF2-40B4-BE49-F238E27FC236}">
                <a16:creationId xmlns:a16="http://schemas.microsoft.com/office/drawing/2014/main" id="{7BFE09CC-A289-4C47-8BD2-8576185E525C}"/>
              </a:ext>
            </a:extLst>
          </p:cNvPr>
          <p:cNvSpPr>
            <a:spLocks xmlns:a="http://schemas.openxmlformats.org/drawingml/2006/main" noGrp="1"/>
          </p:cNvSpPr>
          <p:nvPr/>
        </p:nvSpPr>
        <p:spPr>
          <a:xfrm xmlns:a="http://schemas.openxmlformats.org/drawingml/2006/main">
            <a:off x="619125" y="23431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Browse clubs by city, explore dancer profiles and schedules,</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and watch MyDancr TV videos.</a:t>
            </a:r>
          </a:p>
        </p:txBody>
      </p:sp>
      <p:sp>
        <p:nvSpPr>
          <p:cNvPr id="7" name="">
            <a:extLst xmlns:a="http://schemas.openxmlformats.org/drawingml/2006/main">
              <a:ext uri="{FF2B5EF4-FFF2-40B4-BE49-F238E27FC236}">
                <a16:creationId xmlns:a16="http://schemas.microsoft.com/office/drawing/2014/main" id="{5F13718D-AFF8-4933-928B-0A591294BF86}"/>
              </a:ext>
            </a:extLst>
          </p:cNvPr>
          <p:cNvSpPr>
            <a:spLocks xmlns:a="http://schemas.openxmlformats.org/drawingml/2006/main" noGrp="1"/>
          </p:cNvSpPr>
          <p:nvPr/>
        </p:nvSpPr>
        <p:spPr>
          <a:xfrm xmlns:a="http://schemas.openxmlformats.org/drawingml/2006/main">
            <a:off x="619125" y="33813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Choose an offer and plan the arrival</a:t>
            </a:r>
          </a:p>
        </p:txBody>
      </p:sp>
      <p:sp>
        <p:nvSpPr>
          <p:cNvPr id="8" name="">
            <a:extLst xmlns:a="http://schemas.openxmlformats.org/drawingml/2006/main">
              <a:ext uri="{FF2B5EF4-FFF2-40B4-BE49-F238E27FC236}">
                <a16:creationId xmlns:a16="http://schemas.microsoft.com/office/drawing/2014/main" id="{46534BA6-FE5A-4E69-BCD8-406850473751}"/>
              </a:ext>
            </a:extLst>
          </p:cNvPr>
          <p:cNvSpPr>
            <a:spLocks xmlns:a="http://schemas.openxmlformats.org/drawingml/2006/main" noGrp="1"/>
          </p:cNvSpPr>
          <p:nvPr/>
        </p:nvSpPr>
        <p:spPr>
          <a:xfrm xmlns:a="http://schemas.openxmlformats.org/drawingml/2006/main">
            <a:off x="619125" y="37909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Claim an entry pass, submit guest-list details or request</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 club pickup where offered. Get directions to the venue.</a:t>
            </a:r>
          </a:p>
        </p:txBody>
      </p:sp>
      <p:sp>
        <p:nvSpPr>
          <p:cNvPr id="9" name="">
            <a:extLst xmlns:a="http://schemas.openxmlformats.org/drawingml/2006/main">
              <a:ext uri="{FF2B5EF4-FFF2-40B4-BE49-F238E27FC236}">
                <a16:creationId xmlns:a16="http://schemas.microsoft.com/office/drawing/2014/main" id="{2B973BA3-6B7F-4899-9E17-63BD53C8471A}"/>
              </a:ext>
            </a:extLst>
          </p:cNvPr>
          <p:cNvSpPr>
            <a:spLocks xmlns:a="http://schemas.openxmlformats.org/drawingml/2006/main" noGrp="1"/>
          </p:cNvSpPr>
          <p:nvPr/>
        </p:nvSpPr>
        <p:spPr>
          <a:xfrm xmlns:a="http://schemas.openxmlformats.org/drawingml/2006/main">
            <a:off x="619125" y="48291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Stay connected</a:t>
            </a:r>
          </a:p>
        </p:txBody>
      </p:sp>
      <p:sp>
        <p:nvSpPr>
          <p:cNvPr id="10" name="">
            <a:extLst xmlns:a="http://schemas.openxmlformats.org/drawingml/2006/main">
              <a:ext uri="{FF2B5EF4-FFF2-40B4-BE49-F238E27FC236}">
                <a16:creationId xmlns:a16="http://schemas.microsoft.com/office/drawing/2014/main" id="{8935E40B-5618-448B-B540-099A597A4221}"/>
              </a:ext>
            </a:extLst>
          </p:cNvPr>
          <p:cNvSpPr>
            <a:spLocks xmlns:a="http://schemas.openxmlformats.org/drawingml/2006/main" noGrp="1"/>
          </p:cNvSpPr>
          <p:nvPr/>
        </p:nvSpPr>
        <p:spPr>
          <a:xfrm xmlns:a="http://schemas.openxmlformats.org/drawingml/2006/main">
            <a:off x="619125" y="52387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Follow clubs and dancers, save offers and mark</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“I’m Going” to signal a planned visit.</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fea47d8940e4ab7"/>
          <a:stretch xmlns:a="http://schemas.openxmlformats.org/drawingml/2006/main"/>
        </p:blipFill>
        <p:spPr>
          <a:xfrm xmlns:a="http://schemas.openxmlformats.org/drawingml/2006/main">
            <a:off x="9032869" y="1771650"/>
            <a:ext cx="2060586" cy="4467225"/>
          </a:xfrm>
          <a:prstGeom xmlns:a="http://schemas.openxmlformats.org/drawingml/2006/main" prst="rect">
            <a:avLst/>
          </a:prstGeom>
        </p:spPr>
      </p:pic>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7E5967-0F2E-49EC-B8E1-742E0DCAF68F}"/>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The table experience</a:t>
            </a:r>
          </a:p>
        </p:txBody>
      </p:sp>
      <p:sp>
        <p:nvSpPr>
          <p:cNvPr id="2" name="">
            <a:extLst xmlns:a="http://schemas.openxmlformats.org/drawingml/2006/main">
              <a:ext uri="{FF2B5EF4-FFF2-40B4-BE49-F238E27FC236}">
                <a16:creationId xmlns:a16="http://schemas.microsoft.com/office/drawing/2014/main" id="{C8824FCD-F583-4102-A1D4-0DD43BAB68A2}"/>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Available dancers and requests from a table QR code</a:t>
            </a:r>
          </a:p>
        </p:txBody>
      </p:sp>
      <p:sp>
        <p:nvSpPr>
          <p:cNvPr id="3" name="">
            <a:extLst xmlns:a="http://schemas.openxmlformats.org/drawingml/2006/main">
              <a:ext uri="{FF2B5EF4-FFF2-40B4-BE49-F238E27FC236}">
                <a16:creationId xmlns:a16="http://schemas.microsoft.com/office/drawing/2014/main" id="{15E3C878-D68D-4846-ACA2-62CBE24C92C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D3B4203-5BBF-4508-8A44-933177C8FC30}"/>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3 / 7</a:t>
            </a:r>
          </a:p>
        </p:txBody>
      </p:sp>
      <p:sp>
        <p:nvSpPr>
          <p:cNvPr id="5" name="">
            <a:extLst xmlns:a="http://schemas.openxmlformats.org/drawingml/2006/main">
              <a:ext uri="{FF2B5EF4-FFF2-40B4-BE49-F238E27FC236}">
                <a16:creationId xmlns:a16="http://schemas.microsoft.com/office/drawing/2014/main" id="{E744E986-68F4-4B26-8FD3-D2BE1E69E292}"/>
              </a:ext>
            </a:extLst>
          </p:cNvPr>
          <p:cNvSpPr>
            <a:spLocks xmlns:a="http://schemas.openxmlformats.org/drawingml/2006/main" noGrp="1"/>
          </p:cNvSpPr>
          <p:nvPr/>
        </p:nvSpPr>
        <p:spPr>
          <a:xfrm xmlns:a="http://schemas.openxmlformats.org/drawingml/2006/main">
            <a:off x="619125" y="1809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Live roster &amp; visibility</a:t>
            </a:r>
          </a:p>
        </p:txBody>
      </p:sp>
      <p:sp>
        <p:nvSpPr>
          <p:cNvPr id="6" name="">
            <a:extLst xmlns:a="http://schemas.openxmlformats.org/drawingml/2006/main">
              <a:ext uri="{FF2B5EF4-FFF2-40B4-BE49-F238E27FC236}">
                <a16:creationId xmlns:a16="http://schemas.microsoft.com/office/drawing/2014/main" id="{C6A47C3C-BF65-4ED0-A125-59804B5E8AB8}"/>
              </a:ext>
            </a:extLst>
          </p:cNvPr>
          <p:cNvSpPr>
            <a:spLocks xmlns:a="http://schemas.openxmlformats.org/drawingml/2006/main" noGrp="1"/>
          </p:cNvSpPr>
          <p:nvPr/>
        </p:nvSpPr>
        <p:spPr>
          <a:xfrm xmlns:a="http://schemas.openxmlformats.org/drawingml/2006/main">
            <a:off x="619125" y="221932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Dressing-room NFC check-in sets working status.</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Dancers choose internal and external visibility.</a:t>
            </a:r>
          </a:p>
        </p:txBody>
      </p:sp>
      <p:sp>
        <p:nvSpPr>
          <p:cNvPr id="7" name="">
            <a:extLst xmlns:a="http://schemas.openxmlformats.org/drawingml/2006/main">
              <a:ext uri="{FF2B5EF4-FFF2-40B4-BE49-F238E27FC236}">
                <a16:creationId xmlns:a16="http://schemas.microsoft.com/office/drawing/2014/main" id="{116F9917-B70A-426F-AE59-659134A689F6}"/>
              </a:ext>
            </a:extLst>
          </p:cNvPr>
          <p:cNvSpPr>
            <a:spLocks xmlns:a="http://schemas.openxmlformats.org/drawingml/2006/main" noGrp="1"/>
          </p:cNvSpPr>
          <p:nvPr/>
        </p:nvSpPr>
        <p:spPr>
          <a:xfrm xmlns:a="http://schemas.openxmlformats.org/drawingml/2006/main">
            <a:off x="619125" y="29051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Full dancer profiles</a:t>
            </a:r>
          </a:p>
        </p:txBody>
      </p:sp>
      <p:sp>
        <p:nvSpPr>
          <p:cNvPr id="8" name="">
            <a:extLst xmlns:a="http://schemas.openxmlformats.org/drawingml/2006/main">
              <a:ext uri="{FF2B5EF4-FFF2-40B4-BE49-F238E27FC236}">
                <a16:creationId xmlns:a16="http://schemas.microsoft.com/office/drawing/2014/main" id="{3FF2D131-F68B-4890-BA54-D21935AF4122}"/>
              </a:ext>
            </a:extLst>
          </p:cNvPr>
          <p:cNvSpPr>
            <a:spLocks xmlns:a="http://schemas.openxmlformats.org/drawingml/2006/main" noGrp="1"/>
          </p:cNvSpPr>
          <p:nvPr/>
        </p:nvSpPr>
        <p:spPr>
          <a:xfrm xmlns:a="http://schemas.openxmlformats.org/drawingml/2006/main">
            <a:off x="619125" y="331470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Guests scan a table QR code and browse the roster.</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A photo opens the dancer’s full profile.</a:t>
            </a:r>
          </a:p>
        </p:txBody>
      </p:sp>
      <p:sp>
        <p:nvSpPr>
          <p:cNvPr id="9" name="">
            <a:extLst xmlns:a="http://schemas.openxmlformats.org/drawingml/2006/main">
              <a:ext uri="{FF2B5EF4-FFF2-40B4-BE49-F238E27FC236}">
                <a16:creationId xmlns:a16="http://schemas.microsoft.com/office/drawing/2014/main" id="{56EC9493-6D42-48C7-A5F7-5E448606808A}"/>
              </a:ext>
            </a:extLst>
          </p:cNvPr>
          <p:cNvSpPr>
            <a:spLocks xmlns:a="http://schemas.openxmlformats.org/drawingml/2006/main" noGrp="1"/>
          </p:cNvSpPr>
          <p:nvPr/>
        </p:nvSpPr>
        <p:spPr>
          <a:xfrm xmlns:a="http://schemas.openxmlformats.org/drawingml/2006/main">
            <a:off x="619125" y="40005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Requests from the table</a:t>
            </a:r>
          </a:p>
        </p:txBody>
      </p:sp>
      <p:sp>
        <p:nvSpPr>
          <p:cNvPr id="10" name="">
            <a:extLst xmlns:a="http://schemas.openxmlformats.org/drawingml/2006/main">
              <a:ext uri="{FF2B5EF4-FFF2-40B4-BE49-F238E27FC236}">
                <a16:creationId xmlns:a16="http://schemas.microsoft.com/office/drawing/2014/main" id="{6C8982CA-5885-40A3-AF89-30E08663ED72}"/>
              </a:ext>
            </a:extLst>
          </p:cNvPr>
          <p:cNvSpPr>
            <a:spLocks xmlns:a="http://schemas.openxmlformats.org/drawingml/2006/main" noGrp="1"/>
          </p:cNvSpPr>
          <p:nvPr/>
        </p:nvSpPr>
        <p:spPr>
          <a:xfrm xmlns:a="http://schemas.openxmlformats.org/drawingml/2006/main">
            <a:off x="619125" y="441007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Guests request a dancer from the grid or profile.</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The request identifies the guest’s table.</a:t>
            </a:r>
          </a:p>
        </p:txBody>
      </p:sp>
      <p:sp>
        <p:nvSpPr>
          <p:cNvPr id="11" name="">
            <a:extLst xmlns:a="http://schemas.openxmlformats.org/drawingml/2006/main">
              <a:ext uri="{FF2B5EF4-FFF2-40B4-BE49-F238E27FC236}">
                <a16:creationId xmlns:a16="http://schemas.microsoft.com/office/drawing/2014/main" id="{E5945CCE-9C13-4375-B25E-34593A410D34}"/>
              </a:ext>
            </a:extLst>
          </p:cNvPr>
          <p:cNvSpPr>
            <a:spLocks xmlns:a="http://schemas.openxmlformats.org/drawingml/2006/main" noGrp="1"/>
          </p:cNvSpPr>
          <p:nvPr/>
        </p:nvSpPr>
        <p:spPr>
          <a:xfrm xmlns:a="http://schemas.openxmlformats.org/drawingml/2006/main">
            <a:off x="619125" y="509587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B88AFF"/>
                </a:solidFill>
                <a:latin typeface="Arial"/>
                <a:ea typeface="Arial"/>
                <a:cs typeface="Arial"/>
              </a:defRPr>
            </a:pPr>
            <a:r>
              <a:rPr sz="2025" b="1">
                <a:solidFill>
                  <a:srgbClr val="B88AFF"/>
                </a:solidFill>
                <a:latin typeface="Arial"/>
                <a:ea typeface="Arial"/>
                <a:cs typeface="Arial"/>
              </a:rPr>
              <a:t>Staff coordination</a:t>
            </a:r>
          </a:p>
        </p:txBody>
      </p:sp>
      <p:sp>
        <p:nvSpPr>
          <p:cNvPr id="12" name="">
            <a:extLst xmlns:a="http://schemas.openxmlformats.org/drawingml/2006/main">
              <a:ext uri="{FF2B5EF4-FFF2-40B4-BE49-F238E27FC236}">
                <a16:creationId xmlns:a16="http://schemas.microsoft.com/office/drawing/2014/main" id="{69AA1A54-1850-4DF1-80EF-8AF2534D8CAA}"/>
              </a:ext>
            </a:extLst>
          </p:cNvPr>
          <p:cNvSpPr>
            <a:spLocks xmlns:a="http://schemas.openxmlformats.org/drawingml/2006/main" noGrp="1"/>
          </p:cNvSpPr>
          <p:nvPr/>
        </p:nvSpPr>
        <p:spPr>
          <a:xfrm xmlns:a="http://schemas.openxmlformats.org/drawingml/2006/main">
            <a:off x="619125" y="550545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Staff mark requests seen, complete or dismissed.</a:t>
            </a:r>
          </a:p>
          <a:p xmlns:a="http://schemas.openxmlformats.org/drawingml/2006/main">
            <a:pPr>
              <a:buNone/>
              <a:defRPr sz="1800" b="0">
                <a:solidFill>
                  <a:srgbClr val="FAF8FF"/>
                </a:solidFill>
                <a:latin typeface="Arial"/>
                <a:ea typeface="Arial"/>
                <a:cs typeface="Arial"/>
              </a:defRPr>
            </a:pPr>
            <a:r>
              <a:rPr sz="1800" b="0">
                <a:solidFill>
                  <a:srgbClr val="FAF8FF"/>
                </a:solidFill>
                <a:latin typeface="Arial"/>
                <a:ea typeface="Arial"/>
                <a:cs typeface="Arial"/>
              </a:rPr>
              <a:t>Club staff confirm availability.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79dae16ee754cda"/>
          <a:stretch xmlns:a="http://schemas.openxmlformats.org/drawingml/2006/main"/>
        </p:blipFill>
        <p:spPr>
          <a:xfrm xmlns:a="http://schemas.openxmlformats.org/drawingml/2006/main">
            <a:off x="7877175" y="1810226"/>
            <a:ext cx="3657600" cy="4094798"/>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CBA32A7-068F-40A8-95D9-B617583B5AFF}"/>
              </a:ext>
            </a:extLst>
          </p:cNvPr>
          <p:cNvSpPr>
            <a:spLocks xmlns:a="http://schemas.openxmlformats.org/drawingml/2006/main" noGrp="1"/>
          </p:cNvSpPr>
          <p:nvPr/>
        </p:nvSpPr>
        <p:spPr>
          <a:xfrm xmlns:a="http://schemas.openxmlformats.org/drawingml/2006/main">
            <a:off x="7715250" y="6019800"/>
            <a:ext cx="3876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C6C1D1"/>
                </a:solidFill>
                <a:latin typeface="Arial"/>
                <a:ea typeface="Arial"/>
                <a:cs typeface="Arial"/>
              </a:defRPr>
            </a:pPr>
            <a:r>
              <a:rPr sz="1125" b="0">
                <a:solidFill>
                  <a:srgbClr val="C6C1D1"/>
                </a:solidFill>
                <a:latin typeface="Arial"/>
                <a:ea typeface="Arial"/>
                <a:cs typeface="Arial"/>
              </a:rPr>
              <a:t>Demo table view · requests remain staff-coordinated</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E4245D-574B-4183-8CFE-E3CD88482B3A}"/>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Club staff operations</a:t>
            </a:r>
          </a:p>
        </p:txBody>
      </p:sp>
      <p:sp>
        <p:nvSpPr>
          <p:cNvPr id="2" name="">
            <a:extLst xmlns:a="http://schemas.openxmlformats.org/drawingml/2006/main">
              <a:ext uri="{FF2B5EF4-FFF2-40B4-BE49-F238E27FC236}">
                <a16:creationId xmlns:a16="http://schemas.microsoft.com/office/drawing/2014/main" id="{4561091E-D900-4E10-BE1F-241C5F1A67C1}"/>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Guest handling and venue management in the club dashboard</a:t>
            </a:r>
          </a:p>
        </p:txBody>
      </p:sp>
      <p:sp>
        <p:nvSpPr>
          <p:cNvPr id="3" name="">
            <a:extLst xmlns:a="http://schemas.openxmlformats.org/drawingml/2006/main">
              <a:ext uri="{FF2B5EF4-FFF2-40B4-BE49-F238E27FC236}">
                <a16:creationId xmlns:a16="http://schemas.microsoft.com/office/drawing/2014/main" id="{AF410AD6-7DE3-43BF-8AE4-1A0FD1D269BD}"/>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71DF6C1-4364-4C68-B3D9-9337FA00FAB9}"/>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4 / 7</a:t>
            </a:r>
          </a:p>
        </p:txBody>
      </p:sp>
      <p:sp>
        <p:nvSpPr>
          <p:cNvPr id="5" name="">
            <a:extLst xmlns:a="http://schemas.openxmlformats.org/drawingml/2006/main">
              <a:ext uri="{FF2B5EF4-FFF2-40B4-BE49-F238E27FC236}">
                <a16:creationId xmlns:a16="http://schemas.microsoft.com/office/drawing/2014/main" id="{847BE54B-5334-4B2A-B24E-77F24377A057}"/>
              </a:ext>
            </a:extLst>
          </p:cNvPr>
          <p:cNvSpPr>
            <a:spLocks xmlns:a="http://schemas.openxmlformats.org/drawingml/2006/main" noGrp="1"/>
          </p:cNvSpPr>
          <p:nvPr/>
        </p:nvSpPr>
        <p:spPr>
          <a:xfrm xmlns:a="http://schemas.openxmlformats.org/drawingml/2006/main">
            <a:off x="619125" y="20097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Guest list &amp; entry passes</a:t>
            </a:r>
          </a:p>
        </p:txBody>
      </p:sp>
      <p:sp>
        <p:nvSpPr>
          <p:cNvPr id="6" name="">
            <a:extLst xmlns:a="http://schemas.openxmlformats.org/drawingml/2006/main">
              <a:ext uri="{FF2B5EF4-FFF2-40B4-BE49-F238E27FC236}">
                <a16:creationId xmlns:a16="http://schemas.microsoft.com/office/drawing/2014/main" id="{A7ECCBA2-79C9-4CFC-9038-919D8F35F820}"/>
              </a:ext>
            </a:extLst>
          </p:cNvPr>
          <p:cNvSpPr>
            <a:spLocks xmlns:a="http://schemas.openxmlformats.org/drawingml/2006/main" noGrp="1"/>
          </p:cNvSpPr>
          <p:nvPr/>
        </p:nvSpPr>
        <p:spPr>
          <a:xfrm xmlns:a="http://schemas.openxmlformats.org/drawingml/2006/main">
            <a:off x="619125" y="24765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Review guest details before arrival.</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Door staff check admission requirements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and scan each entry pass.</a:t>
            </a:r>
          </a:p>
        </p:txBody>
      </p:sp>
      <p:sp>
        <p:nvSpPr>
          <p:cNvPr id="7" name="">
            <a:extLst xmlns:a="http://schemas.openxmlformats.org/drawingml/2006/main">
              <a:ext uri="{FF2B5EF4-FFF2-40B4-BE49-F238E27FC236}">
                <a16:creationId xmlns:a16="http://schemas.microsoft.com/office/drawing/2014/main" id="{04450FF4-BB16-4306-A702-BAF2E755BF3E}"/>
              </a:ext>
            </a:extLst>
          </p:cNvPr>
          <p:cNvSpPr>
            <a:spLocks xmlns:a="http://schemas.openxmlformats.org/drawingml/2006/main" noGrp="1"/>
          </p:cNvSpPr>
          <p:nvPr/>
        </p:nvSpPr>
        <p:spPr>
          <a:xfrm xmlns:a="http://schemas.openxmlformats.org/drawingml/2006/main">
            <a:off x="6429375" y="20097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Pickup coordination</a:t>
            </a:r>
          </a:p>
        </p:txBody>
      </p:sp>
      <p:sp>
        <p:nvSpPr>
          <p:cNvPr id="8" name="">
            <a:extLst xmlns:a="http://schemas.openxmlformats.org/drawingml/2006/main">
              <a:ext uri="{FF2B5EF4-FFF2-40B4-BE49-F238E27FC236}">
                <a16:creationId xmlns:a16="http://schemas.microsoft.com/office/drawing/2014/main" id="{8827ACFD-27B5-476D-A4C1-868BF15EF9DF}"/>
              </a:ext>
            </a:extLst>
          </p:cNvPr>
          <p:cNvSpPr>
            <a:spLocks xmlns:a="http://schemas.openxmlformats.org/drawingml/2006/main" noGrp="1"/>
          </p:cNvSpPr>
          <p:nvPr/>
        </p:nvSpPr>
        <p:spPr>
          <a:xfrm xmlns:a="http://schemas.openxmlformats.org/drawingml/2006/main">
            <a:off x="6429375" y="24765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Review pickup requests and contact</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guests through the pickup inbox</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to arrange their ride.</a:t>
            </a:r>
          </a:p>
        </p:txBody>
      </p:sp>
      <p:sp>
        <p:nvSpPr>
          <p:cNvPr id="9" name="">
            <a:extLst xmlns:a="http://schemas.openxmlformats.org/drawingml/2006/main">
              <a:ext uri="{FF2B5EF4-FFF2-40B4-BE49-F238E27FC236}">
                <a16:creationId xmlns:a16="http://schemas.microsoft.com/office/drawing/2014/main" id="{4477D5CE-3913-44FA-B8BE-CC7E3DCED3F7}"/>
              </a:ext>
            </a:extLst>
          </p:cNvPr>
          <p:cNvSpPr>
            <a:spLocks xmlns:a="http://schemas.openxmlformats.org/drawingml/2006/main" noGrp="1"/>
          </p:cNvSpPr>
          <p:nvPr/>
        </p:nvSpPr>
        <p:spPr>
          <a:xfrm xmlns:a="http://schemas.openxmlformats.org/drawingml/2006/main">
            <a:off x="619125" y="40481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Team access</a:t>
            </a:r>
          </a:p>
        </p:txBody>
      </p:sp>
      <p:sp>
        <p:nvSpPr>
          <p:cNvPr id="10" name="">
            <a:extLst xmlns:a="http://schemas.openxmlformats.org/drawingml/2006/main">
              <a:ext uri="{FF2B5EF4-FFF2-40B4-BE49-F238E27FC236}">
                <a16:creationId xmlns:a16="http://schemas.microsoft.com/office/drawing/2014/main" id="{0AE7D72A-1BFE-4AC6-8828-D7CDD15614BA}"/>
              </a:ext>
            </a:extLst>
          </p:cNvPr>
          <p:cNvSpPr>
            <a:spLocks xmlns:a="http://schemas.openxmlformats.org/drawingml/2006/main" noGrp="1"/>
          </p:cNvSpPr>
          <p:nvPr/>
        </p:nvSpPr>
        <p:spPr>
          <a:xfrm xmlns:a="http://schemas.openxmlformats.org/drawingml/2006/main">
            <a:off x="619125" y="45148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Owners invite managers and staff.</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Each role receives the permissions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needed for its work.</a:t>
            </a:r>
          </a:p>
        </p:txBody>
      </p:sp>
      <p:sp>
        <p:nvSpPr>
          <p:cNvPr id="11" name="">
            <a:extLst xmlns:a="http://schemas.openxmlformats.org/drawingml/2006/main">
              <a:ext uri="{FF2B5EF4-FFF2-40B4-BE49-F238E27FC236}">
                <a16:creationId xmlns:a16="http://schemas.microsoft.com/office/drawing/2014/main" id="{00614CE6-5957-4DB9-A04E-A0E138556F7D}"/>
              </a:ext>
            </a:extLst>
          </p:cNvPr>
          <p:cNvSpPr>
            <a:spLocks xmlns:a="http://schemas.openxmlformats.org/drawingml/2006/main" noGrp="1"/>
          </p:cNvSpPr>
          <p:nvPr/>
        </p:nvSpPr>
        <p:spPr>
          <a:xfrm xmlns:a="http://schemas.openxmlformats.org/drawingml/2006/main">
            <a:off x="6429375" y="40481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Venue management</a:t>
            </a:r>
          </a:p>
        </p:txBody>
      </p:sp>
      <p:sp>
        <p:nvSpPr>
          <p:cNvPr id="12" name="">
            <a:extLst xmlns:a="http://schemas.openxmlformats.org/drawingml/2006/main">
              <a:ext uri="{FF2B5EF4-FFF2-40B4-BE49-F238E27FC236}">
                <a16:creationId xmlns:a16="http://schemas.microsoft.com/office/drawing/2014/main" id="{6DDE49C4-72A5-458A-A99A-10895C2F73BD}"/>
              </a:ext>
            </a:extLst>
          </p:cNvPr>
          <p:cNvSpPr>
            <a:spLocks xmlns:a="http://schemas.openxmlformats.org/drawingml/2006/main" noGrp="1"/>
          </p:cNvSpPr>
          <p:nvPr/>
        </p:nvSpPr>
        <p:spPr>
          <a:xfrm xmlns:a="http://schemas.openxmlformats.org/drawingml/2006/main">
            <a:off x="6429375" y="45148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Review and approve the prepared</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club page, request offer changes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and review venue activity.</a:t>
            </a:r>
          </a:p>
        </p:txBody>
      </p:sp>
    </p:spTree>
    <p:extLst>
      <p:ext uri="{BB962C8B-B14F-4D97-AF65-F5344CB8AC3E}">
        <p14:creationId xmlns:p14="http://schemas.microsoft.com/office/powerpoint/2010/main" val="108067823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922CE6-0076-4B80-B741-D54F60925ABC}"/>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Sample club dashboard · Echo House</a:t>
            </a:r>
          </a:p>
        </p:txBody>
      </p:sp>
      <p:sp>
        <p:nvSpPr>
          <p:cNvPr id="2" name="">
            <a:extLst xmlns:a="http://schemas.openxmlformats.org/drawingml/2006/main">
              <a:ext uri="{FF2B5EF4-FFF2-40B4-BE49-F238E27FC236}">
                <a16:creationId xmlns:a16="http://schemas.microsoft.com/office/drawing/2014/main" id="{EF0A736E-32A2-498B-A208-1B96830BFE63}"/>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Illustrative figures · September 1–30, 2026 · compared with the previous 30 days</a:t>
            </a:r>
          </a:p>
        </p:txBody>
      </p:sp>
      <p:sp>
        <p:nvSpPr>
          <p:cNvPr id="3" name="">
            <a:extLst xmlns:a="http://schemas.openxmlformats.org/drawingml/2006/main">
              <a:ext uri="{FF2B5EF4-FFF2-40B4-BE49-F238E27FC236}">
                <a16:creationId xmlns:a16="http://schemas.microsoft.com/office/drawing/2014/main" id="{1BF2166C-5F51-46B1-98C3-D618F7C36AB1}"/>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846CC07-32CD-4CD7-95BE-EBB8D2E73495}"/>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5 / 7</a:t>
            </a:r>
          </a:p>
        </p:txBody>
      </p:sp>
      <p:sp>
        <p:nvSpPr>
          <p:cNvPr id="5" name="">
            <a:extLst xmlns:a="http://schemas.openxmlformats.org/drawingml/2006/main">
              <a:ext uri="{FF2B5EF4-FFF2-40B4-BE49-F238E27FC236}">
                <a16:creationId xmlns:a16="http://schemas.microsoft.com/office/drawing/2014/main" id="{E796AEFA-B720-4BDC-A270-5D1E97D9DF89}"/>
              </a:ext>
            </a:extLst>
          </p:cNvPr>
          <p:cNvSpPr>
            <a:spLocks xmlns:a="http://schemas.openxmlformats.org/drawingml/2006/main" noGrp="1"/>
          </p:cNvSpPr>
          <p:nvPr/>
        </p:nvSpPr>
        <p:spPr>
          <a:xfrm xmlns:a="http://schemas.openxmlformats.org/drawingml/2006/main">
            <a:off x="61912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C047BB8B-2DAE-4789-AAFE-0FF9EEFE6C04}"/>
              </a:ext>
            </a:extLst>
          </p:cNvPr>
          <p:cNvSpPr>
            <a:spLocks xmlns:a="http://schemas.openxmlformats.org/drawingml/2006/main" noGrp="1"/>
          </p:cNvSpPr>
          <p:nvPr/>
        </p:nvSpPr>
        <p:spPr>
          <a:xfrm xmlns:a="http://schemas.openxmlformats.org/drawingml/2006/main">
            <a:off x="61912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Passes claimed</a:t>
            </a:r>
          </a:p>
        </p:txBody>
      </p:sp>
      <p:sp>
        <p:nvSpPr>
          <p:cNvPr id="7" name="">
            <a:extLst xmlns:a="http://schemas.openxmlformats.org/drawingml/2006/main">
              <a:ext uri="{FF2B5EF4-FFF2-40B4-BE49-F238E27FC236}">
                <a16:creationId xmlns:a16="http://schemas.microsoft.com/office/drawing/2014/main" id="{15981473-CD2F-4248-AEFE-B8DB59A0DD98}"/>
              </a:ext>
            </a:extLst>
          </p:cNvPr>
          <p:cNvSpPr>
            <a:spLocks xmlns:a="http://schemas.openxmlformats.org/drawingml/2006/main" noGrp="1"/>
          </p:cNvSpPr>
          <p:nvPr/>
        </p:nvSpPr>
        <p:spPr>
          <a:xfrm xmlns:a="http://schemas.openxmlformats.org/drawingml/2006/main">
            <a:off x="61912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sp>
        <p:nvSpPr>
          <p:cNvPr id="8" name="">
            <a:extLst xmlns:a="http://schemas.openxmlformats.org/drawingml/2006/main">
              <a:ext uri="{FF2B5EF4-FFF2-40B4-BE49-F238E27FC236}">
                <a16:creationId xmlns:a16="http://schemas.microsoft.com/office/drawing/2014/main" id="{2500EEFA-3B48-47D6-B2E1-FF1A0832CA51}"/>
              </a:ext>
            </a:extLst>
          </p:cNvPr>
          <p:cNvSpPr>
            <a:spLocks xmlns:a="http://schemas.openxmlformats.org/drawingml/2006/main" noGrp="1"/>
          </p:cNvSpPr>
          <p:nvPr/>
        </p:nvSpPr>
        <p:spPr>
          <a:xfrm xmlns:a="http://schemas.openxmlformats.org/drawingml/2006/main">
            <a:off x="350520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312</a:t>
            </a:r>
          </a:p>
        </p:txBody>
      </p:sp>
      <p:sp>
        <p:nvSpPr>
          <p:cNvPr id="9" name="">
            <a:extLst xmlns:a="http://schemas.openxmlformats.org/drawingml/2006/main">
              <a:ext uri="{FF2B5EF4-FFF2-40B4-BE49-F238E27FC236}">
                <a16:creationId xmlns:a16="http://schemas.microsoft.com/office/drawing/2014/main" id="{9FAB0280-C18B-4EF1-9D07-6091F16CC411}"/>
              </a:ext>
            </a:extLst>
          </p:cNvPr>
          <p:cNvSpPr>
            <a:spLocks xmlns:a="http://schemas.openxmlformats.org/drawingml/2006/main" noGrp="1"/>
          </p:cNvSpPr>
          <p:nvPr/>
        </p:nvSpPr>
        <p:spPr>
          <a:xfrm xmlns:a="http://schemas.openxmlformats.org/drawingml/2006/main">
            <a:off x="350520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QR scan results</a:t>
            </a:r>
          </a:p>
        </p:txBody>
      </p:sp>
      <p:sp>
        <p:nvSpPr>
          <p:cNvPr id="10" name="">
            <a:extLst xmlns:a="http://schemas.openxmlformats.org/drawingml/2006/main">
              <a:ext uri="{FF2B5EF4-FFF2-40B4-BE49-F238E27FC236}">
                <a16:creationId xmlns:a16="http://schemas.microsoft.com/office/drawing/2014/main" id="{02D5250E-2E6D-4036-A70F-C7749F2FB6E4}"/>
              </a:ext>
            </a:extLst>
          </p:cNvPr>
          <p:cNvSpPr>
            <a:spLocks xmlns:a="http://schemas.openxmlformats.org/drawingml/2006/main" noGrp="1"/>
          </p:cNvSpPr>
          <p:nvPr/>
        </p:nvSpPr>
        <p:spPr>
          <a:xfrm xmlns:a="http://schemas.openxmlformats.org/drawingml/2006/main">
            <a:off x="350520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+30% vs prior</a:t>
            </a:r>
          </a:p>
        </p:txBody>
      </p:sp>
      <p:sp>
        <p:nvSpPr>
          <p:cNvPr id="11" name="">
            <a:extLst xmlns:a="http://schemas.openxmlformats.org/drawingml/2006/main">
              <a:ext uri="{FF2B5EF4-FFF2-40B4-BE49-F238E27FC236}">
                <a16:creationId xmlns:a16="http://schemas.microsoft.com/office/drawing/2014/main" id="{87E0A2C1-EF69-4E75-AD86-5B2028E7AF8B}"/>
              </a:ext>
            </a:extLst>
          </p:cNvPr>
          <p:cNvSpPr>
            <a:spLocks xmlns:a="http://schemas.openxmlformats.org/drawingml/2006/main" noGrp="1"/>
          </p:cNvSpPr>
          <p:nvPr/>
        </p:nvSpPr>
        <p:spPr>
          <a:xfrm xmlns:a="http://schemas.openxmlformats.org/drawingml/2006/main">
            <a:off x="639127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65%</a:t>
            </a:r>
          </a:p>
        </p:txBody>
      </p:sp>
      <p:sp>
        <p:nvSpPr>
          <p:cNvPr id="12" name="">
            <a:extLst xmlns:a="http://schemas.openxmlformats.org/drawingml/2006/main">
              <a:ext uri="{FF2B5EF4-FFF2-40B4-BE49-F238E27FC236}">
                <a16:creationId xmlns:a16="http://schemas.microsoft.com/office/drawing/2014/main" id="{3489A033-6239-44DA-8920-0A9292D24A02}"/>
              </a:ext>
            </a:extLst>
          </p:cNvPr>
          <p:cNvSpPr>
            <a:spLocks xmlns:a="http://schemas.openxmlformats.org/drawingml/2006/main" noGrp="1"/>
          </p:cNvSpPr>
          <p:nvPr/>
        </p:nvSpPr>
        <p:spPr>
          <a:xfrm xmlns:a="http://schemas.openxmlformats.org/drawingml/2006/main">
            <a:off x="639127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Claim → admission</a:t>
            </a:r>
          </a:p>
        </p:txBody>
      </p:sp>
      <p:sp>
        <p:nvSpPr>
          <p:cNvPr id="13" name="">
            <a:extLst xmlns:a="http://schemas.openxmlformats.org/drawingml/2006/main">
              <a:ext uri="{FF2B5EF4-FFF2-40B4-BE49-F238E27FC236}">
                <a16:creationId xmlns:a16="http://schemas.microsoft.com/office/drawing/2014/main" id="{34309421-E477-4A61-9CEB-A6D0D258C006}"/>
              </a:ext>
            </a:extLst>
          </p:cNvPr>
          <p:cNvSpPr>
            <a:spLocks xmlns:a="http://schemas.openxmlformats.org/drawingml/2006/main" noGrp="1"/>
          </p:cNvSpPr>
          <p:nvPr/>
        </p:nvSpPr>
        <p:spPr>
          <a:xfrm xmlns:a="http://schemas.openxmlformats.org/drawingml/2006/main">
            <a:off x="639127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312 of 480 claims</a:t>
            </a:r>
          </a:p>
        </p:txBody>
      </p:sp>
      <p:sp>
        <p:nvSpPr>
          <p:cNvPr id="14" name="">
            <a:extLst xmlns:a="http://schemas.openxmlformats.org/drawingml/2006/main">
              <a:ext uri="{FF2B5EF4-FFF2-40B4-BE49-F238E27FC236}">
                <a16:creationId xmlns:a16="http://schemas.microsoft.com/office/drawing/2014/main" id="{BBCBF356-995B-486D-85B2-297718B19CF3}"/>
              </a:ext>
            </a:extLst>
          </p:cNvPr>
          <p:cNvSpPr>
            <a:spLocks xmlns:a="http://schemas.openxmlformats.org/drawingml/2006/main" noGrp="1"/>
          </p:cNvSpPr>
          <p:nvPr/>
        </p:nvSpPr>
        <p:spPr>
          <a:xfrm xmlns:a="http://schemas.openxmlformats.org/drawingml/2006/main">
            <a:off x="927735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B88AFF"/>
                </a:solidFill>
                <a:latin typeface="Arial"/>
                <a:ea typeface="Arial"/>
                <a:cs typeface="Arial"/>
              </a:defRPr>
            </a:pPr>
            <a:r>
              <a:rPr sz="3825" b="1">
                <a:solidFill>
                  <a:srgbClr val="B88AFF"/>
                </a:solidFill>
                <a:latin typeface="Arial"/>
                <a:ea typeface="Arial"/>
                <a:cs typeface="Arial"/>
              </a:rPr>
              <a:t>96</a:t>
            </a:r>
          </a:p>
        </p:txBody>
      </p:sp>
      <p:sp>
        <p:nvSpPr>
          <p:cNvPr id="15" name="">
            <a:extLst xmlns:a="http://schemas.openxmlformats.org/drawingml/2006/main">
              <a:ext uri="{FF2B5EF4-FFF2-40B4-BE49-F238E27FC236}">
                <a16:creationId xmlns:a16="http://schemas.microsoft.com/office/drawing/2014/main" id="{78FB7E43-C362-47B6-876B-9518F3E9463F}"/>
              </a:ext>
            </a:extLst>
          </p:cNvPr>
          <p:cNvSpPr>
            <a:spLocks xmlns:a="http://schemas.openxmlformats.org/drawingml/2006/main" noGrp="1"/>
          </p:cNvSpPr>
          <p:nvPr/>
        </p:nvSpPr>
        <p:spPr>
          <a:xfrm xmlns:a="http://schemas.openxmlformats.org/drawingml/2006/main">
            <a:off x="927735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AF8FF"/>
                </a:solidFill>
                <a:latin typeface="Arial"/>
                <a:ea typeface="Arial"/>
                <a:cs typeface="Arial"/>
              </a:defRPr>
            </a:pPr>
            <a:r>
              <a:rPr sz="1800" b="1">
                <a:solidFill>
                  <a:srgbClr val="FAF8FF"/>
                </a:solidFill>
                <a:latin typeface="Arial"/>
                <a:ea typeface="Arial"/>
                <a:cs typeface="Arial"/>
              </a:rPr>
              <a:t>Pickup requests</a:t>
            </a:r>
          </a:p>
        </p:txBody>
      </p:sp>
      <p:sp>
        <p:nvSpPr>
          <p:cNvPr id="16" name="">
            <a:extLst xmlns:a="http://schemas.openxmlformats.org/drawingml/2006/main">
              <a:ext uri="{FF2B5EF4-FFF2-40B4-BE49-F238E27FC236}">
                <a16:creationId xmlns:a16="http://schemas.microsoft.com/office/drawing/2014/main" id="{444B31C5-9ABA-4574-97C0-FA923FFC1B54}"/>
              </a:ext>
            </a:extLst>
          </p:cNvPr>
          <p:cNvSpPr>
            <a:spLocks xmlns:a="http://schemas.openxmlformats.org/drawingml/2006/main" noGrp="1"/>
          </p:cNvSpPr>
          <p:nvPr/>
        </p:nvSpPr>
        <p:spPr>
          <a:xfrm xmlns:a="http://schemas.openxmlformats.org/drawingml/2006/main">
            <a:off x="927735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graphicFrame>
        <p:nvGraphicFramePr>
          <p:cNvPr id="39"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49ec97b8d82a4515"/>
          </a:graphicData>
        </a:graphic>
      </p:graphicFrame>
      <p:graphicFrame>
        <p:nvGraphicFramePr>
          <p:cNvPr id="40"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r>
                        <a:rPr sz="1500" b="1">
                          <a:solidFill>
                            <a:srgbClr val="FAF8FF"/>
                          </a:solidFill>
                          <a:latin typeface="Arial"/>
                          <a:ea typeface="Arial"/>
                          <a:cs typeface="Arial"/>
                        </a:rPr>
                        <a:t>Audience &amp; intent</a:t>
                      </a:r>
                    </a:p>
                  </a:txBody>
                  <a:tcPr marL="91440" marR="91440" marT="45720" marB="45720">
                    <a:solidFill>
                      <a:srgbClr val="332048"/>
                    </a:solidFill>
                  </a:tcPr>
                </a:tc>
                <a:tc>
                  <a:txBody>
                    <a:bodyPr>
                      <a:noAutofit/>
                    </a:bodyPr>
                    <a:lstStyle/>
                    <a:p>
                      <a:r>
                        <a:rPr sz="1500" b="1">
                          <a:solidFill>
                            <a:srgbClr val="FAF8FF"/>
                          </a:solidFill>
                          <a:latin typeface="Arial"/>
                          <a:ea typeface="Arial"/>
                          <a:cs typeface="Arial"/>
                        </a:rPr>
                        <a:t>Count</a:t>
                      </a:r>
                    </a:p>
                  </a:txBody>
                  <a:tcPr marL="91440" marR="91440" marT="45720" marB="45720">
                    <a:solidFill>
                      <a:srgbClr val="332048"/>
                    </a:solidFill>
                  </a:tcPr>
                </a:tc>
              </a:tr>
              <a:tr h="445770">
                <a:tc>
                  <a:txBody>
                    <a:bodyPr>
                      <a:noAutofit/>
                    </a:bodyPr>
                    <a:lstStyle/>
                    <a:p>
                      <a:r>
                        <a:rPr sz="1500" b="1">
                          <a:solidFill>
                            <a:srgbClr val="FAF8FF"/>
                          </a:solidFill>
                          <a:latin typeface="Arial"/>
                          <a:ea typeface="Arial"/>
                          <a:cs typeface="Arial"/>
                        </a:rPr>
                        <a:t>Card impressions</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18,400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Unique browsers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4,200</a:t>
                      </a:r>
                    </a:p>
                  </a:txBody>
                  <a:tcPr marL="91440" marR="91440" marT="45720" marB="45720">
                    <a:solidFill>
                      <a:srgbClr val="1C1728"/>
                    </a:solidFill>
                  </a:tcPr>
                </a:tc>
              </a:tr>
              <a:tr h="445770">
                <a:tc>
                  <a:txBody>
                    <a:bodyPr>
                      <a:noAutofit/>
                    </a:bodyPr>
                    <a:lstStyle/>
                    <a:p>
                      <a:r>
                        <a:rPr sz="1500" b="1">
                          <a:solidFill>
                            <a:srgbClr val="FAF8FF"/>
                          </a:solidFill>
                          <a:latin typeface="Arial"/>
                          <a:ea typeface="Arial"/>
                          <a:cs typeface="Arial"/>
                        </a:rPr>
                        <a:t>Directions opened</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640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New followers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185</a:t>
                      </a:r>
                    </a:p>
                  </a:txBody>
                  <a:tcPr marL="91440" marR="91440" marT="45720" marB="45720">
                    <a:solidFill>
                      <a:srgbClr val="1C1728"/>
                    </a:solidFill>
                  </a:tcPr>
                </a:tc>
              </a:tr>
            </a:tbl>
          </a:graphicData>
        </a:graphic>
      </p:graphicFrame>
      <p:sp>
        <p:nvSpPr>
          <p:cNvPr id="19" name="">
            <a:extLst xmlns:a="http://schemas.openxmlformats.org/drawingml/2006/main">
              <a:ext uri="{FF2B5EF4-FFF2-40B4-BE49-F238E27FC236}">
                <a16:creationId xmlns:a16="http://schemas.microsoft.com/office/drawing/2014/main" id="{E8A00BA7-C779-475A-BBBF-162972246F33}"/>
              </a:ext>
            </a:extLst>
          </p:cNvPr>
          <p:cNvSpPr>
            <a:spLocks xmlns:a="http://schemas.openxmlformats.org/drawingml/2006/main" noGrp="1"/>
          </p:cNvSpPr>
          <p:nvPr/>
        </p:nvSpPr>
        <p:spPr>
          <a:xfrm xmlns:a="http://schemas.openxmlformats.org/drawingml/2006/main">
            <a:off x="619125" y="586740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QR results are confirmed pass uses, not total club attendance. This example assumes all 312 uses belong to the 480 passes</a:t>
            </a:r>
          </a:p>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claimed in the period. Unique browsers are not an exact count of people.</a:t>
            </a:r>
          </a:p>
        </p:txBody>
      </p:sp>
    </p:spTree>
    <p:extLst>
      <p:ext uri="{BB962C8B-B14F-4D97-AF65-F5344CB8AC3E}">
        <p14:creationId xmlns:p14="http://schemas.microsoft.com/office/powerpoint/2010/main" val="2071491846"/>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DDF5F7-CDA6-4866-A342-F6C314DCD2E0}"/>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AF8FF"/>
                </a:solidFill>
                <a:latin typeface="Arial"/>
                <a:ea typeface="Arial"/>
                <a:cs typeface="Arial"/>
              </a:defRPr>
            </a:pPr>
            <a:r>
              <a:rPr sz="3300" b="1">
                <a:solidFill>
                  <a:srgbClr val="FAF8FF"/>
                </a:solidFill>
                <a:latin typeface="Arial"/>
                <a:ea typeface="Arial"/>
                <a:cs typeface="Arial"/>
              </a:rPr>
              <a:t>Compare performance across clubs</a:t>
            </a:r>
          </a:p>
        </p:txBody>
      </p:sp>
      <p:sp>
        <p:nvSpPr>
          <p:cNvPr id="2" name="">
            <a:extLst xmlns:a="http://schemas.openxmlformats.org/drawingml/2006/main">
              <a:ext uri="{FF2B5EF4-FFF2-40B4-BE49-F238E27FC236}">
                <a16:creationId xmlns:a16="http://schemas.microsoft.com/office/drawing/2014/main" id="{A4906549-2D42-40DE-A46B-A5B49EF0B87D}"/>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C6C1D1"/>
                </a:solidFill>
                <a:latin typeface="Arial"/>
                <a:ea typeface="Arial"/>
                <a:cs typeface="Arial"/>
              </a:defRPr>
            </a:pPr>
            <a:r>
              <a:rPr sz="1650" b="0">
                <a:solidFill>
                  <a:srgbClr val="C6C1D1"/>
                </a:solidFill>
                <a:latin typeface="Arial"/>
                <a:ea typeface="Arial"/>
                <a:cs typeface="Arial"/>
              </a:rPr>
              <a:t>Illustrative management report · the same 30-day period and metric definitions</a:t>
            </a:r>
          </a:p>
        </p:txBody>
      </p:sp>
      <p:sp>
        <p:nvSpPr>
          <p:cNvPr id="3" name="">
            <a:extLst xmlns:a="http://schemas.openxmlformats.org/drawingml/2006/main">
              <a:ext uri="{FF2B5EF4-FFF2-40B4-BE49-F238E27FC236}">
                <a16:creationId xmlns:a16="http://schemas.microsoft.com/office/drawing/2014/main" id="{86FD2B13-133B-4665-966C-61063B18A383}"/>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FF8B351-2488-4258-8BD8-DE68782CF224}"/>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b="0">
                <a:solidFill>
                  <a:srgbClr val="C6C1D1"/>
                </a:solidFill>
                <a:latin typeface="Arial"/>
                <a:ea typeface="Arial"/>
                <a:cs typeface="Arial"/>
              </a:defRPr>
            </a:pPr>
            <a:r>
              <a:rPr sz="1125" b="0">
                <a:solidFill>
                  <a:srgbClr val="C6C1D1"/>
                </a:solidFill>
                <a:latin typeface="Arial"/>
                <a:ea typeface="Arial"/>
                <a:cs typeface="Arial"/>
              </a:rPr>
              <a:t>6 / 7</a:t>
            </a:r>
          </a:p>
        </p:txBody>
      </p:sp>
      <p:graphicFrame>
        <p:nvGraphicFramePr>
          <p:cNvPr id="17"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r>
                        <a:rPr sz="1725" b="1">
                          <a:solidFill>
                            <a:srgbClr val="FAF8FF"/>
                          </a:solidFill>
                          <a:latin typeface="Arial"/>
                          <a:ea typeface="Arial"/>
                          <a:cs typeface="Arial"/>
                        </a:rPr>
                        <a:t>Club</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Passes</a:t>
                      </a:r>
                    </a:p>
                    <a:p>
                      <a:r>
                        <a:rPr sz="1725" b="1">
                          <a:solidFill>
                            <a:srgbClr val="FAF8FF"/>
                          </a:solidFill>
                          <a:latin typeface="Arial"/>
                          <a:ea typeface="Arial"/>
                          <a:cs typeface="Arial"/>
                        </a:rPr>
                        <a:t>claimed</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QR pass</a:t>
                      </a:r>
                    </a:p>
                    <a:p>
                      <a:r>
                        <a:rPr sz="1725" b="1">
                          <a:solidFill>
                            <a:srgbClr val="FAF8FF"/>
                          </a:solidFill>
                          <a:latin typeface="Arial"/>
                          <a:ea typeface="Arial"/>
                          <a:cs typeface="Arial"/>
                        </a:rPr>
                        <a:t>uses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Claim →</a:t>
                      </a:r>
                    </a:p>
                    <a:p>
                      <a:r>
                        <a:rPr sz="1725" b="1">
                          <a:solidFill>
                            <a:srgbClr val="FAF8FF"/>
                          </a:solidFill>
                          <a:latin typeface="Arial"/>
                          <a:ea typeface="Arial"/>
                          <a:cs typeface="Arial"/>
                        </a:rPr>
                        <a:t>admission</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Pickup</a:t>
                      </a:r>
                    </a:p>
                    <a:p>
                      <a:r>
                        <a:rPr sz="1725" b="1">
                          <a:solidFill>
                            <a:srgbClr val="FAF8FF"/>
                          </a:solidFill>
                          <a:latin typeface="Arial"/>
                          <a:ea typeface="Arial"/>
                          <a:cs typeface="Arial"/>
                        </a:rPr>
                        <a:t>requests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New</a:t>
                      </a:r>
                    </a:p>
                    <a:p>
                      <a:r>
                        <a:rPr sz="1725" b="1">
                          <a:solidFill>
                            <a:srgbClr val="FAF8FF"/>
                          </a:solidFill>
                          <a:latin typeface="Arial"/>
                          <a:ea typeface="Arial"/>
                          <a:cs typeface="Arial"/>
                        </a:rPr>
                        <a:t>followers</a:t>
                      </a:r>
                    </a:p>
                  </a:txBody>
                  <a:tcPr marL="91440" marR="91440" marT="45720" marB="45720">
                    <a:solidFill>
                      <a:srgbClr val="332048"/>
                    </a:solidFill>
                  </a:tcPr>
                </a:tc>
              </a:tr>
              <a:tr h="542925">
                <a:tc>
                  <a:txBody>
                    <a:bodyPr>
                      <a:noAutofit/>
                    </a:bodyPr>
                    <a:lstStyle/>
                    <a:p>
                      <a:r>
                        <a:rPr sz="1725" b="1">
                          <a:solidFill>
                            <a:srgbClr val="FAF8FF"/>
                          </a:solidFill>
                          <a:latin typeface="Arial"/>
                          <a:ea typeface="Arial"/>
                          <a:cs typeface="Arial"/>
                        </a:rPr>
                        <a:t>Echo House</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480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312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65.0%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96</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185</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Aurora Room</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400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220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55.0%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72</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150</a:t>
                      </a:r>
                    </a:p>
                  </a:txBody>
                  <a:tcPr marL="91440" marR="91440" marT="45720" marB="45720">
                    <a:solidFill>
                      <a:srgbClr val="1C1728"/>
                    </a:solidFill>
                  </a:tcPr>
                </a:tc>
              </a:tr>
              <a:tr h="542925">
                <a:tc>
                  <a:txBody>
                    <a:bodyPr>
                      <a:noAutofit/>
                    </a:bodyPr>
                    <a:lstStyle/>
                    <a:p>
                      <a:r>
                        <a:rPr sz="1725" b="1">
                          <a:solidFill>
                            <a:srgbClr val="FAF8FF"/>
                          </a:solidFill>
                          <a:latin typeface="Arial"/>
                          <a:ea typeface="Arial"/>
                          <a:cs typeface="Arial"/>
                        </a:rPr>
                        <a:t>Blue Ember</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252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70.0%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120</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Group total</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1,240</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784</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63.2%</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228</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455</a:t>
                      </a:r>
                    </a:p>
                  </a:txBody>
                  <a:tcPr marL="91440" marR="91440" marT="45720" marB="45720">
                    <a:solidFill>
                      <a:srgbClr val="302043"/>
                    </a:solidFill>
                  </a:tcPr>
                </a:tc>
              </a:tr>
            </a:tbl>
          </a:graphicData>
        </a:graphic>
      </p:graphicFrame>
      <p:sp>
        <p:nvSpPr>
          <p:cNvPr id="6" name="">
            <a:extLst xmlns:a="http://schemas.openxmlformats.org/drawingml/2006/main">
              <a:ext uri="{FF2B5EF4-FFF2-40B4-BE49-F238E27FC236}">
                <a16:creationId xmlns:a16="http://schemas.microsoft.com/office/drawing/2014/main" id="{475E16F2-3C80-4D5D-BD1E-ECA880D93A6C}"/>
              </a:ext>
            </a:extLst>
          </p:cNvPr>
          <p:cNvSpPr>
            <a:spLocks xmlns:a="http://schemas.openxmlformats.org/drawingml/2006/main" noGrp="1"/>
          </p:cNvSpPr>
          <p:nvPr/>
        </p:nvSpPr>
        <p:spPr>
          <a:xfrm xmlns:a="http://schemas.openxmlformats.org/drawingml/2006/main">
            <a:off x="619125" y="499110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88AFF"/>
                </a:solidFill>
                <a:latin typeface="Arial"/>
                <a:ea typeface="Arial"/>
                <a:cs typeface="Arial"/>
              </a:defRPr>
            </a:pPr>
            <a:r>
              <a:rPr sz="1875" b="1">
                <a:solidFill>
                  <a:srgbClr val="B88AFF"/>
                </a:solidFill>
                <a:latin typeface="Arial"/>
                <a:ea typeface="Arial"/>
                <a:cs typeface="Arial"/>
              </a:rPr>
              <a:t>Aurora Room</a:t>
            </a:r>
          </a:p>
        </p:txBody>
      </p:sp>
      <p:sp>
        <p:nvSpPr>
          <p:cNvPr id="7" name="">
            <a:extLst xmlns:a="http://schemas.openxmlformats.org/drawingml/2006/main">
              <a:ext uri="{FF2B5EF4-FFF2-40B4-BE49-F238E27FC236}">
                <a16:creationId xmlns:a16="http://schemas.microsoft.com/office/drawing/2014/main" id="{5087D4AC-FC8B-405D-B6E6-811A482226C8}"/>
              </a:ext>
            </a:extLst>
          </p:cNvPr>
          <p:cNvSpPr>
            <a:spLocks xmlns:a="http://schemas.openxmlformats.org/drawingml/2006/main" noGrp="1"/>
          </p:cNvSpPr>
          <p:nvPr/>
        </p:nvSpPr>
        <p:spPr>
          <a:xfrm xmlns:a="http://schemas.openxmlformats.org/drawingml/2006/main">
            <a:off x="619125" y="538162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FAF8FF"/>
                </a:solidFill>
                <a:latin typeface="Arial"/>
                <a:ea typeface="Arial"/>
                <a:cs typeface="Arial"/>
              </a:defRPr>
            </a:pPr>
            <a:r>
              <a:rPr sz="1725" b="0">
                <a:solidFill>
                  <a:srgbClr val="FAF8FF"/>
                </a:solidFill>
                <a:latin typeface="Arial"/>
                <a:ea typeface="Arial"/>
                <a:cs typeface="Arial"/>
              </a:rPr>
              <a:t>Review the gap between pass claims and confirmed use.</a:t>
            </a:r>
          </a:p>
        </p:txBody>
      </p:sp>
      <p:sp>
        <p:nvSpPr>
          <p:cNvPr id="8" name="">
            <a:extLst xmlns:a="http://schemas.openxmlformats.org/drawingml/2006/main">
              <a:ext uri="{FF2B5EF4-FFF2-40B4-BE49-F238E27FC236}">
                <a16:creationId xmlns:a16="http://schemas.microsoft.com/office/drawing/2014/main" id="{F720172C-DB9D-4D88-B801-ECFEA4DFDA40}"/>
              </a:ext>
            </a:extLst>
          </p:cNvPr>
          <p:cNvSpPr>
            <a:spLocks xmlns:a="http://schemas.openxmlformats.org/drawingml/2006/main" noGrp="1"/>
          </p:cNvSpPr>
          <p:nvPr/>
        </p:nvSpPr>
        <p:spPr>
          <a:xfrm xmlns:a="http://schemas.openxmlformats.org/drawingml/2006/main">
            <a:off x="6429375" y="49911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88AFF"/>
                </a:solidFill>
                <a:latin typeface="Arial"/>
                <a:ea typeface="Arial"/>
                <a:cs typeface="Arial"/>
              </a:defRPr>
            </a:pPr>
            <a:r>
              <a:rPr sz="1875" b="1">
                <a:solidFill>
                  <a:srgbClr val="B88AFF"/>
                </a:solidFill>
                <a:latin typeface="Arial"/>
                <a:ea typeface="Arial"/>
                <a:cs typeface="Arial"/>
              </a:rPr>
              <a:t>Blue Ember</a:t>
            </a:r>
          </a:p>
        </p:txBody>
      </p:sp>
      <p:sp>
        <p:nvSpPr>
          <p:cNvPr id="9" name="">
            <a:extLst xmlns:a="http://schemas.openxmlformats.org/drawingml/2006/main">
              <a:ext uri="{FF2B5EF4-FFF2-40B4-BE49-F238E27FC236}">
                <a16:creationId xmlns:a16="http://schemas.microsoft.com/office/drawing/2014/main" id="{2F58C738-2033-49D7-87A0-6F782DF17154}"/>
              </a:ext>
            </a:extLst>
          </p:cNvPr>
          <p:cNvSpPr>
            <a:spLocks xmlns:a="http://schemas.openxmlformats.org/drawingml/2006/main" noGrp="1"/>
          </p:cNvSpPr>
          <p:nvPr/>
        </p:nvSpPr>
        <p:spPr>
          <a:xfrm xmlns:a="http://schemas.openxmlformats.org/drawingml/2006/main">
            <a:off x="6429375" y="5381625"/>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FAF8FF"/>
                </a:solidFill>
                <a:latin typeface="Arial"/>
                <a:ea typeface="Arial"/>
                <a:cs typeface="Arial"/>
              </a:defRPr>
            </a:pPr>
            <a:r>
              <a:rPr sz="1725" b="0">
                <a:solidFill>
                  <a:srgbClr val="FAF8FF"/>
                </a:solidFill>
                <a:latin typeface="Arial"/>
                <a:ea typeface="Arial"/>
                <a:cs typeface="Arial"/>
              </a:rPr>
              <a:t>Compare offers and arrival handling behind its 70% rate.</a:t>
            </a:r>
          </a:p>
        </p:txBody>
      </p:sp>
      <p:sp>
        <p:nvSpPr>
          <p:cNvPr id="10" name="">
            <a:extLst xmlns:a="http://schemas.openxmlformats.org/drawingml/2006/main">
              <a:ext uri="{FF2B5EF4-FFF2-40B4-BE49-F238E27FC236}">
                <a16:creationId xmlns:a16="http://schemas.microsoft.com/office/drawing/2014/main" id="{D46801E3-45D1-4079-AA7C-9E3D95F92927}"/>
              </a:ext>
            </a:extLst>
          </p:cNvPr>
          <p:cNvSpPr>
            <a:spLocks xmlns:a="http://schemas.openxmlformats.org/drawingml/2006/main" noGrp="1"/>
          </p:cNvSpPr>
          <p:nvPr/>
        </p:nvSpPr>
        <p:spPr>
          <a:xfrm xmlns:a="http://schemas.openxmlformats.org/drawingml/2006/main">
            <a:off x="619125" y="60483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C6C1D1"/>
                </a:solidFill>
                <a:latin typeface="Arial"/>
                <a:ea typeface="Arial"/>
                <a:cs typeface="Arial"/>
              </a:defRPr>
            </a:pPr>
            <a:r>
              <a:rPr sz="1275" b="0">
                <a:solidFill>
                  <a:srgbClr val="C6C1D1"/>
                </a:solidFill>
                <a:latin typeface="Arial"/>
                <a:ea typeface="Arial"/>
                <a:cs typeface="Arial"/>
              </a:rPr>
              <a:t>Sample roll-up assembled from per-club metrics; this is not an existing consolidated corporate dashboard.</a:t>
            </a:r>
          </a:p>
        </p:txBody>
      </p:sp>
    </p:spTree>
    <p:extLst>
      <p:ext uri="{BB962C8B-B14F-4D97-AF65-F5344CB8AC3E}">
        <p14:creationId xmlns:p14="http://schemas.microsoft.com/office/powerpoint/2010/main" val="1415057821"/>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5B6961-3891-428E-A771-3D81C8E46412}"/>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 pilot at your club</a:t>
            </a:r>
          </a:p>
        </p:txBody>
      </p:sp>
      <p:sp>
        <p:nvSpPr>
          <p:cNvPr id="2" name="">
            <a:extLst xmlns:a="http://schemas.openxmlformats.org/drawingml/2006/main">
              <a:ext uri="{FF2B5EF4-FFF2-40B4-BE49-F238E27FC236}">
                <a16:creationId xmlns:a16="http://schemas.microsoft.com/office/drawing/2014/main" id="{AB8DBEA6-14BC-471C-83E7-16AA496FE899}"/>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Proposed next step for an owner or venue group</a:t>
            </a:r>
          </a:p>
        </p:txBody>
      </p:sp>
      <p:sp>
        <p:nvSpPr>
          <p:cNvPr id="3" name="">
            <a:extLst xmlns:a="http://schemas.openxmlformats.org/drawingml/2006/main">
              <a:ext uri="{FF2B5EF4-FFF2-40B4-BE49-F238E27FC236}">
                <a16:creationId xmlns:a16="http://schemas.microsoft.com/office/drawing/2014/main" id="{EBE0F74C-8FA1-4AFC-8109-1AEC337448CC}"/>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E5B866F7-6A71-4987-8230-D45A80ED3489}"/>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7 / 7</a:t>
            </a:r>
          </a:p>
        </p:txBody>
      </p:sp>
      <p:sp>
        <p:nvSpPr>
          <p:cNvPr id="5" name="">
            <a:extLst xmlns:a="http://schemas.openxmlformats.org/drawingml/2006/main">
              <a:ext uri="{FF2B5EF4-FFF2-40B4-BE49-F238E27FC236}">
                <a16:creationId xmlns:a16="http://schemas.microsoft.com/office/drawing/2014/main" id="{4743BEEB-F7E4-4492-A80E-EB09C4E27ECB}"/>
              </a:ext>
            </a:extLst>
          </p:cNvPr>
          <p:cNvSpPr>
            <a:spLocks xmlns:a="http://schemas.openxmlformats.org/drawingml/2006/main" noGrp="1"/>
          </p:cNvSpPr>
          <p:nvPr/>
        </p:nvSpPr>
        <p:spPr>
          <a:xfrm xmlns:a="http://schemas.openxmlformats.org/drawingml/2006/main">
            <a:off x="619125" y="20002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One venue and a club lead</a:t>
            </a:r>
          </a:p>
        </p:txBody>
      </p:sp>
      <p:sp>
        <p:nvSpPr>
          <p:cNvPr id="6" name="">
            <a:extLst xmlns:a="http://schemas.openxmlformats.org/drawingml/2006/main">
              <a:ext uri="{FF2B5EF4-FFF2-40B4-BE49-F238E27FC236}">
                <a16:creationId xmlns:a16="http://schemas.microsoft.com/office/drawing/2014/main" id="{4AD957C0-1212-4C8B-93A6-65F93EBD7C85}"/>
              </a:ext>
            </a:extLst>
          </p:cNvPr>
          <p:cNvSpPr>
            <a:spLocks xmlns:a="http://schemas.openxmlformats.org/drawingml/2006/main" noGrp="1"/>
          </p:cNvSpPr>
          <p:nvPr/>
        </p:nvSpPr>
        <p:spPr>
          <a:xfrm xmlns:a="http://schemas.openxmlformats.org/drawingml/2006/main">
            <a:off x="619125" y="2466975"/>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Choose the starting location and</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the person responsible for rollout.</a:t>
            </a:r>
          </a:p>
        </p:txBody>
      </p:sp>
      <p:sp>
        <p:nvSpPr>
          <p:cNvPr id="7" name="">
            <a:extLst xmlns:a="http://schemas.openxmlformats.org/drawingml/2006/main">
              <a:ext uri="{FF2B5EF4-FFF2-40B4-BE49-F238E27FC236}">
                <a16:creationId xmlns:a16="http://schemas.microsoft.com/office/drawing/2014/main" id="{B9059D52-726E-4453-8294-A0DFE909C404}"/>
              </a:ext>
            </a:extLst>
          </p:cNvPr>
          <p:cNvSpPr>
            <a:spLocks xmlns:a="http://schemas.openxmlformats.org/drawingml/2006/main" noGrp="1"/>
          </p:cNvSpPr>
          <p:nvPr/>
        </p:nvSpPr>
        <p:spPr>
          <a:xfrm xmlns:a="http://schemas.openxmlformats.org/drawingml/2006/main">
            <a:off x="6429375" y="20002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Guest experience setup</a:t>
            </a:r>
          </a:p>
        </p:txBody>
      </p:sp>
      <p:sp>
        <p:nvSpPr>
          <p:cNvPr id="8" name="">
            <a:extLst xmlns:a="http://schemas.openxmlformats.org/drawingml/2006/main">
              <a:ext uri="{FF2B5EF4-FFF2-40B4-BE49-F238E27FC236}">
                <a16:creationId xmlns:a16="http://schemas.microsoft.com/office/drawing/2014/main" id="{1CB59E47-F2B8-4675-8305-36DD5B1994AA}"/>
              </a:ext>
            </a:extLst>
          </p:cNvPr>
          <p:cNvSpPr>
            <a:spLocks xmlns:a="http://schemas.openxmlformats.org/drawingml/2006/main" noGrp="1"/>
          </p:cNvSpPr>
          <p:nvPr/>
        </p:nvSpPr>
        <p:spPr>
          <a:xfrm xmlns:a="http://schemas.openxmlformats.org/drawingml/2006/main">
            <a:off x="6429375" y="2466975"/>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Confirm the club page and offers.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Set up NFC check-in and table QR codes.</a:t>
            </a:r>
          </a:p>
        </p:txBody>
      </p:sp>
      <p:sp>
        <p:nvSpPr>
          <p:cNvPr id="9" name="">
            <a:extLst xmlns:a="http://schemas.openxmlformats.org/drawingml/2006/main">
              <a:ext uri="{FF2B5EF4-FFF2-40B4-BE49-F238E27FC236}">
                <a16:creationId xmlns:a16="http://schemas.microsoft.com/office/drawing/2014/main" id="{9B37B37C-8065-4848-B697-3B0CE55C34DC}"/>
              </a:ext>
            </a:extLst>
          </p:cNvPr>
          <p:cNvSpPr>
            <a:spLocks xmlns:a="http://schemas.openxmlformats.org/drawingml/2006/main" noGrp="1"/>
          </p:cNvSpPr>
          <p:nvPr/>
        </p:nvSpPr>
        <p:spPr>
          <a:xfrm xmlns:a="http://schemas.openxmlformats.org/drawingml/2006/main">
            <a:off x="619125" y="38766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A trial with the team</a:t>
            </a:r>
          </a:p>
        </p:txBody>
      </p:sp>
      <p:sp>
        <p:nvSpPr>
          <p:cNvPr id="10" name="">
            <a:extLst xmlns:a="http://schemas.openxmlformats.org/drawingml/2006/main">
              <a:ext uri="{FF2B5EF4-FFF2-40B4-BE49-F238E27FC236}">
                <a16:creationId xmlns:a16="http://schemas.microsoft.com/office/drawing/2014/main" id="{7949F8E2-9E0E-471A-8F3F-BF879058F6DA}"/>
              </a:ext>
            </a:extLst>
          </p:cNvPr>
          <p:cNvSpPr>
            <a:spLocks xmlns:a="http://schemas.openxmlformats.org/drawingml/2006/main" noGrp="1"/>
          </p:cNvSpPr>
          <p:nvPr/>
        </p:nvSpPr>
        <p:spPr>
          <a:xfrm xmlns:a="http://schemas.openxmlformats.org/drawingml/2006/main">
            <a:off x="619125" y="43434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Agree a trial period and train staff</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to handle entry passes and requests.</a:t>
            </a:r>
          </a:p>
        </p:txBody>
      </p:sp>
      <p:sp>
        <p:nvSpPr>
          <p:cNvPr id="11" name="">
            <a:extLst xmlns:a="http://schemas.openxmlformats.org/drawingml/2006/main">
              <a:ext uri="{FF2B5EF4-FFF2-40B4-BE49-F238E27FC236}">
                <a16:creationId xmlns:a16="http://schemas.microsoft.com/office/drawing/2014/main" id="{BEE17427-E11C-4D58-BC91-6F679B8A6978}"/>
              </a:ext>
            </a:extLst>
          </p:cNvPr>
          <p:cNvSpPr>
            <a:spLocks xmlns:a="http://schemas.openxmlformats.org/drawingml/2006/main" noGrp="1"/>
          </p:cNvSpPr>
          <p:nvPr/>
        </p:nvSpPr>
        <p:spPr>
          <a:xfrm xmlns:a="http://schemas.openxmlformats.org/drawingml/2006/main">
            <a:off x="6429375" y="38766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88AFF"/>
                </a:solidFill>
                <a:latin typeface="Arial"/>
                <a:ea typeface="Arial"/>
                <a:cs typeface="Arial"/>
              </a:defRPr>
            </a:pPr>
            <a:r>
              <a:rPr sz="2100" b="1">
                <a:solidFill>
                  <a:srgbClr val="B88AFF"/>
                </a:solidFill>
                <a:latin typeface="Arial"/>
                <a:ea typeface="Arial"/>
                <a:cs typeface="Arial"/>
              </a:rPr>
              <a:t>Review and expansion</a:t>
            </a:r>
          </a:p>
        </p:txBody>
      </p:sp>
      <p:sp>
        <p:nvSpPr>
          <p:cNvPr id="12" name="">
            <a:extLst xmlns:a="http://schemas.openxmlformats.org/drawingml/2006/main">
              <a:ext uri="{FF2B5EF4-FFF2-40B4-BE49-F238E27FC236}">
                <a16:creationId xmlns:a16="http://schemas.microsoft.com/office/drawing/2014/main" id="{95641475-8EB5-4345-A3AD-5BC779B758D5}"/>
              </a:ext>
            </a:extLst>
          </p:cNvPr>
          <p:cNvSpPr>
            <a:spLocks xmlns:a="http://schemas.openxmlformats.org/drawingml/2006/main" noGrp="1"/>
          </p:cNvSpPr>
          <p:nvPr/>
        </p:nvSpPr>
        <p:spPr>
          <a:xfrm xmlns:a="http://schemas.openxmlformats.org/drawingml/2006/main">
            <a:off x="6429375" y="434340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Compare pass use and pickup activity.</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Use staff feedback to plan the next step.</a:t>
            </a:r>
          </a:p>
        </p:txBody>
      </p:sp>
      <p:sp>
        <p:nvSpPr>
          <p:cNvPr id="13" name="">
            <a:extLst xmlns:a="http://schemas.openxmlformats.org/drawingml/2006/main">
              <a:ext uri="{FF2B5EF4-FFF2-40B4-BE49-F238E27FC236}">
                <a16:creationId xmlns:a16="http://schemas.microsoft.com/office/drawing/2014/main" id="{16EDEDD2-4FD9-48A7-9F9C-FD67A57FB0FF}"/>
              </a:ext>
            </a:extLst>
          </p:cNvPr>
          <p:cNvSpPr>
            <a:spLocks xmlns:a="http://schemas.openxmlformats.org/drawingml/2006/main" noGrp="1"/>
          </p:cNvSpPr>
          <p:nvPr/>
        </p:nvSpPr>
        <p:spPr>
          <a:xfrm xmlns:a="http://schemas.openxmlformats.org/drawingml/2006/main">
            <a:off x="619125" y="58578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AF8FF"/>
                </a:solidFill>
                <a:latin typeface="Arial"/>
                <a:ea typeface="Arial"/>
                <a:cs typeface="Arial"/>
              </a:defRPr>
            </a:pPr>
            <a:r>
              <a:rPr sz="2100" b="1">
                <a:solidFill>
                  <a:srgbClr val="FAF8FF"/>
                </a:solidFill>
                <a:latin typeface="Arial"/>
                <a:ea typeface="Arial"/>
                <a:cs typeface="Arial"/>
              </a:rPr>
              <a:t>Next step: choose a pilot venue and venue lead.</a:t>
            </a:r>
          </a:p>
        </p:txBody>
      </p:sp>
    </p:spTree>
    <p:extLst>
      <p:ext uri="{BB962C8B-B14F-4D97-AF65-F5344CB8AC3E}">
        <p14:creationId xmlns:p14="http://schemas.microsoft.com/office/powerpoint/2010/main" val="96641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2026-10-02T07:35:12.2610000Z</dcterms:created>
  <dcterms:modified xsi:type="dcterms:W3CDTF">2026-10-02T07:35:12.2610000Z</dcterms:modified>
</coreProperties>
</file>