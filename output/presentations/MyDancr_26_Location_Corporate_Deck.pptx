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e5e2b59baad43bc" /><Relationship Type="http://schemas.openxmlformats.org/officeDocument/2006/relationships/extended-properties" Target="/docProps/app.xml" Id="R184cc1c709184ddb" /><Relationship Type="http://schemas.openxmlformats.org/officeDocument/2006/relationships/officeDocument" Target="/ppt/presentation.xml" Id="R56b9435bf26d45b3" /></Relationships>
</file>

<file path=ppt/presentation.xml><?xml version="1.0" encoding="utf-8"?>
<p:presentation xmlns:p="http://schemas.openxmlformats.org/presentationml/2006/main">
  <p:sldMasterIdLst>
    <p:sldMasterId xmlns:r="http://schemas.openxmlformats.org/officeDocument/2006/relationships" id="2147483648" r:id="R5ef7731f5b954c40"/>
  </p:sldMasterIdLst>
  <p:notesMasterIdLst>
    <p:notesMasterId xmlns:r="http://schemas.openxmlformats.org/officeDocument/2006/relationships" r:id="Ra43046db5a4143b1"/>
  </p:notesMasterIdLst>
  <p:sldIdLst>
    <p:sldId xmlns:r="http://schemas.openxmlformats.org/officeDocument/2006/relationships" id="256" r:id="R39c5288f72444e21"/>
    <p:sldId xmlns:r="http://schemas.openxmlformats.org/officeDocument/2006/relationships" id="257" r:id="R1ddebdfddf5f4e14"/>
    <p:sldId xmlns:r="http://schemas.openxmlformats.org/officeDocument/2006/relationships" id="258" r:id="R7aa39b88626145df"/>
    <p:sldId xmlns:r="http://schemas.openxmlformats.org/officeDocument/2006/relationships" id="259" r:id="R25af5dedd15a4a03"/>
    <p:sldId xmlns:r="http://schemas.openxmlformats.org/officeDocument/2006/relationships" id="260" r:id="R41f58596127c424f"/>
    <p:sldId xmlns:r="http://schemas.openxmlformats.org/officeDocument/2006/relationships" id="261" r:id="R83c3889012964514"/>
    <p:sldId xmlns:r="http://schemas.openxmlformats.org/officeDocument/2006/relationships" id="262" r:id="R6a31fe8398604cb3"/>
    <p:sldId xmlns:r="http://schemas.openxmlformats.org/officeDocument/2006/relationships" id="263" r:id="R31a049c708b44aa9"/>
    <p:sldId xmlns:r="http://schemas.openxmlformats.org/officeDocument/2006/relationships" id="264" r:id="R7a36a2e0a40746fa"/>
    <p:sldId xmlns:r="http://schemas.openxmlformats.org/officeDocument/2006/relationships" id="265" r:id="R878bdcba17504b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5c7ad23eb44493" /><Relationship Type="http://schemas.openxmlformats.org/officeDocument/2006/relationships/slideMaster" Target="/ppt/slideMasters/slideMaster1.xml" Id="R5ef7731f5b954c40" /><Relationship Type="http://schemas.openxmlformats.org/officeDocument/2006/relationships/notesMaster" Target="/ppt/notesMasters/notesMaster1.xml" Id="Ra43046db5a4143b1" /><Relationship Type="http://schemas.openxmlformats.org/officeDocument/2006/relationships/presProps" Target="/ppt/presProps.xml" Id="R71d64d3b3cda4948" /><Relationship Type="http://schemas.openxmlformats.org/officeDocument/2006/relationships/tableStyles" Target="/ppt/tableStyles.xml" Id="R2789a56bbb314f09" /><Relationship Type="http://schemas.openxmlformats.org/officeDocument/2006/relationships/slide" Target="/ppt/slides/slide1.xml" Id="R39c5288f72444e21" /><Relationship Type="http://schemas.openxmlformats.org/officeDocument/2006/relationships/slide" Target="/ppt/slides/slide2.xml" Id="R1ddebdfddf5f4e14" /><Relationship Type="http://schemas.openxmlformats.org/officeDocument/2006/relationships/slide" Target="/ppt/slides/slide3.xml" Id="R7aa39b88626145df" /><Relationship Type="http://schemas.openxmlformats.org/officeDocument/2006/relationships/slide" Target="/ppt/slides/slide4.xml" Id="R25af5dedd15a4a03" /><Relationship Type="http://schemas.openxmlformats.org/officeDocument/2006/relationships/slide" Target="/ppt/slides/slide5.xml" Id="R41f58596127c424f" /><Relationship Type="http://schemas.openxmlformats.org/officeDocument/2006/relationships/slide" Target="/ppt/slides/slide6.xml" Id="R83c3889012964514" /><Relationship Type="http://schemas.openxmlformats.org/officeDocument/2006/relationships/slide" Target="/ppt/slides/slide7.xml" Id="R6a31fe8398604cb3" /><Relationship Type="http://schemas.openxmlformats.org/officeDocument/2006/relationships/slide" Target="/ppt/slides/slide8.xml" Id="R31a049c708b44aa9" /><Relationship Type="http://schemas.openxmlformats.org/officeDocument/2006/relationships/slide" Target="/ppt/slides/slide9.xml" Id="R7a36a2e0a40746fa" /><Relationship Type="http://schemas.openxmlformats.org/officeDocument/2006/relationships/slide" Target="/ppt/slides/slide10.xml" Id="R878bdcba17504b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9f06c6ce854b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f27d9761c04d48" /><Relationship Type="http://schemas.openxmlformats.org/officeDocument/2006/relationships/notesMaster" Target="/ppt/notesMasters/notesMaster1.xml" Id="Rd3b515688cfd43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9b7f622afa4c4a" /><Relationship Type="http://schemas.openxmlformats.org/officeDocument/2006/relationships/notesMaster" Target="/ppt/notesMasters/notesMaster1.xml" Id="R2634195c30a14d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ef473723724ecc" /><Relationship Type="http://schemas.openxmlformats.org/officeDocument/2006/relationships/notesMaster" Target="/ppt/notesMasters/notesMaster1.xml" Id="R6d97943876914d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0079106d19414b" /><Relationship Type="http://schemas.openxmlformats.org/officeDocument/2006/relationships/notesMaster" Target="/ppt/notesMasters/notesMaster1.xml" Id="Rdf32a075a4aa46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cac7fd9f7e46a5" /><Relationship Type="http://schemas.openxmlformats.org/officeDocument/2006/relationships/notesMaster" Target="/ppt/notesMasters/notesMaster1.xml" Id="R2f190307acaa41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0bc25f1a664206" /><Relationship Type="http://schemas.openxmlformats.org/officeDocument/2006/relationships/notesMaster" Target="/ppt/notesMasters/notesMaster1.xml" Id="R07383ba2bd4d40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f22755c7a04453" /><Relationship Type="http://schemas.openxmlformats.org/officeDocument/2006/relationships/notesMaster" Target="/ppt/notesMasters/notesMaster1.xml" Id="Ref62b71e7eab4e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de5d37381c4063" /><Relationship Type="http://schemas.openxmlformats.org/officeDocument/2006/relationships/notesMaster" Target="/ppt/notesMasters/notesMaster1.xml" Id="Rc45ca5d135684a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264fa262544fa4" /><Relationship Type="http://schemas.openxmlformats.org/officeDocument/2006/relationships/notesMaster" Target="/ppt/notesMasters/notesMaster1.xml" Id="R9623f4172dcc4a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76b941eba64fe5" /><Relationship Type="http://schemas.openxmlformats.org/officeDocument/2006/relationships/notesMaster" Target="/ppt/notesMasters/notesMaster1.xml" Id="R724d57b81fcd4a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Introduction for a corporation operating 26 strip-club locations, as supplied by the user. No corporation name was supplied. MyDancr combines public discovery with venue-scoped in-club tools. All pricing, ROI, growth and rollout timing in this deck are proposals or explicitly labeled illustrations. The cover is previously generated conceptual lounge artwork, not a photograph of one of the prospective customer’s properties.</a:t>
            </a:r>
          </a:p>
          <a:p xmlns:a="http://schemas.openxmlformats.org/drawingml/2006/main">
            <a:r>
              <a:t/>
            </a:r>
          </a:p>
          <a:p xmlns:a="http://schemas.openxmlformats.org/drawingml/2006/main">
            <a:r>
              <a:t>Sources reviewed October 2, 2026:</a:t>
            </a:r>
          </a:p>
          <a:p xmlns:a="http://schemas.openxmlformats.org/drawingml/2006/main">
            <a:r>
              <a:t>D:\Codex\MyDancr-clean-2026-09-11\output\presentations\assets\polished-deck\lounge-cover.png</a:t>
            </a:r>
          </a:p>
          <a:p xmlns:a="http://schemas.openxmlformats.org/drawingml/2006/main">
            <a:r>
              <a:t>D:\Codex\MyDancr-clean-2026-09-11\output\presentations\assets\polished-deck\cover-prompt.txt</a:t>
            </a:r>
          </a:p>
          <a:p xmlns:a="http://schemas.openxmlformats.org/drawingml/2006/main">
            <a:r>
              <a:t>D:\Codex\MyDancr-clean-2026-09-11\public\outputs\mydancr-logo-current.png</a:t>
            </a:r>
          </a:p>
          <a:p xmlns:a="http://schemas.openxmlformats.org/drawingml/2006/main">
            <a:r>
              <a:t>D:\Codex\MyDancr-clean-2026-09-11\docs\mydancr-internal-integration.md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experiences use existing MyDancr capabilities. Both channels are included in the subscription proposal from the user’s discussion. Each dancer separately chooses Internal, External or Both at check-in, so subscription access does not override dancer consent. The group playbook and common reporting definitions are proposed implementation services. Do not imply an existing portfolio-wide login, multi-location switcher or automated corporate dashboard. Each venue retains its scoped team access.</a:t>
            </a:r>
          </a:p>
          <a:p xmlns:a="http://schemas.openxmlformats.org/drawingml/2006/main">
            <a:r>
              <a:t/>
            </a:r>
          </a:p>
          <a:p xmlns:a="http://schemas.openxmlformats.org/drawingml/2006/main">
            <a:r>
              <a:t>Sources reviewed October 2, 2026:</a:t>
            </a:r>
          </a:p>
          <a:p xmlns:a="http://schemas.openxmlformats.org/drawingml/2006/main">
            <a:r>
              <a:t>D:\Codex\MyDancr-clean-2026-09-11\docs\mydancr-internal-integration.md</a:t>
            </a:r>
          </a:p>
          <a:p xmlns:a="http://schemas.openxmlformats.org/drawingml/2006/main">
            <a:r>
              <a:t>D:\Codex\MyDancr-clean-2026-09-11\src\lib\dancr\venue-access.ts</a:t>
            </a:r>
          </a:p>
          <a:p xmlns:a="http://schemas.openxmlformats.org/drawingml/2006/main">
            <a:r>
              <a:t>D:\Codex\MyDancr-clean-2026-09-11\docs\venue-onboarding.md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supplied by the user, showing a fictional dancer profile. It is a demo interface reference rather than live customer results, and current styling may differ. Working Now derives from confirmed eligible club check-ins. Follow, Share, Directions, I’m Going, gallery and available Club Deal actions are existing product features. I’m Going records intent, not arrival. Media visibility and approval rules apply. Upcoming schedules are retired, so this deck does not advertise schedule posting. Club pickup and guest-list features are available where configured, but they are not required for this slide’s core claim.</a:t>
            </a:r>
          </a:p>
          <a:p xmlns:a="http://schemas.openxmlformats.org/drawingml/2006/main">
            <a:r>
              <a:t/>
            </a:r>
          </a:p>
          <a:p xmlns:a="http://schemas.openxmlformats.org/drawingml/2006/main">
            <a:r>
              <a:t>Sources reviewed October 2, 2026:</a:t>
            </a:r>
          </a:p>
          <a:p xmlns:a="http://schemas.openxmlformats.org/drawingml/2006/main">
            <a:r>
              <a:t>D:\Codex\MyDancr-clean-2026-09-11\docs\working-now-club-participation.md</a:t>
            </a:r>
          </a:p>
          <a:p xmlns:a="http://schemas.openxmlformats.org/drawingml/2006/main">
            <a:r>
              <a:t>D:\Codex\MyDancr-clean-2026-09-11\src\live-shell\app\11-post-verified-shift.js</a:t>
            </a:r>
          </a:p>
          <a:p xmlns:a="http://schemas.openxmlformats.org/drawingml/2006/main">
            <a:r>
              <a:t>D:\Codex\MyDancr-clean-2026-09-11\src\live-shell\app\08-save-customer-deal-pass.js</a:t>
            </a:r>
          </a:p>
          <a:p xmlns:a="http://schemas.openxmlformats.org/drawingml/2006/main">
            <a:r>
              <a:t>D:\Codex\MyDancr-clean-2026-09-11\.codex-remote-attachments\01a0f678-59cd-7bf1-9af1-25d4f30ea736\89fbf673-75a8-4940-8cab-64c9abaf4bb7\1-24507.jpg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an existing repository demo capture. Table links show active dancers who opted into Internal or Both. Guests can request from a roster or an authorized full profile. Acknowledgement means staff saw the request, not that the dancer accepted it. Club staff coordinate requests. Eligible owner, manager and staff devices can enable phone alerts subject to browser permission and device setup. Dancers retain control of visibility. NFC check-in and end-of-shift controls support current roster status. The proposed launch includes real-device operational acceptance with venue staff, not a promise that a scan guarantees presence, service or a completed sale.</a:t>
            </a:r>
          </a:p>
          <a:p xmlns:a="http://schemas.openxmlformats.org/drawingml/2006/main">
            <a:r>
              <a:t/>
            </a:r>
          </a:p>
          <a:p xmlns:a="http://schemas.openxmlformats.org/drawingml/2006/main">
            <a:r>
              <a:t>Sources reviewed October 2, 2026:</a:t>
            </a:r>
          </a:p>
          <a:p xmlns:a="http://schemas.openxmlformats.org/drawingml/2006/main">
            <a:r>
              <a:t>D:\Codex\MyDancr-clean-2026-09-11\docs\mydancr-internal-integration.md</a:t>
            </a:r>
          </a:p>
          <a:p xmlns:a="http://schemas.openxmlformats.org/drawingml/2006/main">
            <a:r>
              <a:t>D:\Codex\MyDancr-clean-2026-09-11\docs\internal-table-request-push.md</a:t>
            </a:r>
          </a:p>
          <a:p xmlns:a="http://schemas.openxmlformats.org/drawingml/2006/main">
            <a:r>
              <a:t>D:\Codex\MyDancr-clean-2026-09-11\docs\working-now-club-participation.md</a:t>
            </a:r>
          </a:p>
          <a:p xmlns:a="http://schemas.openxmlformats.org/drawingml/2006/main">
            <a:r>
              <a:t>D:\Codex\MyDancr-clean-2026-09-11\.qa\internal-brightness\live-desktop.png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Capabilities verified in the current venue analytics component and documentation. Tonight, 7-day and 30-day reporting includes prior-period comparison. Unique browsers are browser identifiers, not an exact count of people. Planned visits are intent. Only redeemed passes count as verified admissions in this reporting. Claim-cohort conversion uses the claim cohort and should not divide unrelated period admissions by period claims. TV outcome attribution requires a confirmed venue tag and an explicit video-to-club click; the subsequent browser attribution window is 30 minutes, while newly issued passes retain video credit through redemption. Media shares and venue actions do not constitute a complete measured viral referral tree. Proposed corporate reporting must be assembled or separately scoped; the application currently resolves access per venue. Authoritative, period-matched subscription costs are not yet connected to the native cost-per-admission figure. New visitors and incremental lift need privacy-appropriate venue records and a baseline or comparison group.</a:t>
            </a:r>
          </a:p>
          <a:p xmlns:a="http://schemas.openxmlformats.org/drawingml/2006/main">
            <a:r>
              <a:t/>
            </a:r>
          </a:p>
          <a:p xmlns:a="http://schemas.openxmlformats.org/drawingml/2006/main">
            <a:r>
              <a:t>Sources reviewed October 2, 2026:</a:t>
            </a:r>
          </a:p>
          <a:p xmlns:a="http://schemas.openxmlformats.org/drawingml/2006/main">
            <a:r>
              <a:t>D:\Codex\MyDancr-clean-2026-09-11\docs\venue-subscription-analytics.md</a:t>
            </a:r>
          </a:p>
          <a:p xmlns:a="http://schemas.openxmlformats.org/drawingml/2006/main">
            <a:r>
              <a:t>D:\Codex\MyDancr-clean-2026-09-11\app\dashboard\VenueValueAnalytics.tsx</a:t>
            </a:r>
          </a:p>
          <a:p xmlns:a="http://schemas.openxmlformats.org/drawingml/2006/main">
            <a:r>
              <a:t>D:\Codex\MyDancr-clean-2026-09-11\src\lib\dancr\venue-analytics.ts</a:t>
            </a:r>
          </a:p>
          <a:p xmlns:a="http://schemas.openxmlformats.org/drawingml/2006/main">
            <a:r>
              <a:t>D:\Codex\MyDancr-clean-2026-09-11\src\lib\dancr\venue-access.ts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planning illustration based on the user’s proposed $500 monthly minimum. This is not an approved group quote or a claim that all 26 venues qualify for the entry tier. Calculations: 26 × $500 = $13,000/month; ×12 = $156,000/year. Extra visits per club of 10/20/40 imply 260/520/1,040 extra group visits per month. At an assumed $50 club-retained contribution after incremental expenses and discounts, contribution is $13,000/$26,000/$52,000. Subtracting $13,000 subscription gives $0/$13,000/$39,000 monthly net contribution. Subscription ROI = (contribution − subscription) / subscription = 0%/100%/300%. The $50 input is a hypothetical model input, not an industry benchmark, customer spend estimate or dancer earnings. No internal labor savings are added, avoiding double counting. Full implementation ROI must include setup, hardware, custom development, staff training time, taxes and other incremental costs. Validate new visitors and causality using baseline/comparison methods and venue records before claiming incremental return. For a different tier mix, replace the monthly group subscription before recalculating.</a:t>
            </a:r>
          </a:p>
          <a:p xmlns:a="http://schemas.openxmlformats.org/drawingml/2006/main">
            <a:r>
              <a:t/>
            </a:r>
          </a:p>
          <a:p xmlns:a="http://schemas.openxmlformats.org/drawingml/2006/main">
            <a:r>
              <a:t>Sources reviewed October 2, 2026:</a:t>
            </a:r>
          </a:p>
          <a:p xmlns:a="http://schemas.openxmlformats.org/drawingml/2006/main">
            <a:r>
              <a:t>D:\Codex\MyDancr-clean-2026-09-11\docs\venue-subscription-analytics.md</a:t>
            </a:r>
          </a:p>
          <a:p xmlns:a="http://schemas.openxmlformats.org/drawingml/2006/main">
            <a:r>
              <a:t>D:\Codex\MyDancr-clean-2026-09-11\app\dashboard\VenueValueAnalytics.tsx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organic growth mechanism grounded in existing profile/venue sharing, approved media, follow, Club Deal and MyDancr TV features. The platform does not guarantee virality, new visitors, automated social posting or network-wide referrals. Club links and dancer profiles may expose the app to people outside the original venue audience, but new users must still find a relevant location and choose to visit. Geographic distance, repeated exposure to the same people, privacy choices, competing offers and content quality affect reach and conversion. Private Internal table links must stay within the club context and must not be used as public acquisition links. Use shareable public profiles and venue links. The crowd artwork is a repository decorative background and does not depict actual customer attendance.</a:t>
            </a:r>
          </a:p>
          <a:p xmlns:a="http://schemas.openxmlformats.org/drawingml/2006/main">
            <a:r>
              <a:t/>
            </a:r>
          </a:p>
          <a:p xmlns:a="http://schemas.openxmlformats.org/drawingml/2006/main">
            <a:r>
              <a:t>Sources reviewed October 2, 2026:</a:t>
            </a:r>
          </a:p>
          <a:p xmlns:a="http://schemas.openxmlformats.org/drawingml/2006/main">
            <a:r>
              <a:t>D:\Codex\MyDancr-clean-2026-09-11\docs\mydancr-internal-integration.md</a:t>
            </a:r>
          </a:p>
          <a:p xmlns:a="http://schemas.openxmlformats.org/drawingml/2006/main">
            <a:r>
              <a:t>D:\Codex\MyDancr-clean-2026-09-11\docs\venue-subscription-analytics.md</a:t>
            </a:r>
          </a:p>
          <a:p xmlns:a="http://schemas.openxmlformats.org/drawingml/2006/main">
            <a:r>
              <a:t>D:\Codex\MyDancr-clean-2026-09-11\src\live-shell\app\02-venue-interactions.js</a:t>
            </a:r>
          </a:p>
          <a:p xmlns:a="http://schemas.openxmlformats.org/drawingml/2006/main">
            <a:r>
              <a:t>D:\Codex\MyDancr-clean-2026-09-11\public\venue-card-backdrop-v1.webp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Mathematical illustration, not measured MyDancr results or a forecast. Each line starts from 1,000 newly engaged external app visitors in round 0. New visitors in round t = 1,000 × r^t, where r is the average number of additional distinct engaged visitors generated by each visitor through sharing. The three r assumptions are 0.6, 1.0 and 1.2. Rounded series: [1000,600,360,216,130,78], [1000,1000,1000,1000,1000,1000], [1000,1200,1440,1728,2074,2488]. The graph shows each round’s new cohort, not cumulative audience. Sharing rounds have no assumed calendar duration. The model assumes a constant r, unique reachable people, no overlap and no saturation for the displayed cycles. Real-world r can decline with duplicated audiences, weak click-through, geographic mismatch or saturation. r &gt; 1 produces exponential growth only while its assumptions hold. App visits do not equal in-person visits or verified new customers. Validate referral reach with permitted campaign measurement, track engagement in MyDancr, and reconcile new-club-customer evidence during the pilot. Existing analytics record shares and eligible attribution but do not yet establish a complete measured referral reproduction rate.</a:t>
            </a:r>
          </a:p>
          <a:p xmlns:a="http://schemas.openxmlformats.org/drawingml/2006/main">
            <a:r>
              <a:t/>
            </a:r>
          </a:p>
          <a:p xmlns:a="http://schemas.openxmlformats.org/drawingml/2006/main">
            <a:r>
              <a:t>Sources reviewed October 2, 2026:</a:t>
            </a:r>
          </a:p>
          <a:p xmlns:a="http://schemas.openxmlformats.org/drawingml/2006/main">
            <a:r>
              <a:t>D:\Codex\MyDancr-clean-2026-09-11\docs\venue-subscription-analytics.md</a:t>
            </a:r>
          </a:p>
          <a:p xmlns:a="http://schemas.openxmlformats.org/drawingml/2006/main">
            <a:r>
              <a:t>D:\Codex\MyDancr-clean-2026-09-11\app\dashboard\VenueValueAnalytics.tsx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rollout plan, not a committed implementation schedule. Three pilot locations plus eight expansion locations plus fifteen remaining locations equals the user’s 26-location corporation. Timing depends on the signed scope, venue information, approved media, verification readiness, hardware delivery, staffing and real-device acceptance. Choose pilot clubs with differing formats and establish a baseline before activation. Separate adoption from impact: roster accuracy and staff request handling indicate readiness; verified offer use is a product outcome; incremental admissions and contribution require comparisons and venue financial inputs. Corporate leadership appoints an operations owner and marketing lead; each club appoints a manager champion. Human staff perform physical NFC/table QR acceptance as part of operational onboarding.</a:t>
            </a:r>
          </a:p>
          <a:p xmlns:a="http://schemas.openxmlformats.org/drawingml/2006/main">
            <a:r>
              <a:t/>
            </a:r>
          </a:p>
          <a:p xmlns:a="http://schemas.openxmlformats.org/drawingml/2006/main">
            <a:r>
              <a:t>Sources reviewed October 2, 2026:</a:t>
            </a:r>
          </a:p>
          <a:p xmlns:a="http://schemas.openxmlformats.org/drawingml/2006/main">
            <a:r>
              <a:t>D:\Codex\MyDancr-clean-2026-09-11\docs\venue-onboarding.md</a:t>
            </a:r>
          </a:p>
          <a:p xmlns:a="http://schemas.openxmlformats.org/drawingml/2006/main">
            <a:r>
              <a:t>D:\Codex\MyDancr-clean-2026-09-11\docs\mydancr-internal-integration.md</a:t>
            </a:r>
          </a:p>
          <a:p xmlns:a="http://schemas.openxmlformats.org/drawingml/2006/main">
            <a:r>
              <a:t>D:\Codex\MyDancr-clean-2026-09-11\docs\internal-table-request-push.md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concrete, proposed next step: choose three pilot locations and agree an implementation workshop with corporate operations, marketing and local champions. Offer hands-on setup and role-specific training as scoped services, with session format, travel, timing, support coverage, customization deliverables and fees confirmed in the agreement. Current venue onboarding requires an authorized request, MyDancr review and commercial agreement, private workspace/code, prepared venue page, venue review and approval before publication. Configuration can cover supported club details, official logos, hours, approved offers, table labels, team roles and dancer visibility choices. MyDancr controls venue page presentation and contracted Club Deal preparation; do not imply owners can freely alter all offers or operating rules. NFC expiry/cooldown and privacy rules remain existing platform behavior until any change is separately agreed and implemented. Do not promise unlimited custom development, POS integration, automatic corporate rollups or on-site staffing at every location. Launch support includes agreed real-device setup for NFC and table requests and training for permitted phone alerts. Define a named contact on each side, training materials, escalation ownership and ongoing review cadence.</a:t>
            </a:r>
          </a:p>
          <a:p xmlns:a="http://schemas.openxmlformats.org/drawingml/2006/main">
            <a:r>
              <a:t/>
            </a:r>
          </a:p>
          <a:p xmlns:a="http://schemas.openxmlformats.org/drawingml/2006/main">
            <a:r>
              <a:t>Sources reviewed October 2, 2026:</a:t>
            </a:r>
          </a:p>
          <a:p xmlns:a="http://schemas.openxmlformats.org/drawingml/2006/main">
            <a:r>
              <a:t>D:\Codex\MyDancr-clean-2026-09-11\docs\venue-onboarding.md</a:t>
            </a:r>
          </a:p>
          <a:p xmlns:a="http://schemas.openxmlformats.org/drawingml/2006/main">
            <a:r>
              <a:t>D:\Codex\MyDancr-clean-2026-09-11\docs\mydancr-internal-integration.md</a:t>
            </a:r>
          </a:p>
          <a:p xmlns:a="http://schemas.openxmlformats.org/drawingml/2006/main">
            <a:r>
              <a:t>D:\Codex\MyDancr-clean-2026-09-11\docs\internal-table-request-push.md</a:t>
            </a:r>
          </a:p>
          <a:p xmlns:a="http://schemas.openxmlformats.org/drawingml/2006/main">
            <a:r>
              <a:t>D:\Codex\MyDancr-clean-2026-09-11\docs\working-now-club-participation.md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a6407627744a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99770ece99415b" /><Relationship Type="http://schemas.openxmlformats.org/officeDocument/2006/relationships/slideLayout" Target="/ppt/slideLayouts/slideLayout1.xml" Id="R034247bbca2b4a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4247bbca2b4a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c7ad3f4b28447a" /><Relationship Type="http://schemas.openxmlformats.org/officeDocument/2006/relationships/image" Target="/ppt/media/image.png" Id="R9001c1a48b1342dc" /><Relationship Type="http://schemas.openxmlformats.org/officeDocument/2006/relationships/image" Target="/ppt/media/image2.png" Id="Rdb18ae19aaab44d7" /><Relationship Type="http://schemas.openxmlformats.org/officeDocument/2006/relationships/notesSlide" Target="/ppt/notesSlides/notesSlide1.xml" Id="R46398741668444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47ac3ba8fc4b7c" /><Relationship Type="http://schemas.openxmlformats.org/officeDocument/2006/relationships/notesSlide" Target="/ppt/notesSlides/notesSlide2.xml" Id="R7cfcf77cf5084f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6ba63cfff9414d" /><Relationship Type="http://schemas.openxmlformats.org/officeDocument/2006/relationships/image" Target="/ppt/media/image.jpeg" Id="R0741d71f845f4278" /><Relationship Type="http://schemas.openxmlformats.org/officeDocument/2006/relationships/notesSlide" Target="/ppt/notesSlides/notesSlide3.xml" Id="R577b2cc11e3f45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890e7d120244f8" /><Relationship Type="http://schemas.openxmlformats.org/officeDocument/2006/relationships/image" Target="/ppt/media/image3.png" Id="Rd54365eea79d42b8" /><Relationship Type="http://schemas.openxmlformats.org/officeDocument/2006/relationships/notesSlide" Target="/ppt/notesSlides/notesSlide4.xml" Id="Rebe5732436ac4f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ac09d27fae14eae" /><Relationship Type="http://schemas.openxmlformats.org/officeDocument/2006/relationships/notesSlide" Target="/ppt/notesSlides/notesSlide5.xml" Id="R33e0b49c1c7743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7de4d7e05f742d5" /><Relationship Type="http://schemas.openxmlformats.org/officeDocument/2006/relationships/notesSlide" Target="/ppt/notesSlides/notesSlide6.xml" Id="Rff29dac3f97d42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b3e4f63ec3491a" /><Relationship Type="http://schemas.openxmlformats.org/officeDocument/2006/relationships/image" Target="/ppt/media/image.bin" Id="R082b6cbb8c1b463d" /><Relationship Type="http://schemas.openxmlformats.org/officeDocument/2006/relationships/notesSlide" Target="/ppt/notesSlides/notesSlide7.xml" Id="R6f5cc7cfa99b4a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d1dfa8b1db64316" /><Relationship Type="http://schemas.openxmlformats.org/officeDocument/2006/relationships/chart" Target="/ppt/slides/charts/chart1.xml" Id="R3ed2469c15e24c60" /><Relationship Type="http://schemas.openxmlformats.org/officeDocument/2006/relationships/notesSlide" Target="/ppt/notesSlides/notesSlide8.xml" Id="R939eba6edec246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f38a2e36434c6d" /><Relationship Type="http://schemas.openxmlformats.org/officeDocument/2006/relationships/notesSlide" Target="/ppt/notesSlides/notesSlide9.xml" Id="Ra6803c7cfec541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17ac15eba24e2e" /><Relationship Type="http://schemas.openxmlformats.org/officeDocument/2006/relationships/notesSlide" Target="/ppt/notesSlides/notesSlide10.xml" Id="Rbd09a644bab94ec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0.6 new per visitor</c:v>
          </c:tx>
          <c:spPr>
            <a:ln xmlns:a="http://schemas.openxmlformats.org/drawingml/2006/main" w="28575">
              <a:solidFill>
                <a:srgbClr val="746C83"/>
              </a:solidFill>
            </a:ln>
          </c:spPr>
          <c:marker>
            <c:symbol val="circle"/>
            <c:size val="5"/>
            <c:spPr>
              <a:solidFill xmlns:a="http://schemas.openxmlformats.org/drawingml/2006/main">
                <a:srgbClr val="746C83"/>
              </a:solidFill>
            </c:spPr>
          </c:marker>
          <c:cat>
            <c:strRef>
              <c:f>'Chart Data'!$A$2:$A$7</c:f>
              <c:strCache>
                <c:ptCount val="6"/>
                <c:pt idx="0">
                  <c:v>Round 0</c:v>
                </c:pt>
                <c:pt idx="1">
                  <c:v>Round 1</c:v>
                </c:pt>
                <c:pt idx="2">
                  <c:v>Round 2</c:v>
                </c:pt>
                <c:pt idx="3">
                  <c:v>Round 3</c:v>
                </c:pt>
                <c:pt idx="4">
                  <c:v>Round 4</c:v>
                </c:pt>
                <c:pt idx="5">
                  <c:v>Round 5</c:v>
                </c:pt>
              </c:strCache>
            </c:strRef>
          </c:cat>
          <c:val>
            <c:numRef>
              <c:f>'Chart Data'!$B$2:$B$7</c:f>
              <c:numCache>
                <c:formatCode>#,##0</c:formatCode>
                <c:ptCount val="6"/>
                <c:pt idx="0">
                  <c:v>1000</c:v>
                </c:pt>
                <c:pt idx="1">
                  <c:v>600</c:v>
                </c:pt>
                <c:pt idx="2">
                  <c:v>360</c:v>
                </c:pt>
                <c:pt idx="3">
                  <c:v>216</c:v>
                </c:pt>
                <c:pt idx="4">
                  <c:v>130</c:v>
                </c:pt>
                <c:pt idx="5">
                  <c:v>78</c:v>
                </c:pt>
              </c:numCache>
            </c:numRef>
          </c:val>
          <c:smooth val="0"/>
        </c:ser>
        <c:ser>
          <c:idx val="1"/>
          <c:order val="1"/>
          <c:tx>
            <c:v>1.0 new per visitor</c:v>
          </c:tx>
          <c:spPr>
            <a:ln xmlns:a="http://schemas.openxmlformats.org/drawingml/2006/main" w="28575">
              <a:solidFill>
                <a:srgbClr val="D8D2E4"/>
              </a:solidFill>
            </a:ln>
          </c:spPr>
          <c:marker>
            <c:symbol val="circle"/>
            <c:size val="5"/>
            <c:spPr>
              <a:solidFill xmlns:a="http://schemas.openxmlformats.org/drawingml/2006/main">
                <a:srgbClr val="D8D2E4"/>
              </a:solidFill>
            </c:spPr>
          </c:marker>
          <c:cat>
            <c:strRef>
              <c:f>'Chart Data'!$C$2:$C$7</c:f>
              <c:strCache>
                <c:ptCount val="6"/>
                <c:pt idx="0">
                  <c:v>Round 0</c:v>
                </c:pt>
                <c:pt idx="1">
                  <c:v>Round 1</c:v>
                </c:pt>
                <c:pt idx="2">
                  <c:v>Round 2</c:v>
                </c:pt>
                <c:pt idx="3">
                  <c:v>Round 3</c:v>
                </c:pt>
                <c:pt idx="4">
                  <c:v>Round 4</c:v>
                </c:pt>
                <c:pt idx="5">
                  <c:v>Round 5</c:v>
                </c:pt>
              </c:strCache>
            </c:strRef>
          </c:cat>
          <c:val>
            <c:numRef>
              <c:f>'Chart Data'!$D$2:$D$7</c:f>
              <c:numCache>
                <c:formatCode>#,##0</c:formatCode>
                <c:ptCount val="6"/>
                <c:pt idx="0">
                  <c:v>1000</c:v>
                </c:pt>
                <c:pt idx="1">
                  <c:v>1000</c:v>
                </c:pt>
                <c:pt idx="2">
                  <c:v>1000</c:v>
                </c:pt>
                <c:pt idx="3">
                  <c:v>1000</c:v>
                </c:pt>
                <c:pt idx="4">
                  <c:v>1000</c:v>
                </c:pt>
                <c:pt idx="5">
                  <c:v>1000</c:v>
                </c:pt>
              </c:numCache>
            </c:numRef>
          </c:val>
          <c:smooth val="0"/>
        </c:ser>
        <c:ser>
          <c:idx val="2"/>
          <c:order val="2"/>
          <c:tx>
            <c:v>1.2 new per visitor</c:v>
          </c:tx>
          <c:spPr>
            <a:ln xmlns:a="http://schemas.openxmlformats.org/drawingml/2006/main" w="38100">
              <a:solidFill>
                <a:srgbClr val="B58BFF"/>
              </a:solidFill>
            </a:ln>
          </c:spPr>
          <c:marker>
            <c:symbol val="circle"/>
            <c:size val="6"/>
            <c:spPr>
              <a:solidFill xmlns:a="http://schemas.openxmlformats.org/drawingml/2006/main">
                <a:srgbClr val="B58BFF"/>
              </a:solidFill>
            </c:spPr>
          </c:marker>
          <c:cat>
            <c:strRef>
              <c:f>'Chart Data'!$E$2:$E$7</c:f>
              <c:strCache>
                <c:ptCount val="6"/>
                <c:pt idx="0">
                  <c:v>Round 0</c:v>
                </c:pt>
                <c:pt idx="1">
                  <c:v>Round 1</c:v>
                </c:pt>
                <c:pt idx="2">
                  <c:v>Round 2</c:v>
                </c:pt>
                <c:pt idx="3">
                  <c:v>Round 3</c:v>
                </c:pt>
                <c:pt idx="4">
                  <c:v>Round 4</c:v>
                </c:pt>
                <c:pt idx="5">
                  <c:v>Round 5</c:v>
                </c:pt>
              </c:strCache>
            </c:strRef>
          </c:cat>
          <c:val>
            <c:numRef>
              <c:f>'Chart Data'!$F$2:$F$7</c:f>
              <c:numCache>
                <c:formatCode>#,##0</c:formatCode>
                <c:ptCount val="6"/>
                <c:pt idx="0">
                  <c:v>1000</c:v>
                </c:pt>
                <c:pt idx="1">
                  <c:v>1200</c:v>
                </c:pt>
                <c:pt idx="2">
                  <c:v>1440</c:v>
                </c:pt>
                <c:pt idx="3">
                  <c:v>1728</c:v>
                </c:pt>
                <c:pt idx="4">
                  <c:v>2074</c:v>
                </c:pt>
                <c:pt idx="5">
                  <c:v>2488</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37303F"/>
            </a:solidFill>
          </a:ln>
        </c:spPr>
        <c:txPr>
          <a:bodyPr xmlns:a="http://schemas.openxmlformats.org/drawingml/2006/main" anchorCtr="1"/>
          <a:lstStyle xmlns:a="http://schemas.openxmlformats.org/drawingml/2006/main"/>
          <a:p xmlns:a="http://schemas.openxmlformats.org/drawingml/2006/main">
            <a:pPr>
              <a:defRPr sz="1350">
                <a:solidFill>
                  <a:srgbClr val="C6C0D3"/>
                </a:solidFill>
                <a:latin typeface="Arial"/>
                <a:ea typeface="Arial"/>
                <a:cs typeface="Arial"/>
              </a:defRPr>
            </a:pPr>
          </a:p>
        </c:txPr>
        <c:crossAx val="48672768"/>
      </c:catAx>
      <c:valAx>
        <c:axId val="48672768"/>
        <c:scaling>
          <c:orientation val="minMax"/>
          <c:max val="3000"/>
          <c:min val="0"/>
        </c:scaling>
        <c:delete val="0"/>
        <c:axPos val="l"/>
        <c:majorGridlines>
          <c:spPr>
            <a:ln xmlns:a="http://schemas.openxmlformats.org/drawingml/2006/main" w="4763">
              <a:solidFill>
                <a:srgbClr val="37303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C6C0D3"/>
                </a:solidFill>
                <a:latin typeface="Arial"/>
                <a:ea typeface="Arial"/>
                <a:cs typeface="Arial"/>
              </a:defRPr>
            </a:pPr>
          </a:p>
        </c:txPr>
        <c:crossAx val="48650112"/>
        <c:crossBetween val="between"/>
        <c:majorUnit val="1000"/>
      </c:valAx>
      <c:spPr>
        <a:solidFill xmlns:a="http://schemas.openxmlformats.org/drawingml/2006/main">
          <a:srgbClr val="09070E"/>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C6C0D3"/>
              </a:solidFill>
              <a:latin typeface="Arial"/>
              <a:ea typeface="Arial"/>
              <a:cs typeface="Arial"/>
            </a:defRPr>
          </a:pPr>
        </a:p>
      </c:txPr>
    </c:legend>
    <c:plotVisOnly val="1"/>
  </c:chart>
  <c:spPr>
    <a:solidFill xmlns:a="http://schemas.openxmlformats.org/drawingml/2006/main">
      <a:srgbClr val="09070E"/>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3D920BB8-10A4-4117-B6FD-CC1F9BBC419E}"/>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001c1a48b1342d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b18ae19aaab44d7"/>
          <a:stretch xmlns:a="http://schemas.openxmlformats.org/drawingml/2006/main"/>
        </p:blipFill>
        <p:spPr>
          <a:xfrm xmlns:a="http://schemas.openxmlformats.org/drawingml/2006/main">
            <a:off x="609600" y="458279"/>
            <a:ext cx="2533650" cy="788417"/>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A5EE86E1-DE24-4CA7-9CE3-FA9F3979B5DE}"/>
              </a:ext>
            </a:extLst>
          </p:cNvPr>
          <p:cNvSpPr>
            <a:spLocks xmlns:a="http://schemas.openxmlformats.org/drawingml/2006/main" noGrp="1"/>
          </p:cNvSpPr>
          <p:nvPr/>
        </p:nvSpPr>
        <p:spPr>
          <a:xfrm xmlns:a="http://schemas.openxmlformats.org/drawingml/2006/main">
            <a:off x="609600" y="2152650"/>
            <a:ext cx="66865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025" b="1">
                <a:solidFill>
                  <a:srgbClr val="FAF8FF"/>
                </a:solidFill>
                <a:latin typeface="Arial"/>
                <a:ea typeface="Arial"/>
                <a:cs typeface="Arial"/>
              </a:defRPr>
            </a:pPr>
            <a:r>
              <a:rPr sz="5025" b="1">
                <a:solidFill>
                  <a:srgbClr val="FAF8FF"/>
                </a:solidFill>
                <a:latin typeface="Arial"/>
                <a:ea typeface="Arial"/>
                <a:cs typeface="Arial"/>
              </a:rPr>
              <a:t>MyDancr for</a:t>
            </a:r>
          </a:p>
          <a:p xmlns:a="http://schemas.openxmlformats.org/drawingml/2006/main">
            <a:pPr>
              <a:defRPr sz="5025" b="1">
                <a:solidFill>
                  <a:srgbClr val="FAF8FF"/>
                </a:solidFill>
                <a:latin typeface="Arial"/>
                <a:ea typeface="Arial"/>
                <a:cs typeface="Arial"/>
              </a:defRPr>
            </a:pPr>
            <a:r>
              <a:rPr sz="5025" b="1">
                <a:solidFill>
                  <a:srgbClr val="FAF8FF"/>
                </a:solidFill>
                <a:latin typeface="Arial"/>
                <a:ea typeface="Arial"/>
                <a:cs typeface="Arial"/>
              </a:rPr>
              <a:t>26 locations</a:t>
            </a:r>
          </a:p>
        </p:txBody>
      </p:sp>
      <p:sp>
        <p:nvSpPr>
          <p:cNvPr id="5" name="text-3">
            <a:extLst xmlns:a="http://schemas.openxmlformats.org/drawingml/2006/main">
              <a:ext uri="{FF2B5EF4-FFF2-40B4-BE49-F238E27FC236}">
                <a16:creationId xmlns:a16="http://schemas.microsoft.com/office/drawing/2014/main" id="{7B1B0345-0173-44C5-9A34-478FAE670A6D}"/>
              </a:ext>
            </a:extLst>
          </p:cNvPr>
          <p:cNvSpPr>
            <a:spLocks xmlns:a="http://schemas.openxmlformats.org/drawingml/2006/main" noGrp="1"/>
          </p:cNvSpPr>
          <p:nvPr/>
        </p:nvSpPr>
        <p:spPr>
          <a:xfrm xmlns:a="http://schemas.openxmlformats.org/drawingml/2006/main">
            <a:off x="628650" y="4000500"/>
            <a:ext cx="657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0">
                <a:solidFill>
                  <a:srgbClr val="C6C0D3"/>
                </a:solidFill>
                <a:latin typeface="Arial"/>
                <a:ea typeface="Arial"/>
                <a:cs typeface="Arial"/>
              </a:defRPr>
            </a:pPr>
            <a:r>
              <a:rPr sz="2325" b="0">
                <a:solidFill>
                  <a:srgbClr val="C6C0D3"/>
                </a:solidFill>
                <a:latin typeface="Arial"/>
                <a:ea typeface="Arial"/>
                <a:cs typeface="Arial"/>
              </a:rPr>
              <a:t>Public discovery and</a:t>
            </a:r>
          </a:p>
          <a:p xmlns:a="http://schemas.openxmlformats.org/drawingml/2006/main">
            <a:pPr>
              <a:defRPr sz="2325" b="0">
                <a:solidFill>
                  <a:srgbClr val="C6C0D3"/>
                </a:solidFill>
                <a:latin typeface="Arial"/>
                <a:ea typeface="Arial"/>
                <a:cs typeface="Arial"/>
              </a:defRPr>
            </a:pPr>
            <a:r>
              <a:rPr sz="2325" b="0">
                <a:solidFill>
                  <a:srgbClr val="C6C0D3"/>
                </a:solidFill>
                <a:latin typeface="Arial"/>
                <a:ea typeface="Arial"/>
                <a:cs typeface="Arial"/>
              </a:rPr>
              <a:t>in-club guest engagement</a:t>
            </a:r>
          </a:p>
        </p:txBody>
      </p:sp>
      <p:sp>
        <p:nvSpPr>
          <p:cNvPr id="6" name="text-4">
            <a:extLst xmlns:a="http://schemas.openxmlformats.org/drawingml/2006/main">
              <a:ext uri="{FF2B5EF4-FFF2-40B4-BE49-F238E27FC236}">
                <a16:creationId xmlns:a16="http://schemas.microsoft.com/office/drawing/2014/main" id="{B89EACB7-DF73-4067-B999-29957C515D1A}"/>
              </a:ext>
            </a:extLst>
          </p:cNvPr>
          <p:cNvSpPr>
            <a:spLocks xmlns:a="http://schemas.openxmlformats.org/drawingml/2006/main" noGrp="1"/>
          </p:cNvSpPr>
          <p:nvPr/>
        </p:nvSpPr>
        <p:spPr>
          <a:xfrm xmlns:a="http://schemas.openxmlformats.org/drawingml/2006/main">
            <a:off x="628650" y="56102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58BFF"/>
                </a:solidFill>
                <a:latin typeface="Arial"/>
                <a:ea typeface="Arial"/>
                <a:cs typeface="Arial"/>
              </a:defRPr>
            </a:pPr>
            <a:r>
              <a:rPr sz="1800" b="0">
                <a:solidFill>
                  <a:srgbClr val="B58BFF"/>
                </a:solidFill>
                <a:latin typeface="Arial"/>
                <a:ea typeface="Arial"/>
                <a:cs typeface="Arial"/>
              </a:rPr>
              <a:t>A proposal for your club group</a:t>
            </a:r>
          </a:p>
        </p:txBody>
      </p:sp>
    </p:spTree>
    <p:extLst>
      <p:ext uri="{BB962C8B-B14F-4D97-AF65-F5344CB8AC3E}">
        <p14:creationId xmlns:p14="http://schemas.microsoft.com/office/powerpoint/2010/main" val="517390348"/>
      </p:ext>
    </p:extLst>
  </p:cSld>
</p:sld>
</file>

<file path=ppt/slides/slide2.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3" name="text-5">
            <a:extLst xmlns:a="http://schemas.openxmlformats.org/drawingml/2006/main">
              <a:ext uri="{FF2B5EF4-FFF2-40B4-BE49-F238E27FC236}">
                <a16:creationId xmlns:a16="http://schemas.microsoft.com/office/drawing/2014/main" id="{51EABA12-3889-40ED-92BD-CD3DE545BE89}"/>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One platform for your 26 locations</a:t>
            </a:r>
          </a:p>
        </p:txBody>
      </p:sp>
      <p:sp>
        <p:nvSpPr>
          <p:cNvPr id="2" name="text-6">
            <a:extLst xmlns:a="http://schemas.openxmlformats.org/drawingml/2006/main">
              <a:ext uri="{FF2B5EF4-FFF2-40B4-BE49-F238E27FC236}">
                <a16:creationId xmlns:a16="http://schemas.microsoft.com/office/drawing/2014/main" id="{7827B41D-FA27-4A7B-8774-30F7CE1726D7}"/>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A consistent guest experience with a local identity at every club</a:t>
            </a:r>
          </a:p>
        </p:txBody>
      </p:sp>
      <p:sp>
        <p:nvSpPr>
          <p:cNvPr id="3" name="text-7">
            <a:extLst xmlns:a="http://schemas.openxmlformats.org/drawingml/2006/main">
              <a:ext uri="{FF2B5EF4-FFF2-40B4-BE49-F238E27FC236}">
                <a16:creationId xmlns:a16="http://schemas.microsoft.com/office/drawing/2014/main" id="{FD4EABC1-735D-4041-9CA6-7CDD5EEF0365}"/>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8">
            <a:extLst xmlns:a="http://schemas.openxmlformats.org/drawingml/2006/main">
              <a:ext uri="{FF2B5EF4-FFF2-40B4-BE49-F238E27FC236}">
                <a16:creationId xmlns:a16="http://schemas.microsoft.com/office/drawing/2014/main" id="{92C333DA-B1B0-433F-8D83-FDDECA38204F}"/>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02</a:t>
            </a:r>
          </a:p>
        </p:txBody>
      </p:sp>
      <p:sp>
        <p:nvSpPr>
          <p:cNvPr id="5" name="text-9">
            <a:extLst xmlns:a="http://schemas.openxmlformats.org/drawingml/2006/main">
              <a:ext uri="{FF2B5EF4-FFF2-40B4-BE49-F238E27FC236}">
                <a16:creationId xmlns:a16="http://schemas.microsoft.com/office/drawing/2014/main" id="{37ED06E2-73F2-4AD5-B6F8-974CA821CA20}"/>
              </a:ext>
            </a:extLst>
          </p:cNvPr>
          <p:cNvSpPr>
            <a:spLocks xmlns:a="http://schemas.openxmlformats.org/drawingml/2006/main" noGrp="1"/>
          </p:cNvSpPr>
          <p:nvPr/>
        </p:nvSpPr>
        <p:spPr>
          <a:xfrm xmlns:a="http://schemas.openxmlformats.org/drawingml/2006/main">
            <a:off x="609600" y="2200275"/>
            <a:ext cx="2857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300" b="1">
                <a:solidFill>
                  <a:srgbClr val="B58BFF"/>
                </a:solidFill>
                <a:latin typeface="Arial"/>
                <a:ea typeface="Arial"/>
                <a:cs typeface="Arial"/>
              </a:defRPr>
            </a:pPr>
            <a:r>
              <a:rPr sz="12300" b="1">
                <a:solidFill>
                  <a:srgbClr val="B58BFF"/>
                </a:solidFill>
                <a:latin typeface="Arial"/>
                <a:ea typeface="Arial"/>
                <a:cs typeface="Arial"/>
              </a:rPr>
              <a:t>26</a:t>
            </a:r>
          </a:p>
        </p:txBody>
      </p:sp>
      <p:sp>
        <p:nvSpPr>
          <p:cNvPr id="6" name="text-10">
            <a:extLst xmlns:a="http://schemas.openxmlformats.org/drawingml/2006/main">
              <a:ext uri="{FF2B5EF4-FFF2-40B4-BE49-F238E27FC236}">
                <a16:creationId xmlns:a16="http://schemas.microsoft.com/office/drawing/2014/main" id="{7174BE80-8EBA-4278-8BF0-103145265887}"/>
              </a:ext>
            </a:extLst>
          </p:cNvPr>
          <p:cNvSpPr>
            <a:spLocks xmlns:a="http://schemas.openxmlformats.org/drawingml/2006/main" noGrp="1"/>
          </p:cNvSpPr>
          <p:nvPr/>
        </p:nvSpPr>
        <p:spPr>
          <a:xfrm xmlns:a="http://schemas.openxmlformats.org/drawingml/2006/main">
            <a:off x="657225" y="4029075"/>
            <a:ext cx="2705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FAF8FF"/>
                </a:solidFill>
                <a:latin typeface="Arial"/>
                <a:ea typeface="Arial"/>
                <a:cs typeface="Arial"/>
              </a:defRPr>
            </a:pPr>
            <a:r>
              <a:rPr sz="2775" b="1">
                <a:solidFill>
                  <a:srgbClr val="FAF8FF"/>
                </a:solidFill>
                <a:latin typeface="Arial"/>
                <a:ea typeface="Arial"/>
                <a:cs typeface="Arial"/>
              </a:rPr>
              <a:t>locations</a:t>
            </a:r>
          </a:p>
        </p:txBody>
      </p:sp>
      <p:sp>
        <p:nvSpPr>
          <p:cNvPr id="7" name="text-11">
            <a:extLst xmlns:a="http://schemas.openxmlformats.org/drawingml/2006/main">
              <a:ext uri="{FF2B5EF4-FFF2-40B4-BE49-F238E27FC236}">
                <a16:creationId xmlns:a16="http://schemas.microsoft.com/office/drawing/2014/main" id="{097A33FE-D0CB-46B6-9E37-D8FA0A39A8D4}"/>
              </a:ext>
            </a:extLst>
          </p:cNvPr>
          <p:cNvSpPr>
            <a:spLocks xmlns:a="http://schemas.openxmlformats.org/drawingml/2006/main" noGrp="1"/>
          </p:cNvSpPr>
          <p:nvPr/>
        </p:nvSpPr>
        <p:spPr>
          <a:xfrm xmlns:a="http://schemas.openxmlformats.org/drawingml/2006/main">
            <a:off x="666750" y="4667250"/>
            <a:ext cx="3181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One rollout playbook</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Local team accountability</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Common reporting measures</a:t>
            </a:r>
          </a:p>
        </p:txBody>
      </p:sp>
      <p:sp>
        <p:nvSpPr>
          <p:cNvPr id="8" name="text-12">
            <a:extLst xmlns:a="http://schemas.openxmlformats.org/drawingml/2006/main">
              <a:ext uri="{FF2B5EF4-FFF2-40B4-BE49-F238E27FC236}">
                <a16:creationId xmlns:a16="http://schemas.microsoft.com/office/drawing/2014/main" id="{E6BB5962-30A5-4F4C-9FF6-E6CFB8028336}"/>
              </a:ext>
            </a:extLst>
          </p:cNvPr>
          <p:cNvSpPr>
            <a:spLocks xmlns:a="http://schemas.openxmlformats.org/drawingml/2006/main" noGrp="1"/>
          </p:cNvSpPr>
          <p:nvPr/>
        </p:nvSpPr>
        <p:spPr>
          <a:xfrm xmlns:a="http://schemas.openxmlformats.org/drawingml/2006/main">
            <a:off x="4276725" y="225742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B58BFF"/>
                </a:solidFill>
                <a:latin typeface="Arial"/>
                <a:ea typeface="Arial"/>
                <a:cs typeface="Arial"/>
              </a:defRPr>
            </a:pPr>
            <a:r>
              <a:rPr sz="2175" b="1">
                <a:solidFill>
                  <a:srgbClr val="B58BFF"/>
                </a:solidFill>
                <a:latin typeface="Arial"/>
                <a:ea typeface="Arial"/>
                <a:cs typeface="Arial"/>
              </a:rPr>
              <a:t>Outside the club</a:t>
            </a:r>
          </a:p>
        </p:txBody>
      </p:sp>
      <p:sp>
        <p:nvSpPr>
          <p:cNvPr id="9" name="text-13">
            <a:extLst xmlns:a="http://schemas.openxmlformats.org/drawingml/2006/main">
              <a:ext uri="{FF2B5EF4-FFF2-40B4-BE49-F238E27FC236}">
                <a16:creationId xmlns:a16="http://schemas.microsoft.com/office/drawing/2014/main" id="{21678AC9-EDE4-46E4-8F05-866C73BB828A}"/>
              </a:ext>
            </a:extLst>
          </p:cNvPr>
          <p:cNvSpPr>
            <a:spLocks xmlns:a="http://schemas.openxmlformats.org/drawingml/2006/main" noGrp="1"/>
          </p:cNvSpPr>
          <p:nvPr/>
        </p:nvSpPr>
        <p:spPr>
          <a:xfrm xmlns:a="http://schemas.openxmlformats.org/drawingml/2006/main">
            <a:off x="4276725" y="2667000"/>
            <a:ext cx="695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FAF8FF"/>
                </a:solidFill>
                <a:latin typeface="Arial"/>
                <a:ea typeface="Arial"/>
                <a:cs typeface="Arial"/>
              </a:defRPr>
            </a:pPr>
            <a:r>
              <a:rPr sz="2025" b="0">
                <a:solidFill>
                  <a:srgbClr val="FAF8FF"/>
                </a:solidFill>
                <a:latin typeface="Arial"/>
                <a:ea typeface="Arial"/>
                <a:cs typeface="Arial"/>
              </a:rPr>
              <a:t>Help guests discover clubs and dancers,</a:t>
            </a:r>
          </a:p>
          <a:p xmlns:a="http://schemas.openxmlformats.org/drawingml/2006/main">
            <a:pPr>
              <a:defRPr sz="2025" b="0">
                <a:solidFill>
                  <a:srgbClr val="FAF8FF"/>
                </a:solidFill>
                <a:latin typeface="Arial"/>
                <a:ea typeface="Arial"/>
                <a:cs typeface="Arial"/>
              </a:defRPr>
            </a:pPr>
            <a:r>
              <a:rPr sz="2025" b="0">
                <a:solidFill>
                  <a:srgbClr val="FAF8FF"/>
                </a:solidFill>
                <a:latin typeface="Arial"/>
                <a:ea typeface="Arial"/>
                <a:cs typeface="Arial"/>
              </a:rPr>
              <a:t>see who is working, and plan a visit.</a:t>
            </a:r>
          </a:p>
        </p:txBody>
      </p:sp>
      <p:sp>
        <p:nvSpPr>
          <p:cNvPr id="10" name="text-14">
            <a:extLst xmlns:a="http://schemas.openxmlformats.org/drawingml/2006/main">
              <a:ext uri="{FF2B5EF4-FFF2-40B4-BE49-F238E27FC236}">
                <a16:creationId xmlns:a16="http://schemas.microsoft.com/office/drawing/2014/main" id="{D259D722-28A8-40F1-9CC0-50BE173B93B8}"/>
              </a:ext>
            </a:extLst>
          </p:cNvPr>
          <p:cNvSpPr>
            <a:spLocks xmlns:a="http://schemas.openxmlformats.org/drawingml/2006/main" noGrp="1"/>
          </p:cNvSpPr>
          <p:nvPr/>
        </p:nvSpPr>
        <p:spPr>
          <a:xfrm xmlns:a="http://schemas.openxmlformats.org/drawingml/2006/main">
            <a:off x="4276725" y="39147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B58BFF"/>
                </a:solidFill>
                <a:latin typeface="Arial"/>
                <a:ea typeface="Arial"/>
                <a:cs typeface="Arial"/>
              </a:defRPr>
            </a:pPr>
            <a:r>
              <a:rPr sz="2175" b="1">
                <a:solidFill>
                  <a:srgbClr val="B58BFF"/>
                </a:solidFill>
                <a:latin typeface="Arial"/>
                <a:ea typeface="Arial"/>
                <a:cs typeface="Arial"/>
              </a:rPr>
              <a:t>Inside the club</a:t>
            </a:r>
          </a:p>
        </p:txBody>
      </p:sp>
      <p:sp>
        <p:nvSpPr>
          <p:cNvPr id="11" name="text-15">
            <a:extLst xmlns:a="http://schemas.openxmlformats.org/drawingml/2006/main">
              <a:ext uri="{FF2B5EF4-FFF2-40B4-BE49-F238E27FC236}">
                <a16:creationId xmlns:a16="http://schemas.microsoft.com/office/drawing/2014/main" id="{6879EA0A-4CE6-4087-8F8E-3D3E58352DC2}"/>
              </a:ext>
            </a:extLst>
          </p:cNvPr>
          <p:cNvSpPr>
            <a:spLocks xmlns:a="http://schemas.openxmlformats.org/drawingml/2006/main" noGrp="1"/>
          </p:cNvSpPr>
          <p:nvPr/>
        </p:nvSpPr>
        <p:spPr>
          <a:xfrm xmlns:a="http://schemas.openxmlformats.org/drawingml/2006/main">
            <a:off x="4276725" y="4324350"/>
            <a:ext cx="695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FAF8FF"/>
                </a:solidFill>
                <a:latin typeface="Arial"/>
                <a:ea typeface="Arial"/>
                <a:cs typeface="Arial"/>
              </a:defRPr>
            </a:pPr>
            <a:r>
              <a:rPr sz="2025" b="0">
                <a:solidFill>
                  <a:srgbClr val="FAF8FF"/>
                </a:solidFill>
                <a:latin typeface="Arial"/>
                <a:ea typeface="Arial"/>
                <a:cs typeface="Arial"/>
              </a:rPr>
              <a:t>Let guests browse the active roster and</a:t>
            </a:r>
          </a:p>
          <a:p xmlns:a="http://schemas.openxmlformats.org/drawingml/2006/main">
            <a:pPr>
              <a:defRPr sz="2025" b="0">
                <a:solidFill>
                  <a:srgbClr val="FAF8FF"/>
                </a:solidFill>
                <a:latin typeface="Arial"/>
                <a:ea typeface="Arial"/>
                <a:cs typeface="Arial"/>
              </a:defRPr>
            </a:pPr>
            <a:r>
              <a:rPr sz="2025" b="0">
                <a:solidFill>
                  <a:srgbClr val="FAF8FF"/>
                </a:solidFill>
                <a:latin typeface="Arial"/>
                <a:ea typeface="Arial"/>
                <a:cs typeface="Arial"/>
              </a:rPr>
              <a:t>request a dancer through their table QR.</a:t>
            </a:r>
          </a:p>
        </p:txBody>
      </p:sp>
      <p:sp>
        <p:nvSpPr>
          <p:cNvPr id="12" name="text-16">
            <a:extLst xmlns:a="http://schemas.openxmlformats.org/drawingml/2006/main">
              <a:ext uri="{FF2B5EF4-FFF2-40B4-BE49-F238E27FC236}">
                <a16:creationId xmlns:a16="http://schemas.microsoft.com/office/drawing/2014/main" id="{DB3A1AF9-90D3-4831-8025-AFA2E94A517C}"/>
              </a:ext>
            </a:extLst>
          </p:cNvPr>
          <p:cNvSpPr>
            <a:spLocks xmlns:a="http://schemas.openxmlformats.org/drawingml/2006/main" noGrp="1"/>
          </p:cNvSpPr>
          <p:nvPr/>
        </p:nvSpPr>
        <p:spPr>
          <a:xfrm xmlns:a="http://schemas.openxmlformats.org/drawingml/2006/main">
            <a:off x="4276725" y="5629275"/>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B58BFF"/>
                </a:solidFill>
                <a:latin typeface="Arial"/>
                <a:ea typeface="Arial"/>
                <a:cs typeface="Arial"/>
              </a:defRPr>
            </a:pPr>
            <a:r>
              <a:rPr sz="1875" b="1">
                <a:solidFill>
                  <a:srgbClr val="B58BFF"/>
                </a:solidFill>
                <a:latin typeface="Arial"/>
                <a:ea typeface="Arial"/>
                <a:cs typeface="Arial"/>
              </a:rPr>
              <a:t>Internal and external access in every proposed tier</a:t>
            </a:r>
          </a:p>
        </p:txBody>
      </p:sp>
    </p:spTree>
    <p:extLst>
      <p:ext uri="{BB962C8B-B14F-4D97-AF65-F5344CB8AC3E}">
        <p14:creationId xmlns:p14="http://schemas.microsoft.com/office/powerpoint/2010/main" val="760490169"/>
      </p:ext>
    </p:extLst>
  </p:cSld>
</p:sld>
</file>

<file path=ppt/slides/slide3.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3" name="text-17">
            <a:extLst xmlns:a="http://schemas.openxmlformats.org/drawingml/2006/main">
              <a:ext uri="{FF2B5EF4-FFF2-40B4-BE49-F238E27FC236}">
                <a16:creationId xmlns:a16="http://schemas.microsoft.com/office/drawing/2014/main" id="{E29E1430-99B7-4DC7-A37C-3A93A11219FE}"/>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Discovery that supports a visit</a:t>
            </a:r>
          </a:p>
        </p:txBody>
      </p:sp>
      <p:sp>
        <p:nvSpPr>
          <p:cNvPr id="2" name="text-18">
            <a:extLst xmlns:a="http://schemas.openxmlformats.org/drawingml/2006/main">
              <a:ext uri="{FF2B5EF4-FFF2-40B4-BE49-F238E27FC236}">
                <a16:creationId xmlns:a16="http://schemas.microsoft.com/office/drawing/2014/main" id="{14D9D86C-EDAB-43DE-97DD-330C4AABDD1C}"/>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Profiles and live club context give guests a clear next action</a:t>
            </a:r>
          </a:p>
        </p:txBody>
      </p:sp>
      <p:sp>
        <p:nvSpPr>
          <p:cNvPr id="3" name="text-19">
            <a:extLst xmlns:a="http://schemas.openxmlformats.org/drawingml/2006/main">
              <a:ext uri="{FF2B5EF4-FFF2-40B4-BE49-F238E27FC236}">
                <a16:creationId xmlns:a16="http://schemas.microsoft.com/office/drawing/2014/main" id="{85312D0D-108B-4349-9CA8-88DEE2A92E13}"/>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20">
            <a:extLst xmlns:a="http://schemas.openxmlformats.org/drawingml/2006/main">
              <a:ext uri="{FF2B5EF4-FFF2-40B4-BE49-F238E27FC236}">
                <a16:creationId xmlns:a16="http://schemas.microsoft.com/office/drawing/2014/main" id="{67D4B533-877F-40E1-B4B5-3CFBFC7EF40A}"/>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03</a:t>
            </a:r>
          </a:p>
        </p:txBody>
      </p:sp>
      <p:sp>
        <p:nvSpPr>
          <p:cNvPr id="5" name="text-21">
            <a:extLst xmlns:a="http://schemas.openxmlformats.org/drawingml/2006/main">
              <a:ext uri="{FF2B5EF4-FFF2-40B4-BE49-F238E27FC236}">
                <a16:creationId xmlns:a16="http://schemas.microsoft.com/office/drawing/2014/main" id="{8BF181F7-DFE3-4F24-8EF3-1A5CA9F997A1}"/>
              </a:ext>
            </a:extLst>
          </p:cNvPr>
          <p:cNvSpPr>
            <a:spLocks xmlns:a="http://schemas.openxmlformats.org/drawingml/2006/main" noGrp="1"/>
          </p:cNvSpPr>
          <p:nvPr/>
        </p:nvSpPr>
        <p:spPr>
          <a:xfrm xmlns:a="http://schemas.openxmlformats.org/drawingml/2006/main">
            <a:off x="628650" y="2295525"/>
            <a:ext cx="6943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58BFF"/>
                </a:solidFill>
                <a:latin typeface="Arial"/>
                <a:ea typeface="Arial"/>
                <a:cs typeface="Arial"/>
              </a:defRPr>
            </a:pPr>
            <a:r>
              <a:rPr sz="2025" b="1">
                <a:solidFill>
                  <a:srgbClr val="B58BFF"/>
                </a:solidFill>
                <a:latin typeface="Arial"/>
                <a:ea typeface="Arial"/>
                <a:cs typeface="Arial"/>
              </a:rPr>
              <a:t>A live view of the floor</a:t>
            </a:r>
          </a:p>
        </p:txBody>
      </p:sp>
      <p:sp>
        <p:nvSpPr>
          <p:cNvPr id="6" name="text-22">
            <a:extLst xmlns:a="http://schemas.openxmlformats.org/drawingml/2006/main">
              <a:ext uri="{FF2B5EF4-FFF2-40B4-BE49-F238E27FC236}">
                <a16:creationId xmlns:a16="http://schemas.microsoft.com/office/drawing/2014/main" id="{F84D9C13-C6CD-4508-962A-1FCFB6228EFE}"/>
              </a:ext>
            </a:extLst>
          </p:cNvPr>
          <p:cNvSpPr>
            <a:spLocks xmlns:a="http://schemas.openxmlformats.org/drawingml/2006/main" noGrp="1"/>
          </p:cNvSpPr>
          <p:nvPr/>
        </p:nvSpPr>
        <p:spPr>
          <a:xfrm xmlns:a="http://schemas.openxmlformats.org/drawingml/2006/main">
            <a:off x="628650" y="2705100"/>
            <a:ext cx="69437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Club pages combine location, hours and</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Working Now dancers with approved profiles.</a:t>
            </a:r>
          </a:p>
        </p:txBody>
      </p:sp>
      <p:sp>
        <p:nvSpPr>
          <p:cNvPr id="7" name="text-23">
            <a:extLst xmlns:a="http://schemas.openxmlformats.org/drawingml/2006/main">
              <a:ext uri="{FF2B5EF4-FFF2-40B4-BE49-F238E27FC236}">
                <a16:creationId xmlns:a16="http://schemas.microsoft.com/office/drawing/2014/main" id="{D8E72C8C-F951-4738-96B0-95F4DE740FB6}"/>
              </a:ext>
            </a:extLst>
          </p:cNvPr>
          <p:cNvSpPr>
            <a:spLocks xmlns:a="http://schemas.openxmlformats.org/drawingml/2006/main" noGrp="1"/>
          </p:cNvSpPr>
          <p:nvPr/>
        </p:nvSpPr>
        <p:spPr>
          <a:xfrm xmlns:a="http://schemas.openxmlformats.org/drawingml/2006/main">
            <a:off x="628650" y="3714750"/>
            <a:ext cx="6943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58BFF"/>
                </a:solidFill>
                <a:latin typeface="Arial"/>
                <a:ea typeface="Arial"/>
                <a:cs typeface="Arial"/>
              </a:defRPr>
            </a:pPr>
            <a:r>
              <a:rPr sz="2025" b="1">
                <a:solidFill>
                  <a:srgbClr val="B58BFF"/>
                </a:solidFill>
                <a:latin typeface="Arial"/>
                <a:ea typeface="Arial"/>
                <a:cs typeface="Arial"/>
              </a:rPr>
              <a:t>Media that guests can share</a:t>
            </a:r>
          </a:p>
        </p:txBody>
      </p:sp>
      <p:sp>
        <p:nvSpPr>
          <p:cNvPr id="8" name="text-24">
            <a:extLst xmlns:a="http://schemas.openxmlformats.org/drawingml/2006/main">
              <a:ext uri="{FF2B5EF4-FFF2-40B4-BE49-F238E27FC236}">
                <a16:creationId xmlns:a16="http://schemas.microsoft.com/office/drawing/2014/main" id="{C7858C07-2D52-4692-861F-91883C6EDAE4}"/>
              </a:ext>
            </a:extLst>
          </p:cNvPr>
          <p:cNvSpPr>
            <a:spLocks xmlns:a="http://schemas.openxmlformats.org/drawingml/2006/main" noGrp="1"/>
          </p:cNvSpPr>
          <p:nvPr/>
        </p:nvSpPr>
        <p:spPr>
          <a:xfrm xmlns:a="http://schemas.openxmlformats.org/drawingml/2006/main">
            <a:off x="628650" y="4124325"/>
            <a:ext cx="69437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Photos, videos and MyDancr TV help dancers</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and clubs reach audiences beyond the venue.</a:t>
            </a:r>
          </a:p>
        </p:txBody>
      </p:sp>
      <p:sp>
        <p:nvSpPr>
          <p:cNvPr id="9" name="text-25">
            <a:extLst xmlns:a="http://schemas.openxmlformats.org/drawingml/2006/main">
              <a:ext uri="{FF2B5EF4-FFF2-40B4-BE49-F238E27FC236}">
                <a16:creationId xmlns:a16="http://schemas.microsoft.com/office/drawing/2014/main" id="{2CA46DCE-57E0-42ED-AFEE-50F5D8AD39A6}"/>
              </a:ext>
            </a:extLst>
          </p:cNvPr>
          <p:cNvSpPr>
            <a:spLocks xmlns:a="http://schemas.openxmlformats.org/drawingml/2006/main" noGrp="1"/>
          </p:cNvSpPr>
          <p:nvPr/>
        </p:nvSpPr>
        <p:spPr>
          <a:xfrm xmlns:a="http://schemas.openxmlformats.org/drawingml/2006/main">
            <a:off x="628650" y="5133975"/>
            <a:ext cx="6943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58BFF"/>
                </a:solidFill>
                <a:latin typeface="Arial"/>
                <a:ea typeface="Arial"/>
                <a:cs typeface="Arial"/>
              </a:defRPr>
            </a:pPr>
            <a:r>
              <a:rPr sz="2025" b="1">
                <a:solidFill>
                  <a:srgbClr val="B58BFF"/>
                </a:solidFill>
                <a:latin typeface="Arial"/>
                <a:ea typeface="Arial"/>
                <a:cs typeface="Arial"/>
              </a:rPr>
              <a:t>A direct path to arrival</a:t>
            </a:r>
          </a:p>
        </p:txBody>
      </p:sp>
      <p:sp>
        <p:nvSpPr>
          <p:cNvPr id="10" name="text-26">
            <a:extLst xmlns:a="http://schemas.openxmlformats.org/drawingml/2006/main">
              <a:ext uri="{FF2B5EF4-FFF2-40B4-BE49-F238E27FC236}">
                <a16:creationId xmlns:a16="http://schemas.microsoft.com/office/drawing/2014/main" id="{BF2AF8E4-73DC-42E5-8BCA-E107B6253D6A}"/>
              </a:ext>
            </a:extLst>
          </p:cNvPr>
          <p:cNvSpPr>
            <a:spLocks xmlns:a="http://schemas.openxmlformats.org/drawingml/2006/main" noGrp="1"/>
          </p:cNvSpPr>
          <p:nvPr/>
        </p:nvSpPr>
        <p:spPr>
          <a:xfrm xmlns:a="http://schemas.openxmlformats.org/drawingml/2006/main">
            <a:off x="628650" y="5543550"/>
            <a:ext cx="69437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Guests can follow, get directions, signal</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“I’m Going” and open available entry offers.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741d71f845f4278"/>
          <a:srcRect xmlns:a="http://schemas.openxmlformats.org/drawingml/2006/main" l="0" t="14707" r="0" b="14707"/>
          <a:stretch xmlns:a="http://schemas.openxmlformats.org/drawingml/2006/main">
            <a:fillRect l="0" t="0" r="0" b="0"/>
          </a:stretch>
        </p:blipFill>
        <p:spPr>
          <a:xfrm xmlns:a="http://schemas.openxmlformats.org/drawingml/2006/main">
            <a:off x="8391525" y="1828800"/>
            <a:ext cx="2647950" cy="4048125"/>
          </a:xfrm>
          <a:prstGeom xmlns:a="http://schemas.openxmlformats.org/drawingml/2006/main" prst="rect">
            <a:avLst/>
          </a:prstGeom>
        </p:spPr>
      </p:pic>
      <p:sp>
        <p:nvSpPr>
          <p:cNvPr id="12" name="text-27">
            <a:extLst xmlns:a="http://schemas.openxmlformats.org/drawingml/2006/main">
              <a:ext uri="{FF2B5EF4-FFF2-40B4-BE49-F238E27FC236}">
                <a16:creationId xmlns:a16="http://schemas.microsoft.com/office/drawing/2014/main" id="{3F3B2790-609D-48CC-B635-3C3CCF8A226A}"/>
              </a:ext>
            </a:extLst>
          </p:cNvPr>
          <p:cNvSpPr>
            <a:spLocks xmlns:a="http://schemas.openxmlformats.org/drawingml/2006/main" noGrp="1"/>
          </p:cNvSpPr>
          <p:nvPr/>
        </p:nvSpPr>
        <p:spPr>
          <a:xfrm xmlns:a="http://schemas.openxmlformats.org/drawingml/2006/main">
            <a:off x="8001000" y="601980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200" b="0">
                <a:solidFill>
                  <a:srgbClr val="96909F"/>
                </a:solidFill>
                <a:latin typeface="Arial"/>
                <a:ea typeface="Arial"/>
                <a:cs typeface="Arial"/>
              </a:defRPr>
            </a:pPr>
            <a:r>
              <a:rPr sz="1200" b="0">
                <a:solidFill>
                  <a:srgbClr val="96909F"/>
                </a:solidFill>
                <a:latin typeface="Arial"/>
                <a:ea typeface="Arial"/>
                <a:cs typeface="Arial"/>
              </a:rPr>
              <a:t>Existing demo interface</a:t>
            </a:r>
          </a:p>
          <a:p xmlns:a="http://schemas.openxmlformats.org/drawingml/2006/main">
            <a:pPr algn="ctr">
              <a:defRPr sz="1200" b="0">
                <a:solidFill>
                  <a:srgbClr val="96909F"/>
                </a:solidFill>
                <a:latin typeface="Arial"/>
                <a:ea typeface="Arial"/>
                <a:cs typeface="Arial"/>
              </a:defRPr>
            </a:pPr>
            <a:r>
              <a:rPr sz="1200" b="0">
                <a:solidFill>
                  <a:srgbClr val="96909F"/>
                </a:solidFill>
                <a:latin typeface="Arial"/>
                <a:ea typeface="Arial"/>
                <a:cs typeface="Arial"/>
              </a:rPr>
              <a:t>Fictional profile and activity</a:t>
            </a:r>
          </a:p>
        </p:txBody>
      </p:sp>
    </p:spTree>
    <p:extLst>
      <p:ext uri="{BB962C8B-B14F-4D97-AF65-F5344CB8AC3E}">
        <p14:creationId xmlns:p14="http://schemas.microsoft.com/office/powerpoint/2010/main" val="1548974046"/>
      </p:ext>
    </p:extLst>
  </p:cSld>
</p:sld>
</file>

<file path=ppt/slides/slide4.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20" name="text-28">
            <a:extLst xmlns:a="http://schemas.openxmlformats.org/drawingml/2006/main">
              <a:ext uri="{FF2B5EF4-FFF2-40B4-BE49-F238E27FC236}">
                <a16:creationId xmlns:a16="http://schemas.microsoft.com/office/drawing/2014/main" id="{63473F1A-F620-42D9-9ABF-F490E64B2602}"/>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A table scan connects guests to the floor</a:t>
            </a:r>
          </a:p>
        </p:txBody>
      </p:sp>
      <p:sp>
        <p:nvSpPr>
          <p:cNvPr id="2" name="text-29">
            <a:extLst xmlns:a="http://schemas.openxmlformats.org/drawingml/2006/main">
              <a:ext uri="{FF2B5EF4-FFF2-40B4-BE49-F238E27FC236}">
                <a16:creationId xmlns:a16="http://schemas.microsoft.com/office/drawing/2014/main" id="{9E43427C-6EC6-4BB2-AEAE-53683A6BEFB2}"/>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Guests browse the roster. Your team coordinates the request.</a:t>
            </a:r>
          </a:p>
        </p:txBody>
      </p:sp>
      <p:sp>
        <p:nvSpPr>
          <p:cNvPr id="3" name="text-30">
            <a:extLst xmlns:a="http://schemas.openxmlformats.org/drawingml/2006/main">
              <a:ext uri="{FF2B5EF4-FFF2-40B4-BE49-F238E27FC236}">
                <a16:creationId xmlns:a16="http://schemas.microsoft.com/office/drawing/2014/main" id="{DF29FAA1-4C57-4399-9D38-CDC608778E96}"/>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31">
            <a:extLst xmlns:a="http://schemas.openxmlformats.org/drawingml/2006/main">
              <a:ext uri="{FF2B5EF4-FFF2-40B4-BE49-F238E27FC236}">
                <a16:creationId xmlns:a16="http://schemas.microsoft.com/office/drawing/2014/main" id="{9E04E12C-D01C-4525-A934-7DD6C9EECA36}"/>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04</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54365eea79d42b8"/>
          <a:srcRect xmlns:a="http://schemas.openxmlformats.org/drawingml/2006/main" l="8706" t="0" r="8706" b="0"/>
          <a:stretch xmlns:a="http://schemas.openxmlformats.org/drawingml/2006/main">
            <a:fillRect l="0" t="0" r="0" b="0"/>
          </a:stretch>
        </p:blipFill>
        <p:spPr>
          <a:xfrm xmlns:a="http://schemas.openxmlformats.org/drawingml/2006/main">
            <a:off x="638175" y="1981200"/>
            <a:ext cx="3000375" cy="4067175"/>
          </a:xfrm>
          <a:prstGeom xmlns:a="http://schemas.openxmlformats.org/drawingml/2006/main" prst="rect">
            <a:avLst/>
          </a:prstGeom>
        </p:spPr>
      </p:pic>
      <p:sp>
        <p:nvSpPr>
          <p:cNvPr id="6" name="text-32">
            <a:extLst xmlns:a="http://schemas.openxmlformats.org/drawingml/2006/main">
              <a:ext uri="{FF2B5EF4-FFF2-40B4-BE49-F238E27FC236}">
                <a16:creationId xmlns:a16="http://schemas.microsoft.com/office/drawing/2014/main" id="{BCF6737B-CCE9-43A6-905F-A59946ED054C}"/>
              </a:ext>
            </a:extLst>
          </p:cNvPr>
          <p:cNvSpPr>
            <a:spLocks xmlns:a="http://schemas.openxmlformats.org/drawingml/2006/main" noGrp="1"/>
          </p:cNvSpPr>
          <p:nvPr/>
        </p:nvSpPr>
        <p:spPr>
          <a:xfrm xmlns:a="http://schemas.openxmlformats.org/drawingml/2006/main">
            <a:off x="4267200" y="212407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B58BFF"/>
                </a:solidFill>
                <a:latin typeface="Arial"/>
                <a:ea typeface="Arial"/>
                <a:cs typeface="Arial"/>
              </a:defRPr>
            </a:pPr>
            <a:r>
              <a:rPr sz="2175" b="1">
                <a:solidFill>
                  <a:srgbClr val="B58BFF"/>
                </a:solidFill>
                <a:latin typeface="Arial"/>
                <a:ea typeface="Arial"/>
                <a:cs typeface="Arial"/>
              </a:rPr>
              <a:t>01</a:t>
            </a:r>
          </a:p>
        </p:txBody>
      </p:sp>
      <p:sp>
        <p:nvSpPr>
          <p:cNvPr id="7" name="text-33">
            <a:extLst xmlns:a="http://schemas.openxmlformats.org/drawingml/2006/main">
              <a:ext uri="{FF2B5EF4-FFF2-40B4-BE49-F238E27FC236}">
                <a16:creationId xmlns:a16="http://schemas.microsoft.com/office/drawing/2014/main" id="{23107344-AF2C-449E-ACFE-547D2BA6CDFE}"/>
              </a:ext>
            </a:extLst>
          </p:cNvPr>
          <p:cNvSpPr>
            <a:spLocks xmlns:a="http://schemas.openxmlformats.org/drawingml/2006/main" noGrp="1"/>
          </p:cNvSpPr>
          <p:nvPr/>
        </p:nvSpPr>
        <p:spPr>
          <a:xfrm xmlns:a="http://schemas.openxmlformats.org/drawingml/2006/main">
            <a:off x="5076825" y="2124075"/>
            <a:ext cx="638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Scan the table QR</a:t>
            </a:r>
          </a:p>
        </p:txBody>
      </p:sp>
      <p:sp>
        <p:nvSpPr>
          <p:cNvPr id="8" name="text-34">
            <a:extLst xmlns:a="http://schemas.openxmlformats.org/drawingml/2006/main">
              <a:ext uri="{FF2B5EF4-FFF2-40B4-BE49-F238E27FC236}">
                <a16:creationId xmlns:a16="http://schemas.microsoft.com/office/drawing/2014/main" id="{78A3B79E-C49E-4F3D-88E6-54FBD53298B6}"/>
              </a:ext>
            </a:extLst>
          </p:cNvPr>
          <p:cNvSpPr>
            <a:spLocks xmlns:a="http://schemas.openxmlformats.org/drawingml/2006/main" noGrp="1"/>
          </p:cNvSpPr>
          <p:nvPr/>
        </p:nvSpPr>
        <p:spPr>
          <a:xfrm xmlns:a="http://schemas.openxmlformats.org/drawingml/2006/main">
            <a:off x="5076825" y="253365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Open that club’s roster on the guest’s phone.</a:t>
            </a:r>
          </a:p>
        </p:txBody>
      </p:sp>
      <p:sp>
        <p:nvSpPr>
          <p:cNvPr id="9" name="text-35">
            <a:extLst xmlns:a="http://schemas.openxmlformats.org/drawingml/2006/main">
              <a:ext uri="{FF2B5EF4-FFF2-40B4-BE49-F238E27FC236}">
                <a16:creationId xmlns:a16="http://schemas.microsoft.com/office/drawing/2014/main" id="{E5C2D965-70CC-412C-8F1D-113D233385A8}"/>
              </a:ext>
            </a:extLst>
          </p:cNvPr>
          <p:cNvSpPr>
            <a:spLocks xmlns:a="http://schemas.openxmlformats.org/drawingml/2006/main" noGrp="1"/>
          </p:cNvSpPr>
          <p:nvPr/>
        </p:nvSpPr>
        <p:spPr>
          <a:xfrm xmlns:a="http://schemas.openxmlformats.org/drawingml/2006/main">
            <a:off x="4267200" y="312420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B58BFF"/>
                </a:solidFill>
                <a:latin typeface="Arial"/>
                <a:ea typeface="Arial"/>
                <a:cs typeface="Arial"/>
              </a:defRPr>
            </a:pPr>
            <a:r>
              <a:rPr sz="2175" b="1">
                <a:solidFill>
                  <a:srgbClr val="B58BFF"/>
                </a:solidFill>
                <a:latin typeface="Arial"/>
                <a:ea typeface="Arial"/>
                <a:cs typeface="Arial"/>
              </a:rPr>
              <a:t>02</a:t>
            </a:r>
          </a:p>
        </p:txBody>
      </p:sp>
      <p:sp>
        <p:nvSpPr>
          <p:cNvPr id="10" name="text-36">
            <a:extLst xmlns:a="http://schemas.openxmlformats.org/drawingml/2006/main">
              <a:ext uri="{FF2B5EF4-FFF2-40B4-BE49-F238E27FC236}">
                <a16:creationId xmlns:a16="http://schemas.microsoft.com/office/drawing/2014/main" id="{2A92683C-E9C3-4BFB-B3CC-F36EA3A5E049}"/>
              </a:ext>
            </a:extLst>
          </p:cNvPr>
          <p:cNvSpPr>
            <a:spLocks xmlns:a="http://schemas.openxmlformats.org/drawingml/2006/main" noGrp="1"/>
          </p:cNvSpPr>
          <p:nvPr/>
        </p:nvSpPr>
        <p:spPr>
          <a:xfrm xmlns:a="http://schemas.openxmlformats.org/drawingml/2006/main">
            <a:off x="5076825" y="3124200"/>
            <a:ext cx="638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Choose an available dancer</a:t>
            </a:r>
          </a:p>
        </p:txBody>
      </p:sp>
      <p:sp>
        <p:nvSpPr>
          <p:cNvPr id="11" name="text-37">
            <a:extLst xmlns:a="http://schemas.openxmlformats.org/drawingml/2006/main">
              <a:ext uri="{FF2B5EF4-FFF2-40B4-BE49-F238E27FC236}">
                <a16:creationId xmlns:a16="http://schemas.microsoft.com/office/drawing/2014/main" id="{BAD1C969-4F80-4E34-91CF-5D95F8F65D90}"/>
              </a:ext>
            </a:extLst>
          </p:cNvPr>
          <p:cNvSpPr>
            <a:spLocks xmlns:a="http://schemas.openxmlformats.org/drawingml/2006/main" noGrp="1"/>
          </p:cNvSpPr>
          <p:nvPr/>
        </p:nvSpPr>
        <p:spPr>
          <a:xfrm xmlns:a="http://schemas.openxmlformats.org/drawingml/2006/main">
            <a:off x="5076825" y="3533775"/>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Browse approved photos and the full profile.</a:t>
            </a:r>
          </a:p>
        </p:txBody>
      </p:sp>
      <p:sp>
        <p:nvSpPr>
          <p:cNvPr id="12" name="text-38">
            <a:extLst xmlns:a="http://schemas.openxmlformats.org/drawingml/2006/main">
              <a:ext uri="{FF2B5EF4-FFF2-40B4-BE49-F238E27FC236}">
                <a16:creationId xmlns:a16="http://schemas.microsoft.com/office/drawing/2014/main" id="{47810073-5641-44B2-93A9-13581557AC5B}"/>
              </a:ext>
            </a:extLst>
          </p:cNvPr>
          <p:cNvSpPr>
            <a:spLocks xmlns:a="http://schemas.openxmlformats.org/drawingml/2006/main" noGrp="1"/>
          </p:cNvSpPr>
          <p:nvPr/>
        </p:nvSpPr>
        <p:spPr>
          <a:xfrm xmlns:a="http://schemas.openxmlformats.org/drawingml/2006/main">
            <a:off x="4267200" y="412432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B58BFF"/>
                </a:solidFill>
                <a:latin typeface="Arial"/>
                <a:ea typeface="Arial"/>
                <a:cs typeface="Arial"/>
              </a:defRPr>
            </a:pPr>
            <a:r>
              <a:rPr sz="2175" b="1">
                <a:solidFill>
                  <a:srgbClr val="B58BFF"/>
                </a:solidFill>
                <a:latin typeface="Arial"/>
                <a:ea typeface="Arial"/>
                <a:cs typeface="Arial"/>
              </a:rPr>
              <a:t>03</a:t>
            </a:r>
          </a:p>
        </p:txBody>
      </p:sp>
      <p:sp>
        <p:nvSpPr>
          <p:cNvPr id="13" name="text-39">
            <a:extLst xmlns:a="http://schemas.openxmlformats.org/drawingml/2006/main">
              <a:ext uri="{FF2B5EF4-FFF2-40B4-BE49-F238E27FC236}">
                <a16:creationId xmlns:a16="http://schemas.microsoft.com/office/drawing/2014/main" id="{B1CCABB5-F7F8-4507-AA43-A44123C0B716}"/>
              </a:ext>
            </a:extLst>
          </p:cNvPr>
          <p:cNvSpPr>
            <a:spLocks xmlns:a="http://schemas.openxmlformats.org/drawingml/2006/main" noGrp="1"/>
          </p:cNvSpPr>
          <p:nvPr/>
        </p:nvSpPr>
        <p:spPr>
          <a:xfrm xmlns:a="http://schemas.openxmlformats.org/drawingml/2006/main">
            <a:off x="5076825" y="4124325"/>
            <a:ext cx="638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Send a table request</a:t>
            </a:r>
          </a:p>
        </p:txBody>
      </p:sp>
      <p:sp>
        <p:nvSpPr>
          <p:cNvPr id="14" name="text-40">
            <a:extLst xmlns:a="http://schemas.openxmlformats.org/drawingml/2006/main">
              <a:ext uri="{FF2B5EF4-FFF2-40B4-BE49-F238E27FC236}">
                <a16:creationId xmlns:a16="http://schemas.microsoft.com/office/drawing/2014/main" id="{9E6FA879-BEFA-4D08-BE02-69D6C81D8C01}"/>
              </a:ext>
            </a:extLst>
          </p:cNvPr>
          <p:cNvSpPr>
            <a:spLocks xmlns:a="http://schemas.openxmlformats.org/drawingml/2006/main" noGrp="1"/>
          </p:cNvSpPr>
          <p:nvPr/>
        </p:nvSpPr>
        <p:spPr>
          <a:xfrm xmlns:a="http://schemas.openxmlformats.org/drawingml/2006/main">
            <a:off x="5076825" y="453390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Staff see the table and dancer in their inbox.</a:t>
            </a:r>
          </a:p>
        </p:txBody>
      </p:sp>
      <p:sp>
        <p:nvSpPr>
          <p:cNvPr id="15" name="text-41">
            <a:extLst xmlns:a="http://schemas.openxmlformats.org/drawingml/2006/main">
              <a:ext uri="{FF2B5EF4-FFF2-40B4-BE49-F238E27FC236}">
                <a16:creationId xmlns:a16="http://schemas.microsoft.com/office/drawing/2014/main" id="{101B43F5-FF88-4DC7-9455-35990DF1A661}"/>
              </a:ext>
            </a:extLst>
          </p:cNvPr>
          <p:cNvSpPr>
            <a:spLocks xmlns:a="http://schemas.openxmlformats.org/drawingml/2006/main" noGrp="1"/>
          </p:cNvSpPr>
          <p:nvPr/>
        </p:nvSpPr>
        <p:spPr>
          <a:xfrm xmlns:a="http://schemas.openxmlformats.org/drawingml/2006/main">
            <a:off x="4267200" y="512445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B58BFF"/>
                </a:solidFill>
                <a:latin typeface="Arial"/>
                <a:ea typeface="Arial"/>
                <a:cs typeface="Arial"/>
              </a:defRPr>
            </a:pPr>
            <a:r>
              <a:rPr sz="2175" b="1">
                <a:solidFill>
                  <a:srgbClr val="B58BFF"/>
                </a:solidFill>
                <a:latin typeface="Arial"/>
                <a:ea typeface="Arial"/>
                <a:cs typeface="Arial"/>
              </a:rPr>
              <a:t>04</a:t>
            </a:r>
          </a:p>
        </p:txBody>
      </p:sp>
      <p:sp>
        <p:nvSpPr>
          <p:cNvPr id="16" name="text-42">
            <a:extLst xmlns:a="http://schemas.openxmlformats.org/drawingml/2006/main">
              <a:ext uri="{FF2B5EF4-FFF2-40B4-BE49-F238E27FC236}">
                <a16:creationId xmlns:a16="http://schemas.microsoft.com/office/drawing/2014/main" id="{E97F95BF-B1BA-4B78-9F67-C23B681FC0B0}"/>
              </a:ext>
            </a:extLst>
          </p:cNvPr>
          <p:cNvSpPr>
            <a:spLocks xmlns:a="http://schemas.openxmlformats.org/drawingml/2006/main" noGrp="1"/>
          </p:cNvSpPr>
          <p:nvPr/>
        </p:nvSpPr>
        <p:spPr>
          <a:xfrm xmlns:a="http://schemas.openxmlformats.org/drawingml/2006/main">
            <a:off x="5076825" y="5124450"/>
            <a:ext cx="638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Coordinate through your team</a:t>
            </a:r>
          </a:p>
        </p:txBody>
      </p:sp>
      <p:sp>
        <p:nvSpPr>
          <p:cNvPr id="17" name="text-43">
            <a:extLst xmlns:a="http://schemas.openxmlformats.org/drawingml/2006/main">
              <a:ext uri="{FF2B5EF4-FFF2-40B4-BE49-F238E27FC236}">
                <a16:creationId xmlns:a16="http://schemas.microsoft.com/office/drawing/2014/main" id="{49EB3EFF-9E8E-4CDA-BA44-94E57F5DC33B}"/>
              </a:ext>
            </a:extLst>
          </p:cNvPr>
          <p:cNvSpPr>
            <a:spLocks xmlns:a="http://schemas.openxmlformats.org/drawingml/2006/main" noGrp="1"/>
          </p:cNvSpPr>
          <p:nvPr/>
        </p:nvSpPr>
        <p:spPr>
          <a:xfrm xmlns:a="http://schemas.openxmlformats.org/drawingml/2006/main">
            <a:off x="5076825" y="5534025"/>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Enable phone alerts and track request status.</a:t>
            </a:r>
          </a:p>
        </p:txBody>
      </p:sp>
      <p:sp>
        <p:nvSpPr>
          <p:cNvPr id="18" name="text-44">
            <a:extLst xmlns:a="http://schemas.openxmlformats.org/drawingml/2006/main">
              <a:ext uri="{FF2B5EF4-FFF2-40B4-BE49-F238E27FC236}">
                <a16:creationId xmlns:a16="http://schemas.microsoft.com/office/drawing/2014/main" id="{46AD1AE8-E54C-4415-82D9-B6FC8596010B}"/>
              </a:ext>
            </a:extLst>
          </p:cNvPr>
          <p:cNvSpPr>
            <a:spLocks xmlns:a="http://schemas.openxmlformats.org/drawingml/2006/main" noGrp="1"/>
          </p:cNvSpPr>
          <p:nvPr/>
        </p:nvSpPr>
        <p:spPr>
          <a:xfrm xmlns:a="http://schemas.openxmlformats.org/drawingml/2006/main">
            <a:off x="4267200" y="6076950"/>
            <a:ext cx="7219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B58BFF"/>
                </a:solidFill>
                <a:latin typeface="Arial"/>
                <a:ea typeface="Arial"/>
                <a:cs typeface="Arial"/>
              </a:defRPr>
            </a:pPr>
            <a:r>
              <a:rPr sz="1575" b="0">
                <a:solidFill>
                  <a:srgbClr val="B58BFF"/>
                </a:solidFill>
                <a:latin typeface="Arial"/>
                <a:ea typeface="Arial"/>
                <a:cs typeface="Arial"/>
              </a:rPr>
              <a:t>Dancers choose Internal, External or Both at check-in.</a:t>
            </a:r>
          </a:p>
        </p:txBody>
      </p:sp>
      <p:sp>
        <p:nvSpPr>
          <p:cNvPr id="19" name="text-45">
            <a:extLst xmlns:a="http://schemas.openxmlformats.org/drawingml/2006/main">
              <a:ext uri="{FF2B5EF4-FFF2-40B4-BE49-F238E27FC236}">
                <a16:creationId xmlns:a16="http://schemas.microsoft.com/office/drawing/2014/main" id="{2F19F79C-ED9C-4B6F-8313-A042E3FEC3B7}"/>
              </a:ext>
            </a:extLst>
          </p:cNvPr>
          <p:cNvSpPr>
            <a:spLocks xmlns:a="http://schemas.openxmlformats.org/drawingml/2006/main" noGrp="1"/>
          </p:cNvSpPr>
          <p:nvPr/>
        </p:nvSpPr>
        <p:spPr>
          <a:xfrm xmlns:a="http://schemas.openxmlformats.org/drawingml/2006/main">
            <a:off x="638175" y="6124575"/>
            <a:ext cx="304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96909F"/>
                </a:solidFill>
                <a:latin typeface="Arial"/>
                <a:ea typeface="Arial"/>
                <a:cs typeface="Arial"/>
              </a:defRPr>
            </a:pPr>
            <a:r>
              <a:rPr sz="1200" b="0">
                <a:solidFill>
                  <a:srgbClr val="96909F"/>
                </a:solidFill>
                <a:latin typeface="Arial"/>
                <a:ea typeface="Arial"/>
                <a:cs typeface="Arial"/>
              </a:rPr>
              <a:t>Existing fictional demo roster</a:t>
            </a:r>
          </a:p>
        </p:txBody>
      </p:sp>
    </p:spTree>
    <p:extLst>
      <p:ext uri="{BB962C8B-B14F-4D97-AF65-F5344CB8AC3E}">
        <p14:creationId xmlns:p14="http://schemas.microsoft.com/office/powerpoint/2010/main" val="207919610"/>
      </p:ext>
    </p:extLst>
  </p:cSld>
</p:sld>
</file>

<file path=ppt/slides/slide5.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8" name="text-46">
            <a:extLst xmlns:a="http://schemas.openxmlformats.org/drawingml/2006/main">
              <a:ext uri="{FF2B5EF4-FFF2-40B4-BE49-F238E27FC236}">
                <a16:creationId xmlns:a16="http://schemas.microsoft.com/office/drawing/2014/main" id="{E70B1FD7-7617-4881-8430-E438CA55914F}"/>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Analytics from discovery to admission</a:t>
            </a:r>
          </a:p>
        </p:txBody>
      </p:sp>
      <p:sp>
        <p:nvSpPr>
          <p:cNvPr id="2" name="text-47">
            <a:extLst xmlns:a="http://schemas.openxmlformats.org/drawingml/2006/main">
              <a:ext uri="{FF2B5EF4-FFF2-40B4-BE49-F238E27FC236}">
                <a16:creationId xmlns:a16="http://schemas.microsoft.com/office/drawing/2014/main" id="{5E691705-4E98-4C84-8DD3-2767D2317751}"/>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Existing venue reports make customer actions and their sources visible</a:t>
            </a:r>
          </a:p>
        </p:txBody>
      </p:sp>
      <p:sp>
        <p:nvSpPr>
          <p:cNvPr id="3" name="text-48">
            <a:extLst xmlns:a="http://schemas.openxmlformats.org/drawingml/2006/main">
              <a:ext uri="{FF2B5EF4-FFF2-40B4-BE49-F238E27FC236}">
                <a16:creationId xmlns:a16="http://schemas.microsoft.com/office/drawing/2014/main" id="{63CE6AF5-B6AD-4566-82E2-240601B5D4D0}"/>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49">
            <a:extLst xmlns:a="http://schemas.openxmlformats.org/drawingml/2006/main">
              <a:ext uri="{FF2B5EF4-FFF2-40B4-BE49-F238E27FC236}">
                <a16:creationId xmlns:a16="http://schemas.microsoft.com/office/drawing/2014/main" id="{4C54AB85-F834-424D-B199-10776024F55E}"/>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05</a:t>
            </a:r>
          </a:p>
        </p:txBody>
      </p:sp>
      <p:graphicFrame>
        <p:nvGraphicFramePr>
          <p:cNvPr id="12" name=""/>
          <p:cNvGraphicFramePr/>
          <p:nvPr/>
        </p:nvGraphicFramePr>
        <p:xfrm>
          <a:off xmlns:a="http://schemas.openxmlformats.org/drawingml/2006/main" x="628650" y="2114550"/>
          <a:ext xmlns:a="http://schemas.openxmlformats.org/drawingml/2006/main" cx="10953750" cy="3371850"/>
        </p:xfrm>
        <a:graphic xmlns:a="http://schemas.openxmlformats.org/drawingml/2006/main">
          <a:graphicData uri="http://schemas.openxmlformats.org/drawingml/2006/table">
            <a:tbl>
              <a:tblPr/>
              <a:tblGrid>
                <a:gridCol w="1790700"/>
                <a:gridCol w="4791075"/>
                <a:gridCol w="4371975"/>
              </a:tblGrid>
              <a:tr h="552450">
                <a:tc>
                  <a:txBody>
                    <a:bodyPr lIns="133350" tIns="76200" rIns="133350" bIns="76200">
                      <a:noAutofit/>
                    </a:bodyPr>
                    <a:lstStyle/>
                    <a:p>
                      <a:r>
                        <a:rPr sz="1650" b="1">
                          <a:solidFill>
                            <a:srgbClr val="FAF8FF"/>
                          </a:solidFill>
                          <a:latin typeface="Arial"/>
                          <a:ea typeface="Arial"/>
                          <a:cs typeface="Arial"/>
                        </a:rPr>
                        <a:t>Stage</a:t>
                      </a:r>
                    </a:p>
                  </a:txBody>
                  <a:tcPr marL="91440" marR="91440" marT="45720" marB="45720" anchor="ctr">
                    <a:solidFill>
                      <a:srgbClr val="2D1F42"/>
                    </a:solidFill>
                  </a:tcPr>
                </a:tc>
                <a:tc>
                  <a:txBody>
                    <a:bodyPr lIns="133350" tIns="76200" rIns="133350" bIns="76200">
                      <a:noAutofit/>
                    </a:bodyPr>
                    <a:lstStyle/>
                    <a:p>
                      <a:r>
                        <a:rPr sz="1650" b="1">
                          <a:solidFill>
                            <a:srgbClr val="FAF8FF"/>
                          </a:solidFill>
                          <a:latin typeface="Arial"/>
                          <a:ea typeface="Arial"/>
                          <a:cs typeface="Arial"/>
                        </a:rPr>
                        <a:t>Available measures</a:t>
                      </a:r>
                    </a:p>
                  </a:txBody>
                  <a:tcPr marL="91440" marR="91440" marT="45720" marB="45720" anchor="ctr">
                    <a:solidFill>
                      <a:srgbClr val="2D1F42"/>
                    </a:solidFill>
                  </a:tcPr>
                </a:tc>
                <a:tc>
                  <a:txBody>
                    <a:bodyPr lIns="133350" tIns="76200" rIns="133350" bIns="76200">
                      <a:noAutofit/>
                    </a:bodyPr>
                    <a:lstStyle/>
                    <a:p>
                      <a:r>
                        <a:rPr sz="1650" b="1">
                          <a:solidFill>
                            <a:srgbClr val="FAF8FF"/>
                          </a:solidFill>
                          <a:latin typeface="Arial"/>
                          <a:ea typeface="Arial"/>
                          <a:cs typeface="Arial"/>
                        </a:rPr>
                        <a:t>Management question</a:t>
                      </a:r>
                    </a:p>
                  </a:txBody>
                  <a:tcPr marL="91440" marR="91440" marT="45720" marB="45720" anchor="ctr">
                    <a:solidFill>
                      <a:srgbClr val="2D1F42"/>
                    </a:solidFill>
                  </a:tcPr>
                </a:tc>
              </a:tr>
              <a:tr h="704850">
                <a:tc>
                  <a:txBody>
                    <a:bodyPr lIns="133350" tIns="76200" rIns="133350" bIns="76200">
                      <a:noAutofit/>
                    </a:bodyPr>
                    <a:lstStyle/>
                    <a:p>
                      <a:r>
                        <a:rPr sz="1650" b="1">
                          <a:solidFill>
                            <a:srgbClr val="C6C0D3"/>
                          </a:solidFill>
                          <a:latin typeface="Arial"/>
                          <a:ea typeface="Arial"/>
                          <a:cs typeface="Arial"/>
                        </a:rPr>
                        <a:t>Reach</a:t>
                      </a:r>
                    </a:p>
                  </a:txBody>
                  <a:tcPr marL="91440" marR="91440" marT="45720" marB="45720" anchor="ctr">
                    <a:solidFill>
                      <a:srgbClr val="14101C"/>
                    </a:solidFill>
                  </a:tcPr>
                </a:tc>
                <a:tc>
                  <a:txBody>
                    <a:bodyPr lIns="133350" tIns="76200" rIns="133350" bIns="76200">
                      <a:noAutofit/>
                    </a:bodyPr>
                    <a:lstStyle/>
                    <a:p>
                      <a:r>
                        <a:rPr sz="1650" b="0">
                          <a:solidFill>
                            <a:srgbClr val="C6C0D3"/>
                          </a:solidFill>
                          <a:latin typeface="Arial"/>
                          <a:ea typeface="Arial"/>
                          <a:cs typeface="Arial"/>
                        </a:rPr>
                        <a:t>Card impressions, unique browsers,</a:t>
                      </a:r>
                    </a:p>
                    <a:p>
                      <a:r>
                        <a:rPr sz="1650" b="0">
                          <a:solidFill>
                            <a:srgbClr val="C6C0D3"/>
                          </a:solidFill>
                          <a:latin typeface="Arial"/>
                          <a:ea typeface="Arial"/>
                          <a:cs typeface="Arial"/>
                        </a:rPr>
                        <a:t>TV views and video completions</a:t>
                      </a:r>
                    </a:p>
                  </a:txBody>
                  <a:tcPr marL="91440" marR="91440" marT="45720" marB="45720" anchor="ctr">
                    <a:solidFill>
                      <a:srgbClr val="14101C"/>
                    </a:solidFill>
                  </a:tcPr>
                </a:tc>
                <a:tc>
                  <a:txBody>
                    <a:bodyPr lIns="133350" tIns="76200" rIns="133350" bIns="76200">
                      <a:noAutofit/>
                    </a:bodyPr>
                    <a:lstStyle/>
                    <a:p>
                      <a:r>
                        <a:rPr sz="1650" b="0">
                          <a:solidFill>
                            <a:srgbClr val="C6C0D3"/>
                          </a:solidFill>
                          <a:latin typeface="Arial"/>
                          <a:ea typeface="Arial"/>
                          <a:cs typeface="Arial"/>
                        </a:rPr>
                        <a:t>Which content attracts attention?</a:t>
                      </a:r>
                    </a:p>
                  </a:txBody>
                  <a:tcPr marL="91440" marR="91440" marT="45720" marB="45720" anchor="ctr">
                    <a:solidFill>
                      <a:srgbClr val="14101C"/>
                    </a:solidFill>
                  </a:tcPr>
                </a:tc>
              </a:tr>
              <a:tr h="704850">
                <a:tc>
                  <a:txBody>
                    <a:bodyPr lIns="133350" tIns="76200" rIns="133350" bIns="76200">
                      <a:noAutofit/>
                    </a:bodyPr>
                    <a:lstStyle/>
                    <a:p>
                      <a:r>
                        <a:rPr sz="1650" b="1">
                          <a:solidFill>
                            <a:srgbClr val="C6C0D3"/>
                          </a:solidFill>
                          <a:latin typeface="Arial"/>
                          <a:ea typeface="Arial"/>
                          <a:cs typeface="Arial"/>
                        </a:rPr>
                        <a:t>Intent</a:t>
                      </a:r>
                    </a:p>
                  </a:txBody>
                  <a:tcPr marL="91440" marR="91440" marT="45720" marB="45720" anchor="ctr">
                    <a:solidFill>
                      <a:srgbClr val="14101C"/>
                    </a:solidFill>
                  </a:tcPr>
                </a:tc>
                <a:tc>
                  <a:txBody>
                    <a:bodyPr lIns="133350" tIns="76200" rIns="133350" bIns="76200">
                      <a:noAutofit/>
                    </a:bodyPr>
                    <a:lstStyle/>
                    <a:p>
                      <a:r>
                        <a:rPr sz="1650" b="0">
                          <a:solidFill>
                            <a:srgbClr val="C6C0D3"/>
                          </a:solidFill>
                          <a:latin typeface="Arial"/>
                          <a:ea typeface="Arial"/>
                          <a:cs typeface="Arial"/>
                        </a:rPr>
                        <a:t>Directions, planned visits,</a:t>
                      </a:r>
                    </a:p>
                    <a:p>
                      <a:r>
                        <a:rPr sz="1650" b="0">
                          <a:solidFill>
                            <a:srgbClr val="C6C0D3"/>
                          </a:solidFill>
                          <a:latin typeface="Arial"/>
                          <a:ea typeface="Arial"/>
                          <a:cs typeface="Arial"/>
                        </a:rPr>
                        <a:t>offer clicks and pass claims</a:t>
                      </a:r>
                    </a:p>
                  </a:txBody>
                  <a:tcPr marL="91440" marR="91440" marT="45720" marB="45720" anchor="ctr">
                    <a:solidFill>
                      <a:srgbClr val="14101C"/>
                    </a:solidFill>
                  </a:tcPr>
                </a:tc>
                <a:tc>
                  <a:txBody>
                    <a:bodyPr lIns="133350" tIns="76200" rIns="133350" bIns="76200">
                      <a:noAutofit/>
                    </a:bodyPr>
                    <a:lstStyle/>
                    <a:p>
                      <a:r>
                        <a:rPr sz="1650" b="0">
                          <a:solidFill>
                            <a:srgbClr val="C6C0D3"/>
                          </a:solidFill>
                          <a:latin typeface="Arial"/>
                          <a:ea typeface="Arial"/>
                          <a:cs typeface="Arial"/>
                        </a:rPr>
                        <a:t>Where does interest become action?</a:t>
                      </a:r>
                    </a:p>
                  </a:txBody>
                  <a:tcPr marL="91440" marR="91440" marT="45720" marB="45720" anchor="ctr">
                    <a:solidFill>
                      <a:srgbClr val="14101C"/>
                    </a:solidFill>
                  </a:tcPr>
                </a:tc>
              </a:tr>
              <a:tr h="704850">
                <a:tc>
                  <a:txBody>
                    <a:bodyPr lIns="133350" tIns="76200" rIns="133350" bIns="76200">
                      <a:noAutofit/>
                    </a:bodyPr>
                    <a:lstStyle/>
                    <a:p>
                      <a:r>
                        <a:rPr sz="1650" b="1">
                          <a:solidFill>
                            <a:srgbClr val="C6C0D3"/>
                          </a:solidFill>
                          <a:latin typeface="Arial"/>
                          <a:ea typeface="Arial"/>
                          <a:cs typeface="Arial"/>
                        </a:rPr>
                        <a:t>Confirmed use</a:t>
                      </a:r>
                    </a:p>
                  </a:txBody>
                  <a:tcPr marL="91440" marR="91440" marT="45720" marB="45720" anchor="ctr">
                    <a:solidFill>
                      <a:srgbClr val="14101C"/>
                    </a:solidFill>
                  </a:tcPr>
                </a:tc>
                <a:tc>
                  <a:txBody>
                    <a:bodyPr lIns="133350" tIns="76200" rIns="133350" bIns="76200">
                      <a:noAutofit/>
                    </a:bodyPr>
                    <a:lstStyle/>
                    <a:p>
                      <a:r>
                        <a:rPr sz="1650" b="0">
                          <a:solidFill>
                            <a:srgbClr val="C6C0D3"/>
                          </a:solidFill>
                          <a:latin typeface="Arial"/>
                          <a:ea typeface="Arial"/>
                          <a:cs typeface="Arial"/>
                        </a:rPr>
                        <a:t>Redeemed entry passes and</a:t>
                      </a:r>
                    </a:p>
                    <a:p>
                      <a:r>
                        <a:rPr sz="1650" b="0">
                          <a:solidFill>
                            <a:srgbClr val="C6C0D3"/>
                          </a:solidFill>
                          <a:latin typeface="Arial"/>
                          <a:ea typeface="Arial"/>
                          <a:cs typeface="Arial"/>
                        </a:rPr>
                        <a:t>claim-cohort conversion</a:t>
                      </a:r>
                    </a:p>
                  </a:txBody>
                  <a:tcPr marL="91440" marR="91440" marT="45720" marB="45720" anchor="ctr">
                    <a:solidFill>
                      <a:srgbClr val="14101C"/>
                    </a:solidFill>
                  </a:tcPr>
                </a:tc>
                <a:tc>
                  <a:txBody>
                    <a:bodyPr lIns="133350" tIns="76200" rIns="133350" bIns="76200">
                      <a:noAutofit/>
                    </a:bodyPr>
                    <a:lstStyle/>
                    <a:p>
                      <a:r>
                        <a:rPr sz="1650" b="0">
                          <a:solidFill>
                            <a:srgbClr val="C6C0D3"/>
                          </a:solidFill>
                          <a:latin typeface="Arial"/>
                          <a:ea typeface="Arial"/>
                          <a:cs typeface="Arial"/>
                        </a:rPr>
                        <a:t>Which offers produce confirmed uses?</a:t>
                      </a:r>
                    </a:p>
                  </a:txBody>
                  <a:tcPr marL="91440" marR="91440" marT="45720" marB="45720" anchor="ctr">
                    <a:solidFill>
                      <a:srgbClr val="14101C"/>
                    </a:solidFill>
                  </a:tcPr>
                </a:tc>
              </a:tr>
              <a:tr h="704850">
                <a:tc>
                  <a:txBody>
                    <a:bodyPr lIns="133350" tIns="76200" rIns="133350" bIns="76200">
                      <a:noAutofit/>
                    </a:bodyPr>
                    <a:lstStyle/>
                    <a:p>
                      <a:r>
                        <a:rPr sz="1650" b="1">
                          <a:solidFill>
                            <a:srgbClr val="C6C0D3"/>
                          </a:solidFill>
                          <a:latin typeface="Arial"/>
                          <a:ea typeface="Arial"/>
                          <a:cs typeface="Arial"/>
                        </a:rPr>
                        <a:t>Attribution</a:t>
                      </a:r>
                    </a:p>
                  </a:txBody>
                  <a:tcPr marL="91440" marR="91440" marT="45720" marB="45720" anchor="ctr">
                    <a:solidFill>
                      <a:srgbClr val="14101C"/>
                    </a:solidFill>
                  </a:tcPr>
                </a:tc>
                <a:tc>
                  <a:txBody>
                    <a:bodyPr lIns="133350" tIns="76200" rIns="133350" bIns="76200">
                      <a:noAutofit/>
                    </a:bodyPr>
                    <a:lstStyle/>
                    <a:p>
                      <a:r>
                        <a:rPr sz="1650" b="0">
                          <a:solidFill>
                            <a:srgbClr val="C6C0D3"/>
                          </a:solidFill>
                          <a:latin typeface="Arial"/>
                          <a:ea typeface="Arial"/>
                          <a:cs typeface="Arial"/>
                        </a:rPr>
                        <a:t>Club cards, club pages, dancer</a:t>
                      </a:r>
                    </a:p>
                    <a:p>
                      <a:r>
                        <a:rPr sz="1650" b="0">
                          <a:solidFill>
                            <a:srgbClr val="C6C0D3"/>
                          </a:solidFill>
                          <a:latin typeface="Arial"/>
                          <a:ea typeface="Arial"/>
                          <a:cs typeface="Arial"/>
                        </a:rPr>
                        <a:t>profiles and eligible TV activity</a:t>
                      </a:r>
                    </a:p>
                  </a:txBody>
                  <a:tcPr marL="91440" marR="91440" marT="45720" marB="45720" anchor="ctr">
                    <a:solidFill>
                      <a:srgbClr val="14101C"/>
                    </a:solidFill>
                  </a:tcPr>
                </a:tc>
                <a:tc>
                  <a:txBody>
                    <a:bodyPr lIns="133350" tIns="76200" rIns="133350" bIns="76200">
                      <a:noAutofit/>
                    </a:bodyPr>
                    <a:lstStyle/>
                    <a:p>
                      <a:r>
                        <a:rPr sz="1650" b="0">
                          <a:solidFill>
                            <a:srgbClr val="C6C0D3"/>
                          </a:solidFill>
                          <a:latin typeface="Arial"/>
                          <a:ea typeface="Arial"/>
                          <a:cs typeface="Arial"/>
                        </a:rPr>
                        <a:t>Which source deserves more focus?</a:t>
                      </a:r>
                    </a:p>
                  </a:txBody>
                  <a:tcPr marL="91440" marR="91440" marT="45720" marB="45720" anchor="ctr">
                    <a:solidFill>
                      <a:srgbClr val="14101C"/>
                    </a:solidFill>
                  </a:tcPr>
                </a:tc>
              </a:tr>
            </a:tbl>
          </a:graphicData>
        </a:graphic>
      </p:graphicFrame>
      <p:sp>
        <p:nvSpPr>
          <p:cNvPr id="6" name="text-50">
            <a:extLst xmlns:a="http://schemas.openxmlformats.org/drawingml/2006/main">
              <a:ext uri="{FF2B5EF4-FFF2-40B4-BE49-F238E27FC236}">
                <a16:creationId xmlns:a16="http://schemas.microsoft.com/office/drawing/2014/main" id="{F0506290-701D-49C3-A9FF-F794AB2A82FC}"/>
              </a:ext>
            </a:extLst>
          </p:cNvPr>
          <p:cNvSpPr>
            <a:spLocks xmlns:a="http://schemas.openxmlformats.org/drawingml/2006/main" noGrp="1"/>
          </p:cNvSpPr>
          <p:nvPr/>
        </p:nvSpPr>
        <p:spPr>
          <a:xfrm xmlns:a="http://schemas.openxmlformats.org/drawingml/2006/main">
            <a:off x="628650" y="5676900"/>
            <a:ext cx="1095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B58BFF"/>
                </a:solidFill>
                <a:latin typeface="Arial"/>
                <a:ea typeface="Arial"/>
                <a:cs typeface="Arial"/>
              </a:defRPr>
            </a:pPr>
            <a:r>
              <a:rPr sz="1725" b="1">
                <a:solidFill>
                  <a:srgbClr val="B58BFF"/>
                </a:solidFill>
                <a:latin typeface="Arial"/>
                <a:ea typeface="Arial"/>
                <a:cs typeface="Arial"/>
              </a:rPr>
              <a:t>Proposed corporate scorecard: common periods and definitions across all 26 clubs.</a:t>
            </a:r>
          </a:p>
        </p:txBody>
      </p:sp>
      <p:sp>
        <p:nvSpPr>
          <p:cNvPr id="7" name="text-51">
            <a:extLst xmlns:a="http://schemas.openxmlformats.org/drawingml/2006/main">
              <a:ext uri="{FF2B5EF4-FFF2-40B4-BE49-F238E27FC236}">
                <a16:creationId xmlns:a16="http://schemas.microsoft.com/office/drawing/2014/main" id="{5BF03D06-76D0-4827-BFCA-34060BC0637A}"/>
              </a:ext>
            </a:extLst>
          </p:cNvPr>
          <p:cNvSpPr>
            <a:spLocks xmlns:a="http://schemas.openxmlformats.org/drawingml/2006/main" noGrp="1"/>
          </p:cNvSpPr>
          <p:nvPr/>
        </p:nvSpPr>
        <p:spPr>
          <a:xfrm xmlns:a="http://schemas.openxmlformats.org/drawingml/2006/main">
            <a:off x="628650" y="6048375"/>
            <a:ext cx="1095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C6C0D3"/>
                </a:solidFill>
                <a:latin typeface="Arial"/>
                <a:ea typeface="Arial"/>
                <a:cs typeface="Arial"/>
              </a:defRPr>
            </a:pPr>
            <a:r>
              <a:rPr sz="1275" b="0">
                <a:solidFill>
                  <a:srgbClr val="C6C0D3"/>
                </a:solidFill>
                <a:latin typeface="Arial"/>
                <a:ea typeface="Arial"/>
                <a:cs typeface="Arial"/>
              </a:rPr>
              <a:t>A pass use confirms redemption. New-visitor lift requires a baseline and club records.</a:t>
            </a:r>
          </a:p>
          <a:p xmlns:a="http://schemas.openxmlformats.org/drawingml/2006/main">
            <a:pPr>
              <a:defRPr sz="1275" b="0">
                <a:solidFill>
                  <a:srgbClr val="C6C0D3"/>
                </a:solidFill>
                <a:latin typeface="Arial"/>
                <a:ea typeface="Arial"/>
                <a:cs typeface="Arial"/>
              </a:defRPr>
            </a:pPr>
            <a:r>
              <a:rPr sz="1275" b="0">
                <a:solidFill>
                  <a:srgbClr val="C6C0D3"/>
                </a:solidFill>
                <a:latin typeface="Arial"/>
                <a:ea typeface="Arial"/>
                <a:cs typeface="Arial"/>
              </a:rPr>
              <a:t>Corporate consolidation and subscription-cost inputs are implementation scope.</a:t>
            </a:r>
          </a:p>
        </p:txBody>
      </p:sp>
    </p:spTree>
    <p:extLst>
      <p:ext uri="{BB962C8B-B14F-4D97-AF65-F5344CB8AC3E}">
        <p14:creationId xmlns:p14="http://schemas.microsoft.com/office/powerpoint/2010/main" val="919495373"/>
      </p:ext>
    </p:extLst>
  </p:cSld>
</p:sld>
</file>

<file path=ppt/slides/slide6.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4" name="text-52">
            <a:extLst xmlns:a="http://schemas.openxmlformats.org/drawingml/2006/main">
              <a:ext uri="{FF2B5EF4-FFF2-40B4-BE49-F238E27FC236}">
                <a16:creationId xmlns:a16="http://schemas.microsoft.com/office/drawing/2014/main" id="{20A26841-C158-4E8C-864E-45CED10A231D}"/>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Illustrative economics for 26 locations</a:t>
            </a:r>
          </a:p>
        </p:txBody>
      </p:sp>
      <p:sp>
        <p:nvSpPr>
          <p:cNvPr id="2" name="text-53">
            <a:extLst xmlns:a="http://schemas.openxmlformats.org/drawingml/2006/main">
              <a:ext uri="{FF2B5EF4-FFF2-40B4-BE49-F238E27FC236}">
                <a16:creationId xmlns:a16="http://schemas.microsoft.com/office/drawing/2014/main" id="{A5C4A6FD-A790-4D23-A389-4884354485B6}"/>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Both internal and external access included in the modeled subscription</a:t>
            </a:r>
          </a:p>
        </p:txBody>
      </p:sp>
      <p:sp>
        <p:nvSpPr>
          <p:cNvPr id="3" name="text-54">
            <a:extLst xmlns:a="http://schemas.openxmlformats.org/drawingml/2006/main">
              <a:ext uri="{FF2B5EF4-FFF2-40B4-BE49-F238E27FC236}">
                <a16:creationId xmlns:a16="http://schemas.microsoft.com/office/drawing/2014/main" id="{9B537940-BC4D-48C6-AF50-1B6DB8F4EDB8}"/>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55">
            <a:extLst xmlns:a="http://schemas.openxmlformats.org/drawingml/2006/main">
              <a:ext uri="{FF2B5EF4-FFF2-40B4-BE49-F238E27FC236}">
                <a16:creationId xmlns:a16="http://schemas.microsoft.com/office/drawing/2014/main" id="{A27F5C52-5493-488F-B2E6-797FA9CED09B}"/>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06</a:t>
            </a:r>
          </a:p>
        </p:txBody>
      </p:sp>
      <p:sp>
        <p:nvSpPr>
          <p:cNvPr id="5" name="text-56">
            <a:extLst xmlns:a="http://schemas.openxmlformats.org/drawingml/2006/main">
              <a:ext uri="{FF2B5EF4-FFF2-40B4-BE49-F238E27FC236}">
                <a16:creationId xmlns:a16="http://schemas.microsoft.com/office/drawing/2014/main" id="{673B2BE5-4D27-47F8-872E-3ACEB789010C}"/>
              </a:ext>
            </a:extLst>
          </p:cNvPr>
          <p:cNvSpPr>
            <a:spLocks xmlns:a="http://schemas.openxmlformats.org/drawingml/2006/main" noGrp="1"/>
          </p:cNvSpPr>
          <p:nvPr/>
        </p:nvSpPr>
        <p:spPr>
          <a:xfrm xmlns:a="http://schemas.openxmlformats.org/drawingml/2006/main">
            <a:off x="628650" y="21336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125" b="1">
                <a:solidFill>
                  <a:srgbClr val="B58BFF"/>
                </a:solidFill>
                <a:latin typeface="Arial"/>
                <a:ea typeface="Arial"/>
                <a:cs typeface="Arial"/>
              </a:defRPr>
            </a:pPr>
            <a:r>
              <a:rPr sz="4125" b="1">
                <a:solidFill>
                  <a:srgbClr val="B58BFF"/>
                </a:solidFill>
                <a:latin typeface="Arial"/>
                <a:ea typeface="Arial"/>
                <a:cs typeface="Arial"/>
              </a:rPr>
              <a:t>$500</a:t>
            </a:r>
          </a:p>
        </p:txBody>
      </p:sp>
      <p:sp>
        <p:nvSpPr>
          <p:cNvPr id="6" name="text-57">
            <a:extLst xmlns:a="http://schemas.openxmlformats.org/drawingml/2006/main">
              <a:ext uri="{FF2B5EF4-FFF2-40B4-BE49-F238E27FC236}">
                <a16:creationId xmlns:a16="http://schemas.microsoft.com/office/drawing/2014/main" id="{1B2648A6-CC00-4A67-BBB5-57E5635147E6}"/>
              </a:ext>
            </a:extLst>
          </p:cNvPr>
          <p:cNvSpPr>
            <a:spLocks xmlns:a="http://schemas.openxmlformats.org/drawingml/2006/main" noGrp="1"/>
          </p:cNvSpPr>
          <p:nvPr/>
        </p:nvSpPr>
        <p:spPr>
          <a:xfrm xmlns:a="http://schemas.openxmlformats.org/drawingml/2006/main">
            <a:off x="628650" y="280035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Per club / month</a:t>
            </a:r>
          </a:p>
        </p:txBody>
      </p:sp>
      <p:sp>
        <p:nvSpPr>
          <p:cNvPr id="7" name="text-58">
            <a:extLst xmlns:a="http://schemas.openxmlformats.org/drawingml/2006/main">
              <a:ext uri="{FF2B5EF4-FFF2-40B4-BE49-F238E27FC236}">
                <a16:creationId xmlns:a16="http://schemas.microsoft.com/office/drawing/2014/main" id="{E58E8C35-DB01-4DDD-A40A-DEA8B15EE492}"/>
              </a:ext>
            </a:extLst>
          </p:cNvPr>
          <p:cNvSpPr>
            <a:spLocks xmlns:a="http://schemas.openxmlformats.org/drawingml/2006/main" noGrp="1"/>
          </p:cNvSpPr>
          <p:nvPr/>
        </p:nvSpPr>
        <p:spPr>
          <a:xfrm xmlns:a="http://schemas.openxmlformats.org/drawingml/2006/main">
            <a:off x="4371975" y="21336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125" b="1">
                <a:solidFill>
                  <a:srgbClr val="B58BFF"/>
                </a:solidFill>
                <a:latin typeface="Arial"/>
                <a:ea typeface="Arial"/>
                <a:cs typeface="Arial"/>
              </a:defRPr>
            </a:pPr>
            <a:r>
              <a:rPr sz="4125" b="1">
                <a:solidFill>
                  <a:srgbClr val="B58BFF"/>
                </a:solidFill>
                <a:latin typeface="Arial"/>
                <a:ea typeface="Arial"/>
                <a:cs typeface="Arial"/>
              </a:rPr>
              <a:t>$13,000</a:t>
            </a:r>
          </a:p>
        </p:txBody>
      </p:sp>
      <p:sp>
        <p:nvSpPr>
          <p:cNvPr id="8" name="text-59">
            <a:extLst xmlns:a="http://schemas.openxmlformats.org/drawingml/2006/main">
              <a:ext uri="{FF2B5EF4-FFF2-40B4-BE49-F238E27FC236}">
                <a16:creationId xmlns:a16="http://schemas.microsoft.com/office/drawing/2014/main" id="{406C8DB3-0FE8-454B-9D81-675CE4478F9C}"/>
              </a:ext>
            </a:extLst>
          </p:cNvPr>
          <p:cNvSpPr>
            <a:spLocks xmlns:a="http://schemas.openxmlformats.org/drawingml/2006/main" noGrp="1"/>
          </p:cNvSpPr>
          <p:nvPr/>
        </p:nvSpPr>
        <p:spPr>
          <a:xfrm xmlns:a="http://schemas.openxmlformats.org/drawingml/2006/main">
            <a:off x="4371975" y="280035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Group / month</a:t>
            </a:r>
          </a:p>
        </p:txBody>
      </p:sp>
      <p:sp>
        <p:nvSpPr>
          <p:cNvPr id="9" name="text-60">
            <a:extLst xmlns:a="http://schemas.openxmlformats.org/drawingml/2006/main">
              <a:ext uri="{FF2B5EF4-FFF2-40B4-BE49-F238E27FC236}">
                <a16:creationId xmlns:a16="http://schemas.microsoft.com/office/drawing/2014/main" id="{143ED961-BA2C-4FC2-BFCF-2606E61312F5}"/>
              </a:ext>
            </a:extLst>
          </p:cNvPr>
          <p:cNvSpPr>
            <a:spLocks xmlns:a="http://schemas.openxmlformats.org/drawingml/2006/main" noGrp="1"/>
          </p:cNvSpPr>
          <p:nvPr/>
        </p:nvSpPr>
        <p:spPr>
          <a:xfrm xmlns:a="http://schemas.openxmlformats.org/drawingml/2006/main">
            <a:off x="8115300" y="21336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125" b="1">
                <a:solidFill>
                  <a:srgbClr val="B58BFF"/>
                </a:solidFill>
                <a:latin typeface="Arial"/>
                <a:ea typeface="Arial"/>
                <a:cs typeface="Arial"/>
              </a:defRPr>
            </a:pPr>
            <a:r>
              <a:rPr sz="4125" b="1">
                <a:solidFill>
                  <a:srgbClr val="B58BFF"/>
                </a:solidFill>
                <a:latin typeface="Arial"/>
                <a:ea typeface="Arial"/>
                <a:cs typeface="Arial"/>
              </a:rPr>
              <a:t>$156,000</a:t>
            </a:r>
          </a:p>
        </p:txBody>
      </p:sp>
      <p:sp>
        <p:nvSpPr>
          <p:cNvPr id="10" name="text-61">
            <a:extLst xmlns:a="http://schemas.openxmlformats.org/drawingml/2006/main">
              <a:ext uri="{FF2B5EF4-FFF2-40B4-BE49-F238E27FC236}">
                <a16:creationId xmlns:a16="http://schemas.microsoft.com/office/drawing/2014/main" id="{95F6E9CC-1AEE-4986-AD6E-16F2063B9B55}"/>
              </a:ext>
            </a:extLst>
          </p:cNvPr>
          <p:cNvSpPr>
            <a:spLocks xmlns:a="http://schemas.openxmlformats.org/drawingml/2006/main" noGrp="1"/>
          </p:cNvSpPr>
          <p:nvPr/>
        </p:nvSpPr>
        <p:spPr>
          <a:xfrm xmlns:a="http://schemas.openxmlformats.org/drawingml/2006/main">
            <a:off x="8115300" y="280035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Group / year</a:t>
            </a:r>
          </a:p>
        </p:txBody>
      </p:sp>
      <p:sp>
        <p:nvSpPr>
          <p:cNvPr id="11" name="text-62">
            <a:extLst xmlns:a="http://schemas.openxmlformats.org/drawingml/2006/main">
              <a:ext uri="{FF2B5EF4-FFF2-40B4-BE49-F238E27FC236}">
                <a16:creationId xmlns:a16="http://schemas.microsoft.com/office/drawing/2014/main" id="{EFAB282C-5232-4F7E-BCD0-19C1B86EFAD0}"/>
              </a:ext>
            </a:extLst>
          </p:cNvPr>
          <p:cNvSpPr>
            <a:spLocks xmlns:a="http://schemas.openxmlformats.org/drawingml/2006/main" noGrp="1"/>
          </p:cNvSpPr>
          <p:nvPr/>
        </p:nvSpPr>
        <p:spPr>
          <a:xfrm xmlns:a="http://schemas.openxmlformats.org/drawingml/2006/main">
            <a:off x="628650" y="3333750"/>
            <a:ext cx="1093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FAF8FF"/>
                </a:solidFill>
                <a:latin typeface="Arial"/>
                <a:ea typeface="Arial"/>
                <a:cs typeface="Arial"/>
              </a:defRPr>
            </a:pPr>
            <a:r>
              <a:rPr sz="1875" b="1">
                <a:solidFill>
                  <a:srgbClr val="FAF8FF"/>
                </a:solidFill>
                <a:latin typeface="Arial"/>
                <a:ea typeface="Arial"/>
                <a:cs typeface="Arial"/>
              </a:rPr>
              <a:t>Assumption: $50 contribution per additional visit after incremental costs</a:t>
            </a:r>
          </a:p>
        </p:txBody>
      </p:sp>
      <p:graphicFrame>
        <p:nvGraphicFramePr>
          <p:cNvPr id="25" name=""/>
          <p:cNvGraphicFramePr/>
          <p:nvPr/>
        </p:nvGraphicFramePr>
        <p:xfrm>
          <a:off xmlns:a="http://schemas.openxmlformats.org/drawingml/2006/main" x="628650" y="3857625"/>
          <a:ext xmlns:a="http://schemas.openxmlformats.org/drawingml/2006/main" cx="10953750" cy="1895475"/>
        </p:xfrm>
        <a:graphic xmlns:a="http://schemas.openxmlformats.org/drawingml/2006/main">
          <a:graphicData uri="http://schemas.openxmlformats.org/drawingml/2006/table">
            <a:tbl>
              <a:tblPr/>
              <a:tblGrid>
                <a:gridCol w="1971675"/>
                <a:gridCol w="2047875"/>
                <a:gridCol w="2571750"/>
                <a:gridCol w="2324100"/>
                <a:gridCol w="2038350"/>
              </a:tblGrid>
              <a:tr h="609600">
                <a:tc>
                  <a:txBody>
                    <a:bodyPr lIns="133350" tIns="76200" rIns="133350" bIns="76200">
                      <a:noAutofit/>
                    </a:bodyPr>
                    <a:lstStyle/>
                    <a:p>
                      <a:r>
                        <a:rPr sz="1500" b="1">
                          <a:solidFill>
                            <a:srgbClr val="FAF8FF"/>
                          </a:solidFill>
                          <a:latin typeface="Arial"/>
                          <a:ea typeface="Arial"/>
                          <a:cs typeface="Arial"/>
                        </a:rPr>
                        <a:t>Extra visits</a:t>
                      </a:r>
                    </a:p>
                    <a:p>
                      <a:r>
                        <a:rPr sz="1500" b="1">
                          <a:solidFill>
                            <a:srgbClr val="FAF8FF"/>
                          </a:solidFill>
                          <a:latin typeface="Arial"/>
                          <a:ea typeface="Arial"/>
                          <a:cs typeface="Arial"/>
                        </a:rPr>
                        <a:t>per club/month</a:t>
                      </a:r>
                    </a:p>
                  </a:txBody>
                  <a:tcPr marL="91440" marR="91440" marT="45720" marB="45720" anchor="ctr">
                    <a:solidFill>
                      <a:srgbClr val="2D1F42"/>
                    </a:solidFill>
                  </a:tcPr>
                </a:tc>
                <a:tc>
                  <a:txBody>
                    <a:bodyPr lIns="133350" tIns="76200" rIns="133350" bIns="76200">
                      <a:noAutofit/>
                    </a:bodyPr>
                    <a:lstStyle/>
                    <a:p>
                      <a:r>
                        <a:rPr sz="1500" b="1">
                          <a:solidFill>
                            <a:srgbClr val="FAF8FF"/>
                          </a:solidFill>
                          <a:latin typeface="Arial"/>
                          <a:ea typeface="Arial"/>
                          <a:cs typeface="Arial"/>
                        </a:rPr>
                        <a:t>Extra visits</a:t>
                      </a:r>
                    </a:p>
                    <a:p>
                      <a:r>
                        <a:rPr sz="1500" b="1">
                          <a:solidFill>
                            <a:srgbClr val="FAF8FF"/>
                          </a:solidFill>
                          <a:latin typeface="Arial"/>
                          <a:ea typeface="Arial"/>
                          <a:cs typeface="Arial"/>
                        </a:rPr>
                        <a:t>across 26 clubs</a:t>
                      </a:r>
                    </a:p>
                  </a:txBody>
                  <a:tcPr marL="91440" marR="91440" marT="45720" marB="45720" anchor="ctr">
                    <a:solidFill>
                      <a:srgbClr val="2D1F42"/>
                    </a:solidFill>
                  </a:tcPr>
                </a:tc>
                <a:tc>
                  <a:txBody>
                    <a:bodyPr lIns="133350" tIns="76200" rIns="133350" bIns="76200">
                      <a:noAutofit/>
                    </a:bodyPr>
                    <a:lstStyle/>
                    <a:p>
                      <a:r>
                        <a:rPr sz="1500" b="1">
                          <a:solidFill>
                            <a:srgbClr val="FAF8FF"/>
                          </a:solidFill>
                          <a:latin typeface="Arial"/>
                          <a:ea typeface="Arial"/>
                          <a:cs typeface="Arial"/>
                        </a:rPr>
                        <a:t>Contribution</a:t>
                      </a:r>
                    </a:p>
                    <a:p>
                      <a:r>
                        <a:rPr sz="1500" b="1">
                          <a:solidFill>
                            <a:srgbClr val="FAF8FF"/>
                          </a:solidFill>
                          <a:latin typeface="Arial"/>
                          <a:ea typeface="Arial"/>
                          <a:cs typeface="Arial"/>
                        </a:rPr>
                        <a:t>before subscription</a:t>
                      </a:r>
                    </a:p>
                  </a:txBody>
                  <a:tcPr marL="91440" marR="91440" marT="45720" marB="45720" anchor="ctr">
                    <a:solidFill>
                      <a:srgbClr val="2D1F42"/>
                    </a:solidFill>
                  </a:tcPr>
                </a:tc>
                <a:tc>
                  <a:txBody>
                    <a:bodyPr lIns="133350" tIns="76200" rIns="133350" bIns="76200">
                      <a:noAutofit/>
                    </a:bodyPr>
                    <a:lstStyle/>
                    <a:p>
                      <a:r>
                        <a:rPr sz="1500" b="1">
                          <a:solidFill>
                            <a:srgbClr val="FAF8FF"/>
                          </a:solidFill>
                          <a:latin typeface="Arial"/>
                          <a:ea typeface="Arial"/>
                          <a:cs typeface="Arial"/>
                        </a:rPr>
                        <a:t>Net after</a:t>
                      </a:r>
                    </a:p>
                    <a:p>
                      <a:r>
                        <a:rPr sz="1500" b="1">
                          <a:solidFill>
                            <a:srgbClr val="FAF8FF"/>
                          </a:solidFill>
                          <a:latin typeface="Arial"/>
                          <a:ea typeface="Arial"/>
                          <a:cs typeface="Arial"/>
                        </a:rPr>
                        <a:t>subscription</a:t>
                      </a:r>
                    </a:p>
                  </a:txBody>
                  <a:tcPr marL="91440" marR="91440" marT="45720" marB="45720" anchor="ctr">
                    <a:solidFill>
                      <a:srgbClr val="2D1F42"/>
                    </a:solidFill>
                  </a:tcPr>
                </a:tc>
                <a:tc>
                  <a:txBody>
                    <a:bodyPr lIns="133350" tIns="76200" rIns="133350" bIns="76200">
                      <a:noAutofit/>
                    </a:bodyPr>
                    <a:lstStyle/>
                    <a:p>
                      <a:r>
                        <a:rPr sz="1500" b="1">
                          <a:solidFill>
                            <a:srgbClr val="FAF8FF"/>
                          </a:solidFill>
                          <a:latin typeface="Arial"/>
                          <a:ea typeface="Arial"/>
                          <a:cs typeface="Arial"/>
                        </a:rPr>
                        <a:t>Subscription</a:t>
                      </a:r>
                    </a:p>
                    <a:p>
                      <a:r>
                        <a:rPr sz="1500" b="1">
                          <a:solidFill>
                            <a:srgbClr val="FAF8FF"/>
                          </a:solidFill>
                          <a:latin typeface="Arial"/>
                          <a:ea typeface="Arial"/>
                          <a:cs typeface="Arial"/>
                        </a:rPr>
                        <a:t>ROI</a:t>
                      </a:r>
                    </a:p>
                  </a:txBody>
                  <a:tcPr marL="91440" marR="91440" marT="45720" marB="45720" anchor="ctr">
                    <a:solidFill>
                      <a:srgbClr val="2D1F42"/>
                    </a:solidFill>
                  </a:tcPr>
                </a:tc>
              </a:tr>
              <a:tr h="428625">
                <a:tc>
                  <a:txBody>
                    <a:bodyPr lIns="133350" tIns="76200" rIns="133350" bIns="76200">
                      <a:noAutofit/>
                    </a:bodyPr>
                    <a:lstStyle/>
                    <a:p>
                      <a:r>
                        <a:rPr sz="1800" b="1">
                          <a:solidFill>
                            <a:srgbClr val="C6C0D3"/>
                          </a:solidFill>
                          <a:latin typeface="Arial"/>
                          <a:ea typeface="Arial"/>
                          <a:cs typeface="Arial"/>
                        </a:rPr>
                        <a:t>10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260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$13,000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0%</a:t>
                      </a:r>
                    </a:p>
                  </a:txBody>
                  <a:tcPr marL="91440" marR="91440" marT="45720" marB="45720" anchor="ctr">
                    <a:solidFill>
                      <a:srgbClr val="14101C"/>
                    </a:solidFill>
                  </a:tcPr>
                </a:tc>
              </a:tr>
              <a:tr h="428625">
                <a:tc>
                  <a:txBody>
                    <a:bodyPr lIns="133350" tIns="76200" rIns="133350" bIns="76200">
                      <a:noAutofit/>
                    </a:bodyPr>
                    <a:lstStyle/>
                    <a:p>
                      <a:r>
                        <a:rPr sz="1800" b="1">
                          <a:solidFill>
                            <a:srgbClr val="C6C0D3"/>
                          </a:solidFill>
                          <a:latin typeface="Arial"/>
                          <a:ea typeface="Arial"/>
                          <a:cs typeface="Arial"/>
                        </a:rPr>
                        <a:t>20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520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$26,000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$13,000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100%</a:t>
                      </a:r>
                    </a:p>
                  </a:txBody>
                  <a:tcPr marL="91440" marR="91440" marT="45720" marB="45720" anchor="ctr">
                    <a:solidFill>
                      <a:srgbClr val="14101C"/>
                    </a:solidFill>
                  </a:tcPr>
                </a:tc>
              </a:tr>
              <a:tr h="428625">
                <a:tc>
                  <a:txBody>
                    <a:bodyPr lIns="133350" tIns="76200" rIns="133350" bIns="76200">
                      <a:noAutofit/>
                    </a:bodyPr>
                    <a:lstStyle/>
                    <a:p>
                      <a:r>
                        <a:rPr sz="1800" b="1">
                          <a:solidFill>
                            <a:srgbClr val="C6C0D3"/>
                          </a:solidFill>
                          <a:latin typeface="Arial"/>
                          <a:ea typeface="Arial"/>
                          <a:cs typeface="Arial"/>
                        </a:rPr>
                        <a:t>40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1,040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$52,000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$39,000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300%</a:t>
                      </a:r>
                    </a:p>
                  </a:txBody>
                  <a:tcPr marL="91440" marR="91440" marT="45720" marB="45720" anchor="ctr">
                    <a:solidFill>
                      <a:srgbClr val="14101C"/>
                    </a:solidFill>
                  </a:tcPr>
                </a:tc>
              </a:tr>
            </a:tbl>
          </a:graphicData>
        </a:graphic>
      </p:graphicFrame>
      <p:sp>
        <p:nvSpPr>
          <p:cNvPr id="13" name="text-63">
            <a:extLst xmlns:a="http://schemas.openxmlformats.org/drawingml/2006/main">
              <a:ext uri="{FF2B5EF4-FFF2-40B4-BE49-F238E27FC236}">
                <a16:creationId xmlns:a16="http://schemas.microsoft.com/office/drawing/2014/main" id="{966E20DB-344F-4700-BE8C-E4536EE98487}"/>
              </a:ext>
            </a:extLst>
          </p:cNvPr>
          <p:cNvSpPr>
            <a:spLocks xmlns:a="http://schemas.openxmlformats.org/drawingml/2006/main" noGrp="1"/>
          </p:cNvSpPr>
          <p:nvPr/>
        </p:nvSpPr>
        <p:spPr>
          <a:xfrm xmlns:a="http://schemas.openxmlformats.org/drawingml/2006/main">
            <a:off x="628650" y="59436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C6C0D3"/>
                </a:solidFill>
                <a:latin typeface="Arial"/>
                <a:ea typeface="Arial"/>
                <a:cs typeface="Arial"/>
              </a:defRPr>
            </a:pPr>
            <a:r>
              <a:rPr sz="1275" b="0">
                <a:solidFill>
                  <a:srgbClr val="C6C0D3"/>
                </a:solidFill>
                <a:latin typeface="Arial"/>
                <a:ea typeface="Arial"/>
                <a:cs typeface="Arial"/>
              </a:rPr>
              <a:t>Illustration, not a forecast. Assumes all 26 clubs qualify for $500/month. Final tier mix,</a:t>
            </a:r>
          </a:p>
          <a:p xmlns:a="http://schemas.openxmlformats.org/drawingml/2006/main">
            <a:pPr>
              <a:defRPr sz="1275" b="0">
                <a:solidFill>
                  <a:srgbClr val="C6C0D3"/>
                </a:solidFill>
                <a:latin typeface="Arial"/>
                <a:ea typeface="Arial"/>
                <a:cs typeface="Arial"/>
              </a:defRPr>
            </a:pPr>
            <a:r>
              <a:rPr sz="1275" b="0">
                <a:solidFill>
                  <a:srgbClr val="C6C0D3"/>
                </a:solidFill>
                <a:latin typeface="Arial"/>
                <a:ea typeface="Arial"/>
                <a:cs typeface="Arial"/>
              </a:rPr>
              <a:t>implementation services, hardware, taxes and other rollout costs require a separate scope.</a:t>
            </a:r>
          </a:p>
        </p:txBody>
      </p:sp>
    </p:spTree>
    <p:extLst>
      <p:ext uri="{BB962C8B-B14F-4D97-AF65-F5344CB8AC3E}">
        <p14:creationId xmlns:p14="http://schemas.microsoft.com/office/powerpoint/2010/main" val="586795824"/>
      </p:ext>
    </p:extLst>
  </p:cSld>
</p:sld>
</file>

<file path=ppt/slides/slide7.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9" name="text-64">
            <a:extLst xmlns:a="http://schemas.openxmlformats.org/drawingml/2006/main">
              <a:ext uri="{FF2B5EF4-FFF2-40B4-BE49-F238E27FC236}">
                <a16:creationId xmlns:a16="http://schemas.microsoft.com/office/drawing/2014/main" id="{16F5E1A1-195A-4605-9EFF-4C0FEB50D8CC}"/>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The external sharing opportunity</a:t>
            </a:r>
          </a:p>
        </p:txBody>
      </p:sp>
      <p:sp>
        <p:nvSpPr>
          <p:cNvPr id="2" name="text-65">
            <a:extLst xmlns:a="http://schemas.openxmlformats.org/drawingml/2006/main">
              <a:ext uri="{FF2B5EF4-FFF2-40B4-BE49-F238E27FC236}">
                <a16:creationId xmlns:a16="http://schemas.microsoft.com/office/drawing/2014/main" id="{8AF32DEE-618E-449C-9603-E05B702ED147}"/>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26 locations provide more starting points for relevant local discovery</a:t>
            </a:r>
          </a:p>
        </p:txBody>
      </p:sp>
      <p:sp>
        <p:nvSpPr>
          <p:cNvPr id="3" name="text-66">
            <a:extLst xmlns:a="http://schemas.openxmlformats.org/drawingml/2006/main">
              <a:ext uri="{FF2B5EF4-FFF2-40B4-BE49-F238E27FC236}">
                <a16:creationId xmlns:a16="http://schemas.microsoft.com/office/drawing/2014/main" id="{77E4E4EF-3192-46F3-93A2-6272022F3A6F}"/>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67">
            <a:extLst xmlns:a="http://schemas.openxmlformats.org/drawingml/2006/main">
              <a:ext uri="{FF2B5EF4-FFF2-40B4-BE49-F238E27FC236}">
                <a16:creationId xmlns:a16="http://schemas.microsoft.com/office/drawing/2014/main" id="{2B91732D-18BC-401B-ABDD-8B0B907C0165}"/>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82b6cbb8c1b463d"/>
          <a:srcRect xmlns:a="http://schemas.openxmlformats.org/drawingml/2006/main" l="34685" t="0" r="34685" b="0"/>
          <a:stretch xmlns:a="http://schemas.openxmlformats.org/drawingml/2006/main">
            <a:fillRect l="0" t="0" r="0" b="0"/>
          </a:stretch>
        </p:blipFill>
        <p:spPr>
          <a:xfrm xmlns:a="http://schemas.openxmlformats.org/drawingml/2006/main">
            <a:off x="8020050" y="2085975"/>
            <a:ext cx="3562350" cy="3876675"/>
          </a:xfrm>
          <a:prstGeom xmlns:a="http://schemas.openxmlformats.org/drawingml/2006/main" prst="rect">
            <a:avLst/>
          </a:prstGeom>
        </p:spPr>
      </p:pic>
      <p:sp>
        <p:nvSpPr>
          <p:cNvPr id="6" name="text-68">
            <a:extLst xmlns:a="http://schemas.openxmlformats.org/drawingml/2006/main">
              <a:ext uri="{FF2B5EF4-FFF2-40B4-BE49-F238E27FC236}">
                <a16:creationId xmlns:a16="http://schemas.microsoft.com/office/drawing/2014/main" id="{3BAD1B48-309D-4662-95E6-612611E012EA}"/>
              </a:ext>
            </a:extLst>
          </p:cNvPr>
          <p:cNvSpPr>
            <a:spLocks xmlns:a="http://schemas.openxmlformats.org/drawingml/2006/main" noGrp="1"/>
          </p:cNvSpPr>
          <p:nvPr/>
        </p:nvSpPr>
        <p:spPr>
          <a:xfrm xmlns:a="http://schemas.openxmlformats.org/drawingml/2006/main">
            <a:off x="628650" y="2152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B58BFF"/>
                </a:solidFill>
                <a:latin typeface="Arial"/>
                <a:ea typeface="Arial"/>
                <a:cs typeface="Arial"/>
              </a:defRPr>
            </a:pPr>
            <a:r>
              <a:rPr sz="2100" b="1">
                <a:solidFill>
                  <a:srgbClr val="B58BFF"/>
                </a:solidFill>
                <a:latin typeface="Arial"/>
                <a:ea typeface="Arial"/>
                <a:cs typeface="Arial"/>
              </a:rPr>
              <a:t>01</a:t>
            </a:r>
          </a:p>
        </p:txBody>
      </p:sp>
      <p:sp>
        <p:nvSpPr>
          <p:cNvPr id="7" name="text-69">
            <a:extLst xmlns:a="http://schemas.openxmlformats.org/drawingml/2006/main">
              <a:ext uri="{FF2B5EF4-FFF2-40B4-BE49-F238E27FC236}">
                <a16:creationId xmlns:a16="http://schemas.microsoft.com/office/drawing/2014/main" id="{AEF78124-F631-4CAD-892D-7ADC25390A8C}"/>
              </a:ext>
            </a:extLst>
          </p:cNvPr>
          <p:cNvSpPr>
            <a:spLocks xmlns:a="http://schemas.openxmlformats.org/drawingml/2006/main" noGrp="1"/>
          </p:cNvSpPr>
          <p:nvPr/>
        </p:nvSpPr>
        <p:spPr>
          <a:xfrm xmlns:a="http://schemas.openxmlformats.org/drawingml/2006/main">
            <a:off x="1428750" y="2152650"/>
            <a:ext cx="6267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FAF8FF"/>
                </a:solidFill>
                <a:latin typeface="Arial"/>
                <a:ea typeface="Arial"/>
                <a:cs typeface="Arial"/>
              </a:defRPr>
            </a:pPr>
            <a:r>
              <a:rPr sz="1950" b="1">
                <a:solidFill>
                  <a:srgbClr val="FAF8FF"/>
                </a:solidFill>
                <a:latin typeface="Arial"/>
                <a:ea typeface="Arial"/>
                <a:cs typeface="Arial"/>
              </a:rPr>
              <a:t>Approved media</a:t>
            </a:r>
          </a:p>
        </p:txBody>
      </p:sp>
      <p:sp>
        <p:nvSpPr>
          <p:cNvPr id="8" name="text-70">
            <a:extLst xmlns:a="http://schemas.openxmlformats.org/drawingml/2006/main">
              <a:ext uri="{FF2B5EF4-FFF2-40B4-BE49-F238E27FC236}">
                <a16:creationId xmlns:a16="http://schemas.microsoft.com/office/drawing/2014/main" id="{D5007565-5B05-442B-8C12-869F6DFE957C}"/>
              </a:ext>
            </a:extLst>
          </p:cNvPr>
          <p:cNvSpPr>
            <a:spLocks xmlns:a="http://schemas.openxmlformats.org/drawingml/2006/main" noGrp="1"/>
          </p:cNvSpPr>
          <p:nvPr/>
        </p:nvSpPr>
        <p:spPr>
          <a:xfrm xmlns:a="http://schemas.openxmlformats.org/drawingml/2006/main">
            <a:off x="1428750" y="2524125"/>
            <a:ext cx="6267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Dancers and clubs give guests something</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relevant to discover and share.</a:t>
            </a:r>
          </a:p>
        </p:txBody>
      </p:sp>
      <p:sp>
        <p:nvSpPr>
          <p:cNvPr id="9" name="text-71">
            <a:extLst xmlns:a="http://schemas.openxmlformats.org/drawingml/2006/main">
              <a:ext uri="{FF2B5EF4-FFF2-40B4-BE49-F238E27FC236}">
                <a16:creationId xmlns:a16="http://schemas.microsoft.com/office/drawing/2014/main" id="{C158C3F6-BB6C-41C3-A660-379E989EF9DF}"/>
              </a:ext>
            </a:extLst>
          </p:cNvPr>
          <p:cNvSpPr>
            <a:spLocks xmlns:a="http://schemas.openxmlformats.org/drawingml/2006/main" noGrp="1"/>
          </p:cNvSpPr>
          <p:nvPr/>
        </p:nvSpPr>
        <p:spPr>
          <a:xfrm xmlns:a="http://schemas.openxmlformats.org/drawingml/2006/main">
            <a:off x="628650" y="3171825"/>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B58BFF"/>
                </a:solidFill>
                <a:latin typeface="Arial"/>
                <a:ea typeface="Arial"/>
                <a:cs typeface="Arial"/>
              </a:defRPr>
            </a:pPr>
            <a:r>
              <a:rPr sz="2100" b="1">
                <a:solidFill>
                  <a:srgbClr val="B58BFF"/>
                </a:solidFill>
                <a:latin typeface="Arial"/>
                <a:ea typeface="Arial"/>
                <a:cs typeface="Arial"/>
              </a:rPr>
              <a:t>02</a:t>
            </a:r>
          </a:p>
        </p:txBody>
      </p:sp>
      <p:sp>
        <p:nvSpPr>
          <p:cNvPr id="10" name="text-72">
            <a:extLst xmlns:a="http://schemas.openxmlformats.org/drawingml/2006/main">
              <a:ext uri="{FF2B5EF4-FFF2-40B4-BE49-F238E27FC236}">
                <a16:creationId xmlns:a16="http://schemas.microsoft.com/office/drawing/2014/main" id="{7AED4084-986C-495D-ACA4-ED72CDE99A57}"/>
              </a:ext>
            </a:extLst>
          </p:cNvPr>
          <p:cNvSpPr>
            <a:spLocks xmlns:a="http://schemas.openxmlformats.org/drawingml/2006/main" noGrp="1"/>
          </p:cNvSpPr>
          <p:nvPr/>
        </p:nvSpPr>
        <p:spPr>
          <a:xfrm xmlns:a="http://schemas.openxmlformats.org/drawingml/2006/main">
            <a:off x="1428750" y="3171825"/>
            <a:ext cx="6267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FAF8FF"/>
                </a:solidFill>
                <a:latin typeface="Arial"/>
                <a:ea typeface="Arial"/>
                <a:cs typeface="Arial"/>
              </a:defRPr>
            </a:pPr>
            <a:r>
              <a:rPr sz="1950" b="1">
                <a:solidFill>
                  <a:srgbClr val="FAF8FF"/>
                </a:solidFill>
                <a:latin typeface="Arial"/>
                <a:ea typeface="Arial"/>
                <a:cs typeface="Arial"/>
              </a:rPr>
              <a:t>Shared profiles and club links</a:t>
            </a:r>
          </a:p>
        </p:txBody>
      </p:sp>
      <p:sp>
        <p:nvSpPr>
          <p:cNvPr id="11" name="text-73">
            <a:extLst xmlns:a="http://schemas.openxmlformats.org/drawingml/2006/main">
              <a:ext uri="{FF2B5EF4-FFF2-40B4-BE49-F238E27FC236}">
                <a16:creationId xmlns:a16="http://schemas.microsoft.com/office/drawing/2014/main" id="{EBB86760-2150-4536-B5D4-DF45350BE892}"/>
              </a:ext>
            </a:extLst>
          </p:cNvPr>
          <p:cNvSpPr>
            <a:spLocks xmlns:a="http://schemas.openxmlformats.org/drawingml/2006/main" noGrp="1"/>
          </p:cNvSpPr>
          <p:nvPr/>
        </p:nvSpPr>
        <p:spPr>
          <a:xfrm xmlns:a="http://schemas.openxmlformats.org/drawingml/2006/main">
            <a:off x="1428750" y="3543300"/>
            <a:ext cx="6267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Existing audiences introduce new people</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to the MyDancr experience.</a:t>
            </a:r>
          </a:p>
        </p:txBody>
      </p:sp>
      <p:sp>
        <p:nvSpPr>
          <p:cNvPr id="12" name="text-74">
            <a:extLst xmlns:a="http://schemas.openxmlformats.org/drawingml/2006/main">
              <a:ext uri="{FF2B5EF4-FFF2-40B4-BE49-F238E27FC236}">
                <a16:creationId xmlns:a16="http://schemas.microsoft.com/office/drawing/2014/main" id="{23581B2D-D917-4D9F-91DD-FFEE9977D00F}"/>
              </a:ext>
            </a:extLst>
          </p:cNvPr>
          <p:cNvSpPr>
            <a:spLocks xmlns:a="http://schemas.openxmlformats.org/drawingml/2006/main" noGrp="1"/>
          </p:cNvSpPr>
          <p:nvPr/>
        </p:nvSpPr>
        <p:spPr>
          <a:xfrm xmlns:a="http://schemas.openxmlformats.org/drawingml/2006/main">
            <a:off x="628650" y="41910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B58BFF"/>
                </a:solidFill>
                <a:latin typeface="Arial"/>
                <a:ea typeface="Arial"/>
                <a:cs typeface="Arial"/>
              </a:defRPr>
            </a:pPr>
            <a:r>
              <a:rPr sz="2100" b="1">
                <a:solidFill>
                  <a:srgbClr val="B58BFF"/>
                </a:solidFill>
                <a:latin typeface="Arial"/>
                <a:ea typeface="Arial"/>
                <a:cs typeface="Arial"/>
              </a:rPr>
              <a:t>03</a:t>
            </a:r>
          </a:p>
        </p:txBody>
      </p:sp>
      <p:sp>
        <p:nvSpPr>
          <p:cNvPr id="13" name="text-75">
            <a:extLst xmlns:a="http://schemas.openxmlformats.org/drawingml/2006/main">
              <a:ext uri="{FF2B5EF4-FFF2-40B4-BE49-F238E27FC236}">
                <a16:creationId xmlns:a16="http://schemas.microsoft.com/office/drawing/2014/main" id="{DE3FE90F-9739-4C32-B015-026714BE86C9}"/>
              </a:ext>
            </a:extLst>
          </p:cNvPr>
          <p:cNvSpPr>
            <a:spLocks xmlns:a="http://schemas.openxmlformats.org/drawingml/2006/main" noGrp="1"/>
          </p:cNvSpPr>
          <p:nvPr/>
        </p:nvSpPr>
        <p:spPr>
          <a:xfrm xmlns:a="http://schemas.openxmlformats.org/drawingml/2006/main">
            <a:off x="1428750" y="4191000"/>
            <a:ext cx="6267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FAF8FF"/>
                </a:solidFill>
                <a:latin typeface="Arial"/>
                <a:ea typeface="Arial"/>
                <a:cs typeface="Arial"/>
              </a:defRPr>
            </a:pPr>
            <a:r>
              <a:rPr sz="1950" b="1">
                <a:solidFill>
                  <a:srgbClr val="FAF8FF"/>
                </a:solidFill>
                <a:latin typeface="Arial"/>
                <a:ea typeface="Arial"/>
                <a:cs typeface="Arial"/>
              </a:rPr>
              <a:t>Local discovery and visits</a:t>
            </a:r>
          </a:p>
        </p:txBody>
      </p:sp>
      <p:sp>
        <p:nvSpPr>
          <p:cNvPr id="14" name="text-76">
            <a:extLst xmlns:a="http://schemas.openxmlformats.org/drawingml/2006/main">
              <a:ext uri="{FF2B5EF4-FFF2-40B4-BE49-F238E27FC236}">
                <a16:creationId xmlns:a16="http://schemas.microsoft.com/office/drawing/2014/main" id="{2C07232B-8E97-45C3-B95C-2FAB095D411E}"/>
              </a:ext>
            </a:extLst>
          </p:cNvPr>
          <p:cNvSpPr>
            <a:spLocks xmlns:a="http://schemas.openxmlformats.org/drawingml/2006/main" noGrp="1"/>
          </p:cNvSpPr>
          <p:nvPr/>
        </p:nvSpPr>
        <p:spPr>
          <a:xfrm xmlns:a="http://schemas.openxmlformats.org/drawingml/2006/main">
            <a:off x="1428750" y="4562475"/>
            <a:ext cx="6267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Guests explore a nearby club, follow it</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and may use an entry offer.</a:t>
            </a:r>
          </a:p>
        </p:txBody>
      </p:sp>
      <p:sp>
        <p:nvSpPr>
          <p:cNvPr id="15" name="text-77">
            <a:extLst xmlns:a="http://schemas.openxmlformats.org/drawingml/2006/main">
              <a:ext uri="{FF2B5EF4-FFF2-40B4-BE49-F238E27FC236}">
                <a16:creationId xmlns:a16="http://schemas.microsoft.com/office/drawing/2014/main" id="{D659D60D-0489-4CC7-AB92-88A671B46283}"/>
              </a:ext>
            </a:extLst>
          </p:cNvPr>
          <p:cNvSpPr>
            <a:spLocks xmlns:a="http://schemas.openxmlformats.org/drawingml/2006/main" noGrp="1"/>
          </p:cNvSpPr>
          <p:nvPr/>
        </p:nvSpPr>
        <p:spPr>
          <a:xfrm xmlns:a="http://schemas.openxmlformats.org/drawingml/2006/main">
            <a:off x="628650" y="5210175"/>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B58BFF"/>
                </a:solidFill>
                <a:latin typeface="Arial"/>
                <a:ea typeface="Arial"/>
                <a:cs typeface="Arial"/>
              </a:defRPr>
            </a:pPr>
            <a:r>
              <a:rPr sz="2100" b="1">
                <a:solidFill>
                  <a:srgbClr val="B58BFF"/>
                </a:solidFill>
                <a:latin typeface="Arial"/>
                <a:ea typeface="Arial"/>
                <a:cs typeface="Arial"/>
              </a:rPr>
              <a:t>04</a:t>
            </a:r>
          </a:p>
        </p:txBody>
      </p:sp>
      <p:sp>
        <p:nvSpPr>
          <p:cNvPr id="16" name="text-78">
            <a:extLst xmlns:a="http://schemas.openxmlformats.org/drawingml/2006/main">
              <a:ext uri="{FF2B5EF4-FFF2-40B4-BE49-F238E27FC236}">
                <a16:creationId xmlns:a16="http://schemas.microsoft.com/office/drawing/2014/main" id="{88520435-B62E-49B4-B484-97DCA5BADD51}"/>
              </a:ext>
            </a:extLst>
          </p:cNvPr>
          <p:cNvSpPr>
            <a:spLocks xmlns:a="http://schemas.openxmlformats.org/drawingml/2006/main" noGrp="1"/>
          </p:cNvSpPr>
          <p:nvPr/>
        </p:nvSpPr>
        <p:spPr>
          <a:xfrm xmlns:a="http://schemas.openxmlformats.org/drawingml/2006/main">
            <a:off x="1428750" y="5210175"/>
            <a:ext cx="6267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FAF8FF"/>
                </a:solidFill>
                <a:latin typeface="Arial"/>
                <a:ea typeface="Arial"/>
                <a:cs typeface="Arial"/>
              </a:defRPr>
            </a:pPr>
            <a:r>
              <a:rPr sz="1950" b="1">
                <a:solidFill>
                  <a:srgbClr val="FAF8FF"/>
                </a:solidFill>
                <a:latin typeface="Arial"/>
                <a:ea typeface="Arial"/>
                <a:cs typeface="Arial"/>
              </a:rPr>
              <a:t>Repeat discovery</a:t>
            </a:r>
          </a:p>
        </p:txBody>
      </p:sp>
      <p:sp>
        <p:nvSpPr>
          <p:cNvPr id="17" name="text-79">
            <a:extLst xmlns:a="http://schemas.openxmlformats.org/drawingml/2006/main">
              <a:ext uri="{FF2B5EF4-FFF2-40B4-BE49-F238E27FC236}">
                <a16:creationId xmlns:a16="http://schemas.microsoft.com/office/drawing/2014/main" id="{E1D62497-BCC2-4E9C-AFF1-61D97DEBDC69}"/>
              </a:ext>
            </a:extLst>
          </p:cNvPr>
          <p:cNvSpPr>
            <a:spLocks xmlns:a="http://schemas.openxmlformats.org/drawingml/2006/main" noGrp="1"/>
          </p:cNvSpPr>
          <p:nvPr/>
        </p:nvSpPr>
        <p:spPr>
          <a:xfrm xmlns:a="http://schemas.openxmlformats.org/drawingml/2006/main">
            <a:off x="1428750" y="5581650"/>
            <a:ext cx="6267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Visitors can return and share again,</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creating another round of exposure.</a:t>
            </a:r>
          </a:p>
        </p:txBody>
      </p:sp>
      <p:sp>
        <p:nvSpPr>
          <p:cNvPr id="18" name="text-80">
            <a:extLst xmlns:a="http://schemas.openxmlformats.org/drawingml/2006/main">
              <a:ext uri="{FF2B5EF4-FFF2-40B4-BE49-F238E27FC236}">
                <a16:creationId xmlns:a16="http://schemas.microsoft.com/office/drawing/2014/main" id="{47EAEFD9-EE5B-4DD9-9673-8AD1AB4F5106}"/>
              </a:ext>
            </a:extLst>
          </p:cNvPr>
          <p:cNvSpPr>
            <a:spLocks xmlns:a="http://schemas.openxmlformats.org/drawingml/2006/main" noGrp="1"/>
          </p:cNvSpPr>
          <p:nvPr/>
        </p:nvSpPr>
        <p:spPr>
          <a:xfrm xmlns:a="http://schemas.openxmlformats.org/drawingml/2006/main">
            <a:off x="628650" y="6229350"/>
            <a:ext cx="10944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96909F"/>
                </a:solidFill>
                <a:latin typeface="Arial"/>
                <a:ea typeface="Arial"/>
                <a:cs typeface="Arial"/>
              </a:defRPr>
            </a:pPr>
            <a:r>
              <a:rPr sz="1350" b="0">
                <a:solidFill>
                  <a:srgbClr val="96909F"/>
                </a:solidFill>
                <a:latin typeface="Arial"/>
                <a:ea typeface="Arial"/>
                <a:cs typeface="Arial"/>
              </a:rPr>
              <a:t>Growth depends on consent, content quality, audience overlap and local relevance.</a:t>
            </a:r>
          </a:p>
        </p:txBody>
      </p:sp>
    </p:spTree>
    <p:extLst>
      <p:ext uri="{BB962C8B-B14F-4D97-AF65-F5344CB8AC3E}">
        <p14:creationId xmlns:p14="http://schemas.microsoft.com/office/powerpoint/2010/main" val="1089317033"/>
      </p:ext>
    </p:extLst>
  </p:cSld>
</p:sld>
</file>

<file path=ppt/slides/slide8.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1" name="text-81">
            <a:extLst xmlns:a="http://schemas.openxmlformats.org/drawingml/2006/main">
              <a:ext uri="{FF2B5EF4-FFF2-40B4-BE49-F238E27FC236}">
                <a16:creationId xmlns:a16="http://schemas.microsoft.com/office/drawing/2014/main" id="{3EF3F161-B7FE-4310-8F1A-74A2C00571E8}"/>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Exponential growth is a scenario to earn</a:t>
            </a:r>
          </a:p>
        </p:txBody>
      </p:sp>
      <p:sp>
        <p:nvSpPr>
          <p:cNvPr id="2" name="text-82">
            <a:extLst xmlns:a="http://schemas.openxmlformats.org/drawingml/2006/main">
              <a:ext uri="{FF2B5EF4-FFF2-40B4-BE49-F238E27FC236}">
                <a16:creationId xmlns:a16="http://schemas.microsoft.com/office/drawing/2014/main" id="{1BA3B240-2D8F-4FB4-9F04-DFDE3C773E7D}"/>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Illustration: 1,000 initial engaged app visitors, followed through five sharing rounds</a:t>
            </a:r>
          </a:p>
        </p:txBody>
      </p:sp>
      <p:sp>
        <p:nvSpPr>
          <p:cNvPr id="3" name="text-83">
            <a:extLst xmlns:a="http://schemas.openxmlformats.org/drawingml/2006/main">
              <a:ext uri="{FF2B5EF4-FFF2-40B4-BE49-F238E27FC236}">
                <a16:creationId xmlns:a16="http://schemas.microsoft.com/office/drawing/2014/main" id="{72F666E4-A662-4CF1-B705-CB95BE27A578}"/>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84">
            <a:extLst xmlns:a="http://schemas.openxmlformats.org/drawingml/2006/main">
              <a:ext uri="{FF2B5EF4-FFF2-40B4-BE49-F238E27FC236}">
                <a16:creationId xmlns:a16="http://schemas.microsoft.com/office/drawing/2014/main" id="{850D6F90-C227-4A38-B511-C841CDE19DED}"/>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08</a:t>
            </a:r>
          </a:p>
        </p:txBody>
      </p:sp>
      <p:graphicFrame>
        <p:nvGraphicFramePr>
          <p:cNvPr id="15" name="Chart"/>
          <p:cNvGraphicFramePr/>
          <p:nvPr/>
        </p:nvGraphicFramePr>
        <p:xfrm>
          <a:off xmlns:a="http://schemas.openxmlformats.org/drawingml/2006/main" x="628650" y="2276475"/>
          <a:ext xmlns:a="http://schemas.openxmlformats.org/drawingml/2006/main" cx="7820025" cy="3562350"/>
        </p:xfrm>
        <a:graphic xmlns:a="http://schemas.openxmlformats.org/drawingml/2006/main">
          <a:graphicData uri="http://schemas.openxmlformats.org/drawingml/2006/chart">
            <c:chart xmlns:r="http://schemas.openxmlformats.org/officeDocument/2006/relationships" xmlns:c="http://schemas.openxmlformats.org/drawingml/2006/chart" r:id="R3ed2469c15e24c60"/>
          </a:graphicData>
        </a:graphic>
      </p:graphicFrame>
      <p:sp>
        <p:nvSpPr>
          <p:cNvPr id="6" name="text-85">
            <a:extLst xmlns:a="http://schemas.openxmlformats.org/drawingml/2006/main">
              <a:ext uri="{FF2B5EF4-FFF2-40B4-BE49-F238E27FC236}">
                <a16:creationId xmlns:a16="http://schemas.microsoft.com/office/drawing/2014/main" id="{837F7157-1760-4EB3-9B8E-FD265AAE119B}"/>
              </a:ext>
            </a:extLst>
          </p:cNvPr>
          <p:cNvSpPr>
            <a:spLocks xmlns:a="http://schemas.openxmlformats.org/drawingml/2006/main" noGrp="1"/>
          </p:cNvSpPr>
          <p:nvPr/>
        </p:nvSpPr>
        <p:spPr>
          <a:xfrm xmlns:a="http://schemas.openxmlformats.org/drawingml/2006/main">
            <a:off x="628650" y="2000250"/>
            <a:ext cx="800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C6C0D3"/>
                </a:solidFill>
                <a:latin typeface="Arial"/>
                <a:ea typeface="Arial"/>
                <a:cs typeface="Arial"/>
              </a:defRPr>
            </a:pPr>
            <a:r>
              <a:rPr sz="1425" b="0">
                <a:solidFill>
                  <a:srgbClr val="C6C0D3"/>
                </a:solidFill>
                <a:latin typeface="Arial"/>
                <a:ea typeface="Arial"/>
                <a:cs typeface="Arial"/>
              </a:rPr>
              <a:t>New engaged app visitors in each round</a:t>
            </a:r>
          </a:p>
        </p:txBody>
      </p:sp>
      <p:sp>
        <p:nvSpPr>
          <p:cNvPr id="7" name="text-86">
            <a:extLst xmlns:a="http://schemas.openxmlformats.org/drawingml/2006/main">
              <a:ext uri="{FF2B5EF4-FFF2-40B4-BE49-F238E27FC236}">
                <a16:creationId xmlns:a16="http://schemas.microsoft.com/office/drawing/2014/main" id="{98659985-3823-4193-AC19-53D49591F4B1}"/>
              </a:ext>
            </a:extLst>
          </p:cNvPr>
          <p:cNvSpPr>
            <a:spLocks xmlns:a="http://schemas.openxmlformats.org/drawingml/2006/main" noGrp="1"/>
          </p:cNvSpPr>
          <p:nvPr/>
        </p:nvSpPr>
        <p:spPr>
          <a:xfrm xmlns:a="http://schemas.openxmlformats.org/drawingml/2006/main">
            <a:off x="8953500" y="2343150"/>
            <a:ext cx="26384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575" b="1">
                <a:solidFill>
                  <a:srgbClr val="B58BFF"/>
                </a:solidFill>
                <a:latin typeface="Arial"/>
                <a:ea typeface="Arial"/>
                <a:cs typeface="Arial"/>
              </a:defRPr>
            </a:pPr>
            <a:r>
              <a:rPr sz="4575" b="1">
                <a:solidFill>
                  <a:srgbClr val="B58BFF"/>
                </a:solidFill>
                <a:latin typeface="Arial"/>
                <a:ea typeface="Arial"/>
                <a:cs typeface="Arial"/>
              </a:rPr>
              <a:t>2,488</a:t>
            </a:r>
          </a:p>
        </p:txBody>
      </p:sp>
      <p:sp>
        <p:nvSpPr>
          <p:cNvPr id="8" name="text-87">
            <a:extLst xmlns:a="http://schemas.openxmlformats.org/drawingml/2006/main">
              <a:ext uri="{FF2B5EF4-FFF2-40B4-BE49-F238E27FC236}">
                <a16:creationId xmlns:a16="http://schemas.microsoft.com/office/drawing/2014/main" id="{3DE87288-594C-4618-843B-DCB12E2DE921}"/>
              </a:ext>
            </a:extLst>
          </p:cNvPr>
          <p:cNvSpPr>
            <a:spLocks xmlns:a="http://schemas.openxmlformats.org/drawingml/2006/main" noGrp="1"/>
          </p:cNvSpPr>
          <p:nvPr/>
        </p:nvSpPr>
        <p:spPr>
          <a:xfrm xmlns:a="http://schemas.openxmlformats.org/drawingml/2006/main">
            <a:off x="8953500" y="3190875"/>
            <a:ext cx="2638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new engaged visitors</a:t>
            </a:r>
          </a:p>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in round 5 at 1.2</a:t>
            </a:r>
          </a:p>
        </p:txBody>
      </p:sp>
      <p:sp>
        <p:nvSpPr>
          <p:cNvPr id="9" name="text-88">
            <a:extLst xmlns:a="http://schemas.openxmlformats.org/drawingml/2006/main">
              <a:ext uri="{FF2B5EF4-FFF2-40B4-BE49-F238E27FC236}">
                <a16:creationId xmlns:a16="http://schemas.microsoft.com/office/drawing/2014/main" id="{6F985846-39DA-4647-B966-463514BF1F64}"/>
              </a:ext>
            </a:extLst>
          </p:cNvPr>
          <p:cNvSpPr>
            <a:spLocks xmlns:a="http://schemas.openxmlformats.org/drawingml/2006/main" noGrp="1"/>
          </p:cNvSpPr>
          <p:nvPr/>
        </p:nvSpPr>
        <p:spPr>
          <a:xfrm xmlns:a="http://schemas.openxmlformats.org/drawingml/2006/main">
            <a:off x="8953500" y="4133850"/>
            <a:ext cx="26479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Compounding requires</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each visitor to bring</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more than one new</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engaged visitor.</a:t>
            </a:r>
          </a:p>
        </p:txBody>
      </p:sp>
      <p:sp>
        <p:nvSpPr>
          <p:cNvPr id="10" name="text-89">
            <a:extLst xmlns:a="http://schemas.openxmlformats.org/drawingml/2006/main">
              <a:ext uri="{FF2B5EF4-FFF2-40B4-BE49-F238E27FC236}">
                <a16:creationId xmlns:a16="http://schemas.microsoft.com/office/drawing/2014/main" id="{58891C10-6D3B-4016-BDEA-EBE85880A6D2}"/>
              </a:ext>
            </a:extLst>
          </p:cNvPr>
          <p:cNvSpPr>
            <a:spLocks xmlns:a="http://schemas.openxmlformats.org/drawingml/2006/main" noGrp="1"/>
          </p:cNvSpPr>
          <p:nvPr/>
        </p:nvSpPr>
        <p:spPr>
          <a:xfrm xmlns:a="http://schemas.openxmlformats.org/drawingml/2006/main">
            <a:off x="628650" y="60293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C6C0D3"/>
                </a:solidFill>
                <a:latin typeface="Arial"/>
                <a:ea typeface="Arial"/>
                <a:cs typeface="Arial"/>
              </a:defRPr>
            </a:pPr>
            <a:r>
              <a:rPr sz="1275" b="0">
                <a:solidFill>
                  <a:srgbClr val="C6C0D3"/>
                </a:solidFill>
                <a:latin typeface="Arial"/>
                <a:ea typeface="Arial"/>
                <a:cs typeface="Arial"/>
              </a:rPr>
              <a:t>Illustration, not a forecast. Rounds are sharing cycles, not months. App visitors are not club</a:t>
            </a:r>
          </a:p>
          <a:p xmlns:a="http://schemas.openxmlformats.org/drawingml/2006/main">
            <a:pPr>
              <a:defRPr sz="1275" b="0">
                <a:solidFill>
                  <a:srgbClr val="C6C0D3"/>
                </a:solidFill>
                <a:latin typeface="Arial"/>
                <a:ea typeface="Arial"/>
                <a:cs typeface="Arial"/>
              </a:defRPr>
            </a:pPr>
            <a:r>
              <a:rPr sz="1275" b="0">
                <a:solidFill>
                  <a:srgbClr val="C6C0D3"/>
                </a:solidFill>
                <a:latin typeface="Arial"/>
                <a:ea typeface="Arial"/>
                <a:cs typeface="Arial"/>
              </a:rPr>
              <a:t>admissions. Sustained growth above 1 requires evidence and eventually meets saturation.</a:t>
            </a:r>
          </a:p>
        </p:txBody>
      </p:sp>
    </p:spTree>
    <p:extLst>
      <p:ext uri="{BB962C8B-B14F-4D97-AF65-F5344CB8AC3E}">
        <p14:creationId xmlns:p14="http://schemas.microsoft.com/office/powerpoint/2010/main" val="1164812622"/>
      </p:ext>
    </p:extLst>
  </p:cSld>
</p:sld>
</file>

<file path=ppt/slides/slide9.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9" name="text-90">
            <a:extLst xmlns:a="http://schemas.openxmlformats.org/drawingml/2006/main">
              <a:ext uri="{FF2B5EF4-FFF2-40B4-BE49-F238E27FC236}">
                <a16:creationId xmlns:a16="http://schemas.microsoft.com/office/drawing/2014/main" id="{9A930B22-94BC-4B9B-9DB6-1ED4798ECF14}"/>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A staged rollout across all 26 locations</a:t>
            </a:r>
          </a:p>
        </p:txBody>
      </p:sp>
      <p:sp>
        <p:nvSpPr>
          <p:cNvPr id="2" name="text-91">
            <a:extLst xmlns:a="http://schemas.openxmlformats.org/drawingml/2006/main">
              <a:ext uri="{FF2B5EF4-FFF2-40B4-BE49-F238E27FC236}">
                <a16:creationId xmlns:a16="http://schemas.microsoft.com/office/drawing/2014/main" id="{6E5BA335-2B42-431B-A36E-FB561632B55C}"/>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Proposed 12-week program, paced by readiness and agreed delivery capacity</a:t>
            </a:r>
          </a:p>
        </p:txBody>
      </p:sp>
      <p:sp>
        <p:nvSpPr>
          <p:cNvPr id="3" name="text-92">
            <a:extLst xmlns:a="http://schemas.openxmlformats.org/drawingml/2006/main">
              <a:ext uri="{FF2B5EF4-FFF2-40B4-BE49-F238E27FC236}">
                <a16:creationId xmlns:a16="http://schemas.microsoft.com/office/drawing/2014/main" id="{C7DCA2C4-9F6D-4956-B4F7-F2A03A87C9B6}"/>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93">
            <a:extLst xmlns:a="http://schemas.openxmlformats.org/drawingml/2006/main">
              <a:ext uri="{FF2B5EF4-FFF2-40B4-BE49-F238E27FC236}">
                <a16:creationId xmlns:a16="http://schemas.microsoft.com/office/drawing/2014/main" id="{5C08A880-AB2C-415A-A888-07BE3192C10C}"/>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09</a:t>
            </a:r>
          </a:p>
        </p:txBody>
      </p:sp>
      <p:sp>
        <p:nvSpPr>
          <p:cNvPr id="5" name="text-94">
            <a:extLst xmlns:a="http://schemas.openxmlformats.org/drawingml/2006/main">
              <a:ext uri="{FF2B5EF4-FFF2-40B4-BE49-F238E27FC236}">
                <a16:creationId xmlns:a16="http://schemas.microsoft.com/office/drawing/2014/main" id="{66DB658D-E018-4FA2-B5F1-CB714BF5CBFC}"/>
              </a:ext>
            </a:extLst>
          </p:cNvPr>
          <p:cNvSpPr>
            <a:spLocks xmlns:a="http://schemas.openxmlformats.org/drawingml/2006/main" noGrp="1"/>
          </p:cNvSpPr>
          <p:nvPr/>
        </p:nvSpPr>
        <p:spPr>
          <a:xfrm xmlns:a="http://schemas.openxmlformats.org/drawingml/2006/main">
            <a:off x="628650" y="2114550"/>
            <a:ext cx="327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675" b="1">
                <a:solidFill>
                  <a:srgbClr val="B58BFF"/>
                </a:solidFill>
                <a:latin typeface="Arial"/>
                <a:ea typeface="Arial"/>
                <a:cs typeface="Arial"/>
              </a:defRPr>
            </a:pPr>
            <a:r>
              <a:rPr sz="6675" b="1">
                <a:solidFill>
                  <a:srgbClr val="B58BFF"/>
                </a:solidFill>
                <a:latin typeface="Arial"/>
                <a:ea typeface="Arial"/>
                <a:cs typeface="Arial"/>
              </a:rPr>
              <a:t>3</a:t>
            </a:r>
          </a:p>
        </p:txBody>
      </p:sp>
      <p:sp>
        <p:nvSpPr>
          <p:cNvPr id="6" name="text-95">
            <a:extLst xmlns:a="http://schemas.openxmlformats.org/drawingml/2006/main">
              <a:ext uri="{FF2B5EF4-FFF2-40B4-BE49-F238E27FC236}">
                <a16:creationId xmlns:a16="http://schemas.microsoft.com/office/drawing/2014/main" id="{500A2641-4E8C-4BA5-AFEC-23C2EFA34D0C}"/>
              </a:ext>
            </a:extLst>
          </p:cNvPr>
          <p:cNvSpPr>
            <a:spLocks xmlns:a="http://schemas.openxmlformats.org/drawingml/2006/main" noGrp="1"/>
          </p:cNvSpPr>
          <p:nvPr/>
        </p:nvSpPr>
        <p:spPr>
          <a:xfrm xmlns:a="http://schemas.openxmlformats.org/drawingml/2006/main">
            <a:off x="628650" y="3257550"/>
            <a:ext cx="327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FAF8FF"/>
                </a:solidFill>
                <a:latin typeface="Arial"/>
                <a:ea typeface="Arial"/>
                <a:cs typeface="Arial"/>
              </a:defRPr>
            </a:pPr>
            <a:r>
              <a:rPr sz="2250" b="1">
                <a:solidFill>
                  <a:srgbClr val="FAF8FF"/>
                </a:solidFill>
                <a:latin typeface="Arial"/>
                <a:ea typeface="Arial"/>
                <a:cs typeface="Arial"/>
              </a:rPr>
              <a:t>Pilot clubs</a:t>
            </a:r>
          </a:p>
        </p:txBody>
      </p:sp>
      <p:sp>
        <p:nvSpPr>
          <p:cNvPr id="7" name="text-96">
            <a:extLst xmlns:a="http://schemas.openxmlformats.org/drawingml/2006/main">
              <a:ext uri="{FF2B5EF4-FFF2-40B4-BE49-F238E27FC236}">
                <a16:creationId xmlns:a16="http://schemas.microsoft.com/office/drawing/2014/main" id="{69BBCA35-3610-495F-AA4A-C2A18E467E86}"/>
              </a:ext>
            </a:extLst>
          </p:cNvPr>
          <p:cNvSpPr>
            <a:spLocks xmlns:a="http://schemas.openxmlformats.org/drawingml/2006/main" noGrp="1"/>
          </p:cNvSpPr>
          <p:nvPr/>
        </p:nvSpPr>
        <p:spPr>
          <a:xfrm xmlns:a="http://schemas.openxmlformats.org/drawingml/2006/main">
            <a:off x="628650" y="37528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58BFF"/>
                </a:solidFill>
                <a:latin typeface="Arial"/>
                <a:ea typeface="Arial"/>
                <a:cs typeface="Arial"/>
              </a:defRPr>
            </a:pPr>
            <a:r>
              <a:rPr sz="1725" b="0">
                <a:solidFill>
                  <a:srgbClr val="B58BFF"/>
                </a:solidFill>
                <a:latin typeface="Arial"/>
                <a:ea typeface="Arial"/>
                <a:cs typeface="Arial"/>
              </a:rPr>
              <a:t>Weeks 1–4</a:t>
            </a:r>
          </a:p>
        </p:txBody>
      </p:sp>
      <p:sp>
        <p:nvSpPr>
          <p:cNvPr id="8" name="text-97">
            <a:extLst xmlns:a="http://schemas.openxmlformats.org/drawingml/2006/main">
              <a:ext uri="{FF2B5EF4-FFF2-40B4-BE49-F238E27FC236}">
                <a16:creationId xmlns:a16="http://schemas.microsoft.com/office/drawing/2014/main" id="{F899D9F4-183A-401D-BF51-770BF054B4DC}"/>
              </a:ext>
            </a:extLst>
          </p:cNvPr>
          <p:cNvSpPr>
            <a:spLocks xmlns:a="http://schemas.openxmlformats.org/drawingml/2006/main" noGrp="1"/>
          </p:cNvSpPr>
          <p:nvPr/>
        </p:nvSpPr>
        <p:spPr>
          <a:xfrm xmlns:a="http://schemas.openxmlformats.org/drawingml/2006/main">
            <a:off x="628650" y="4238625"/>
            <a:ext cx="335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Select different club formats.</a:t>
            </a:r>
          </a:p>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Configure, train and observe</a:t>
            </a:r>
          </a:p>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real operating shifts.</a:t>
            </a:r>
          </a:p>
        </p:txBody>
      </p:sp>
      <p:sp>
        <p:nvSpPr>
          <p:cNvPr id="9" name="text-98">
            <a:extLst xmlns:a="http://schemas.openxmlformats.org/drawingml/2006/main">
              <a:ext uri="{FF2B5EF4-FFF2-40B4-BE49-F238E27FC236}">
                <a16:creationId xmlns:a16="http://schemas.microsoft.com/office/drawing/2014/main" id="{9213521F-B706-44B3-9453-7413DCD1D537}"/>
              </a:ext>
            </a:extLst>
          </p:cNvPr>
          <p:cNvSpPr>
            <a:spLocks xmlns:a="http://schemas.openxmlformats.org/drawingml/2006/main" noGrp="1"/>
          </p:cNvSpPr>
          <p:nvPr/>
        </p:nvSpPr>
        <p:spPr>
          <a:xfrm xmlns:a="http://schemas.openxmlformats.org/drawingml/2006/main">
            <a:off x="4362450" y="2114550"/>
            <a:ext cx="327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675" b="1">
                <a:solidFill>
                  <a:srgbClr val="B58BFF"/>
                </a:solidFill>
                <a:latin typeface="Arial"/>
                <a:ea typeface="Arial"/>
                <a:cs typeface="Arial"/>
              </a:defRPr>
            </a:pPr>
            <a:r>
              <a:rPr sz="6675" b="1">
                <a:solidFill>
                  <a:srgbClr val="B58BFF"/>
                </a:solidFill>
                <a:latin typeface="Arial"/>
                <a:ea typeface="Arial"/>
                <a:cs typeface="Arial"/>
              </a:rPr>
              <a:t>8</a:t>
            </a:r>
          </a:p>
        </p:txBody>
      </p:sp>
      <p:sp>
        <p:nvSpPr>
          <p:cNvPr id="10" name="text-99">
            <a:extLst xmlns:a="http://schemas.openxmlformats.org/drawingml/2006/main">
              <a:ext uri="{FF2B5EF4-FFF2-40B4-BE49-F238E27FC236}">
                <a16:creationId xmlns:a16="http://schemas.microsoft.com/office/drawing/2014/main" id="{28BE8838-0852-4446-9A2C-FE50D8093146}"/>
              </a:ext>
            </a:extLst>
          </p:cNvPr>
          <p:cNvSpPr>
            <a:spLocks xmlns:a="http://schemas.openxmlformats.org/drawingml/2006/main" noGrp="1"/>
          </p:cNvSpPr>
          <p:nvPr/>
        </p:nvSpPr>
        <p:spPr>
          <a:xfrm xmlns:a="http://schemas.openxmlformats.org/drawingml/2006/main">
            <a:off x="4362450" y="3257550"/>
            <a:ext cx="327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FAF8FF"/>
                </a:solidFill>
                <a:latin typeface="Arial"/>
                <a:ea typeface="Arial"/>
                <a:cs typeface="Arial"/>
              </a:defRPr>
            </a:pPr>
            <a:r>
              <a:rPr sz="2250" b="1">
                <a:solidFill>
                  <a:srgbClr val="FAF8FF"/>
                </a:solidFill>
                <a:latin typeface="Arial"/>
                <a:ea typeface="Arial"/>
                <a:cs typeface="Arial"/>
              </a:rPr>
              <a:t>Expansion clubs</a:t>
            </a:r>
          </a:p>
        </p:txBody>
      </p:sp>
      <p:sp>
        <p:nvSpPr>
          <p:cNvPr id="11" name="text-100">
            <a:extLst xmlns:a="http://schemas.openxmlformats.org/drawingml/2006/main">
              <a:ext uri="{FF2B5EF4-FFF2-40B4-BE49-F238E27FC236}">
                <a16:creationId xmlns:a16="http://schemas.microsoft.com/office/drawing/2014/main" id="{10B7AF91-85B9-4725-8F0A-FC942C722094}"/>
              </a:ext>
            </a:extLst>
          </p:cNvPr>
          <p:cNvSpPr>
            <a:spLocks xmlns:a="http://schemas.openxmlformats.org/drawingml/2006/main" noGrp="1"/>
          </p:cNvSpPr>
          <p:nvPr/>
        </p:nvSpPr>
        <p:spPr>
          <a:xfrm xmlns:a="http://schemas.openxmlformats.org/drawingml/2006/main">
            <a:off x="4362450" y="37528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58BFF"/>
                </a:solidFill>
                <a:latin typeface="Arial"/>
                <a:ea typeface="Arial"/>
                <a:cs typeface="Arial"/>
              </a:defRPr>
            </a:pPr>
            <a:r>
              <a:rPr sz="1725" b="0">
                <a:solidFill>
                  <a:srgbClr val="B58BFF"/>
                </a:solidFill>
                <a:latin typeface="Arial"/>
                <a:ea typeface="Arial"/>
                <a:cs typeface="Arial"/>
              </a:rPr>
              <a:t>Weeks 5–8</a:t>
            </a:r>
          </a:p>
        </p:txBody>
      </p:sp>
      <p:sp>
        <p:nvSpPr>
          <p:cNvPr id="12" name="text-101">
            <a:extLst xmlns:a="http://schemas.openxmlformats.org/drawingml/2006/main">
              <a:ext uri="{FF2B5EF4-FFF2-40B4-BE49-F238E27FC236}">
                <a16:creationId xmlns:a16="http://schemas.microsoft.com/office/drawing/2014/main" id="{6C783B65-D3E1-45E4-A422-A75B908565B9}"/>
              </a:ext>
            </a:extLst>
          </p:cNvPr>
          <p:cNvSpPr>
            <a:spLocks xmlns:a="http://schemas.openxmlformats.org/drawingml/2006/main" noGrp="1"/>
          </p:cNvSpPr>
          <p:nvPr/>
        </p:nvSpPr>
        <p:spPr>
          <a:xfrm xmlns:a="http://schemas.openxmlformats.org/drawingml/2006/main">
            <a:off x="4362450" y="4238625"/>
            <a:ext cx="335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Use the approved playbook.</a:t>
            </a:r>
          </a:p>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Train local champions and</a:t>
            </a:r>
          </a:p>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review adoption each week.</a:t>
            </a:r>
          </a:p>
        </p:txBody>
      </p:sp>
      <p:sp>
        <p:nvSpPr>
          <p:cNvPr id="13" name="text-102">
            <a:extLst xmlns:a="http://schemas.openxmlformats.org/drawingml/2006/main">
              <a:ext uri="{FF2B5EF4-FFF2-40B4-BE49-F238E27FC236}">
                <a16:creationId xmlns:a16="http://schemas.microsoft.com/office/drawing/2014/main" id="{8671890B-E658-4CB0-BEAE-88ACE45DDAD3}"/>
              </a:ext>
            </a:extLst>
          </p:cNvPr>
          <p:cNvSpPr>
            <a:spLocks xmlns:a="http://schemas.openxmlformats.org/drawingml/2006/main" noGrp="1"/>
          </p:cNvSpPr>
          <p:nvPr/>
        </p:nvSpPr>
        <p:spPr>
          <a:xfrm xmlns:a="http://schemas.openxmlformats.org/drawingml/2006/main">
            <a:off x="8096250" y="2114550"/>
            <a:ext cx="327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675" b="1">
                <a:solidFill>
                  <a:srgbClr val="B58BFF"/>
                </a:solidFill>
                <a:latin typeface="Arial"/>
                <a:ea typeface="Arial"/>
                <a:cs typeface="Arial"/>
              </a:defRPr>
            </a:pPr>
            <a:r>
              <a:rPr sz="6675" b="1">
                <a:solidFill>
                  <a:srgbClr val="B58BFF"/>
                </a:solidFill>
                <a:latin typeface="Arial"/>
                <a:ea typeface="Arial"/>
                <a:cs typeface="Arial"/>
              </a:rPr>
              <a:t>15</a:t>
            </a:r>
          </a:p>
        </p:txBody>
      </p:sp>
      <p:sp>
        <p:nvSpPr>
          <p:cNvPr id="14" name="text-103">
            <a:extLst xmlns:a="http://schemas.openxmlformats.org/drawingml/2006/main">
              <a:ext uri="{FF2B5EF4-FFF2-40B4-BE49-F238E27FC236}">
                <a16:creationId xmlns:a16="http://schemas.microsoft.com/office/drawing/2014/main" id="{1C2A4CA9-7434-420A-89B5-2080648876AD}"/>
              </a:ext>
            </a:extLst>
          </p:cNvPr>
          <p:cNvSpPr>
            <a:spLocks xmlns:a="http://schemas.openxmlformats.org/drawingml/2006/main" noGrp="1"/>
          </p:cNvSpPr>
          <p:nvPr/>
        </p:nvSpPr>
        <p:spPr>
          <a:xfrm xmlns:a="http://schemas.openxmlformats.org/drawingml/2006/main">
            <a:off x="8096250" y="3257550"/>
            <a:ext cx="327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FAF8FF"/>
                </a:solidFill>
                <a:latin typeface="Arial"/>
                <a:ea typeface="Arial"/>
                <a:cs typeface="Arial"/>
              </a:defRPr>
            </a:pPr>
            <a:r>
              <a:rPr sz="2250" b="1">
                <a:solidFill>
                  <a:srgbClr val="FAF8FF"/>
                </a:solidFill>
                <a:latin typeface="Arial"/>
                <a:ea typeface="Arial"/>
                <a:cs typeface="Arial"/>
              </a:rPr>
              <a:t>Remaining clubs</a:t>
            </a:r>
          </a:p>
        </p:txBody>
      </p:sp>
      <p:sp>
        <p:nvSpPr>
          <p:cNvPr id="15" name="text-104">
            <a:extLst xmlns:a="http://schemas.openxmlformats.org/drawingml/2006/main">
              <a:ext uri="{FF2B5EF4-FFF2-40B4-BE49-F238E27FC236}">
                <a16:creationId xmlns:a16="http://schemas.microsoft.com/office/drawing/2014/main" id="{90AAFD7E-CAB1-414C-BB9E-75E8BD022243}"/>
              </a:ext>
            </a:extLst>
          </p:cNvPr>
          <p:cNvSpPr>
            <a:spLocks xmlns:a="http://schemas.openxmlformats.org/drawingml/2006/main" noGrp="1"/>
          </p:cNvSpPr>
          <p:nvPr/>
        </p:nvSpPr>
        <p:spPr>
          <a:xfrm xmlns:a="http://schemas.openxmlformats.org/drawingml/2006/main">
            <a:off x="8096250" y="37528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58BFF"/>
                </a:solidFill>
                <a:latin typeface="Arial"/>
                <a:ea typeface="Arial"/>
                <a:cs typeface="Arial"/>
              </a:defRPr>
            </a:pPr>
            <a:r>
              <a:rPr sz="1725" b="0">
                <a:solidFill>
                  <a:srgbClr val="B58BFF"/>
                </a:solidFill>
                <a:latin typeface="Arial"/>
                <a:ea typeface="Arial"/>
                <a:cs typeface="Arial"/>
              </a:rPr>
              <a:t>Weeks 9–12</a:t>
            </a:r>
          </a:p>
        </p:txBody>
      </p:sp>
      <p:sp>
        <p:nvSpPr>
          <p:cNvPr id="16" name="text-105">
            <a:extLst xmlns:a="http://schemas.openxmlformats.org/drawingml/2006/main">
              <a:ext uri="{FF2B5EF4-FFF2-40B4-BE49-F238E27FC236}">
                <a16:creationId xmlns:a16="http://schemas.microsoft.com/office/drawing/2014/main" id="{929EA87F-1BCB-4C5F-BBFF-11405C1D2B91}"/>
              </a:ext>
            </a:extLst>
          </p:cNvPr>
          <p:cNvSpPr>
            <a:spLocks xmlns:a="http://schemas.openxmlformats.org/drawingml/2006/main" noGrp="1"/>
          </p:cNvSpPr>
          <p:nvPr/>
        </p:nvSpPr>
        <p:spPr>
          <a:xfrm xmlns:a="http://schemas.openxmlformats.org/drawingml/2006/main">
            <a:off x="8096250" y="4238625"/>
            <a:ext cx="335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Roll out by region or readiness.</a:t>
            </a:r>
          </a:p>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Support each launch and</a:t>
            </a:r>
          </a:p>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review group performance.</a:t>
            </a:r>
          </a:p>
        </p:txBody>
      </p:sp>
      <p:sp>
        <p:nvSpPr>
          <p:cNvPr id="17" name="text-106">
            <a:extLst xmlns:a="http://schemas.openxmlformats.org/drawingml/2006/main">
              <a:ext uri="{FF2B5EF4-FFF2-40B4-BE49-F238E27FC236}">
                <a16:creationId xmlns:a16="http://schemas.microsoft.com/office/drawing/2014/main" id="{100094FE-9A19-46E3-A0FF-11AC88E8B438}"/>
              </a:ext>
            </a:extLst>
          </p:cNvPr>
          <p:cNvSpPr>
            <a:spLocks xmlns:a="http://schemas.openxmlformats.org/drawingml/2006/main" noGrp="1"/>
          </p:cNvSpPr>
          <p:nvPr/>
        </p:nvSpPr>
        <p:spPr>
          <a:xfrm xmlns:a="http://schemas.openxmlformats.org/drawingml/2006/main">
            <a:off x="628650" y="557212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FAF8FF"/>
                </a:solidFill>
                <a:latin typeface="Arial"/>
                <a:ea typeface="Arial"/>
                <a:cs typeface="Arial"/>
              </a:defRPr>
            </a:pPr>
            <a:r>
              <a:rPr sz="1950" b="1">
                <a:solidFill>
                  <a:srgbClr val="FAF8FF"/>
                </a:solidFill>
                <a:latin typeface="Arial"/>
                <a:ea typeface="Arial"/>
                <a:cs typeface="Arial"/>
              </a:rPr>
              <a:t>Expansion gate</a:t>
            </a:r>
          </a:p>
        </p:txBody>
      </p:sp>
      <p:sp>
        <p:nvSpPr>
          <p:cNvPr id="18" name="text-107">
            <a:extLst xmlns:a="http://schemas.openxmlformats.org/drawingml/2006/main">
              <a:ext uri="{FF2B5EF4-FFF2-40B4-BE49-F238E27FC236}">
                <a16:creationId xmlns:a16="http://schemas.microsoft.com/office/drawing/2014/main" id="{306913F5-4FCC-4145-B5A8-80304E6A8B94}"/>
              </a:ext>
            </a:extLst>
          </p:cNvPr>
          <p:cNvSpPr>
            <a:spLocks xmlns:a="http://schemas.openxmlformats.org/drawingml/2006/main" noGrp="1"/>
          </p:cNvSpPr>
          <p:nvPr/>
        </p:nvSpPr>
        <p:spPr>
          <a:xfrm xmlns:a="http://schemas.openxmlformats.org/drawingml/2006/main">
            <a:off x="3295650" y="5562600"/>
            <a:ext cx="82296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Accurate rosters, trained staff, working table requests and</a:t>
            </a:r>
          </a:p>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an agreed contribution model before the next wave.</a:t>
            </a:r>
          </a:p>
        </p:txBody>
      </p:sp>
    </p:spTree>
    <p:extLst>
      <p:ext uri="{BB962C8B-B14F-4D97-AF65-F5344CB8AC3E}">
        <p14:creationId xmlns:p14="http://schemas.microsoft.com/office/powerpoint/2010/main" val="209545747"/>
      </p:ext>
    </p:extLst>
  </p:cSld>
</p:sld>
</file>

<file path=ppt/slides/slide10.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21" name="text-108">
            <a:extLst xmlns:a="http://schemas.openxmlformats.org/drawingml/2006/main">
              <a:ext uri="{FF2B5EF4-FFF2-40B4-BE49-F238E27FC236}">
                <a16:creationId xmlns:a16="http://schemas.microsoft.com/office/drawing/2014/main" id="{DAE7854C-5F1A-4AE1-B38B-8157236954A7}"/>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Hands-on onboarding for your business</a:t>
            </a:r>
          </a:p>
        </p:txBody>
      </p:sp>
      <p:sp>
        <p:nvSpPr>
          <p:cNvPr id="2" name="text-109">
            <a:extLst xmlns:a="http://schemas.openxmlformats.org/drawingml/2006/main">
              <a:ext uri="{FF2B5EF4-FFF2-40B4-BE49-F238E27FC236}">
                <a16:creationId xmlns:a16="http://schemas.microsoft.com/office/drawing/2014/main" id="{E9E57743-652D-4CB5-97FB-BFE5F3066676}"/>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Proposed implementation services, agreed with your operations and marketing teams</a:t>
            </a:r>
          </a:p>
        </p:txBody>
      </p:sp>
      <p:sp>
        <p:nvSpPr>
          <p:cNvPr id="3" name="text-110">
            <a:extLst xmlns:a="http://schemas.openxmlformats.org/drawingml/2006/main">
              <a:ext uri="{FF2B5EF4-FFF2-40B4-BE49-F238E27FC236}">
                <a16:creationId xmlns:a16="http://schemas.microsoft.com/office/drawing/2014/main" id="{1C78DF7F-BB0D-4BC2-A812-041551209E10}"/>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111">
            <a:extLst xmlns:a="http://schemas.openxmlformats.org/drawingml/2006/main">
              <a:ext uri="{FF2B5EF4-FFF2-40B4-BE49-F238E27FC236}">
                <a16:creationId xmlns:a16="http://schemas.microsoft.com/office/drawing/2014/main" id="{A7B2421E-6980-4C98-A32C-65B8FBE4A945}"/>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10</a:t>
            </a:r>
          </a:p>
        </p:txBody>
      </p:sp>
      <p:sp>
        <p:nvSpPr>
          <p:cNvPr id="5" name="text-112">
            <a:extLst xmlns:a="http://schemas.openxmlformats.org/drawingml/2006/main">
              <a:ext uri="{FF2B5EF4-FFF2-40B4-BE49-F238E27FC236}">
                <a16:creationId xmlns:a16="http://schemas.microsoft.com/office/drawing/2014/main" id="{A00E926D-ECA8-42CD-9200-408D13FBADB8}"/>
              </a:ext>
            </a:extLst>
          </p:cNvPr>
          <p:cNvSpPr>
            <a:spLocks xmlns:a="http://schemas.openxmlformats.org/drawingml/2006/main" noGrp="1"/>
          </p:cNvSpPr>
          <p:nvPr/>
        </p:nvSpPr>
        <p:spPr>
          <a:xfrm xmlns:a="http://schemas.openxmlformats.org/drawingml/2006/main">
            <a:off x="628650" y="213360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58BFF"/>
                </a:solidFill>
                <a:latin typeface="Arial"/>
                <a:ea typeface="Arial"/>
                <a:cs typeface="Arial"/>
              </a:defRPr>
            </a:pPr>
            <a:r>
              <a:rPr sz="2025" b="1">
                <a:solidFill>
                  <a:srgbClr val="B58BFF"/>
                </a:solidFill>
                <a:latin typeface="Arial"/>
                <a:ea typeface="Arial"/>
                <a:cs typeface="Arial"/>
              </a:rPr>
              <a:t>01</a:t>
            </a:r>
          </a:p>
        </p:txBody>
      </p:sp>
      <p:sp>
        <p:nvSpPr>
          <p:cNvPr id="6" name="text-113">
            <a:extLst xmlns:a="http://schemas.openxmlformats.org/drawingml/2006/main">
              <a:ext uri="{FF2B5EF4-FFF2-40B4-BE49-F238E27FC236}">
                <a16:creationId xmlns:a16="http://schemas.microsoft.com/office/drawing/2014/main" id="{25B9D13E-9522-4318-A1CF-C182F3BE5B00}"/>
              </a:ext>
            </a:extLst>
          </p:cNvPr>
          <p:cNvSpPr>
            <a:spLocks xmlns:a="http://schemas.openxmlformats.org/drawingml/2006/main" noGrp="1"/>
          </p:cNvSpPr>
          <p:nvPr/>
        </p:nvSpPr>
        <p:spPr>
          <a:xfrm xmlns:a="http://schemas.openxmlformats.org/drawingml/2006/main">
            <a:off x="1390650" y="2133600"/>
            <a:ext cx="6105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Discovery workshop</a:t>
            </a:r>
          </a:p>
        </p:txBody>
      </p:sp>
      <p:sp>
        <p:nvSpPr>
          <p:cNvPr id="7" name="text-114">
            <a:extLst xmlns:a="http://schemas.openxmlformats.org/drawingml/2006/main">
              <a:ext uri="{FF2B5EF4-FFF2-40B4-BE49-F238E27FC236}">
                <a16:creationId xmlns:a16="http://schemas.microsoft.com/office/drawing/2014/main" id="{D20183EB-ED0B-4859-961F-E8F43F8E929F}"/>
              </a:ext>
            </a:extLst>
          </p:cNvPr>
          <p:cNvSpPr>
            <a:spLocks xmlns:a="http://schemas.openxmlformats.org/drawingml/2006/main" noGrp="1"/>
          </p:cNvSpPr>
          <p:nvPr/>
        </p:nvSpPr>
        <p:spPr>
          <a:xfrm xmlns:a="http://schemas.openxmlformats.org/drawingml/2006/main">
            <a:off x="1390650" y="2524125"/>
            <a:ext cx="6105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C6C0D3"/>
                </a:solidFill>
                <a:latin typeface="Arial"/>
                <a:ea typeface="Arial"/>
                <a:cs typeface="Arial"/>
              </a:defRPr>
            </a:pPr>
            <a:r>
              <a:rPr sz="1650" b="0">
                <a:solidFill>
                  <a:srgbClr val="C6C0D3"/>
                </a:solidFill>
                <a:latin typeface="Arial"/>
                <a:ea typeface="Arial"/>
                <a:cs typeface="Arial"/>
              </a:rPr>
              <a:t>Map club formats, guest flow and success measures.</a:t>
            </a:r>
          </a:p>
        </p:txBody>
      </p:sp>
      <p:sp>
        <p:nvSpPr>
          <p:cNvPr id="8" name="text-115">
            <a:extLst xmlns:a="http://schemas.openxmlformats.org/drawingml/2006/main">
              <a:ext uri="{FF2B5EF4-FFF2-40B4-BE49-F238E27FC236}">
                <a16:creationId xmlns:a16="http://schemas.microsoft.com/office/drawing/2014/main" id="{52F4DABC-9787-4D66-9BA0-64932A51F2C0}"/>
              </a:ext>
            </a:extLst>
          </p:cNvPr>
          <p:cNvSpPr>
            <a:spLocks xmlns:a="http://schemas.openxmlformats.org/drawingml/2006/main" noGrp="1"/>
          </p:cNvSpPr>
          <p:nvPr/>
        </p:nvSpPr>
        <p:spPr>
          <a:xfrm xmlns:a="http://schemas.openxmlformats.org/drawingml/2006/main">
            <a:off x="628650" y="302895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58BFF"/>
                </a:solidFill>
                <a:latin typeface="Arial"/>
                <a:ea typeface="Arial"/>
                <a:cs typeface="Arial"/>
              </a:defRPr>
            </a:pPr>
            <a:r>
              <a:rPr sz="2025" b="1">
                <a:solidFill>
                  <a:srgbClr val="B58BFF"/>
                </a:solidFill>
                <a:latin typeface="Arial"/>
                <a:ea typeface="Arial"/>
                <a:cs typeface="Arial"/>
              </a:rPr>
              <a:t>02</a:t>
            </a:r>
          </a:p>
        </p:txBody>
      </p:sp>
      <p:sp>
        <p:nvSpPr>
          <p:cNvPr id="9" name="text-116">
            <a:extLst xmlns:a="http://schemas.openxmlformats.org/drawingml/2006/main">
              <a:ext uri="{FF2B5EF4-FFF2-40B4-BE49-F238E27FC236}">
                <a16:creationId xmlns:a16="http://schemas.microsoft.com/office/drawing/2014/main" id="{A77BFF4E-86F9-4069-B17F-50FCAC2941C5}"/>
              </a:ext>
            </a:extLst>
          </p:cNvPr>
          <p:cNvSpPr>
            <a:spLocks xmlns:a="http://schemas.openxmlformats.org/drawingml/2006/main" noGrp="1"/>
          </p:cNvSpPr>
          <p:nvPr/>
        </p:nvSpPr>
        <p:spPr>
          <a:xfrm xmlns:a="http://schemas.openxmlformats.org/drawingml/2006/main">
            <a:off x="1390650" y="3028950"/>
            <a:ext cx="6105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Guided configuration</a:t>
            </a:r>
          </a:p>
        </p:txBody>
      </p:sp>
      <p:sp>
        <p:nvSpPr>
          <p:cNvPr id="10" name="text-117">
            <a:extLst xmlns:a="http://schemas.openxmlformats.org/drawingml/2006/main">
              <a:ext uri="{FF2B5EF4-FFF2-40B4-BE49-F238E27FC236}">
                <a16:creationId xmlns:a16="http://schemas.microsoft.com/office/drawing/2014/main" id="{0C449D22-7FB5-4B47-A191-C4497E864967}"/>
              </a:ext>
            </a:extLst>
          </p:cNvPr>
          <p:cNvSpPr>
            <a:spLocks xmlns:a="http://schemas.openxmlformats.org/drawingml/2006/main" noGrp="1"/>
          </p:cNvSpPr>
          <p:nvPr/>
        </p:nvSpPr>
        <p:spPr>
          <a:xfrm xmlns:a="http://schemas.openxmlformats.org/drawingml/2006/main">
            <a:off x="1390650" y="3419475"/>
            <a:ext cx="6105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C6C0D3"/>
                </a:solidFill>
                <a:latin typeface="Arial"/>
                <a:ea typeface="Arial"/>
                <a:cs typeface="Arial"/>
              </a:defRPr>
            </a:pPr>
            <a:r>
              <a:rPr sz="1650" b="0">
                <a:solidFill>
                  <a:srgbClr val="C6C0D3"/>
                </a:solidFill>
                <a:latin typeface="Arial"/>
                <a:ea typeface="Arial"/>
                <a:cs typeface="Arial"/>
              </a:rPr>
              <a:t>Prepare club pages, approved offers, tables and team roles.</a:t>
            </a:r>
          </a:p>
        </p:txBody>
      </p:sp>
      <p:sp>
        <p:nvSpPr>
          <p:cNvPr id="11" name="text-118">
            <a:extLst xmlns:a="http://schemas.openxmlformats.org/drawingml/2006/main">
              <a:ext uri="{FF2B5EF4-FFF2-40B4-BE49-F238E27FC236}">
                <a16:creationId xmlns:a16="http://schemas.microsoft.com/office/drawing/2014/main" id="{254A5B90-480D-4571-8905-1CF265580F9A}"/>
              </a:ext>
            </a:extLst>
          </p:cNvPr>
          <p:cNvSpPr>
            <a:spLocks xmlns:a="http://schemas.openxmlformats.org/drawingml/2006/main" noGrp="1"/>
          </p:cNvSpPr>
          <p:nvPr/>
        </p:nvSpPr>
        <p:spPr>
          <a:xfrm xmlns:a="http://schemas.openxmlformats.org/drawingml/2006/main">
            <a:off x="628650" y="392430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58BFF"/>
                </a:solidFill>
                <a:latin typeface="Arial"/>
                <a:ea typeface="Arial"/>
                <a:cs typeface="Arial"/>
              </a:defRPr>
            </a:pPr>
            <a:r>
              <a:rPr sz="2025" b="1">
                <a:solidFill>
                  <a:srgbClr val="B58BFF"/>
                </a:solidFill>
                <a:latin typeface="Arial"/>
                <a:ea typeface="Arial"/>
                <a:cs typeface="Arial"/>
              </a:rPr>
              <a:t>03</a:t>
            </a:r>
          </a:p>
        </p:txBody>
      </p:sp>
      <p:sp>
        <p:nvSpPr>
          <p:cNvPr id="12" name="text-119">
            <a:extLst xmlns:a="http://schemas.openxmlformats.org/drawingml/2006/main">
              <a:ext uri="{FF2B5EF4-FFF2-40B4-BE49-F238E27FC236}">
                <a16:creationId xmlns:a16="http://schemas.microsoft.com/office/drawing/2014/main" id="{8969780C-D5E3-41F3-ABBF-571DDC88908A}"/>
              </a:ext>
            </a:extLst>
          </p:cNvPr>
          <p:cNvSpPr>
            <a:spLocks xmlns:a="http://schemas.openxmlformats.org/drawingml/2006/main" noGrp="1"/>
          </p:cNvSpPr>
          <p:nvPr/>
        </p:nvSpPr>
        <p:spPr>
          <a:xfrm xmlns:a="http://schemas.openxmlformats.org/drawingml/2006/main">
            <a:off x="1390650" y="3924300"/>
            <a:ext cx="6105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Role-specific training</a:t>
            </a:r>
          </a:p>
        </p:txBody>
      </p:sp>
      <p:sp>
        <p:nvSpPr>
          <p:cNvPr id="13" name="text-120">
            <a:extLst xmlns:a="http://schemas.openxmlformats.org/drawingml/2006/main">
              <a:ext uri="{FF2B5EF4-FFF2-40B4-BE49-F238E27FC236}">
                <a16:creationId xmlns:a16="http://schemas.microsoft.com/office/drawing/2014/main" id="{3910837A-686A-4C86-8C1E-163A99013C6C}"/>
              </a:ext>
            </a:extLst>
          </p:cNvPr>
          <p:cNvSpPr>
            <a:spLocks xmlns:a="http://schemas.openxmlformats.org/drawingml/2006/main" noGrp="1"/>
          </p:cNvSpPr>
          <p:nvPr/>
        </p:nvSpPr>
        <p:spPr>
          <a:xfrm xmlns:a="http://schemas.openxmlformats.org/drawingml/2006/main">
            <a:off x="1390650" y="4314825"/>
            <a:ext cx="6105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C6C0D3"/>
                </a:solidFill>
                <a:latin typeface="Arial"/>
                <a:ea typeface="Arial"/>
                <a:cs typeface="Arial"/>
              </a:defRPr>
            </a:pPr>
            <a:r>
              <a:rPr sz="1650" b="0">
                <a:solidFill>
                  <a:srgbClr val="C6C0D3"/>
                </a:solidFill>
                <a:latin typeface="Arial"/>
                <a:ea typeface="Arial"/>
                <a:cs typeface="Arial"/>
              </a:rPr>
              <a:t>Coach managers, hosts, door staff and participating dancers.</a:t>
            </a:r>
          </a:p>
        </p:txBody>
      </p:sp>
      <p:sp>
        <p:nvSpPr>
          <p:cNvPr id="14" name="text-121">
            <a:extLst xmlns:a="http://schemas.openxmlformats.org/drawingml/2006/main">
              <a:ext uri="{FF2B5EF4-FFF2-40B4-BE49-F238E27FC236}">
                <a16:creationId xmlns:a16="http://schemas.microsoft.com/office/drawing/2014/main" id="{876BC21C-7B07-4DBB-8C6A-70727D8886B1}"/>
              </a:ext>
            </a:extLst>
          </p:cNvPr>
          <p:cNvSpPr>
            <a:spLocks xmlns:a="http://schemas.openxmlformats.org/drawingml/2006/main" noGrp="1"/>
          </p:cNvSpPr>
          <p:nvPr/>
        </p:nvSpPr>
        <p:spPr>
          <a:xfrm xmlns:a="http://schemas.openxmlformats.org/drawingml/2006/main">
            <a:off x="628650" y="481965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58BFF"/>
                </a:solidFill>
                <a:latin typeface="Arial"/>
                <a:ea typeface="Arial"/>
                <a:cs typeface="Arial"/>
              </a:defRPr>
            </a:pPr>
            <a:r>
              <a:rPr sz="2025" b="1">
                <a:solidFill>
                  <a:srgbClr val="B58BFF"/>
                </a:solidFill>
                <a:latin typeface="Arial"/>
                <a:ea typeface="Arial"/>
                <a:cs typeface="Arial"/>
              </a:rPr>
              <a:t>04</a:t>
            </a:r>
          </a:p>
        </p:txBody>
      </p:sp>
      <p:sp>
        <p:nvSpPr>
          <p:cNvPr id="15" name="text-122">
            <a:extLst xmlns:a="http://schemas.openxmlformats.org/drawingml/2006/main">
              <a:ext uri="{FF2B5EF4-FFF2-40B4-BE49-F238E27FC236}">
                <a16:creationId xmlns:a16="http://schemas.microsoft.com/office/drawing/2014/main" id="{C31233E5-AC93-44F1-A2FC-9B686D4C7457}"/>
              </a:ext>
            </a:extLst>
          </p:cNvPr>
          <p:cNvSpPr>
            <a:spLocks xmlns:a="http://schemas.openxmlformats.org/drawingml/2006/main" noGrp="1"/>
          </p:cNvSpPr>
          <p:nvPr/>
        </p:nvSpPr>
        <p:spPr>
          <a:xfrm xmlns:a="http://schemas.openxmlformats.org/drawingml/2006/main">
            <a:off x="1390650" y="4819650"/>
            <a:ext cx="6105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Launch support</a:t>
            </a:r>
          </a:p>
        </p:txBody>
      </p:sp>
      <p:sp>
        <p:nvSpPr>
          <p:cNvPr id="16" name="text-123">
            <a:extLst xmlns:a="http://schemas.openxmlformats.org/drawingml/2006/main">
              <a:ext uri="{FF2B5EF4-FFF2-40B4-BE49-F238E27FC236}">
                <a16:creationId xmlns:a16="http://schemas.microsoft.com/office/drawing/2014/main" id="{6DF10F2D-7F30-458F-905D-20CDA89C8A1F}"/>
              </a:ext>
            </a:extLst>
          </p:cNvPr>
          <p:cNvSpPr>
            <a:spLocks xmlns:a="http://schemas.openxmlformats.org/drawingml/2006/main" noGrp="1"/>
          </p:cNvSpPr>
          <p:nvPr/>
        </p:nvSpPr>
        <p:spPr>
          <a:xfrm xmlns:a="http://schemas.openxmlformats.org/drawingml/2006/main">
            <a:off x="1390650" y="5210175"/>
            <a:ext cx="6105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C6C0D3"/>
                </a:solidFill>
                <a:latin typeface="Arial"/>
                <a:ea typeface="Arial"/>
                <a:cs typeface="Arial"/>
              </a:defRPr>
            </a:pPr>
            <a:r>
              <a:rPr sz="1650" b="0">
                <a:solidFill>
                  <a:srgbClr val="C6C0D3"/>
                </a:solidFill>
                <a:latin typeface="Arial"/>
                <a:ea typeface="Arial"/>
                <a:cs typeface="Arial"/>
              </a:rPr>
              <a:t>Validate devices and workflows, then review results weekly.</a:t>
            </a:r>
          </a:p>
        </p:txBody>
      </p:sp>
      <p:sp>
        <p:nvSpPr>
          <p:cNvPr id="17" name="text-124">
            <a:extLst xmlns:a="http://schemas.openxmlformats.org/drawingml/2006/main">
              <a:ext uri="{FF2B5EF4-FFF2-40B4-BE49-F238E27FC236}">
                <a16:creationId xmlns:a16="http://schemas.microsoft.com/office/drawing/2014/main" id="{D90643F4-68A8-4670-A377-E1B3D238EE9D}"/>
              </a:ext>
            </a:extLst>
          </p:cNvPr>
          <p:cNvSpPr>
            <a:spLocks xmlns:a="http://schemas.openxmlformats.org/drawingml/2006/main" noGrp="1"/>
          </p:cNvSpPr>
          <p:nvPr/>
        </p:nvSpPr>
        <p:spPr>
          <a:xfrm xmlns:a="http://schemas.openxmlformats.org/drawingml/2006/main">
            <a:off x="8391525" y="2190750"/>
            <a:ext cx="3181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B58BFF"/>
                </a:solidFill>
                <a:latin typeface="Arial"/>
                <a:ea typeface="Arial"/>
                <a:cs typeface="Arial"/>
              </a:defRPr>
            </a:pPr>
            <a:r>
              <a:rPr sz="2100" b="1">
                <a:solidFill>
                  <a:srgbClr val="B58BFF"/>
                </a:solidFill>
                <a:latin typeface="Arial"/>
                <a:ea typeface="Arial"/>
                <a:cs typeface="Arial"/>
              </a:rPr>
              <a:t>Configured around your clubs</a:t>
            </a:r>
          </a:p>
        </p:txBody>
      </p:sp>
      <p:sp>
        <p:nvSpPr>
          <p:cNvPr id="18" name="text-125">
            <a:extLst xmlns:a="http://schemas.openxmlformats.org/drawingml/2006/main">
              <a:ext uri="{FF2B5EF4-FFF2-40B4-BE49-F238E27FC236}">
                <a16:creationId xmlns:a16="http://schemas.microsoft.com/office/drawing/2014/main" id="{B8E1B729-3A88-4FA9-AEC4-E7C62DBE980D}"/>
              </a:ext>
            </a:extLst>
          </p:cNvPr>
          <p:cNvSpPr>
            <a:spLocks xmlns:a="http://schemas.openxmlformats.org/drawingml/2006/main" noGrp="1"/>
          </p:cNvSpPr>
          <p:nvPr/>
        </p:nvSpPr>
        <p:spPr>
          <a:xfrm xmlns:a="http://schemas.openxmlformats.org/drawingml/2006/main">
            <a:off x="8391525" y="3057525"/>
            <a:ext cx="31813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FAF8FF"/>
                </a:solidFill>
                <a:latin typeface="Arial"/>
                <a:ea typeface="Arial"/>
                <a:cs typeface="Arial"/>
              </a:defRPr>
            </a:pPr>
            <a:r>
              <a:rPr sz="1725" b="0">
                <a:solidFill>
                  <a:srgbClr val="FAF8FF"/>
                </a:solidFill>
                <a:latin typeface="Arial"/>
                <a:ea typeface="Arial"/>
                <a:cs typeface="Arial"/>
              </a:rPr>
              <a:t>Brand details and approved offers</a:t>
            </a:r>
          </a:p>
          <a:p xmlns:a="http://schemas.openxmlformats.org/drawingml/2006/main">
            <a:pPr>
              <a:defRPr sz="1725" b="0">
                <a:solidFill>
                  <a:srgbClr val="FAF8FF"/>
                </a:solidFill>
                <a:latin typeface="Arial"/>
                <a:ea typeface="Arial"/>
                <a:cs typeface="Arial"/>
              </a:defRPr>
            </a:pPr>
            <a:r>
              <a:rPr sz="1725" b="0">
                <a:solidFill>
                  <a:srgbClr val="FAF8FF"/>
                </a:solidFill>
                <a:latin typeface="Arial"/>
                <a:ea typeface="Arial"/>
                <a:cs typeface="Arial"/>
              </a:rPr>
              <a:t>Table labels and floor workflow</a:t>
            </a:r>
          </a:p>
          <a:p xmlns:a="http://schemas.openxmlformats.org/drawingml/2006/main">
            <a:pPr>
              <a:defRPr sz="1725" b="0">
                <a:solidFill>
                  <a:srgbClr val="FAF8FF"/>
                </a:solidFill>
                <a:latin typeface="Arial"/>
                <a:ea typeface="Arial"/>
                <a:cs typeface="Arial"/>
              </a:defRPr>
            </a:pPr>
            <a:r>
              <a:rPr sz="1725" b="0">
                <a:solidFill>
                  <a:srgbClr val="FAF8FF"/>
                </a:solidFill>
                <a:latin typeface="Arial"/>
                <a:ea typeface="Arial"/>
                <a:cs typeface="Arial"/>
              </a:rPr>
              <a:t>Owner, manager and staff access</a:t>
            </a:r>
          </a:p>
          <a:p xmlns:a="http://schemas.openxmlformats.org/drawingml/2006/main">
            <a:pPr>
              <a:defRPr sz="1725" b="0">
                <a:solidFill>
                  <a:srgbClr val="FAF8FF"/>
                </a:solidFill>
                <a:latin typeface="Arial"/>
                <a:ea typeface="Arial"/>
                <a:cs typeface="Arial"/>
              </a:defRPr>
            </a:pPr>
            <a:r>
              <a:rPr sz="1725" b="0">
                <a:solidFill>
                  <a:srgbClr val="FAF8FF"/>
                </a:solidFill>
                <a:latin typeface="Arial"/>
                <a:ea typeface="Arial"/>
                <a:cs typeface="Arial"/>
              </a:rPr>
              <a:t>Dancer visibility choices</a:t>
            </a:r>
          </a:p>
        </p:txBody>
      </p:sp>
      <p:sp>
        <p:nvSpPr>
          <p:cNvPr id="19" name="text-126">
            <a:extLst xmlns:a="http://schemas.openxmlformats.org/drawingml/2006/main">
              <a:ext uri="{FF2B5EF4-FFF2-40B4-BE49-F238E27FC236}">
                <a16:creationId xmlns:a16="http://schemas.microsoft.com/office/drawing/2014/main" id="{D63308CD-0022-44E5-B780-ECCC2E6A73CC}"/>
              </a:ext>
            </a:extLst>
          </p:cNvPr>
          <p:cNvSpPr>
            <a:spLocks xmlns:a="http://schemas.openxmlformats.org/drawingml/2006/main" noGrp="1"/>
          </p:cNvSpPr>
          <p:nvPr/>
        </p:nvSpPr>
        <p:spPr>
          <a:xfrm xmlns:a="http://schemas.openxmlformats.org/drawingml/2006/main">
            <a:off x="8391525" y="4867275"/>
            <a:ext cx="3181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C6C0D3"/>
                </a:solidFill>
                <a:latin typeface="Arial"/>
                <a:ea typeface="Arial"/>
                <a:cs typeface="Arial"/>
              </a:defRPr>
            </a:pPr>
            <a:r>
              <a:rPr sz="1650" b="0">
                <a:solidFill>
                  <a:srgbClr val="C6C0D3"/>
                </a:solidFill>
                <a:latin typeface="Arial"/>
                <a:ea typeface="Arial"/>
                <a:cs typeface="Arial"/>
              </a:rPr>
              <a:t>Scope corporate reporting,</a:t>
            </a:r>
          </a:p>
          <a:p xmlns:a="http://schemas.openxmlformats.org/drawingml/2006/main">
            <a:pPr>
              <a:defRPr sz="1650" b="0">
                <a:solidFill>
                  <a:srgbClr val="C6C0D3"/>
                </a:solidFill>
                <a:latin typeface="Arial"/>
                <a:ea typeface="Arial"/>
                <a:cs typeface="Arial"/>
              </a:defRPr>
            </a:pPr>
            <a:r>
              <a:rPr sz="1650" b="0">
                <a:solidFill>
                  <a:srgbClr val="C6C0D3"/>
                </a:solidFill>
                <a:latin typeface="Arial"/>
                <a:ea typeface="Arial"/>
                <a:cs typeface="Arial"/>
              </a:rPr>
              <a:t>integrations and operating-rule</a:t>
            </a:r>
          </a:p>
          <a:p xmlns:a="http://schemas.openxmlformats.org/drawingml/2006/main">
            <a:pPr>
              <a:defRPr sz="1650" b="0">
                <a:solidFill>
                  <a:srgbClr val="C6C0D3"/>
                </a:solidFill>
                <a:latin typeface="Arial"/>
                <a:ea typeface="Arial"/>
                <a:cs typeface="Arial"/>
              </a:defRPr>
            </a:pPr>
            <a:r>
              <a:rPr sz="1650" b="0">
                <a:solidFill>
                  <a:srgbClr val="C6C0D3"/>
                </a:solidFill>
                <a:latin typeface="Arial"/>
                <a:ea typeface="Arial"/>
                <a:cs typeface="Arial"/>
              </a:rPr>
              <a:t>changes together before rollout.</a:t>
            </a:r>
          </a:p>
        </p:txBody>
      </p:sp>
      <p:sp>
        <p:nvSpPr>
          <p:cNvPr id="20" name="text-127">
            <a:extLst xmlns:a="http://schemas.openxmlformats.org/drawingml/2006/main">
              <a:ext uri="{FF2B5EF4-FFF2-40B4-BE49-F238E27FC236}">
                <a16:creationId xmlns:a16="http://schemas.microsoft.com/office/drawing/2014/main" id="{8F3A966E-6F41-4A38-9E11-1049217DD125}"/>
              </a:ext>
            </a:extLst>
          </p:cNvPr>
          <p:cNvSpPr>
            <a:spLocks xmlns:a="http://schemas.openxmlformats.org/drawingml/2006/main" noGrp="1"/>
          </p:cNvSpPr>
          <p:nvPr/>
        </p:nvSpPr>
        <p:spPr>
          <a:xfrm xmlns:a="http://schemas.openxmlformats.org/drawingml/2006/main">
            <a:off x="628650" y="60102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58BFF"/>
                </a:solidFill>
                <a:latin typeface="Arial"/>
                <a:ea typeface="Arial"/>
                <a:cs typeface="Arial"/>
              </a:defRPr>
            </a:pPr>
            <a:r>
              <a:rPr sz="2025" b="1">
                <a:solidFill>
                  <a:srgbClr val="B58BFF"/>
                </a:solidFill>
                <a:latin typeface="Arial"/>
                <a:ea typeface="Arial"/>
                <a:cs typeface="Arial"/>
              </a:rPr>
              <a:t>Next step: select three pilot clubs and book a joint implementation workshop</a:t>
            </a:r>
          </a:p>
        </p:txBody>
      </p:sp>
    </p:spTree>
    <p:extLst>
      <p:ext uri="{BB962C8B-B14F-4D97-AF65-F5344CB8AC3E}">
        <p14:creationId xmlns:p14="http://schemas.microsoft.com/office/powerpoint/2010/main" val="9922902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2026-10-02T09:22:10.7000000Z</dcterms:created>
  <dcterms:modified xsi:type="dcterms:W3CDTF">2026-10-02T09:22:10.7000000Z</dcterms:modified>
</coreProperties>
</file>