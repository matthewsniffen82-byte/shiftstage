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15b514dd12438c" /><Relationship Type="http://schemas.openxmlformats.org/officeDocument/2006/relationships/extended-properties" Target="/docProps/app.xml" Id="Re3ac144b774b4e21" /><Relationship Type="http://schemas.openxmlformats.org/officeDocument/2006/relationships/officeDocument" Target="/ppt/presentation.xml" Id="Ree47b97992044401" /></Relationships>
</file>

<file path=ppt/presentation.xml><?xml version="1.0" encoding="utf-8"?>
<p:presentation xmlns:p="http://schemas.openxmlformats.org/presentationml/2006/main">
  <p:sldMasterIdLst>
    <p:sldMasterId xmlns:r="http://schemas.openxmlformats.org/officeDocument/2006/relationships" id="2147483648" r:id="R75bc3cc302084266"/>
  </p:sldMasterIdLst>
  <p:notesMasterIdLst>
    <p:notesMasterId xmlns:r="http://schemas.openxmlformats.org/officeDocument/2006/relationships" r:id="R14ce29ab775b41dd"/>
  </p:notesMasterIdLst>
  <p:sldIdLst>
    <p:sldId xmlns:r="http://schemas.openxmlformats.org/officeDocument/2006/relationships" id="256" r:id="R4dbd0701313f43f8"/>
    <p:sldId xmlns:r="http://schemas.openxmlformats.org/officeDocument/2006/relationships" id="257" r:id="R4769437ea2fe4d54"/>
    <p:sldId xmlns:r="http://schemas.openxmlformats.org/officeDocument/2006/relationships" id="258" r:id="R743a9a82f0d64fa2"/>
    <p:sldId xmlns:r="http://schemas.openxmlformats.org/officeDocument/2006/relationships" id="259" r:id="Rbd48d440d6b044ed"/>
    <p:sldId xmlns:r="http://schemas.openxmlformats.org/officeDocument/2006/relationships" id="260" r:id="R7f6cb03134964c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9213fec79e48c2" /><Relationship Type="http://schemas.openxmlformats.org/officeDocument/2006/relationships/slideMaster" Target="/ppt/slideMasters/slideMaster1.xml" Id="R75bc3cc302084266" /><Relationship Type="http://schemas.openxmlformats.org/officeDocument/2006/relationships/notesMaster" Target="/ppt/notesMasters/notesMaster1.xml" Id="R14ce29ab775b41dd" /><Relationship Type="http://schemas.openxmlformats.org/officeDocument/2006/relationships/presProps" Target="/ppt/presProps.xml" Id="Rd3e86974b24c4310" /><Relationship Type="http://schemas.openxmlformats.org/officeDocument/2006/relationships/tableStyles" Target="/ppt/tableStyles.xml" Id="Re20094bc597e4226" /><Relationship Type="http://schemas.openxmlformats.org/officeDocument/2006/relationships/slide" Target="/ppt/slides/slide1.xml" Id="R4dbd0701313f43f8" /><Relationship Type="http://schemas.openxmlformats.org/officeDocument/2006/relationships/slide" Target="/ppt/slides/slide2.xml" Id="R4769437ea2fe4d54" /><Relationship Type="http://schemas.openxmlformats.org/officeDocument/2006/relationships/slide" Target="/ppt/slides/slide3.xml" Id="R743a9a82f0d64fa2" /><Relationship Type="http://schemas.openxmlformats.org/officeDocument/2006/relationships/slide" Target="/ppt/slides/slide4.xml" Id="Rbd48d440d6b044ed" /><Relationship Type="http://schemas.openxmlformats.org/officeDocument/2006/relationships/slide" Target="/ppt/slides/slide5.xml" Id="R7f6cb03134964c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26d0ee78424b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b906dc6d9541db" /><Relationship Type="http://schemas.openxmlformats.org/officeDocument/2006/relationships/notesMaster" Target="/ppt/notesMasters/notesMaster1.xml" Id="R8b00b29f18e149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bcd23600684e21" /><Relationship Type="http://schemas.openxmlformats.org/officeDocument/2006/relationships/notesMaster" Target="/ppt/notesMasters/notesMaster1.xml" Id="Rad0a8082e5e047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df6ab7821d4d60" /><Relationship Type="http://schemas.openxmlformats.org/officeDocument/2006/relationships/notesMaster" Target="/ppt/notesMasters/notesMaster1.xml" Id="R3160dd224ec24f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c7ecc803de41cb" /><Relationship Type="http://schemas.openxmlformats.org/officeDocument/2006/relationships/notesMaster" Target="/ppt/notesMasters/notesMaster1.xml" Id="Rce150ee5160040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84075386fa4873" /><Relationship Type="http://schemas.openxmlformats.org/officeDocument/2006/relationships/notesMaster" Target="/ppt/notesMasters/notesMaster1.xml" Id="Rd15d6b75acbf45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MyDancr provides public discovery and guest actions alongside venue-scoped operational tools and reporting. This presentation contains five slides. Product screens use fictional demo venues and profiles. The analytics examples are invented for illustration and are not operating results or promises of financial return. Corporate comparison is a management reporting example; do not present a consolidated corporate dashboard or a single-login multi-venue switcher as an implemented feature.</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D:\Codex\MyDancr-clean-2026-09-11\app\dashboard\VenueDashboardPanels.tsx</a:t>
            </a:r>
          </a:p>
          <a:p xmlns:a="http://schemas.openxmlformats.org/drawingml/2006/main">
            <a:r>
              <a:t>D:\Codex\MyDancr-clean-2026-09-11\src\lib\dancr\venue-access.ts</a:t>
            </a:r>
          </a:p>
          <a:p xmlns:a="http://schemas.openxmlformats.org/drawingml/2006/main">
            <a:r>
              <a:t>D:\Codex\MyDancr-clean-2026-09-11\public\dancr-brand-tokens.v1.css</a:t>
            </a:r>
          </a:p>
          <a:p xmlns:a="http://schemas.openxmlformats.org/drawingml/2006/main">
            <a:r>
              <a:t>D:\Codex\MyDancr-clean-2026-09-11\outputs\dancr-hero.png</a:t>
            </a:r>
          </a:p>
          <a:p xmlns:a="http://schemas.openxmlformats.org/drawingml/2006/main">
            <a:r>
              <a:t>D:\Codex\MyDancr-clean-2026-09-11\outputs\mydancr-logo-current.png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an existing demo capture, not live business performance; details of styling may differ from the current app. Free Entry includes independent arrival-method, transport and guest-list paths. Guest-list submission sends contact information to the venue and issues an entry pass. Pickup availability depends on the club. A saved I’m Going choice is intent, not a confirmed arrival. Following and saved offers are customer features; do not promise guaranteed repeat visits.</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D:\Codex\MyDancr-clean-2026-09-11\src\live-shell\app\02-venue-interactions.js</a:t>
            </a:r>
          </a:p>
          <a:p xmlns:a="http://schemas.openxmlformats.org/drawingml/2006/main">
            <a:r>
              <a:t>D:\Codex\MyDancr-clean-2026-09-11\app\dashboard\CustomerDashboardPanels.tsx</a:t>
            </a:r>
          </a:p>
          <a:p xmlns:a="http://schemas.openxmlformats.org/drawingml/2006/main">
            <a:r>
              <a:t>D:\Codex\MyDancr-clean-2026-09-11\app\dashboard\VenueGuestListPanel.tsx</a:t>
            </a:r>
          </a:p>
          <a:p xmlns:a="http://schemas.openxmlformats.org/drawingml/2006/main">
            <a:r>
              <a:t>D:\Codex\MyDancr-clean-2026-09-11\app\dashboard\PickupDashboardPanel.tsx</a:t>
            </a:r>
          </a:p>
          <a:p xmlns:a="http://schemas.openxmlformats.org/drawingml/2006/main">
            <a:r>
              <a:t>D:\Codex\MyDancr-clean-2026-09-11\tmp\aesthetic-review\clubs-mobile.png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screenshot shows the in-club guest table view. Dancer availability is subject to change and staff coordinate requests; this is not a guaranteed booking or assignment. Owner, manager and staff permissions differ. Owners manage team access; managers and staff have constrained permissions. MyDancr prepares the club page and manages Club Deals; venue teams review/approve their page and request deal changes. Public and internal visibility are chosen by the dancer at check-in.</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D:\Codex\MyDancr-clean-2026-09-11\app\internal\InternalRoster.tsx</a:t>
            </a:r>
          </a:p>
          <a:p xmlns:a="http://schemas.openxmlformats.org/drawingml/2006/main">
            <a:r>
              <a:t>D:\Codex\MyDancr-clean-2026-09-11\app\dashboard\VenueNfcTagPanel.tsx</a:t>
            </a:r>
          </a:p>
          <a:p xmlns:a="http://schemas.openxmlformats.org/drawingml/2006/main">
            <a:r>
              <a:t>D:\Codex\MyDancr-clean-2026-09-11\app\dashboard\VenueTeamPanel.tsx</a:t>
            </a:r>
          </a:p>
          <a:p xmlns:a="http://schemas.openxmlformats.org/drawingml/2006/main">
            <a:r>
              <a:t>D:\Codex\MyDancr-clean-2026-09-11\app\dashboard\VenueDashboardPanels.tsx</a:t>
            </a:r>
          </a:p>
          <a:p xmlns:a="http://schemas.openxmlformats.org/drawingml/2006/main">
            <a:r>
              <a:t>D:\Codex\MyDancr-clean-2026-09-11\src\lib\dancr\venue-access.ts</a:t>
            </a:r>
          </a:p>
          <a:p xmlns:a="http://schemas.openxmlformats.org/drawingml/2006/main">
            <a:r>
              <a:t>D:\Codex\MyDancr-clean-2026-09-11\.qa\internal-brightness\live-desktop.png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illustrative. Current: claims 480, confirmed pass uses 312, pickups 96, impressions 18,400, unique browsers 4,200, directions 640, new followers 185. Previous 30 days: claims 400, pass uses 240, pickups 80. Changes are (current / previous - 1): 20%, 30%, 20%. Conversion is cohort redemptions / passes claimed = 312 / 480 = 65%; the example deliberately assumes period admissions and cohort redemptions coincide. Real data can differ. The product supports Tonight, 7 days and 30 days; this slide uses an illustrative closed 30-day report, not an existing custom-date picker. Current per-club reports include customer actions by source, activity tied to individual dancers, and attributed TV video activity. Cost per admission is unavailable until subscription cost for the same period is connected. No revenue or ROI estimate is presented.</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figure is invented for demonstration. Pass claims sum to 1,240; confirmed pass uses sum to 784; pickups sum to 228; new followers sum to 455. Group conversion is the weighted ratio 784 / 1,240 = 63.2258%, shown as 63.2%, not the unweighted average of venue percentages. As on slide 4, each venue assumes the same-period confirmed pass uses belong to that period’s claims. New follower totals are venue follows, not deduplicated group customers. Suggested management questions are hypotheses for review, not causal conclusions or guaranteed performance gains. The current application resolves access per venue; the comparison shown here is an illustrative assembled report and does not claim an implemented corporate roll-up dashboard, portfolio login or automatic consolidated export. Use common reporting windows, local operating context and consistent metric definitions when comparing locations.</a:t>
            </a:r>
          </a:p>
          <a:p xmlns:a="http://schemas.openxmlformats.org/drawingml/2006/main">
            <a:r>
              <a:t/>
            </a:r>
          </a:p>
          <a:p xmlns:a="http://schemas.openxmlformats.org/drawingml/2006/main">
            <a:r>
              <a:t>Product source references (repository files,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9b4d0eb35249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46bf7735d74144" /><Relationship Type="http://schemas.openxmlformats.org/officeDocument/2006/relationships/slideLayout" Target="/ppt/slideLayouts/slideLayout1.xml" Id="Re1b186102e8943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b186102e8943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d67d3d56084a36" /><Relationship Type="http://schemas.openxmlformats.org/officeDocument/2006/relationships/image" Target="/ppt/media/image.png" Id="R7716e51d30b04890" /><Relationship Type="http://schemas.openxmlformats.org/officeDocument/2006/relationships/image" Target="/ppt/media/image2.png" Id="R167f183807714622" /><Relationship Type="http://schemas.openxmlformats.org/officeDocument/2006/relationships/notesSlide" Target="/ppt/notesSlides/notesSlide1.xml" Id="Rf134b88ef3474e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e4a6d568d7478c" /><Relationship Type="http://schemas.openxmlformats.org/officeDocument/2006/relationships/image" Target="/ppt/media/image3.png" Id="Rf083aafe84934dc5" /><Relationship Type="http://schemas.openxmlformats.org/officeDocument/2006/relationships/notesSlide" Target="/ppt/notesSlides/notesSlide2.xml" Id="Ra2c6c2b35b6141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18c07ace484544" /><Relationship Type="http://schemas.openxmlformats.org/officeDocument/2006/relationships/image" Target="/ppt/media/image4.png" Id="R50103e9c5d6d4504" /><Relationship Type="http://schemas.openxmlformats.org/officeDocument/2006/relationships/notesSlide" Target="/ppt/notesSlides/notesSlide3.xml" Id="R7531622be9ef4a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05980ce89246da" /><Relationship Type="http://schemas.openxmlformats.org/officeDocument/2006/relationships/chart" Target="/ppt/slides/charts/chart1.xml" Id="R5f73e45530704a5d" /><Relationship Type="http://schemas.openxmlformats.org/officeDocument/2006/relationships/notesSlide" Target="/ppt/notesSlides/notesSlide4.xml" Id="R77aea9c5e3514e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3620f2e9734c1d" /><Relationship Type="http://schemas.openxmlformats.org/officeDocument/2006/relationships/notesSlide" Target="/ppt/notesSlides/notesSlide5.xml" Id="R5ae08cf5d0b744c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Previous 30 days</c:v>
          </c:tx>
          <c:spPr>
            <a:solidFill xmlns:a="http://schemas.openxmlformats.org/drawingml/2006/main">
              <a:srgbClr val="67557C"/>
            </a:solidFill>
          </c:spPr>
          <c:cat>
            <c:strRef>
              <c:f>'Chart Data'!$A$2:$A$4</c:f>
              <c:strCache>
                <c:ptCount val="3"/>
                <c:pt idx="0">
                  <c:v>Pass claims</c:v>
                </c:pt>
                <c:pt idx="1">
                  <c:v>QR pass uses</c:v>
                </c:pt>
                <c:pt idx="2">
                  <c:v>Pickup requests</c:v>
                </c:pt>
              </c:strCache>
            </c:strRef>
          </c:cat>
          <c:val>
            <c:numRef>
              <c:f>'Chart Data'!$B$2:$B$4</c:f>
              <c:numCache>
                <c:formatCode>General</c:formatCode>
                <c:ptCount val="3"/>
                <c:pt idx="0">
                  <c:v>400</c:v>
                </c:pt>
                <c:pt idx="1">
                  <c:v>240</c:v>
                </c:pt>
                <c:pt idx="2">
                  <c:v>80</c:v>
                </c:pt>
              </c:numCache>
            </c:numRef>
          </c:val>
        </c:ser>
        <c:ser>
          <c:idx val="1"/>
          <c:order val="1"/>
          <c:tx>
            <c:v>September</c:v>
          </c:tx>
          <c:spPr>
            <a:solidFill xmlns:a="http://schemas.openxmlformats.org/drawingml/2006/main">
              <a:srgbClr val="B88AFF"/>
            </a:solidFill>
          </c:spPr>
          <c:cat>
            <c:strRef>
              <c:f>'Chart Data'!$C$2:$C$4</c:f>
              <c:strCache>
                <c:ptCount val="3"/>
                <c:pt idx="0">
                  <c:v>Pass claims</c:v>
                </c:pt>
                <c:pt idx="1">
                  <c:v>QR pass uses</c:v>
                </c:pt>
                <c:pt idx="2">
                  <c:v>Pickup requests</c:v>
                </c:pt>
              </c:strCache>
            </c:strRef>
          </c:cat>
          <c:val>
            <c:numRef>
              <c:f>'Chart Data'!$D$2:$D$4</c:f>
              <c:numCache>
                <c:formatCode>General</c:formatCode>
                <c:ptCount val="3"/>
                <c:pt idx="0">
                  <c:v>480</c:v>
                </c:pt>
                <c:pt idx="1">
                  <c:v>312</c:v>
                </c:pt>
                <c:pt idx="2">
                  <c:v>96</c:v>
                </c:pt>
              </c:numCache>
            </c:numRef>
          </c:val>
        </c:ser>
        <c:dLbls>
          <c:txPr>
            <a:bodyPr xmlns:a="http://schemas.openxmlformats.org/drawingml/2006/main" anchorCtr="1"/>
            <a:lstStyle xmlns:a="http://schemas.openxmlformats.org/drawingml/2006/main"/>
            <a:p xmlns:a="http://schemas.openxmlformats.org/drawingml/2006/main">
              <a:pPr>
                <a:defRPr sz="1200">
                  <a:solidFill>
                    <a:srgbClr val="FAF8FF"/>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44365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C6C1D1"/>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FAF8FF"/>
                </a:solidFill>
                <a:latin typeface="Arial"/>
                <a:ea typeface="Arial"/>
                <a:cs typeface="Arial"/>
              </a:defRPr>
            </a:pPr>
          </a:p>
        </c:txPr>
        <c:crossAx val="48650112"/>
        <c:crossBetween val="between"/>
      </c:valAx>
      <c:spPr>
        <a:solidFill xmlns:a="http://schemas.openxmlformats.org/drawingml/2006/main">
          <a:srgbClr val="09070E"/>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C6C1D1"/>
              </a:solidFill>
              <a:latin typeface="Arial"/>
              <a:ea typeface="Arial"/>
              <a:cs typeface="Arial"/>
            </a:defRPr>
          </a:pPr>
        </a:p>
      </c:txPr>
    </c:legend>
    <c:plotVisOnly val="1"/>
  </c:chart>
  <c:spPr>
    <a:solidFill xmlns:a="http://schemas.openxmlformats.org/drawingml/2006/main">
      <a:srgbClr val="09070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41242D-1293-4DD9-934F-9AAC731BB6B0}"/>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2" name="">
            <a:extLst xmlns:a="http://schemas.openxmlformats.org/drawingml/2006/main">
              <a:ext uri="{FF2B5EF4-FFF2-40B4-BE49-F238E27FC236}">
                <a16:creationId xmlns:a16="http://schemas.microsoft.com/office/drawing/2014/main" id="{464664FC-938A-4832-AFE8-A4A68F1B9312}"/>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0">
                <a:solidFill>
                  <a:srgbClr val="C6C1D1"/>
                </a:solidFill>
                <a:latin typeface="Arial"/>
                <a:ea typeface="Arial"/>
                <a:cs typeface="Arial"/>
              </a:defRPr>
            </a:pPr>
            <a:r>
              <a:rPr sz="1125" b="0">
                <a:solidFill>
                  <a:srgbClr val="C6C1D1"/>
                </a:solidFill>
                <a:latin typeface="Arial"/>
                <a:ea typeface="Arial"/>
                <a:cs typeface="Arial"/>
              </a:rPr>
              <a:t>1 / 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716e51d30b04890"/>
          <a:stretch xmlns:a="http://schemas.openxmlformats.org/drawingml/2006/main"/>
        </p:blipFill>
        <p:spPr>
          <a:xfrm xmlns:a="http://schemas.openxmlformats.org/drawingml/2006/main">
            <a:off x="7677150" y="1976788"/>
            <a:ext cx="4257675" cy="2380549"/>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67f183807714622"/>
          <a:stretch xmlns:a="http://schemas.openxmlformats.org/drawingml/2006/main"/>
        </p:blipFill>
        <p:spPr>
          <a:xfrm xmlns:a="http://schemas.openxmlformats.org/drawingml/2006/main">
            <a:off x="590550" y="491502"/>
            <a:ext cx="2809875" cy="87437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4BBA8BF-43D5-473F-A160-F0ABEE62B2C5}"/>
              </a:ext>
            </a:extLst>
          </p:cNvPr>
          <p:cNvSpPr>
            <a:spLocks xmlns:a="http://schemas.openxmlformats.org/drawingml/2006/main" noGrp="1"/>
          </p:cNvSpPr>
          <p:nvPr/>
        </p:nvSpPr>
        <p:spPr>
          <a:xfrm xmlns:a="http://schemas.openxmlformats.org/drawingml/2006/main">
            <a:off x="571500" y="1914525"/>
            <a:ext cx="7572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AF8FF"/>
                </a:solidFill>
                <a:latin typeface="Arial"/>
                <a:ea typeface="Arial"/>
                <a:cs typeface="Arial"/>
              </a:defRPr>
            </a:pPr>
            <a:r>
              <a:rPr sz="4575" b="1">
                <a:solidFill>
                  <a:srgbClr val="FAF8FF"/>
                </a:solidFill>
                <a:latin typeface="Arial"/>
                <a:ea typeface="Arial"/>
                <a:cs typeface="Arial"/>
              </a:rPr>
              <a:t>Club operations &amp;</a:t>
            </a:r>
          </a:p>
          <a:p xmlns:a="http://schemas.openxmlformats.org/drawingml/2006/main">
            <a:pPr>
              <a:defRPr sz="4575" b="1">
                <a:solidFill>
                  <a:srgbClr val="FAF8FF"/>
                </a:solidFill>
                <a:latin typeface="Arial"/>
                <a:ea typeface="Arial"/>
                <a:cs typeface="Arial"/>
              </a:defRPr>
            </a:pPr>
            <a:r>
              <a:rPr sz="4575" b="1">
                <a:solidFill>
                  <a:srgbClr val="FAF8FF"/>
                </a:solidFill>
                <a:latin typeface="Arial"/>
                <a:ea typeface="Arial"/>
                <a:cs typeface="Arial"/>
              </a:rPr>
              <a:t>guest discovery</a:t>
            </a:r>
          </a:p>
        </p:txBody>
      </p:sp>
      <p:sp>
        <p:nvSpPr>
          <p:cNvPr id="6" name="">
            <a:extLst xmlns:a="http://schemas.openxmlformats.org/drawingml/2006/main">
              <a:ext uri="{FF2B5EF4-FFF2-40B4-BE49-F238E27FC236}">
                <a16:creationId xmlns:a16="http://schemas.microsoft.com/office/drawing/2014/main" id="{D8A07424-3E21-4087-A6E0-A948263367C7}"/>
              </a:ext>
            </a:extLst>
          </p:cNvPr>
          <p:cNvSpPr>
            <a:spLocks xmlns:a="http://schemas.openxmlformats.org/drawingml/2006/main" noGrp="1"/>
          </p:cNvSpPr>
          <p:nvPr/>
        </p:nvSpPr>
        <p:spPr>
          <a:xfrm xmlns:a="http://schemas.openxmlformats.org/drawingml/2006/main">
            <a:off x="619125" y="3762375"/>
            <a:ext cx="652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6C1D1"/>
                </a:solidFill>
                <a:latin typeface="Arial"/>
                <a:ea typeface="Arial"/>
                <a:cs typeface="Arial"/>
              </a:defRPr>
            </a:pPr>
            <a:r>
              <a:rPr sz="2250" b="0">
                <a:solidFill>
                  <a:srgbClr val="C6C1D1"/>
                </a:solidFill>
                <a:latin typeface="Arial"/>
                <a:ea typeface="Arial"/>
                <a:cs typeface="Arial"/>
              </a:rPr>
              <a:t>For club owners and groups</a:t>
            </a:r>
          </a:p>
          <a:p xmlns:a="http://schemas.openxmlformats.org/drawingml/2006/main">
            <a:pPr>
              <a:defRPr sz="2250" b="0">
                <a:solidFill>
                  <a:srgbClr val="C6C1D1"/>
                </a:solidFill>
                <a:latin typeface="Arial"/>
                <a:ea typeface="Arial"/>
                <a:cs typeface="Arial"/>
              </a:defRPr>
            </a:pPr>
            <a:r>
              <a:rPr sz="2250" b="0">
                <a:solidFill>
                  <a:srgbClr val="C6C1D1"/>
                </a:solidFill>
                <a:latin typeface="Arial"/>
                <a:ea typeface="Arial"/>
                <a:cs typeface="Arial"/>
              </a:rPr>
              <a:t>operating multiple venues</a:t>
            </a:r>
          </a:p>
        </p:txBody>
      </p:sp>
      <p:sp>
        <p:nvSpPr>
          <p:cNvPr id="7" name="">
            <a:extLst xmlns:a="http://schemas.openxmlformats.org/drawingml/2006/main">
              <a:ext uri="{FF2B5EF4-FFF2-40B4-BE49-F238E27FC236}">
                <a16:creationId xmlns:a16="http://schemas.microsoft.com/office/drawing/2014/main" id="{0EE95C7C-C9EA-4C7A-A501-F6F6A9F1D03E}"/>
              </a:ext>
            </a:extLst>
          </p:cNvPr>
          <p:cNvSpPr>
            <a:spLocks xmlns:a="http://schemas.openxmlformats.org/drawingml/2006/main" noGrp="1"/>
          </p:cNvSpPr>
          <p:nvPr/>
        </p:nvSpPr>
        <p:spPr>
          <a:xfrm xmlns:a="http://schemas.openxmlformats.org/drawingml/2006/main">
            <a:off x="619125" y="5095875"/>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AF8FF"/>
                </a:solidFill>
                <a:latin typeface="Arial"/>
                <a:ea typeface="Arial"/>
                <a:cs typeface="Arial"/>
              </a:defRPr>
            </a:pPr>
            <a:r>
              <a:rPr sz="1950" b="0">
                <a:solidFill>
                  <a:srgbClr val="FAF8FF"/>
                </a:solidFill>
                <a:latin typeface="Arial"/>
                <a:ea typeface="Arial"/>
                <a:cs typeface="Arial"/>
              </a:rPr>
              <a:t>Connect the guest experience with the club floor</a:t>
            </a:r>
          </a:p>
          <a:p xmlns:a="http://schemas.openxmlformats.org/drawingml/2006/main">
            <a:pPr>
              <a:defRPr sz="1950" b="0">
                <a:solidFill>
                  <a:srgbClr val="FAF8FF"/>
                </a:solidFill>
                <a:latin typeface="Arial"/>
                <a:ea typeface="Arial"/>
                <a:cs typeface="Arial"/>
              </a:defRPr>
            </a:pPr>
            <a:r>
              <a:rPr sz="1950" b="0">
                <a:solidFill>
                  <a:srgbClr val="FAF8FF"/>
                </a:solidFill>
                <a:latin typeface="Arial"/>
                <a:ea typeface="Arial"/>
                <a:cs typeface="Arial"/>
              </a:rPr>
              <a:t>and measurable activity at each location.</a:t>
            </a:r>
          </a:p>
        </p:txBody>
      </p:sp>
    </p:spTree>
    <p:extLst>
      <p:ext uri="{BB962C8B-B14F-4D97-AF65-F5344CB8AC3E}">
        <p14:creationId xmlns:p14="http://schemas.microsoft.com/office/powerpoint/2010/main" val="1808670197"/>
      </p:ext>
    </p:extLst>
  </p:cSld>
</p:sld>
</file>

<file path=ppt/slides/slide2.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D63A7C-0929-4D08-B3D6-337B5401DC35}"/>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The guest experience</a:t>
            </a:r>
          </a:p>
        </p:txBody>
      </p:sp>
      <p:sp>
        <p:nvSpPr>
          <p:cNvPr id="2" name="">
            <a:extLst xmlns:a="http://schemas.openxmlformats.org/drawingml/2006/main">
              <a:ext uri="{FF2B5EF4-FFF2-40B4-BE49-F238E27FC236}">
                <a16:creationId xmlns:a16="http://schemas.microsoft.com/office/drawing/2014/main" id="{AD214686-117B-44A4-8B88-BB5C77253DBF}"/>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6C1D1"/>
                </a:solidFill>
                <a:latin typeface="Arial"/>
                <a:ea typeface="Arial"/>
                <a:cs typeface="Arial"/>
              </a:defRPr>
            </a:pPr>
            <a:r>
              <a:rPr sz="1650" b="0">
                <a:solidFill>
                  <a:srgbClr val="C6C1D1"/>
                </a:solidFill>
                <a:latin typeface="Arial"/>
                <a:ea typeface="Arial"/>
                <a:cs typeface="Arial"/>
              </a:rPr>
              <a:t>Discovery, visit planning and entry in one customer journey</a:t>
            </a:r>
          </a:p>
        </p:txBody>
      </p:sp>
      <p:sp>
        <p:nvSpPr>
          <p:cNvPr id="3" name="">
            <a:extLst xmlns:a="http://schemas.openxmlformats.org/drawingml/2006/main">
              <a:ext uri="{FF2B5EF4-FFF2-40B4-BE49-F238E27FC236}">
                <a16:creationId xmlns:a16="http://schemas.microsoft.com/office/drawing/2014/main" id="{DF904837-8E3D-474C-95AD-EABB1E39FC96}"/>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5DC19584-EE3F-4A5B-B4EC-CFB4991D277E}"/>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0">
                <a:solidFill>
                  <a:srgbClr val="C6C1D1"/>
                </a:solidFill>
                <a:latin typeface="Arial"/>
                <a:ea typeface="Arial"/>
                <a:cs typeface="Arial"/>
              </a:defRPr>
            </a:pPr>
            <a:r>
              <a:rPr sz="1125" b="0">
                <a:solidFill>
                  <a:srgbClr val="C6C1D1"/>
                </a:solidFill>
                <a:latin typeface="Arial"/>
                <a:ea typeface="Arial"/>
                <a:cs typeface="Arial"/>
              </a:rPr>
              <a:t>2 / 5</a:t>
            </a:r>
          </a:p>
        </p:txBody>
      </p:sp>
      <p:sp>
        <p:nvSpPr>
          <p:cNvPr id="5" name="">
            <a:extLst xmlns:a="http://schemas.openxmlformats.org/drawingml/2006/main">
              <a:ext uri="{FF2B5EF4-FFF2-40B4-BE49-F238E27FC236}">
                <a16:creationId xmlns:a16="http://schemas.microsoft.com/office/drawing/2014/main" id="{6952C330-4409-4F8F-9F4C-378BD2B7F9D0}"/>
              </a:ext>
            </a:extLst>
          </p:cNvPr>
          <p:cNvSpPr>
            <a:spLocks xmlns:a="http://schemas.openxmlformats.org/drawingml/2006/main" noGrp="1"/>
          </p:cNvSpPr>
          <p:nvPr/>
        </p:nvSpPr>
        <p:spPr>
          <a:xfrm xmlns:a="http://schemas.openxmlformats.org/drawingml/2006/main">
            <a:off x="619125" y="19335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88AFF"/>
                </a:solidFill>
                <a:latin typeface="Arial"/>
                <a:ea typeface="Arial"/>
                <a:cs typeface="Arial"/>
              </a:defRPr>
            </a:pPr>
            <a:r>
              <a:rPr sz="2025" b="1">
                <a:solidFill>
                  <a:srgbClr val="B88AFF"/>
                </a:solidFill>
                <a:latin typeface="Arial"/>
                <a:ea typeface="Arial"/>
                <a:cs typeface="Arial"/>
              </a:rPr>
              <a:t>Find a club and see who’s working</a:t>
            </a:r>
          </a:p>
        </p:txBody>
      </p:sp>
      <p:sp>
        <p:nvSpPr>
          <p:cNvPr id="6" name="">
            <a:extLst xmlns:a="http://schemas.openxmlformats.org/drawingml/2006/main">
              <a:ext uri="{FF2B5EF4-FFF2-40B4-BE49-F238E27FC236}">
                <a16:creationId xmlns:a16="http://schemas.microsoft.com/office/drawing/2014/main" id="{7BFE09CC-A289-4C47-8BD2-8576185E525C}"/>
              </a:ext>
            </a:extLst>
          </p:cNvPr>
          <p:cNvSpPr>
            <a:spLocks xmlns:a="http://schemas.openxmlformats.org/drawingml/2006/main" noGrp="1"/>
          </p:cNvSpPr>
          <p:nvPr/>
        </p:nvSpPr>
        <p:spPr>
          <a:xfrm xmlns:a="http://schemas.openxmlformats.org/drawingml/2006/main">
            <a:off x="619125" y="23431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Browse clubs by city, explore dancer profiles and schedules,</a:t>
            </a:r>
          </a:p>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and watch MyDancr TV videos.</a:t>
            </a:r>
          </a:p>
        </p:txBody>
      </p:sp>
      <p:sp>
        <p:nvSpPr>
          <p:cNvPr id="7" name="">
            <a:extLst xmlns:a="http://schemas.openxmlformats.org/drawingml/2006/main">
              <a:ext uri="{FF2B5EF4-FFF2-40B4-BE49-F238E27FC236}">
                <a16:creationId xmlns:a16="http://schemas.microsoft.com/office/drawing/2014/main" id="{5F13718D-AFF8-4933-928B-0A591294BF86}"/>
              </a:ext>
            </a:extLst>
          </p:cNvPr>
          <p:cNvSpPr>
            <a:spLocks xmlns:a="http://schemas.openxmlformats.org/drawingml/2006/main" noGrp="1"/>
          </p:cNvSpPr>
          <p:nvPr/>
        </p:nvSpPr>
        <p:spPr>
          <a:xfrm xmlns:a="http://schemas.openxmlformats.org/drawingml/2006/main">
            <a:off x="619125" y="33813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88AFF"/>
                </a:solidFill>
                <a:latin typeface="Arial"/>
                <a:ea typeface="Arial"/>
                <a:cs typeface="Arial"/>
              </a:defRPr>
            </a:pPr>
            <a:r>
              <a:rPr sz="2025" b="1">
                <a:solidFill>
                  <a:srgbClr val="B88AFF"/>
                </a:solidFill>
                <a:latin typeface="Arial"/>
                <a:ea typeface="Arial"/>
                <a:cs typeface="Arial"/>
              </a:rPr>
              <a:t>Choose an offer and plan the arrival</a:t>
            </a:r>
          </a:p>
        </p:txBody>
      </p:sp>
      <p:sp>
        <p:nvSpPr>
          <p:cNvPr id="8" name="">
            <a:extLst xmlns:a="http://schemas.openxmlformats.org/drawingml/2006/main">
              <a:ext uri="{FF2B5EF4-FFF2-40B4-BE49-F238E27FC236}">
                <a16:creationId xmlns:a16="http://schemas.microsoft.com/office/drawing/2014/main" id="{46534BA6-FE5A-4E69-BCD8-406850473751}"/>
              </a:ext>
            </a:extLst>
          </p:cNvPr>
          <p:cNvSpPr>
            <a:spLocks xmlns:a="http://schemas.openxmlformats.org/drawingml/2006/main" noGrp="1"/>
          </p:cNvSpPr>
          <p:nvPr/>
        </p:nvSpPr>
        <p:spPr>
          <a:xfrm xmlns:a="http://schemas.openxmlformats.org/drawingml/2006/main">
            <a:off x="619125" y="37909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Claim an entry pass, submit guest-list details or request</a:t>
            </a:r>
          </a:p>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a club pickup where offered. Get directions to the venue.</a:t>
            </a:r>
          </a:p>
        </p:txBody>
      </p:sp>
      <p:sp>
        <p:nvSpPr>
          <p:cNvPr id="9" name="">
            <a:extLst xmlns:a="http://schemas.openxmlformats.org/drawingml/2006/main">
              <a:ext uri="{FF2B5EF4-FFF2-40B4-BE49-F238E27FC236}">
                <a16:creationId xmlns:a16="http://schemas.microsoft.com/office/drawing/2014/main" id="{2B973BA3-6B7F-4899-9E17-63BD53C8471A}"/>
              </a:ext>
            </a:extLst>
          </p:cNvPr>
          <p:cNvSpPr>
            <a:spLocks xmlns:a="http://schemas.openxmlformats.org/drawingml/2006/main" noGrp="1"/>
          </p:cNvSpPr>
          <p:nvPr/>
        </p:nvSpPr>
        <p:spPr>
          <a:xfrm xmlns:a="http://schemas.openxmlformats.org/drawingml/2006/main">
            <a:off x="619125" y="48291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88AFF"/>
                </a:solidFill>
                <a:latin typeface="Arial"/>
                <a:ea typeface="Arial"/>
                <a:cs typeface="Arial"/>
              </a:defRPr>
            </a:pPr>
            <a:r>
              <a:rPr sz="2025" b="1">
                <a:solidFill>
                  <a:srgbClr val="B88AFF"/>
                </a:solidFill>
                <a:latin typeface="Arial"/>
                <a:ea typeface="Arial"/>
                <a:cs typeface="Arial"/>
              </a:rPr>
              <a:t>Stay connected</a:t>
            </a:r>
          </a:p>
        </p:txBody>
      </p:sp>
      <p:sp>
        <p:nvSpPr>
          <p:cNvPr id="10" name="">
            <a:extLst xmlns:a="http://schemas.openxmlformats.org/drawingml/2006/main">
              <a:ext uri="{FF2B5EF4-FFF2-40B4-BE49-F238E27FC236}">
                <a16:creationId xmlns:a16="http://schemas.microsoft.com/office/drawing/2014/main" id="{8935E40B-5618-448B-B540-099A597A4221}"/>
              </a:ext>
            </a:extLst>
          </p:cNvPr>
          <p:cNvSpPr>
            <a:spLocks xmlns:a="http://schemas.openxmlformats.org/drawingml/2006/main" noGrp="1"/>
          </p:cNvSpPr>
          <p:nvPr/>
        </p:nvSpPr>
        <p:spPr>
          <a:xfrm xmlns:a="http://schemas.openxmlformats.org/drawingml/2006/main">
            <a:off x="619125" y="52387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Follow clubs and dancers, save offers and mark</a:t>
            </a:r>
          </a:p>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“I’m Going” to signal a planned visit.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083aafe84934dc5"/>
          <a:stretch xmlns:a="http://schemas.openxmlformats.org/drawingml/2006/main"/>
        </p:blipFill>
        <p:spPr>
          <a:xfrm xmlns:a="http://schemas.openxmlformats.org/drawingml/2006/main">
            <a:off x="9032869" y="1771650"/>
            <a:ext cx="2060586" cy="4467225"/>
          </a:xfrm>
          <a:prstGeom xmlns:a="http://schemas.openxmlformats.org/drawingml/2006/main" prst="rect">
            <a:avLst/>
          </a:prstGeom>
        </p:spPr>
      </p:pic>
    </p:spTree>
    <p:extLst>
      <p:ext uri="{BB962C8B-B14F-4D97-AF65-F5344CB8AC3E}">
        <p14:creationId xmlns:p14="http://schemas.microsoft.com/office/powerpoint/2010/main" val="416010741"/>
      </p:ext>
    </p:extLst>
  </p:cSld>
</p:sld>
</file>

<file path=ppt/slides/slide3.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67E5967-0F2E-49EC-B8E1-742E0DCAF68F}"/>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Inside the club</a:t>
            </a:r>
          </a:p>
        </p:txBody>
      </p:sp>
      <p:sp>
        <p:nvSpPr>
          <p:cNvPr id="2" name="">
            <a:extLst xmlns:a="http://schemas.openxmlformats.org/drawingml/2006/main">
              <a:ext uri="{FF2B5EF4-FFF2-40B4-BE49-F238E27FC236}">
                <a16:creationId xmlns:a16="http://schemas.microsoft.com/office/drawing/2014/main" id="{C8824FCD-F583-4102-A1D4-0DD43BAB68A2}"/>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6C1D1"/>
                </a:solidFill>
                <a:latin typeface="Arial"/>
                <a:ea typeface="Arial"/>
                <a:cs typeface="Arial"/>
              </a:defRPr>
            </a:pPr>
            <a:r>
              <a:rPr sz="1650" b="0">
                <a:solidFill>
                  <a:srgbClr val="C6C1D1"/>
                </a:solidFill>
                <a:latin typeface="Arial"/>
                <a:ea typeface="Arial"/>
                <a:cs typeface="Arial"/>
              </a:rPr>
              <a:t>Operational tools for owners, managers and staff</a:t>
            </a:r>
          </a:p>
        </p:txBody>
      </p:sp>
      <p:sp>
        <p:nvSpPr>
          <p:cNvPr id="3" name="">
            <a:extLst xmlns:a="http://schemas.openxmlformats.org/drawingml/2006/main">
              <a:ext uri="{FF2B5EF4-FFF2-40B4-BE49-F238E27FC236}">
                <a16:creationId xmlns:a16="http://schemas.microsoft.com/office/drawing/2014/main" id="{15E3C878-D68D-4846-ACA2-62CBE24C92C0}"/>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D3B4203-5BBF-4508-8A44-933177C8FC30}"/>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0">
                <a:solidFill>
                  <a:srgbClr val="C6C1D1"/>
                </a:solidFill>
                <a:latin typeface="Arial"/>
                <a:ea typeface="Arial"/>
                <a:cs typeface="Arial"/>
              </a:defRPr>
            </a:pPr>
            <a:r>
              <a:rPr sz="1125" b="0">
                <a:solidFill>
                  <a:srgbClr val="C6C1D1"/>
                </a:solidFill>
                <a:latin typeface="Arial"/>
                <a:ea typeface="Arial"/>
                <a:cs typeface="Arial"/>
              </a:rPr>
              <a:t>3 / 5</a:t>
            </a:r>
          </a:p>
        </p:txBody>
      </p:sp>
      <p:sp>
        <p:nvSpPr>
          <p:cNvPr id="5" name="">
            <a:extLst xmlns:a="http://schemas.openxmlformats.org/drawingml/2006/main">
              <a:ext uri="{FF2B5EF4-FFF2-40B4-BE49-F238E27FC236}">
                <a16:creationId xmlns:a16="http://schemas.microsoft.com/office/drawing/2014/main" id="{E744E986-68F4-4B26-8FD3-D2BE1E69E292}"/>
              </a:ext>
            </a:extLst>
          </p:cNvPr>
          <p:cNvSpPr>
            <a:spLocks xmlns:a="http://schemas.openxmlformats.org/drawingml/2006/main" noGrp="1"/>
          </p:cNvSpPr>
          <p:nvPr/>
        </p:nvSpPr>
        <p:spPr>
          <a:xfrm xmlns:a="http://schemas.openxmlformats.org/drawingml/2006/main">
            <a:off x="619125" y="18097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88AFF"/>
                </a:solidFill>
                <a:latin typeface="Arial"/>
                <a:ea typeface="Arial"/>
                <a:cs typeface="Arial"/>
              </a:defRPr>
            </a:pPr>
            <a:r>
              <a:rPr sz="2025" b="1">
                <a:solidFill>
                  <a:srgbClr val="B88AFF"/>
                </a:solidFill>
                <a:latin typeface="Arial"/>
                <a:ea typeface="Arial"/>
                <a:cs typeface="Arial"/>
              </a:rPr>
              <a:t>Live roster &amp; visibility</a:t>
            </a:r>
          </a:p>
        </p:txBody>
      </p:sp>
      <p:sp>
        <p:nvSpPr>
          <p:cNvPr id="6" name="">
            <a:extLst xmlns:a="http://schemas.openxmlformats.org/drawingml/2006/main">
              <a:ext uri="{FF2B5EF4-FFF2-40B4-BE49-F238E27FC236}">
                <a16:creationId xmlns:a16="http://schemas.microsoft.com/office/drawing/2014/main" id="{C6A47C3C-BF65-4ED0-A125-59804B5E8AB8}"/>
              </a:ext>
            </a:extLst>
          </p:cNvPr>
          <p:cNvSpPr>
            <a:spLocks xmlns:a="http://schemas.openxmlformats.org/drawingml/2006/main" noGrp="1"/>
          </p:cNvSpPr>
          <p:nvPr/>
        </p:nvSpPr>
        <p:spPr>
          <a:xfrm xmlns:a="http://schemas.openxmlformats.org/drawingml/2006/main">
            <a:off x="619125" y="2219325"/>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Dressing-room NFC check-in sets working status.</a:t>
            </a:r>
          </a:p>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Dancers choose internal and external visibility.</a:t>
            </a:r>
          </a:p>
        </p:txBody>
      </p:sp>
      <p:sp>
        <p:nvSpPr>
          <p:cNvPr id="7" name="">
            <a:extLst xmlns:a="http://schemas.openxmlformats.org/drawingml/2006/main">
              <a:ext uri="{FF2B5EF4-FFF2-40B4-BE49-F238E27FC236}">
                <a16:creationId xmlns:a16="http://schemas.microsoft.com/office/drawing/2014/main" id="{116F9917-B70A-426F-AE59-659134A689F6}"/>
              </a:ext>
            </a:extLst>
          </p:cNvPr>
          <p:cNvSpPr>
            <a:spLocks xmlns:a="http://schemas.openxmlformats.org/drawingml/2006/main" noGrp="1"/>
          </p:cNvSpPr>
          <p:nvPr/>
        </p:nvSpPr>
        <p:spPr>
          <a:xfrm xmlns:a="http://schemas.openxmlformats.org/drawingml/2006/main">
            <a:off x="619125" y="290512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88AFF"/>
                </a:solidFill>
                <a:latin typeface="Arial"/>
                <a:ea typeface="Arial"/>
                <a:cs typeface="Arial"/>
              </a:defRPr>
            </a:pPr>
            <a:r>
              <a:rPr sz="2025" b="1">
                <a:solidFill>
                  <a:srgbClr val="B88AFF"/>
                </a:solidFill>
                <a:latin typeface="Arial"/>
                <a:ea typeface="Arial"/>
                <a:cs typeface="Arial"/>
              </a:rPr>
              <a:t>Table QR requests</a:t>
            </a:r>
          </a:p>
        </p:txBody>
      </p:sp>
      <p:sp>
        <p:nvSpPr>
          <p:cNvPr id="8" name="">
            <a:extLst xmlns:a="http://schemas.openxmlformats.org/drawingml/2006/main">
              <a:ext uri="{FF2B5EF4-FFF2-40B4-BE49-F238E27FC236}">
                <a16:creationId xmlns:a16="http://schemas.microsoft.com/office/drawing/2014/main" id="{3FF2D131-F68B-4890-BA54-D21935AF4122}"/>
              </a:ext>
            </a:extLst>
          </p:cNvPr>
          <p:cNvSpPr>
            <a:spLocks xmlns:a="http://schemas.openxmlformats.org/drawingml/2006/main" noGrp="1"/>
          </p:cNvSpPr>
          <p:nvPr/>
        </p:nvSpPr>
        <p:spPr>
          <a:xfrm xmlns:a="http://schemas.openxmlformats.org/drawingml/2006/main">
            <a:off x="619125" y="3314700"/>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Guests view available dancers and send requests.</a:t>
            </a:r>
          </a:p>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Staff mark requests seen, complete or dismissed.</a:t>
            </a:r>
          </a:p>
        </p:txBody>
      </p:sp>
      <p:sp>
        <p:nvSpPr>
          <p:cNvPr id="9" name="">
            <a:extLst xmlns:a="http://schemas.openxmlformats.org/drawingml/2006/main">
              <a:ext uri="{FF2B5EF4-FFF2-40B4-BE49-F238E27FC236}">
                <a16:creationId xmlns:a16="http://schemas.microsoft.com/office/drawing/2014/main" id="{56EC9493-6D42-48C7-A5F7-5E448606808A}"/>
              </a:ext>
            </a:extLst>
          </p:cNvPr>
          <p:cNvSpPr>
            <a:spLocks xmlns:a="http://schemas.openxmlformats.org/drawingml/2006/main" noGrp="1"/>
          </p:cNvSpPr>
          <p:nvPr/>
        </p:nvSpPr>
        <p:spPr>
          <a:xfrm xmlns:a="http://schemas.openxmlformats.org/drawingml/2006/main">
            <a:off x="619125" y="400050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88AFF"/>
                </a:solidFill>
                <a:latin typeface="Arial"/>
                <a:ea typeface="Arial"/>
                <a:cs typeface="Arial"/>
              </a:defRPr>
            </a:pPr>
            <a:r>
              <a:rPr sz="2025" b="1">
                <a:solidFill>
                  <a:srgbClr val="B88AFF"/>
                </a:solidFill>
                <a:latin typeface="Arial"/>
                <a:ea typeface="Arial"/>
                <a:cs typeface="Arial"/>
              </a:rPr>
              <a:t>Guest arrivals</a:t>
            </a:r>
          </a:p>
        </p:txBody>
      </p:sp>
      <p:sp>
        <p:nvSpPr>
          <p:cNvPr id="10" name="">
            <a:extLst xmlns:a="http://schemas.openxmlformats.org/drawingml/2006/main">
              <a:ext uri="{FF2B5EF4-FFF2-40B4-BE49-F238E27FC236}">
                <a16:creationId xmlns:a16="http://schemas.microsoft.com/office/drawing/2014/main" id="{6C8982CA-5885-40A3-AF89-30E08663ED72}"/>
              </a:ext>
            </a:extLst>
          </p:cNvPr>
          <p:cNvSpPr>
            <a:spLocks xmlns:a="http://schemas.openxmlformats.org/drawingml/2006/main" noGrp="1"/>
          </p:cNvSpPr>
          <p:nvPr/>
        </p:nvSpPr>
        <p:spPr>
          <a:xfrm xmlns:a="http://schemas.openxmlformats.org/drawingml/2006/main">
            <a:off x="619125" y="4410075"/>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Review guest-list details, coordinate pickups</a:t>
            </a:r>
          </a:p>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and confirm entry-pass use at the club.</a:t>
            </a:r>
          </a:p>
        </p:txBody>
      </p:sp>
      <p:sp>
        <p:nvSpPr>
          <p:cNvPr id="11" name="">
            <a:extLst xmlns:a="http://schemas.openxmlformats.org/drawingml/2006/main">
              <a:ext uri="{FF2B5EF4-FFF2-40B4-BE49-F238E27FC236}">
                <a16:creationId xmlns:a16="http://schemas.microsoft.com/office/drawing/2014/main" id="{E5945CCE-9C13-4375-B25E-34593A410D34}"/>
              </a:ext>
            </a:extLst>
          </p:cNvPr>
          <p:cNvSpPr>
            <a:spLocks xmlns:a="http://schemas.openxmlformats.org/drawingml/2006/main" noGrp="1"/>
          </p:cNvSpPr>
          <p:nvPr/>
        </p:nvSpPr>
        <p:spPr>
          <a:xfrm xmlns:a="http://schemas.openxmlformats.org/drawingml/2006/main">
            <a:off x="619125" y="5095875"/>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88AFF"/>
                </a:solidFill>
                <a:latin typeface="Arial"/>
                <a:ea typeface="Arial"/>
                <a:cs typeface="Arial"/>
              </a:defRPr>
            </a:pPr>
            <a:r>
              <a:rPr sz="2025" b="1">
                <a:solidFill>
                  <a:srgbClr val="B88AFF"/>
                </a:solidFill>
                <a:latin typeface="Arial"/>
                <a:ea typeface="Arial"/>
                <a:cs typeface="Arial"/>
              </a:rPr>
              <a:t>Venue management</a:t>
            </a:r>
          </a:p>
        </p:txBody>
      </p:sp>
      <p:sp>
        <p:nvSpPr>
          <p:cNvPr id="12" name="">
            <a:extLst xmlns:a="http://schemas.openxmlformats.org/drawingml/2006/main">
              <a:ext uri="{FF2B5EF4-FFF2-40B4-BE49-F238E27FC236}">
                <a16:creationId xmlns:a16="http://schemas.microsoft.com/office/drawing/2014/main" id="{69AA1A54-1850-4DF1-80EF-8AF2534D8CAA}"/>
              </a:ext>
            </a:extLst>
          </p:cNvPr>
          <p:cNvSpPr>
            <a:spLocks xmlns:a="http://schemas.openxmlformats.org/drawingml/2006/main" noGrp="1"/>
          </p:cNvSpPr>
          <p:nvPr/>
        </p:nvSpPr>
        <p:spPr>
          <a:xfrm xmlns:a="http://schemas.openxmlformats.org/drawingml/2006/main">
            <a:off x="619125" y="5505450"/>
            <a:ext cx="709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Assign team roles, review activity, approve the</a:t>
            </a:r>
          </a:p>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prepared club page and request offer changes.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0103e9c5d6d4504"/>
          <a:stretch xmlns:a="http://schemas.openxmlformats.org/drawingml/2006/main"/>
        </p:blipFill>
        <p:spPr>
          <a:xfrm xmlns:a="http://schemas.openxmlformats.org/drawingml/2006/main">
            <a:off x="7877175" y="1810226"/>
            <a:ext cx="3657600" cy="4094798"/>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CBA32A7-068F-40A8-95D9-B617583B5AFF}"/>
              </a:ext>
            </a:extLst>
          </p:cNvPr>
          <p:cNvSpPr>
            <a:spLocks xmlns:a="http://schemas.openxmlformats.org/drawingml/2006/main" noGrp="1"/>
          </p:cNvSpPr>
          <p:nvPr/>
        </p:nvSpPr>
        <p:spPr>
          <a:xfrm xmlns:a="http://schemas.openxmlformats.org/drawingml/2006/main">
            <a:off x="7715250" y="6019800"/>
            <a:ext cx="3876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C6C1D1"/>
                </a:solidFill>
                <a:latin typeface="Arial"/>
                <a:ea typeface="Arial"/>
                <a:cs typeface="Arial"/>
              </a:defRPr>
            </a:pPr>
            <a:r>
              <a:rPr sz="1125" b="0">
                <a:solidFill>
                  <a:srgbClr val="C6C1D1"/>
                </a:solidFill>
                <a:latin typeface="Arial"/>
                <a:ea typeface="Arial"/>
                <a:cs typeface="Arial"/>
              </a:rPr>
              <a:t>Demo table view · requests remain staff-coordinated</a:t>
            </a:r>
          </a:p>
        </p:txBody>
      </p:sp>
    </p:spTree>
    <p:extLst>
      <p:ext uri="{BB962C8B-B14F-4D97-AF65-F5344CB8AC3E}">
        <p14:creationId xmlns:p14="http://schemas.microsoft.com/office/powerpoint/2010/main" val="1612359973"/>
      </p:ext>
    </p:extLst>
  </p:cSld>
</p:sld>
</file>

<file path=ppt/slides/slide4.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922CE6-0076-4B80-B741-D54F60925ABC}"/>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Sample club dashboard · Echo House</a:t>
            </a:r>
          </a:p>
        </p:txBody>
      </p:sp>
      <p:sp>
        <p:nvSpPr>
          <p:cNvPr id="2" name="">
            <a:extLst xmlns:a="http://schemas.openxmlformats.org/drawingml/2006/main">
              <a:ext uri="{FF2B5EF4-FFF2-40B4-BE49-F238E27FC236}">
                <a16:creationId xmlns:a16="http://schemas.microsoft.com/office/drawing/2014/main" id="{EF0A736E-32A2-498B-A208-1B96830BFE63}"/>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6C1D1"/>
                </a:solidFill>
                <a:latin typeface="Arial"/>
                <a:ea typeface="Arial"/>
                <a:cs typeface="Arial"/>
              </a:defRPr>
            </a:pPr>
            <a:r>
              <a:rPr sz="1650" b="0">
                <a:solidFill>
                  <a:srgbClr val="C6C1D1"/>
                </a:solidFill>
                <a:latin typeface="Arial"/>
                <a:ea typeface="Arial"/>
                <a:cs typeface="Arial"/>
              </a:rPr>
              <a:t>Illustrative figures · September 1–30, 2026 · compared with the previous 30 days</a:t>
            </a:r>
          </a:p>
        </p:txBody>
      </p:sp>
      <p:sp>
        <p:nvSpPr>
          <p:cNvPr id="3" name="">
            <a:extLst xmlns:a="http://schemas.openxmlformats.org/drawingml/2006/main">
              <a:ext uri="{FF2B5EF4-FFF2-40B4-BE49-F238E27FC236}">
                <a16:creationId xmlns:a16="http://schemas.microsoft.com/office/drawing/2014/main" id="{1BF2166C-5F51-46B1-98C3-D618F7C36AB1}"/>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846CC07-32CD-4CD7-95BE-EBB8D2E73495}"/>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0">
                <a:solidFill>
                  <a:srgbClr val="C6C1D1"/>
                </a:solidFill>
                <a:latin typeface="Arial"/>
                <a:ea typeface="Arial"/>
                <a:cs typeface="Arial"/>
              </a:defRPr>
            </a:pPr>
            <a:r>
              <a:rPr sz="1125" b="0">
                <a:solidFill>
                  <a:srgbClr val="C6C1D1"/>
                </a:solidFill>
                <a:latin typeface="Arial"/>
                <a:ea typeface="Arial"/>
                <a:cs typeface="Arial"/>
              </a:rPr>
              <a:t>4 / 5</a:t>
            </a:r>
          </a:p>
        </p:txBody>
      </p:sp>
      <p:sp>
        <p:nvSpPr>
          <p:cNvPr id="5" name="">
            <a:extLst xmlns:a="http://schemas.openxmlformats.org/drawingml/2006/main">
              <a:ext uri="{FF2B5EF4-FFF2-40B4-BE49-F238E27FC236}">
                <a16:creationId xmlns:a16="http://schemas.microsoft.com/office/drawing/2014/main" id="{E796AEFA-B720-4BDC-A270-5D1E97D9DF89}"/>
              </a:ext>
            </a:extLst>
          </p:cNvPr>
          <p:cNvSpPr>
            <a:spLocks xmlns:a="http://schemas.openxmlformats.org/drawingml/2006/main" noGrp="1"/>
          </p:cNvSpPr>
          <p:nvPr/>
        </p:nvSpPr>
        <p:spPr>
          <a:xfrm xmlns:a="http://schemas.openxmlformats.org/drawingml/2006/main">
            <a:off x="619125"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B88AFF"/>
                </a:solidFill>
                <a:latin typeface="Arial"/>
                <a:ea typeface="Arial"/>
                <a:cs typeface="Arial"/>
              </a:defRPr>
            </a:pPr>
            <a:r>
              <a:rPr sz="3825" b="1">
                <a:solidFill>
                  <a:srgbClr val="B88AFF"/>
                </a:solidFill>
                <a:latin typeface="Arial"/>
                <a:ea typeface="Arial"/>
                <a:cs typeface="Arial"/>
              </a:rPr>
              <a:t>480</a:t>
            </a:r>
          </a:p>
        </p:txBody>
      </p:sp>
      <p:sp>
        <p:nvSpPr>
          <p:cNvPr id="6" name="">
            <a:extLst xmlns:a="http://schemas.openxmlformats.org/drawingml/2006/main">
              <a:ext uri="{FF2B5EF4-FFF2-40B4-BE49-F238E27FC236}">
                <a16:creationId xmlns:a16="http://schemas.microsoft.com/office/drawing/2014/main" id="{C047BB8B-2DAE-4789-AAFE-0FF9EEFE6C04}"/>
              </a:ext>
            </a:extLst>
          </p:cNvPr>
          <p:cNvSpPr>
            <a:spLocks xmlns:a="http://schemas.openxmlformats.org/drawingml/2006/main" noGrp="1"/>
          </p:cNvSpPr>
          <p:nvPr/>
        </p:nvSpPr>
        <p:spPr>
          <a:xfrm xmlns:a="http://schemas.openxmlformats.org/drawingml/2006/main">
            <a:off x="619125"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Passes claimed</a:t>
            </a:r>
          </a:p>
        </p:txBody>
      </p:sp>
      <p:sp>
        <p:nvSpPr>
          <p:cNvPr id="7" name="">
            <a:extLst xmlns:a="http://schemas.openxmlformats.org/drawingml/2006/main">
              <a:ext uri="{FF2B5EF4-FFF2-40B4-BE49-F238E27FC236}">
                <a16:creationId xmlns:a16="http://schemas.microsoft.com/office/drawing/2014/main" id="{15981473-CD2F-4248-AEFE-B8DB59A0DD98}"/>
              </a:ext>
            </a:extLst>
          </p:cNvPr>
          <p:cNvSpPr>
            <a:spLocks xmlns:a="http://schemas.openxmlformats.org/drawingml/2006/main" noGrp="1"/>
          </p:cNvSpPr>
          <p:nvPr/>
        </p:nvSpPr>
        <p:spPr>
          <a:xfrm xmlns:a="http://schemas.openxmlformats.org/drawingml/2006/main">
            <a:off x="619125"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DBAE"/>
                </a:solidFill>
                <a:latin typeface="Arial"/>
                <a:ea typeface="Arial"/>
                <a:cs typeface="Arial"/>
              </a:defRPr>
            </a:pPr>
            <a:r>
              <a:rPr sz="1425" b="0">
                <a:solidFill>
                  <a:srgbClr val="66DBAE"/>
                </a:solidFill>
                <a:latin typeface="Arial"/>
                <a:ea typeface="Arial"/>
                <a:cs typeface="Arial"/>
              </a:rPr>
              <a:t>+20% vs prior</a:t>
            </a:r>
          </a:p>
        </p:txBody>
      </p:sp>
      <p:sp>
        <p:nvSpPr>
          <p:cNvPr id="8" name="">
            <a:extLst xmlns:a="http://schemas.openxmlformats.org/drawingml/2006/main">
              <a:ext uri="{FF2B5EF4-FFF2-40B4-BE49-F238E27FC236}">
                <a16:creationId xmlns:a16="http://schemas.microsoft.com/office/drawing/2014/main" id="{2500EEFA-3B48-47D6-B2E1-FF1A0832CA51}"/>
              </a:ext>
            </a:extLst>
          </p:cNvPr>
          <p:cNvSpPr>
            <a:spLocks xmlns:a="http://schemas.openxmlformats.org/drawingml/2006/main" noGrp="1"/>
          </p:cNvSpPr>
          <p:nvPr/>
        </p:nvSpPr>
        <p:spPr>
          <a:xfrm xmlns:a="http://schemas.openxmlformats.org/drawingml/2006/main">
            <a:off x="3505200"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B88AFF"/>
                </a:solidFill>
                <a:latin typeface="Arial"/>
                <a:ea typeface="Arial"/>
                <a:cs typeface="Arial"/>
              </a:defRPr>
            </a:pPr>
            <a:r>
              <a:rPr sz="3825" b="1">
                <a:solidFill>
                  <a:srgbClr val="B88AFF"/>
                </a:solidFill>
                <a:latin typeface="Arial"/>
                <a:ea typeface="Arial"/>
                <a:cs typeface="Arial"/>
              </a:rPr>
              <a:t>312</a:t>
            </a:r>
          </a:p>
        </p:txBody>
      </p:sp>
      <p:sp>
        <p:nvSpPr>
          <p:cNvPr id="9" name="">
            <a:extLst xmlns:a="http://schemas.openxmlformats.org/drawingml/2006/main">
              <a:ext uri="{FF2B5EF4-FFF2-40B4-BE49-F238E27FC236}">
                <a16:creationId xmlns:a16="http://schemas.microsoft.com/office/drawing/2014/main" id="{9FAB0280-C18B-4EF1-9D07-6091F16CC411}"/>
              </a:ext>
            </a:extLst>
          </p:cNvPr>
          <p:cNvSpPr>
            <a:spLocks xmlns:a="http://schemas.openxmlformats.org/drawingml/2006/main" noGrp="1"/>
          </p:cNvSpPr>
          <p:nvPr/>
        </p:nvSpPr>
        <p:spPr>
          <a:xfrm xmlns:a="http://schemas.openxmlformats.org/drawingml/2006/main">
            <a:off x="3505200"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QR scan results</a:t>
            </a:r>
          </a:p>
        </p:txBody>
      </p:sp>
      <p:sp>
        <p:nvSpPr>
          <p:cNvPr id="10" name="">
            <a:extLst xmlns:a="http://schemas.openxmlformats.org/drawingml/2006/main">
              <a:ext uri="{FF2B5EF4-FFF2-40B4-BE49-F238E27FC236}">
                <a16:creationId xmlns:a16="http://schemas.microsoft.com/office/drawing/2014/main" id="{02D5250E-2E6D-4036-A70F-C7749F2FB6E4}"/>
              </a:ext>
            </a:extLst>
          </p:cNvPr>
          <p:cNvSpPr>
            <a:spLocks xmlns:a="http://schemas.openxmlformats.org/drawingml/2006/main" noGrp="1"/>
          </p:cNvSpPr>
          <p:nvPr/>
        </p:nvSpPr>
        <p:spPr>
          <a:xfrm xmlns:a="http://schemas.openxmlformats.org/drawingml/2006/main">
            <a:off x="3505200"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DBAE"/>
                </a:solidFill>
                <a:latin typeface="Arial"/>
                <a:ea typeface="Arial"/>
                <a:cs typeface="Arial"/>
              </a:defRPr>
            </a:pPr>
            <a:r>
              <a:rPr sz="1425" b="0">
                <a:solidFill>
                  <a:srgbClr val="66DBAE"/>
                </a:solidFill>
                <a:latin typeface="Arial"/>
                <a:ea typeface="Arial"/>
                <a:cs typeface="Arial"/>
              </a:rPr>
              <a:t>+30% vs prior</a:t>
            </a:r>
          </a:p>
        </p:txBody>
      </p:sp>
      <p:sp>
        <p:nvSpPr>
          <p:cNvPr id="11" name="">
            <a:extLst xmlns:a="http://schemas.openxmlformats.org/drawingml/2006/main">
              <a:ext uri="{FF2B5EF4-FFF2-40B4-BE49-F238E27FC236}">
                <a16:creationId xmlns:a16="http://schemas.microsoft.com/office/drawing/2014/main" id="{87E0A2C1-EF69-4E75-AD86-5B2028E7AF8B}"/>
              </a:ext>
            </a:extLst>
          </p:cNvPr>
          <p:cNvSpPr>
            <a:spLocks xmlns:a="http://schemas.openxmlformats.org/drawingml/2006/main" noGrp="1"/>
          </p:cNvSpPr>
          <p:nvPr/>
        </p:nvSpPr>
        <p:spPr>
          <a:xfrm xmlns:a="http://schemas.openxmlformats.org/drawingml/2006/main">
            <a:off x="6391275"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B88AFF"/>
                </a:solidFill>
                <a:latin typeface="Arial"/>
                <a:ea typeface="Arial"/>
                <a:cs typeface="Arial"/>
              </a:defRPr>
            </a:pPr>
            <a:r>
              <a:rPr sz="3825" b="1">
                <a:solidFill>
                  <a:srgbClr val="B88AFF"/>
                </a:solidFill>
                <a:latin typeface="Arial"/>
                <a:ea typeface="Arial"/>
                <a:cs typeface="Arial"/>
              </a:rPr>
              <a:t>65%</a:t>
            </a:r>
          </a:p>
        </p:txBody>
      </p:sp>
      <p:sp>
        <p:nvSpPr>
          <p:cNvPr id="12" name="">
            <a:extLst xmlns:a="http://schemas.openxmlformats.org/drawingml/2006/main">
              <a:ext uri="{FF2B5EF4-FFF2-40B4-BE49-F238E27FC236}">
                <a16:creationId xmlns:a16="http://schemas.microsoft.com/office/drawing/2014/main" id="{3489A033-6239-44DA-8920-0A9292D24A02}"/>
              </a:ext>
            </a:extLst>
          </p:cNvPr>
          <p:cNvSpPr>
            <a:spLocks xmlns:a="http://schemas.openxmlformats.org/drawingml/2006/main" noGrp="1"/>
          </p:cNvSpPr>
          <p:nvPr/>
        </p:nvSpPr>
        <p:spPr>
          <a:xfrm xmlns:a="http://schemas.openxmlformats.org/drawingml/2006/main">
            <a:off x="6391275"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Claim → admission</a:t>
            </a:r>
          </a:p>
        </p:txBody>
      </p:sp>
      <p:sp>
        <p:nvSpPr>
          <p:cNvPr id="13" name="">
            <a:extLst xmlns:a="http://schemas.openxmlformats.org/drawingml/2006/main">
              <a:ext uri="{FF2B5EF4-FFF2-40B4-BE49-F238E27FC236}">
                <a16:creationId xmlns:a16="http://schemas.microsoft.com/office/drawing/2014/main" id="{34309421-E477-4A61-9CEB-A6D0D258C006}"/>
              </a:ext>
            </a:extLst>
          </p:cNvPr>
          <p:cNvSpPr>
            <a:spLocks xmlns:a="http://schemas.openxmlformats.org/drawingml/2006/main" noGrp="1"/>
          </p:cNvSpPr>
          <p:nvPr/>
        </p:nvSpPr>
        <p:spPr>
          <a:xfrm xmlns:a="http://schemas.openxmlformats.org/drawingml/2006/main">
            <a:off x="6391275"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DBAE"/>
                </a:solidFill>
                <a:latin typeface="Arial"/>
                <a:ea typeface="Arial"/>
                <a:cs typeface="Arial"/>
              </a:defRPr>
            </a:pPr>
            <a:r>
              <a:rPr sz="1425" b="0">
                <a:solidFill>
                  <a:srgbClr val="66DBAE"/>
                </a:solidFill>
                <a:latin typeface="Arial"/>
                <a:ea typeface="Arial"/>
                <a:cs typeface="Arial"/>
              </a:rPr>
              <a:t>312 of 480 claims</a:t>
            </a:r>
          </a:p>
        </p:txBody>
      </p:sp>
      <p:sp>
        <p:nvSpPr>
          <p:cNvPr id="14" name="">
            <a:extLst xmlns:a="http://schemas.openxmlformats.org/drawingml/2006/main">
              <a:ext uri="{FF2B5EF4-FFF2-40B4-BE49-F238E27FC236}">
                <a16:creationId xmlns:a16="http://schemas.microsoft.com/office/drawing/2014/main" id="{BBCBF356-995B-486D-85B2-297718B19CF3}"/>
              </a:ext>
            </a:extLst>
          </p:cNvPr>
          <p:cNvSpPr>
            <a:spLocks xmlns:a="http://schemas.openxmlformats.org/drawingml/2006/main" noGrp="1"/>
          </p:cNvSpPr>
          <p:nvPr/>
        </p:nvSpPr>
        <p:spPr>
          <a:xfrm xmlns:a="http://schemas.openxmlformats.org/drawingml/2006/main">
            <a:off x="9277350" y="1781175"/>
            <a:ext cx="2647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B88AFF"/>
                </a:solidFill>
                <a:latin typeface="Arial"/>
                <a:ea typeface="Arial"/>
                <a:cs typeface="Arial"/>
              </a:defRPr>
            </a:pPr>
            <a:r>
              <a:rPr sz="3825" b="1">
                <a:solidFill>
                  <a:srgbClr val="B88AFF"/>
                </a:solidFill>
                <a:latin typeface="Arial"/>
                <a:ea typeface="Arial"/>
                <a:cs typeface="Arial"/>
              </a:rPr>
              <a:t>96</a:t>
            </a:r>
          </a:p>
        </p:txBody>
      </p:sp>
      <p:sp>
        <p:nvSpPr>
          <p:cNvPr id="15" name="">
            <a:extLst xmlns:a="http://schemas.openxmlformats.org/drawingml/2006/main">
              <a:ext uri="{FF2B5EF4-FFF2-40B4-BE49-F238E27FC236}">
                <a16:creationId xmlns:a16="http://schemas.microsoft.com/office/drawing/2014/main" id="{78FB7E43-C362-47B6-876B-9518F3E9463F}"/>
              </a:ext>
            </a:extLst>
          </p:cNvPr>
          <p:cNvSpPr>
            <a:spLocks xmlns:a="http://schemas.openxmlformats.org/drawingml/2006/main" noGrp="1"/>
          </p:cNvSpPr>
          <p:nvPr/>
        </p:nvSpPr>
        <p:spPr>
          <a:xfrm xmlns:a="http://schemas.openxmlformats.org/drawingml/2006/main">
            <a:off x="9277350" y="24384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Pickup requests</a:t>
            </a:r>
          </a:p>
        </p:txBody>
      </p:sp>
      <p:sp>
        <p:nvSpPr>
          <p:cNvPr id="16" name="">
            <a:extLst xmlns:a="http://schemas.openxmlformats.org/drawingml/2006/main">
              <a:ext uri="{FF2B5EF4-FFF2-40B4-BE49-F238E27FC236}">
                <a16:creationId xmlns:a16="http://schemas.microsoft.com/office/drawing/2014/main" id="{444B31C5-9ABA-4574-97C0-FA923FFC1B54}"/>
              </a:ext>
            </a:extLst>
          </p:cNvPr>
          <p:cNvSpPr>
            <a:spLocks xmlns:a="http://schemas.openxmlformats.org/drawingml/2006/main" noGrp="1"/>
          </p:cNvSpPr>
          <p:nvPr/>
        </p:nvSpPr>
        <p:spPr>
          <a:xfrm xmlns:a="http://schemas.openxmlformats.org/drawingml/2006/main">
            <a:off x="9277350" y="28003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DBAE"/>
                </a:solidFill>
                <a:latin typeface="Arial"/>
                <a:ea typeface="Arial"/>
                <a:cs typeface="Arial"/>
              </a:defRPr>
            </a:pPr>
            <a:r>
              <a:rPr sz="1425" b="0">
                <a:solidFill>
                  <a:srgbClr val="66DBAE"/>
                </a:solidFill>
                <a:latin typeface="Arial"/>
                <a:ea typeface="Arial"/>
                <a:cs typeface="Arial"/>
              </a:rPr>
              <a:t>+20% vs prior</a:t>
            </a:r>
          </a:p>
        </p:txBody>
      </p:sp>
      <p:graphicFrame>
        <p:nvGraphicFramePr>
          <p:cNvPr id="36" name="Chart"/>
          <p:cNvGraphicFramePr/>
          <p:nvPr/>
        </p:nvGraphicFramePr>
        <p:xfrm>
          <a:off xmlns:a="http://schemas.openxmlformats.org/drawingml/2006/main" x="609600" y="3333750"/>
          <a:ext xmlns:a="http://schemas.openxmlformats.org/drawingml/2006/main" cx="6419850" cy="2276475"/>
        </p:xfrm>
        <a:graphic xmlns:a="http://schemas.openxmlformats.org/drawingml/2006/main">
          <a:graphicData uri="http://schemas.openxmlformats.org/drawingml/2006/chart">
            <c:chart xmlns:r="http://schemas.openxmlformats.org/officeDocument/2006/relationships" xmlns:c="http://schemas.openxmlformats.org/drawingml/2006/chart" r:id="R5f73e45530704a5d"/>
          </a:graphicData>
        </a:graphic>
      </p:graphicFrame>
      <p:graphicFrame>
        <p:nvGraphicFramePr>
          <p:cNvPr id="37" name=""/>
          <p:cNvGraphicFramePr/>
          <p:nvPr/>
        </p:nvGraphicFramePr>
        <p:xfrm>
          <a:off xmlns:a="http://schemas.openxmlformats.org/drawingml/2006/main" x="7429500" y="3371850"/>
          <a:ext xmlns:a="http://schemas.openxmlformats.org/drawingml/2006/main" cx="4143375" cy="2228850"/>
        </p:xfrm>
        <a:graphic xmlns:a="http://schemas.openxmlformats.org/drawingml/2006/main">
          <a:graphicData uri="http://schemas.openxmlformats.org/drawingml/2006/table">
            <a:tbl>
              <a:tblPr/>
              <a:tblGrid>
                <a:gridCol w="2876550"/>
                <a:gridCol w="1266825"/>
              </a:tblGrid>
              <a:tr h="445770">
                <a:tc>
                  <a:txBody>
                    <a:bodyPr>
                      <a:noAutofit/>
                    </a:bodyPr>
                    <a:lstStyle/>
                    <a:p>
                      <a:r>
                        <a:rPr sz="1500" b="1">
                          <a:solidFill>
                            <a:srgbClr val="FAF8FF"/>
                          </a:solidFill>
                          <a:latin typeface="Arial"/>
                          <a:ea typeface="Arial"/>
                          <a:cs typeface="Arial"/>
                        </a:rPr>
                        <a:t>Audience &amp; intent</a:t>
                      </a:r>
                    </a:p>
                  </a:txBody>
                  <a:tcPr marL="91440" marR="91440" marT="45720" marB="45720">
                    <a:solidFill>
                      <a:srgbClr val="332048"/>
                    </a:solidFill>
                  </a:tcPr>
                </a:tc>
                <a:tc>
                  <a:txBody>
                    <a:bodyPr>
                      <a:noAutofit/>
                    </a:bodyPr>
                    <a:lstStyle/>
                    <a:p>
                      <a:r>
                        <a:rPr sz="1500" b="1">
                          <a:solidFill>
                            <a:srgbClr val="FAF8FF"/>
                          </a:solidFill>
                          <a:latin typeface="Arial"/>
                          <a:ea typeface="Arial"/>
                          <a:cs typeface="Arial"/>
                        </a:rPr>
                        <a:t>Count</a:t>
                      </a:r>
                    </a:p>
                  </a:txBody>
                  <a:tcPr marL="91440" marR="91440" marT="45720" marB="45720">
                    <a:solidFill>
                      <a:srgbClr val="332048"/>
                    </a:solidFill>
                  </a:tcPr>
                </a:tc>
              </a:tr>
              <a:tr h="445770">
                <a:tc>
                  <a:txBody>
                    <a:bodyPr>
                      <a:noAutofit/>
                    </a:bodyPr>
                    <a:lstStyle/>
                    <a:p>
                      <a:r>
                        <a:rPr sz="1500" b="1">
                          <a:solidFill>
                            <a:srgbClr val="FAF8FF"/>
                          </a:solidFill>
                          <a:latin typeface="Arial"/>
                          <a:ea typeface="Arial"/>
                          <a:cs typeface="Arial"/>
                        </a:rPr>
                        <a:t>Card impressions</a:t>
                      </a:r>
                    </a:p>
                  </a:txBody>
                  <a:tcPr marL="91440" marR="91440" marT="45720" marB="45720">
                    <a:solidFill>
                      <a:srgbClr val="15111F"/>
                    </a:solidFill>
                  </a:tcPr>
                </a:tc>
                <a:tc>
                  <a:txBody>
                    <a:bodyPr>
                      <a:noAutofit/>
                    </a:bodyPr>
                    <a:lstStyle/>
                    <a:p>
                      <a:r>
                        <a:rPr sz="1500" b="0">
                          <a:solidFill>
                            <a:srgbClr val="FAF8FF"/>
                          </a:solidFill>
                          <a:latin typeface="Arial"/>
                          <a:ea typeface="Arial"/>
                          <a:cs typeface="Arial"/>
                        </a:rPr>
                        <a:t>18,400</a:t>
                      </a:r>
                    </a:p>
                  </a:txBody>
                  <a:tcPr marL="91440" marR="91440" marT="45720" marB="45720">
                    <a:solidFill>
                      <a:srgbClr val="15111F"/>
                    </a:solidFill>
                  </a:tcPr>
                </a:tc>
              </a:tr>
              <a:tr h="445770">
                <a:tc>
                  <a:txBody>
                    <a:bodyPr>
                      <a:noAutofit/>
                    </a:bodyPr>
                    <a:lstStyle/>
                    <a:p>
                      <a:r>
                        <a:rPr sz="1500" b="1">
                          <a:solidFill>
                            <a:srgbClr val="FAF8FF"/>
                          </a:solidFill>
                          <a:latin typeface="Arial"/>
                          <a:ea typeface="Arial"/>
                          <a:cs typeface="Arial"/>
                        </a:rPr>
                        <a:t>Unique browsers</a:t>
                      </a:r>
                    </a:p>
                  </a:txBody>
                  <a:tcPr marL="91440" marR="91440" marT="45720" marB="45720">
                    <a:solidFill>
                      <a:srgbClr val="1C1728"/>
                    </a:solidFill>
                  </a:tcPr>
                </a:tc>
                <a:tc>
                  <a:txBody>
                    <a:bodyPr>
                      <a:noAutofit/>
                    </a:bodyPr>
                    <a:lstStyle/>
                    <a:p>
                      <a:r>
                        <a:rPr sz="1500" b="0">
                          <a:solidFill>
                            <a:srgbClr val="FAF8FF"/>
                          </a:solidFill>
                          <a:latin typeface="Arial"/>
                          <a:ea typeface="Arial"/>
                          <a:cs typeface="Arial"/>
                        </a:rPr>
                        <a:t>4,200</a:t>
                      </a:r>
                    </a:p>
                  </a:txBody>
                  <a:tcPr marL="91440" marR="91440" marT="45720" marB="45720">
                    <a:solidFill>
                      <a:srgbClr val="1C1728"/>
                    </a:solidFill>
                  </a:tcPr>
                </a:tc>
              </a:tr>
              <a:tr h="445770">
                <a:tc>
                  <a:txBody>
                    <a:bodyPr>
                      <a:noAutofit/>
                    </a:bodyPr>
                    <a:lstStyle/>
                    <a:p>
                      <a:r>
                        <a:rPr sz="1500" b="1">
                          <a:solidFill>
                            <a:srgbClr val="FAF8FF"/>
                          </a:solidFill>
                          <a:latin typeface="Arial"/>
                          <a:ea typeface="Arial"/>
                          <a:cs typeface="Arial"/>
                        </a:rPr>
                        <a:t>Directions opened</a:t>
                      </a:r>
                    </a:p>
                  </a:txBody>
                  <a:tcPr marL="91440" marR="91440" marT="45720" marB="45720">
                    <a:solidFill>
                      <a:srgbClr val="15111F"/>
                    </a:solidFill>
                  </a:tcPr>
                </a:tc>
                <a:tc>
                  <a:txBody>
                    <a:bodyPr>
                      <a:noAutofit/>
                    </a:bodyPr>
                    <a:lstStyle/>
                    <a:p>
                      <a:r>
                        <a:rPr sz="1500" b="0">
                          <a:solidFill>
                            <a:srgbClr val="FAF8FF"/>
                          </a:solidFill>
                          <a:latin typeface="Arial"/>
                          <a:ea typeface="Arial"/>
                          <a:cs typeface="Arial"/>
                        </a:rPr>
                        <a:t>640</a:t>
                      </a:r>
                    </a:p>
                  </a:txBody>
                  <a:tcPr marL="91440" marR="91440" marT="45720" marB="45720">
                    <a:solidFill>
                      <a:srgbClr val="15111F"/>
                    </a:solidFill>
                  </a:tcPr>
                </a:tc>
              </a:tr>
              <a:tr h="445770">
                <a:tc>
                  <a:txBody>
                    <a:bodyPr>
                      <a:noAutofit/>
                    </a:bodyPr>
                    <a:lstStyle/>
                    <a:p>
                      <a:r>
                        <a:rPr sz="1500" b="1">
                          <a:solidFill>
                            <a:srgbClr val="FAF8FF"/>
                          </a:solidFill>
                          <a:latin typeface="Arial"/>
                          <a:ea typeface="Arial"/>
                          <a:cs typeface="Arial"/>
                        </a:rPr>
                        <a:t>New followers</a:t>
                      </a:r>
                    </a:p>
                  </a:txBody>
                  <a:tcPr marL="91440" marR="91440" marT="45720" marB="45720">
                    <a:solidFill>
                      <a:srgbClr val="1C1728"/>
                    </a:solidFill>
                  </a:tcPr>
                </a:tc>
                <a:tc>
                  <a:txBody>
                    <a:bodyPr>
                      <a:noAutofit/>
                    </a:bodyPr>
                    <a:lstStyle/>
                    <a:p>
                      <a:r>
                        <a:rPr sz="1500" b="0">
                          <a:solidFill>
                            <a:srgbClr val="FAF8FF"/>
                          </a:solidFill>
                          <a:latin typeface="Arial"/>
                          <a:ea typeface="Arial"/>
                          <a:cs typeface="Arial"/>
                        </a:rPr>
                        <a:t>185</a:t>
                      </a:r>
                    </a:p>
                  </a:txBody>
                  <a:tcPr marL="91440" marR="91440" marT="45720" marB="45720">
                    <a:solidFill>
                      <a:srgbClr val="1C1728"/>
                    </a:solidFill>
                  </a:tcPr>
                </a:tc>
              </a:tr>
            </a:tbl>
          </a:graphicData>
        </a:graphic>
      </p:graphicFrame>
      <p:sp>
        <p:nvSpPr>
          <p:cNvPr id="19" name="">
            <a:extLst xmlns:a="http://schemas.openxmlformats.org/drawingml/2006/main">
              <a:ext uri="{FF2B5EF4-FFF2-40B4-BE49-F238E27FC236}">
                <a16:creationId xmlns:a16="http://schemas.microsoft.com/office/drawing/2014/main" id="{E8A00BA7-C779-475A-BBBF-162972246F33}"/>
              </a:ext>
            </a:extLst>
          </p:cNvPr>
          <p:cNvSpPr>
            <a:spLocks xmlns:a="http://schemas.openxmlformats.org/drawingml/2006/main" noGrp="1"/>
          </p:cNvSpPr>
          <p:nvPr/>
        </p:nvSpPr>
        <p:spPr>
          <a:xfrm xmlns:a="http://schemas.openxmlformats.org/drawingml/2006/main">
            <a:off x="619125" y="586740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6C1D1"/>
                </a:solidFill>
                <a:latin typeface="Arial"/>
                <a:ea typeface="Arial"/>
                <a:cs typeface="Arial"/>
              </a:defRPr>
            </a:pPr>
            <a:r>
              <a:rPr sz="1275" b="0">
                <a:solidFill>
                  <a:srgbClr val="C6C1D1"/>
                </a:solidFill>
                <a:latin typeface="Arial"/>
                <a:ea typeface="Arial"/>
                <a:cs typeface="Arial"/>
              </a:rPr>
              <a:t>QR results are confirmed pass uses, not total club attendance. This example assumes all 312 uses belong to the 480 passes</a:t>
            </a:r>
          </a:p>
          <a:p xmlns:a="http://schemas.openxmlformats.org/drawingml/2006/main">
            <a:pPr>
              <a:defRPr sz="1275" b="0">
                <a:solidFill>
                  <a:srgbClr val="C6C1D1"/>
                </a:solidFill>
                <a:latin typeface="Arial"/>
                <a:ea typeface="Arial"/>
                <a:cs typeface="Arial"/>
              </a:defRPr>
            </a:pPr>
            <a:r>
              <a:rPr sz="1275" b="0">
                <a:solidFill>
                  <a:srgbClr val="C6C1D1"/>
                </a:solidFill>
                <a:latin typeface="Arial"/>
                <a:ea typeface="Arial"/>
                <a:cs typeface="Arial"/>
              </a:rPr>
              <a:t>claimed in the period. Unique browsers are not an exact count of people.</a:t>
            </a:r>
          </a:p>
        </p:txBody>
      </p:sp>
    </p:spTree>
    <p:extLst>
      <p:ext uri="{BB962C8B-B14F-4D97-AF65-F5344CB8AC3E}">
        <p14:creationId xmlns:p14="http://schemas.microsoft.com/office/powerpoint/2010/main" val="2071491846"/>
      </p:ext>
    </p:extLst>
  </p:cSld>
</p:sld>
</file>

<file path=ppt/slides/slide5.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DDF5F7-CDA6-4866-A342-F6C314DCD2E0}"/>
              </a:ext>
            </a:extLst>
          </p:cNvPr>
          <p:cNvSpPr>
            <a:spLocks xmlns:a="http://schemas.openxmlformats.org/drawingml/2006/main" noGrp="1"/>
          </p:cNvSpPr>
          <p:nvPr/>
        </p:nvSpPr>
        <p:spPr>
          <a:xfrm xmlns:a="http://schemas.openxmlformats.org/drawingml/2006/main">
            <a:off x="590550" y="4095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Compare performance across clubs</a:t>
            </a:r>
          </a:p>
        </p:txBody>
      </p:sp>
      <p:sp>
        <p:nvSpPr>
          <p:cNvPr id="2" name="">
            <a:extLst xmlns:a="http://schemas.openxmlformats.org/drawingml/2006/main">
              <a:ext uri="{FF2B5EF4-FFF2-40B4-BE49-F238E27FC236}">
                <a16:creationId xmlns:a16="http://schemas.microsoft.com/office/drawing/2014/main" id="{A4906549-2D42-40DE-A46B-A5B49EF0B87D}"/>
              </a:ext>
            </a:extLst>
          </p:cNvPr>
          <p:cNvSpPr>
            <a:spLocks xmlns:a="http://schemas.openxmlformats.org/drawingml/2006/main" noGrp="1"/>
          </p:cNvSpPr>
          <p:nvPr/>
        </p:nvSpPr>
        <p:spPr>
          <a:xfrm xmlns:a="http://schemas.openxmlformats.org/drawingml/2006/main">
            <a:off x="619125" y="1190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6C1D1"/>
                </a:solidFill>
                <a:latin typeface="Arial"/>
                <a:ea typeface="Arial"/>
                <a:cs typeface="Arial"/>
              </a:defRPr>
            </a:pPr>
            <a:r>
              <a:rPr sz="1650" b="0">
                <a:solidFill>
                  <a:srgbClr val="C6C1D1"/>
                </a:solidFill>
                <a:latin typeface="Arial"/>
                <a:ea typeface="Arial"/>
                <a:cs typeface="Arial"/>
              </a:rPr>
              <a:t>Illustrative management report · the same 30-day period and metric definitions</a:t>
            </a:r>
          </a:p>
        </p:txBody>
      </p:sp>
      <p:sp>
        <p:nvSpPr>
          <p:cNvPr id="3" name="">
            <a:extLst xmlns:a="http://schemas.openxmlformats.org/drawingml/2006/main">
              <a:ext uri="{FF2B5EF4-FFF2-40B4-BE49-F238E27FC236}">
                <a16:creationId xmlns:a16="http://schemas.microsoft.com/office/drawing/2014/main" id="{86FD2B13-133B-4665-966C-61063B18A383}"/>
              </a:ext>
            </a:extLst>
          </p:cNvPr>
          <p:cNvSpPr>
            <a:spLocks xmlns:a="http://schemas.openxmlformats.org/drawingml/2006/main" noGrp="1"/>
          </p:cNvSpPr>
          <p:nvPr/>
        </p:nvSpPr>
        <p:spPr>
          <a:xfrm xmlns:a="http://schemas.openxmlformats.org/drawingml/2006/main">
            <a:off x="619125" y="64484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B88AFF"/>
                </a:solidFill>
                <a:latin typeface="Arial"/>
                <a:ea typeface="Arial"/>
                <a:cs typeface="Arial"/>
              </a:defRPr>
            </a:pPr>
            <a:r>
              <a:rPr sz="1125" b="1">
                <a:solidFill>
                  <a:srgbClr val="B88AFF"/>
                </a:solidFill>
                <a:latin typeface="Arial"/>
                <a:ea typeface="Arial"/>
                <a:cs typeface="Arial"/>
              </a:rPr>
              <a:t>MYDANCR</a:t>
            </a:r>
          </a:p>
        </p:txBody>
      </p:sp>
      <p:sp>
        <p:nvSpPr>
          <p:cNvPr id="4" name="">
            <a:extLst xmlns:a="http://schemas.openxmlformats.org/drawingml/2006/main">
              <a:ext uri="{FF2B5EF4-FFF2-40B4-BE49-F238E27FC236}">
                <a16:creationId xmlns:a16="http://schemas.microsoft.com/office/drawing/2014/main" id="{6FF8B351-2488-4258-8BD8-DE68782CF224}"/>
              </a:ext>
            </a:extLst>
          </p:cNvPr>
          <p:cNvSpPr>
            <a:spLocks xmlns:a="http://schemas.openxmlformats.org/drawingml/2006/main" noGrp="1"/>
          </p:cNvSpPr>
          <p:nvPr/>
        </p:nvSpPr>
        <p:spPr>
          <a:xfrm xmlns:a="http://schemas.openxmlformats.org/drawingml/2006/main">
            <a:off x="10858500" y="644842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125" b="0">
                <a:solidFill>
                  <a:srgbClr val="C6C1D1"/>
                </a:solidFill>
                <a:latin typeface="Arial"/>
                <a:ea typeface="Arial"/>
                <a:cs typeface="Arial"/>
              </a:defRPr>
            </a:pPr>
            <a:r>
              <a:rPr sz="1125" b="0">
                <a:solidFill>
                  <a:srgbClr val="C6C1D1"/>
                </a:solidFill>
                <a:latin typeface="Arial"/>
                <a:ea typeface="Arial"/>
                <a:cs typeface="Arial"/>
              </a:rPr>
              <a:t>5 / 5</a:t>
            </a:r>
          </a:p>
        </p:txBody>
      </p:sp>
      <p:graphicFrame>
        <p:nvGraphicFramePr>
          <p:cNvPr id="15" name=""/>
          <p:cNvGraphicFramePr/>
          <p:nvPr/>
        </p:nvGraphicFramePr>
        <p:xfrm>
          <a:off xmlns:a="http://schemas.openxmlformats.org/drawingml/2006/main" x="619125" y="1905000"/>
          <a:ext xmlns:a="http://schemas.openxmlformats.org/drawingml/2006/main" cx="10953750" cy="2714625"/>
        </p:xfrm>
        <a:graphic xmlns:a="http://schemas.openxmlformats.org/drawingml/2006/main">
          <a:graphicData uri="http://schemas.openxmlformats.org/drawingml/2006/table">
            <a:tbl>
              <a:tblPr/>
              <a:tblGrid>
                <a:gridCol w="2333625"/>
                <a:gridCol w="1647825"/>
                <a:gridCol w="1647825"/>
                <a:gridCol w="1857375"/>
                <a:gridCol w="1752600"/>
                <a:gridCol w="1714500"/>
              </a:tblGrid>
              <a:tr h="542925">
                <a:tc>
                  <a:txBody>
                    <a:bodyPr>
                      <a:noAutofit/>
                    </a:bodyPr>
                    <a:lstStyle/>
                    <a:p>
                      <a:r>
                        <a:rPr sz="1725" b="1">
                          <a:solidFill>
                            <a:srgbClr val="FAF8FF"/>
                          </a:solidFill>
                          <a:latin typeface="Arial"/>
                          <a:ea typeface="Arial"/>
                          <a:cs typeface="Arial"/>
                        </a:rPr>
                        <a:t>Club</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Passes</a:t>
                      </a:r>
                    </a:p>
                    <a:p>
                      <a:r>
                        <a:rPr sz="1725" b="1">
                          <a:solidFill>
                            <a:srgbClr val="FAF8FF"/>
                          </a:solidFill>
                          <a:latin typeface="Arial"/>
                          <a:ea typeface="Arial"/>
                          <a:cs typeface="Arial"/>
                        </a:rPr>
                        <a:t>claimed</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QR pass</a:t>
                      </a:r>
                    </a:p>
                    <a:p>
                      <a:r>
                        <a:rPr sz="1725" b="1">
                          <a:solidFill>
                            <a:srgbClr val="FAF8FF"/>
                          </a:solidFill>
                          <a:latin typeface="Arial"/>
                          <a:ea typeface="Arial"/>
                          <a:cs typeface="Arial"/>
                        </a:rPr>
                        <a:t>uses</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Claim →</a:t>
                      </a:r>
                    </a:p>
                    <a:p>
                      <a:r>
                        <a:rPr sz="1725" b="1">
                          <a:solidFill>
                            <a:srgbClr val="FAF8FF"/>
                          </a:solidFill>
                          <a:latin typeface="Arial"/>
                          <a:ea typeface="Arial"/>
                          <a:cs typeface="Arial"/>
                        </a:rPr>
                        <a:t>admission</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Pickup</a:t>
                      </a:r>
                    </a:p>
                    <a:p>
                      <a:r>
                        <a:rPr sz="1725" b="1">
                          <a:solidFill>
                            <a:srgbClr val="FAF8FF"/>
                          </a:solidFill>
                          <a:latin typeface="Arial"/>
                          <a:ea typeface="Arial"/>
                          <a:cs typeface="Arial"/>
                        </a:rPr>
                        <a:t>requests</a:t>
                      </a:r>
                    </a:p>
                  </a:txBody>
                  <a:tcPr marL="91440" marR="91440" marT="45720" marB="45720">
                    <a:solidFill>
                      <a:srgbClr val="332048"/>
                    </a:solidFill>
                  </a:tcPr>
                </a:tc>
                <a:tc>
                  <a:txBody>
                    <a:bodyPr>
                      <a:noAutofit/>
                    </a:bodyPr>
                    <a:lstStyle/>
                    <a:p>
                      <a:r>
                        <a:rPr sz="1725" b="1">
                          <a:solidFill>
                            <a:srgbClr val="FAF8FF"/>
                          </a:solidFill>
                          <a:latin typeface="Arial"/>
                          <a:ea typeface="Arial"/>
                          <a:cs typeface="Arial"/>
                        </a:rPr>
                        <a:t>New</a:t>
                      </a:r>
                    </a:p>
                    <a:p>
                      <a:r>
                        <a:rPr sz="1725" b="1">
                          <a:solidFill>
                            <a:srgbClr val="FAF8FF"/>
                          </a:solidFill>
                          <a:latin typeface="Arial"/>
                          <a:ea typeface="Arial"/>
                          <a:cs typeface="Arial"/>
                        </a:rPr>
                        <a:t>followers</a:t>
                      </a:r>
                    </a:p>
                  </a:txBody>
                  <a:tcPr marL="91440" marR="91440" marT="45720" marB="45720">
                    <a:solidFill>
                      <a:srgbClr val="332048"/>
                    </a:solidFill>
                  </a:tcPr>
                </a:tc>
              </a:tr>
              <a:tr h="542925">
                <a:tc>
                  <a:txBody>
                    <a:bodyPr>
                      <a:noAutofit/>
                    </a:bodyPr>
                    <a:lstStyle/>
                    <a:p>
                      <a:r>
                        <a:rPr sz="1725" b="1">
                          <a:solidFill>
                            <a:srgbClr val="FAF8FF"/>
                          </a:solidFill>
                          <a:latin typeface="Arial"/>
                          <a:ea typeface="Arial"/>
                          <a:cs typeface="Arial"/>
                        </a:rPr>
                        <a:t>Echo House</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480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312</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65.0%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96</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185</a:t>
                      </a:r>
                    </a:p>
                  </a:txBody>
                  <a:tcPr marL="91440" marR="91440" marT="45720" marB="45720">
                    <a:solidFill>
                      <a:srgbClr val="15111F"/>
                    </a:solidFill>
                  </a:tcPr>
                </a:tc>
              </a:tr>
              <a:tr h="542925">
                <a:tc>
                  <a:txBody>
                    <a:bodyPr>
                      <a:noAutofit/>
                    </a:bodyPr>
                    <a:lstStyle/>
                    <a:p>
                      <a:r>
                        <a:rPr sz="1725" b="1">
                          <a:solidFill>
                            <a:srgbClr val="FAF8FF"/>
                          </a:solidFill>
                          <a:latin typeface="Arial"/>
                          <a:ea typeface="Arial"/>
                          <a:cs typeface="Arial"/>
                        </a:rPr>
                        <a:t>Aurora Room</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400</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220</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55.0%</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72</a:t>
                      </a:r>
                    </a:p>
                  </a:txBody>
                  <a:tcPr marL="91440" marR="91440" marT="45720" marB="45720">
                    <a:solidFill>
                      <a:srgbClr val="1C1728"/>
                    </a:solidFill>
                  </a:tcPr>
                </a:tc>
                <a:tc>
                  <a:txBody>
                    <a:bodyPr>
                      <a:noAutofit/>
                    </a:bodyPr>
                    <a:lstStyle/>
                    <a:p>
                      <a:r>
                        <a:rPr sz="1725" b="0">
                          <a:solidFill>
                            <a:srgbClr val="FAF8FF"/>
                          </a:solidFill>
                          <a:latin typeface="Arial"/>
                          <a:ea typeface="Arial"/>
                          <a:cs typeface="Arial"/>
                        </a:rPr>
                        <a:t>150</a:t>
                      </a:r>
                    </a:p>
                  </a:txBody>
                  <a:tcPr marL="91440" marR="91440" marT="45720" marB="45720">
                    <a:solidFill>
                      <a:srgbClr val="1C1728"/>
                    </a:solidFill>
                  </a:tcPr>
                </a:tc>
              </a:tr>
              <a:tr h="542925">
                <a:tc>
                  <a:txBody>
                    <a:bodyPr>
                      <a:noAutofit/>
                    </a:bodyPr>
                    <a:lstStyle/>
                    <a:p>
                      <a:r>
                        <a:rPr sz="1725" b="1">
                          <a:solidFill>
                            <a:srgbClr val="FAF8FF"/>
                          </a:solidFill>
                          <a:latin typeface="Arial"/>
                          <a:ea typeface="Arial"/>
                          <a:cs typeface="Arial"/>
                        </a:rPr>
                        <a:t>Blue Ember</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360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252</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70.0%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60</a:t>
                      </a:r>
                    </a:p>
                  </a:txBody>
                  <a:tcPr marL="91440" marR="91440" marT="45720" marB="45720">
                    <a:solidFill>
                      <a:srgbClr val="15111F"/>
                    </a:solidFill>
                  </a:tcPr>
                </a:tc>
                <a:tc>
                  <a:txBody>
                    <a:bodyPr>
                      <a:noAutofit/>
                    </a:bodyPr>
                    <a:lstStyle/>
                    <a:p>
                      <a:r>
                        <a:rPr sz="1725" b="0">
                          <a:solidFill>
                            <a:srgbClr val="FAF8FF"/>
                          </a:solidFill>
                          <a:latin typeface="Arial"/>
                          <a:ea typeface="Arial"/>
                          <a:cs typeface="Arial"/>
                        </a:rPr>
                        <a:t>120</a:t>
                      </a:r>
                    </a:p>
                  </a:txBody>
                  <a:tcPr marL="91440" marR="91440" marT="45720" marB="45720">
                    <a:solidFill>
                      <a:srgbClr val="15111F"/>
                    </a:solidFill>
                  </a:tcPr>
                </a:tc>
              </a:tr>
              <a:tr h="542925">
                <a:tc>
                  <a:txBody>
                    <a:bodyPr>
                      <a:noAutofit/>
                    </a:bodyPr>
                    <a:lstStyle/>
                    <a:p>
                      <a:r>
                        <a:rPr sz="1725" b="1">
                          <a:solidFill>
                            <a:srgbClr val="FAF8FF"/>
                          </a:solidFill>
                          <a:latin typeface="Arial"/>
                          <a:ea typeface="Arial"/>
                          <a:cs typeface="Arial"/>
                        </a:rPr>
                        <a:t>Group total</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1,240</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784</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63.2%</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228</a:t>
                      </a:r>
                    </a:p>
                  </a:txBody>
                  <a:tcPr marL="91440" marR="91440" marT="45720" marB="45720">
                    <a:solidFill>
                      <a:srgbClr val="302043"/>
                    </a:solidFill>
                  </a:tcPr>
                </a:tc>
                <a:tc>
                  <a:txBody>
                    <a:bodyPr>
                      <a:noAutofit/>
                    </a:bodyPr>
                    <a:lstStyle/>
                    <a:p>
                      <a:r>
                        <a:rPr sz="1725" b="1">
                          <a:solidFill>
                            <a:srgbClr val="FAF8FF"/>
                          </a:solidFill>
                          <a:latin typeface="Arial"/>
                          <a:ea typeface="Arial"/>
                          <a:cs typeface="Arial"/>
                        </a:rPr>
                        <a:t>455</a:t>
                      </a:r>
                    </a:p>
                  </a:txBody>
                  <a:tcPr marL="91440" marR="91440" marT="45720" marB="45720">
                    <a:solidFill>
                      <a:srgbClr val="302043"/>
                    </a:solidFill>
                  </a:tcPr>
                </a:tc>
              </a:tr>
            </a:tbl>
          </a:graphicData>
        </a:graphic>
      </p:graphicFrame>
      <p:sp>
        <p:nvSpPr>
          <p:cNvPr id="6" name="">
            <a:extLst xmlns:a="http://schemas.openxmlformats.org/drawingml/2006/main">
              <a:ext uri="{FF2B5EF4-FFF2-40B4-BE49-F238E27FC236}">
                <a16:creationId xmlns:a16="http://schemas.microsoft.com/office/drawing/2014/main" id="{475E16F2-3C80-4D5D-BD1E-ECA880D93A6C}"/>
              </a:ext>
            </a:extLst>
          </p:cNvPr>
          <p:cNvSpPr>
            <a:spLocks xmlns:a="http://schemas.openxmlformats.org/drawingml/2006/main" noGrp="1"/>
          </p:cNvSpPr>
          <p:nvPr/>
        </p:nvSpPr>
        <p:spPr>
          <a:xfrm xmlns:a="http://schemas.openxmlformats.org/drawingml/2006/main">
            <a:off x="619125" y="4991100"/>
            <a:ext cx="500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88AFF"/>
                </a:solidFill>
                <a:latin typeface="Arial"/>
                <a:ea typeface="Arial"/>
                <a:cs typeface="Arial"/>
              </a:defRPr>
            </a:pPr>
            <a:r>
              <a:rPr sz="1875" b="1">
                <a:solidFill>
                  <a:srgbClr val="B88AFF"/>
                </a:solidFill>
                <a:latin typeface="Arial"/>
                <a:ea typeface="Arial"/>
                <a:cs typeface="Arial"/>
              </a:rPr>
              <a:t>Aurora Room</a:t>
            </a:r>
          </a:p>
        </p:txBody>
      </p:sp>
      <p:sp>
        <p:nvSpPr>
          <p:cNvPr id="7" name="">
            <a:extLst xmlns:a="http://schemas.openxmlformats.org/drawingml/2006/main">
              <a:ext uri="{FF2B5EF4-FFF2-40B4-BE49-F238E27FC236}">
                <a16:creationId xmlns:a16="http://schemas.microsoft.com/office/drawing/2014/main" id="{5087D4AC-FC8B-405D-B6E6-811A482226C8}"/>
              </a:ext>
            </a:extLst>
          </p:cNvPr>
          <p:cNvSpPr>
            <a:spLocks xmlns:a="http://schemas.openxmlformats.org/drawingml/2006/main" noGrp="1"/>
          </p:cNvSpPr>
          <p:nvPr/>
        </p:nvSpPr>
        <p:spPr>
          <a:xfrm xmlns:a="http://schemas.openxmlformats.org/drawingml/2006/main">
            <a:off x="619125" y="538162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Review the gap between pass claims and confirmed use.</a:t>
            </a:r>
          </a:p>
        </p:txBody>
      </p:sp>
      <p:sp>
        <p:nvSpPr>
          <p:cNvPr id="8" name="">
            <a:extLst xmlns:a="http://schemas.openxmlformats.org/drawingml/2006/main">
              <a:ext uri="{FF2B5EF4-FFF2-40B4-BE49-F238E27FC236}">
                <a16:creationId xmlns:a16="http://schemas.microsoft.com/office/drawing/2014/main" id="{F720172C-DB9D-4D88-B801-ECFEA4DFDA40}"/>
              </a:ext>
            </a:extLst>
          </p:cNvPr>
          <p:cNvSpPr>
            <a:spLocks xmlns:a="http://schemas.openxmlformats.org/drawingml/2006/main" noGrp="1"/>
          </p:cNvSpPr>
          <p:nvPr/>
        </p:nvSpPr>
        <p:spPr>
          <a:xfrm xmlns:a="http://schemas.openxmlformats.org/drawingml/2006/main">
            <a:off x="6429375" y="49911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88AFF"/>
                </a:solidFill>
                <a:latin typeface="Arial"/>
                <a:ea typeface="Arial"/>
                <a:cs typeface="Arial"/>
              </a:defRPr>
            </a:pPr>
            <a:r>
              <a:rPr sz="1875" b="1">
                <a:solidFill>
                  <a:srgbClr val="B88AFF"/>
                </a:solidFill>
                <a:latin typeface="Arial"/>
                <a:ea typeface="Arial"/>
                <a:cs typeface="Arial"/>
              </a:rPr>
              <a:t>Blue Ember</a:t>
            </a:r>
          </a:p>
        </p:txBody>
      </p:sp>
      <p:sp>
        <p:nvSpPr>
          <p:cNvPr id="9" name="">
            <a:extLst xmlns:a="http://schemas.openxmlformats.org/drawingml/2006/main">
              <a:ext uri="{FF2B5EF4-FFF2-40B4-BE49-F238E27FC236}">
                <a16:creationId xmlns:a16="http://schemas.microsoft.com/office/drawing/2014/main" id="{2F58C738-2033-49D7-87A0-6F782DF17154}"/>
              </a:ext>
            </a:extLst>
          </p:cNvPr>
          <p:cNvSpPr>
            <a:spLocks xmlns:a="http://schemas.openxmlformats.org/drawingml/2006/main" noGrp="1"/>
          </p:cNvSpPr>
          <p:nvPr/>
        </p:nvSpPr>
        <p:spPr>
          <a:xfrm xmlns:a="http://schemas.openxmlformats.org/drawingml/2006/main">
            <a:off x="6429375" y="5381625"/>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Compare offers and arrival handling behind its 70% rate.</a:t>
            </a:r>
          </a:p>
        </p:txBody>
      </p:sp>
      <p:sp>
        <p:nvSpPr>
          <p:cNvPr id="10" name="">
            <a:extLst xmlns:a="http://schemas.openxmlformats.org/drawingml/2006/main">
              <a:ext uri="{FF2B5EF4-FFF2-40B4-BE49-F238E27FC236}">
                <a16:creationId xmlns:a16="http://schemas.microsoft.com/office/drawing/2014/main" id="{D46801E3-45D1-4079-AA7C-9E3D95F92927}"/>
              </a:ext>
            </a:extLst>
          </p:cNvPr>
          <p:cNvSpPr>
            <a:spLocks xmlns:a="http://schemas.openxmlformats.org/drawingml/2006/main" noGrp="1"/>
          </p:cNvSpPr>
          <p:nvPr/>
        </p:nvSpPr>
        <p:spPr>
          <a:xfrm xmlns:a="http://schemas.openxmlformats.org/drawingml/2006/main">
            <a:off x="619125" y="60483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6C1D1"/>
                </a:solidFill>
                <a:latin typeface="Arial"/>
                <a:ea typeface="Arial"/>
                <a:cs typeface="Arial"/>
              </a:defRPr>
            </a:pPr>
            <a:r>
              <a:rPr sz="1275" b="0">
                <a:solidFill>
                  <a:srgbClr val="C6C1D1"/>
                </a:solidFill>
                <a:latin typeface="Arial"/>
                <a:ea typeface="Arial"/>
                <a:cs typeface="Arial"/>
              </a:rPr>
              <a:t>Sample roll-up assembled from per-club metrics; this is not an existing consolidated corporate dashboard.</a:t>
            </a:r>
          </a:p>
        </p:txBody>
      </p:sp>
    </p:spTree>
    <p:extLst>
      <p:ext uri="{BB962C8B-B14F-4D97-AF65-F5344CB8AC3E}">
        <p14:creationId xmlns:p14="http://schemas.microsoft.com/office/powerpoint/2010/main" val="14150578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2026-10-02T07:15:33.5900000Z</dcterms:created>
  <dcterms:modified xsi:type="dcterms:W3CDTF">2026-10-02T07:15:33.5900000Z</dcterms:modified>
</coreProperties>
</file>