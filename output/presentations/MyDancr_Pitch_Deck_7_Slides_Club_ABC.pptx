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4823e40c39d4064" /><Relationship Type="http://schemas.openxmlformats.org/officeDocument/2006/relationships/extended-properties" Target="/docProps/app.xml" Id="R5eae9cd70a4b4090" /><Relationship Type="http://schemas.openxmlformats.org/officeDocument/2006/relationships/officeDocument" Target="/ppt/presentation.xml" Id="Rca75b2773ba94869" /></Relationships>
</file>

<file path=ppt/presentation.xml><?xml version="1.0" encoding="utf-8"?>
<p:presentation xmlns:p="http://schemas.openxmlformats.org/presentationml/2006/main">
  <p:sldMasterIdLst>
    <p:sldMasterId xmlns:r="http://schemas.openxmlformats.org/officeDocument/2006/relationships" id="2147483648" r:id="R47d40d1d45d14009"/>
  </p:sldMasterIdLst>
  <p:notesMasterIdLst>
    <p:notesMasterId xmlns:r="http://schemas.openxmlformats.org/officeDocument/2006/relationships" r:id="R809d71ee41354c4e"/>
  </p:notesMasterIdLst>
  <p:sldIdLst>
    <p:sldId xmlns:r="http://schemas.openxmlformats.org/officeDocument/2006/relationships" id="256" r:id="Rdb38be9adb0a4104"/>
    <p:sldId xmlns:r="http://schemas.openxmlformats.org/officeDocument/2006/relationships" id="257" r:id="Rb34eb10537fb48f8"/>
    <p:sldId xmlns:r="http://schemas.openxmlformats.org/officeDocument/2006/relationships" id="258" r:id="R46692da4d4e34df1"/>
    <p:sldId xmlns:r="http://schemas.openxmlformats.org/officeDocument/2006/relationships" id="259" r:id="R46f4ef8bf1794acb"/>
    <p:sldId xmlns:r="http://schemas.openxmlformats.org/officeDocument/2006/relationships" id="260" r:id="Rcac88df414a04342"/>
    <p:sldId xmlns:r="http://schemas.openxmlformats.org/officeDocument/2006/relationships" id="261" r:id="Ra71e84dd79aa4ba8"/>
    <p:sldId xmlns:r="http://schemas.openxmlformats.org/officeDocument/2006/relationships" id="262" r:id="Rb6427cedbd5042c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afa794bc39b4197" /><Relationship Type="http://schemas.openxmlformats.org/officeDocument/2006/relationships/slideMaster" Target="/ppt/slideMasters/slideMaster1.xml" Id="R47d40d1d45d14009" /><Relationship Type="http://schemas.openxmlformats.org/officeDocument/2006/relationships/notesMaster" Target="/ppt/notesMasters/notesMaster1.xml" Id="R809d71ee41354c4e" /><Relationship Type="http://schemas.openxmlformats.org/officeDocument/2006/relationships/presProps" Target="/ppt/presProps.xml" Id="R859e117ca8cc434c" /><Relationship Type="http://schemas.openxmlformats.org/officeDocument/2006/relationships/tableStyles" Target="/ppt/tableStyles.xml" Id="R919116e071504ed2" /><Relationship Type="http://schemas.openxmlformats.org/officeDocument/2006/relationships/slide" Target="/ppt/slides/slide1.xml" Id="Rdb38be9adb0a4104" /><Relationship Type="http://schemas.openxmlformats.org/officeDocument/2006/relationships/slide" Target="/ppt/slides/slide2.xml" Id="Rb34eb10537fb48f8" /><Relationship Type="http://schemas.openxmlformats.org/officeDocument/2006/relationships/slide" Target="/ppt/slides/slide3.xml" Id="R46692da4d4e34df1" /><Relationship Type="http://schemas.openxmlformats.org/officeDocument/2006/relationships/slide" Target="/ppt/slides/slide4.xml" Id="R46f4ef8bf1794acb" /><Relationship Type="http://schemas.openxmlformats.org/officeDocument/2006/relationships/slide" Target="/ppt/slides/slide5.xml" Id="Rcac88df414a04342" /><Relationship Type="http://schemas.openxmlformats.org/officeDocument/2006/relationships/slide" Target="/ppt/slides/slide6.xml" Id="Ra71e84dd79aa4ba8" /><Relationship Type="http://schemas.openxmlformats.org/officeDocument/2006/relationships/slide" Target="/ppt/slides/slide7.xml" Id="Rb6427cedbd5042c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2defe16bac64e9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dfb07f15e82449f" /><Relationship Type="http://schemas.openxmlformats.org/officeDocument/2006/relationships/notesMaster" Target="/ppt/notesMasters/notesMaster1.xml" Id="Rd975bcab5acb4893" /></Relationships>
</file>

<file path=ppt/notesSlides/_rels/notesSlide2.xml.rels>&#65279;<?xml version="1.0" encoding="utf-8"?><Relationships xmlns="http://schemas.openxmlformats.org/package/2006/relationships"><Relationship Type="http://schemas.openxmlformats.org/officeDocument/2006/relationships/slide" Target="/ppt/slides/slide2.xml" Id="Rf2b4fb1c211d45f6" /><Relationship Type="http://schemas.openxmlformats.org/officeDocument/2006/relationships/notesMaster" Target="/ppt/notesMasters/notesMaster1.xml" Id="Rf57de955ceed41f4" /></Relationships>
</file>

<file path=ppt/notesSlides/_rels/notesSlide3.xml.rels>&#65279;<?xml version="1.0" encoding="utf-8"?><Relationships xmlns="http://schemas.openxmlformats.org/package/2006/relationships"><Relationship Type="http://schemas.openxmlformats.org/officeDocument/2006/relationships/slide" Target="/ppt/slides/slide3.xml" Id="Rc2c3796d7fa04b25" /><Relationship Type="http://schemas.openxmlformats.org/officeDocument/2006/relationships/notesMaster" Target="/ppt/notesMasters/notesMaster1.xml" Id="R462bd50880f64017" /></Relationships>
</file>

<file path=ppt/notesSlides/_rels/notesSlide4.xml.rels>&#65279;<?xml version="1.0" encoding="utf-8"?><Relationships xmlns="http://schemas.openxmlformats.org/package/2006/relationships"><Relationship Type="http://schemas.openxmlformats.org/officeDocument/2006/relationships/slide" Target="/ppt/slides/slide4.xml" Id="R8b4774fa40524fbd" /><Relationship Type="http://schemas.openxmlformats.org/officeDocument/2006/relationships/notesMaster" Target="/ppt/notesMasters/notesMaster1.xml" Id="Red4f7165cb6a4037" /></Relationships>
</file>

<file path=ppt/notesSlides/_rels/notesSlide5.xml.rels>&#65279;<?xml version="1.0" encoding="utf-8"?><Relationships xmlns="http://schemas.openxmlformats.org/package/2006/relationships"><Relationship Type="http://schemas.openxmlformats.org/officeDocument/2006/relationships/slide" Target="/ppt/slides/slide5.xml" Id="R2fd351f6051f45b6" /><Relationship Type="http://schemas.openxmlformats.org/officeDocument/2006/relationships/notesMaster" Target="/ppt/notesMasters/notesMaster1.xml" Id="R90a71893d4de4af5" /></Relationships>
</file>

<file path=ppt/notesSlides/_rels/notesSlide6.xml.rels>&#65279;<?xml version="1.0" encoding="utf-8"?><Relationships xmlns="http://schemas.openxmlformats.org/package/2006/relationships"><Relationship Type="http://schemas.openxmlformats.org/officeDocument/2006/relationships/slide" Target="/ppt/slides/slide6.xml" Id="R9488ef5d08a4452a" /><Relationship Type="http://schemas.openxmlformats.org/officeDocument/2006/relationships/notesMaster" Target="/ppt/notesMasters/notesMaster1.xml" Id="Rbfaf0a7e0c654e3e" /></Relationships>
</file>

<file path=ppt/notesSlides/_rels/notesSlide7.xml.rels>&#65279;<?xml version="1.0" encoding="utf-8"?><Relationships xmlns="http://schemas.openxmlformats.org/package/2006/relationships"><Relationship Type="http://schemas.openxmlformats.org/officeDocument/2006/relationships/slide" Target="/ppt/slides/slide7.xml" Id="R04f812194b744572" /><Relationship Type="http://schemas.openxmlformats.org/officeDocument/2006/relationships/notesMaster" Target="/ppt/notesMasters/notesMaster1.xml" Id="R7cc99d518b8441d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MyDancr provides public discovery and guest actions alongside venue-scoped operational tools and reporting. This presentation contains seven slides. Product screens use fictional demo venues and profiles. The analytics examples are invented for illustration and are not operating results or promises of financial return. Corporate comparison is a management reporting example; do not present a consolidated corporate dashboard or a single-login multi-venue switcher as an implemented feature.</a:t>
            </a:r>
          </a:p>
          <a:p xmlns:a="http://schemas.openxmlformats.org/drawingml/2006/main">
            <a:r>
              <a:t/>
            </a:r>
          </a:p>
          <a:p xmlns:a="http://schemas.openxmlformats.org/drawingml/2006/main">
            <a:r>
              <a:t>Product source references (repository files, reviewed October 2, 2026):</a:t>
            </a:r>
          </a:p>
          <a:p xmlns:a="http://schemas.openxmlformats.org/drawingml/2006/main">
            <a:r>
              <a:t>D:\Codex\MyDancr-clean-2026-09-11\app\dashboard\VenueDashboardPanels.tsx</a:t>
            </a:r>
          </a:p>
          <a:p xmlns:a="http://schemas.openxmlformats.org/drawingml/2006/main">
            <a:r>
              <a:t>D:\Codex\MyDancr-clean-2026-09-11\src\lib\dancr\venue-access.ts</a:t>
            </a:r>
          </a:p>
          <a:p xmlns:a="http://schemas.openxmlformats.org/drawingml/2006/main">
            <a:r>
              <a:t>D:\Codex\MyDancr-clean-2026-09-11\public\dancr-brand-tokens.v1.css</a:t>
            </a:r>
          </a:p>
          <a:p xmlns:a="http://schemas.openxmlformats.org/drawingml/2006/main">
            <a:r>
              <a:t>D:\Codex\MyDancr-clean-2026-09-11\outputs\dancr-hero.png</a:t>
            </a:r>
          </a:p>
          <a:p xmlns:a="http://schemas.openxmlformats.org/drawingml/2006/main">
            <a:r>
              <a:t>D:\Codex\MyDancr-clean-2026-09-11\outputs\mydancr-logo-current.png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is an existing demo capture, not live business performance; details of styling may differ from the current app. Free Entry includes independent arrival-method, transport and guest-list paths. Guest-list submission sends contact information to the venue and issues an entry pass. Pickup availability depends on the club. A saved I’m Going choice is intent, not a confirmed arrival. Following and saved offers are customer features; do not promise guaranteed repeat visits.</a:t>
            </a:r>
          </a:p>
          <a:p xmlns:a="http://schemas.openxmlformats.org/drawingml/2006/main">
            <a:r>
              <a:t/>
            </a:r>
          </a:p>
          <a:p xmlns:a="http://schemas.openxmlformats.org/drawingml/2006/main">
            <a:r>
              <a:t>Product source references (repository files, reviewed October 2, 2026):</a:t>
            </a:r>
          </a:p>
          <a:p xmlns:a="http://schemas.openxmlformats.org/drawingml/2006/main">
            <a:r>
              <a:t>D:\Codex\MyDancr-clean-2026-09-11\src\live-shell\app\02-venue-interactions.js</a:t>
            </a:r>
          </a:p>
          <a:p xmlns:a="http://schemas.openxmlformats.org/drawingml/2006/main">
            <a:r>
              <a:t>D:\Codex\MyDancr-clean-2026-09-11\app\dashboard\CustomerDashboardPanels.tsx</a:t>
            </a:r>
          </a:p>
          <a:p xmlns:a="http://schemas.openxmlformats.org/drawingml/2006/main">
            <a:r>
              <a:t>D:\Codex\MyDancr-clean-2026-09-11\app\dashboard\VenueGuestListPanel.tsx</a:t>
            </a:r>
          </a:p>
          <a:p xmlns:a="http://schemas.openxmlformats.org/drawingml/2006/main">
            <a:r>
              <a:t>D:\Codex\MyDancr-clean-2026-09-11\app\dashboard\PickupDashboardPanel.tsx</a:t>
            </a:r>
          </a:p>
          <a:p xmlns:a="http://schemas.openxmlformats.org/drawingml/2006/main">
            <a:r>
              <a:t>D:\Codex\MyDancr-clean-2026-09-11\tmp\aesthetic-review\clubs-mobile.png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shows a fictional demo table roster. NFC check-in sets working status and dancers choose internal and external visibility. Guests browse full profiles and send table requests. Staff coordinate requests and confirm availability. A request does not guarantee a booking or assignment.</a:t>
            </a:r>
          </a:p>
          <a:p xmlns:a="http://schemas.openxmlformats.org/drawingml/2006/main">
            <a:r>
              <a:t/>
            </a:r>
          </a:p>
          <a:p xmlns:a="http://schemas.openxmlformats.org/drawingml/2006/main">
            <a:r>
              <a:t>Product source references:</a:t>
            </a:r>
          </a:p>
          <a:p xmlns:a="http://schemas.openxmlformats.org/drawingml/2006/main">
            <a:r>
              <a:t>D:\Codex\MyDancr-clean-2026-09-11\app\internal\InternalRoster.tsx</a:t>
            </a:r>
          </a:p>
          <a:p xmlns:a="http://schemas.openxmlformats.org/drawingml/2006/main">
            <a:r>
              <a:t>D:\Codex\MyDancr-clean-2026-09-11\app\dashboard\VenueNfcTagPanel.tsx</a:t>
            </a:r>
          </a:p>
          <a:p xmlns:a="http://schemas.openxmlformats.org/drawingml/2006/main">
            <a:r>
              <a:t>D:\Codex\MyDancr-clean-2026-09-11\app\dashboard\VenueDashboardPanels.tsx</a:t>
            </a:r>
          </a:p>
          <a:p xmlns:a="http://schemas.openxmlformats.org/drawingml/2006/main">
            <a:r>
              <a:t>D:\Codex\MyDancr-clean-2026-09-11\.qa\internal-brightness\live-desktop.png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capabilities come from the existing deck and the current venue dashboard. Pickup service depends on the club. Owner, manager and staff permissions differ. MyDancr prepares the club page and manages Club Deals; venue users review their page and request changes. This slide makes no claim of a corporate multi-venue dashboard.</a:t>
            </a:r>
          </a:p>
          <a:p xmlns:a="http://schemas.openxmlformats.org/drawingml/2006/main">
            <a:r>
              <a:t/>
            </a:r>
          </a:p>
          <a:p xmlns:a="http://schemas.openxmlformats.org/drawingml/2006/main">
            <a:r>
              <a:t>Product source references:</a:t>
            </a:r>
          </a:p>
          <a:p xmlns:a="http://schemas.openxmlformats.org/drawingml/2006/main">
            <a:r>
              <a:t>D:\Codex\MyDancr-clean-2026-09-11\app\dashboard\VenueGuestListPanel.tsx</a:t>
            </a:r>
          </a:p>
          <a:p xmlns:a="http://schemas.openxmlformats.org/drawingml/2006/main">
            <a:r>
              <a:t>D:\Codex\MyDancr-clean-2026-09-11\app\dashboard\PickupDashboardPanel.tsx</a:t>
            </a:r>
          </a:p>
          <a:p xmlns:a="http://schemas.openxmlformats.org/drawingml/2006/main">
            <a:r>
              <a:t>D:\Codex\MyDancr-clean-2026-09-11\app\dashboard\VenueTeamPanel.tsx</a:t>
            </a:r>
          </a:p>
          <a:p xmlns:a="http://schemas.openxmlformats.org/drawingml/2006/main">
            <a:r>
              <a:t>D:\Codex\MyDancr-clean-2026-09-11\app\dashboard\VenueDashboardPanels.tsx</a:t>
            </a:r>
          </a:p>
          <a:p xmlns:a="http://schemas.openxmlformats.org/drawingml/2006/main">
            <a:r>
              <a:t>D:\Codex\MyDancr-clean-2026-09-11\src\lib\dancr\venue-access.ts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numbers are illustrative. Current: claims 480, confirmed pass uses 312, pickups 96, impressions 18,400, unique browsers 4,200, directions 640, new followers 185. Previous 30 days: claims 400, pass uses 240, pickups 80. Changes are (current / previous - 1): 20%, 30%, 20%. Conversion is cohort redemptions / passes claimed = 312 / 480 = 65%; the example deliberately assumes period admissions and cohort redemptions coincide. Real data can differ. The product supports Tonight, 7 days and 30 days; this slide uses an illustrative closed 30-day report, not an existing custom-date picker. Current per-club reports include customer actions by source, activity tied to individual dancers, and attributed TV video activity. Cost per admission is unavailable until subscription cost for the same period is connected. No revenue or ROI estimate is presented.</a:t>
            </a:r>
          </a:p>
          <a:p xmlns:a="http://schemas.openxmlformats.org/drawingml/2006/main">
            <a:r>
              <a:t/>
            </a:r>
          </a:p>
          <a:p xmlns:a="http://schemas.openxmlformats.org/drawingml/2006/main">
            <a:r>
              <a:t>Product source references (repository files, reviewed October 2, 2026):</a:t>
            </a:r>
          </a:p>
          <a:p xmlns:a="http://schemas.openxmlformats.org/drawingml/2006/main">
            <a:r>
              <a:t>D:\Codex\MyDancr-clean-2026-09-11\app\dashboard\VenueValueAnalytics.tsx</a:t>
            </a:r>
          </a:p>
          <a:p xmlns:a="http://schemas.openxmlformats.org/drawingml/2006/main">
            <a:r>
              <a:t>D:\Codex\MyDancr-clean-2026-09-11\src\lib\dancr\venue-analytics.ts</a:t>
            </a:r>
          </a:p>
          <a:p xmlns:a="http://schemas.openxmlformats.org/drawingml/2006/main">
            <a:r>
              <a:t>D:\Codex\MyDancr-clean-2026-09-11\src\lib\dancr\venue.ts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figure is invented for demonstration. Pass claims sum to 1,240; confirmed pass uses sum to 784; pickups sum to 228; new followers sum to 455. Group conversion is the weighted ratio 784 / 1,240 = 63.2258%, shown as 63.2%, not the unweighted average of venue percentages. As on slide 5, each venue assumes the same-period confirmed pass uses belong to that period’s claims. New follower totals are venue follows, not deduplicated group customers. Suggested management questions are hypotheses for review, not causal conclusions or guaranteed performance gains. The current application resolves access per venue; the comparison shown here is an illustrative assembled report and does not claim an implemented corporate roll-up dashboard, portfolio login or automatic consolidated export. Use common reporting windows, local operating context and consistent metric definitions when comparing locations.</a:t>
            </a:r>
          </a:p>
          <a:p xmlns:a="http://schemas.openxmlformats.org/drawingml/2006/main">
            <a:r>
              <a:t/>
            </a:r>
          </a:p>
          <a:p xmlns:a="http://schemas.openxmlformats.org/drawingml/2006/main">
            <a:r>
              <a:t>Product source references (repository files, reviewed October 2, 2026):</a:t>
            </a:r>
          </a:p>
          <a:p xmlns:a="http://schemas.openxmlformats.org/drawingml/2006/main">
            <a:r>
              <a:t>D:\Codex\MyDancr-clean-2026-09-11\app\dashboard\VenueValueAnalytics.tsx</a:t>
            </a:r>
          </a:p>
          <a:p xmlns:a="http://schemas.openxmlformats.org/drawingml/2006/main">
            <a:r>
              <a:t>D:\Codex\MyDancr-clean-2026-09-11\src\lib\dancr\venue-analytics.ts</a:t>
            </a:r>
          </a:p>
          <a:p xmlns:a="http://schemas.openxmlformats.org/drawingml/2006/main">
            <a:r>
              <a:t>D:\Codex\MyDancr-clean-2026-09-11\src\lib\dancr\venue-access.ts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pilot discussion, not a committed offer or implementation timetable. Agree scope, responsibilities and commercial terms separately. Do not promise a specific financial result. Review each venue with consistent reporting periods and the metric definitions shown on slides 5 and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171e9971fff44a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c01cefe7fe04c82" /><Relationship Type="http://schemas.openxmlformats.org/officeDocument/2006/relationships/slideLayout" Target="/ppt/slideLayouts/slideLayout1.xml" Id="R6132dcc7951f414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132dcc7951f414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9163180053b4e7c" /><Relationship Type="http://schemas.openxmlformats.org/officeDocument/2006/relationships/image" Target="/ppt/media/image.png" Id="R3c29d201e5cc41b4" /><Relationship Type="http://schemas.openxmlformats.org/officeDocument/2006/relationships/image" Target="/ppt/media/image2.png" Id="Raf97ab1e1b7147ef" /><Relationship Type="http://schemas.openxmlformats.org/officeDocument/2006/relationships/notesSlide" Target="/ppt/notesSlides/notesSlide1.xml" Id="R593aea301b274b3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0fcef5913154f97" /><Relationship Type="http://schemas.openxmlformats.org/officeDocument/2006/relationships/image" Target="/ppt/media/image3.png" Id="R6b579df4309b4e4e" /><Relationship Type="http://schemas.openxmlformats.org/officeDocument/2006/relationships/notesSlide" Target="/ppt/notesSlides/notesSlide2.xml" Id="Re4ca90d96a63451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0289fbaf01e4981" /><Relationship Type="http://schemas.openxmlformats.org/officeDocument/2006/relationships/image" Target="/ppt/media/image4.png" Id="Rab3ef0a995db4845" /><Relationship Type="http://schemas.openxmlformats.org/officeDocument/2006/relationships/notesSlide" Target="/ppt/notesSlides/notesSlide3.xml" Id="Rad96a50873d64b9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f96b493e2ab4a65" /><Relationship Type="http://schemas.openxmlformats.org/officeDocument/2006/relationships/notesSlide" Target="/ppt/notesSlides/notesSlide4.xml" Id="R15e7dd3044de4de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ea74e059be54651" /><Relationship Type="http://schemas.openxmlformats.org/officeDocument/2006/relationships/chart" Target="/ppt/slides/charts/chart1.xml" Id="Re4e568a09e49489b" /><Relationship Type="http://schemas.openxmlformats.org/officeDocument/2006/relationships/notesSlide" Target="/ppt/notesSlides/notesSlide5.xml" Id="R226ab037eea0420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baa97cd9fdf44f1" /><Relationship Type="http://schemas.openxmlformats.org/officeDocument/2006/relationships/notesSlide" Target="/ppt/notesSlides/notesSlide6.xml" Id="Racf453ca7c0d490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4e9facc58784f80" /><Relationship Type="http://schemas.openxmlformats.org/officeDocument/2006/relationships/notesSlide" Target="/ppt/notesSlides/notesSlide7.xml" Id="R15410bcdc1df43b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Previous 30 days</c:v>
          </c:tx>
          <c:spPr>
            <a:solidFill xmlns:a="http://schemas.openxmlformats.org/drawingml/2006/main">
              <a:srgbClr val="67557C"/>
            </a:solidFill>
          </c:spPr>
          <c:cat>
            <c:strRef>
              <c:f>'Chart Data'!$A$2:$A$4</c:f>
              <c:strCache>
                <c:ptCount val="3"/>
                <c:pt idx="0">
                  <c:v>Pass claims</c:v>
                </c:pt>
                <c:pt idx="1">
                  <c:v>QR pass uses</c:v>
                </c:pt>
                <c:pt idx="2">
                  <c:v>Pickup requests</c:v>
                </c:pt>
              </c:strCache>
            </c:strRef>
          </c:cat>
          <c:val>
            <c:numRef>
              <c:f>'Chart Data'!$B$2:$B$4</c:f>
              <c:numCache>
                <c:formatCode>General</c:formatCode>
                <c:ptCount val="3"/>
                <c:pt idx="0">
                  <c:v>400</c:v>
                </c:pt>
                <c:pt idx="1">
                  <c:v>240</c:v>
                </c:pt>
                <c:pt idx="2">
                  <c:v>80</c:v>
                </c:pt>
              </c:numCache>
            </c:numRef>
          </c:val>
        </c:ser>
        <c:ser>
          <c:idx val="1"/>
          <c:order val="1"/>
          <c:tx>
            <c:v>September</c:v>
          </c:tx>
          <c:spPr>
            <a:solidFill xmlns:a="http://schemas.openxmlformats.org/drawingml/2006/main">
              <a:srgbClr val="B88AFF"/>
            </a:solidFill>
          </c:spPr>
          <c:cat>
            <c:strRef>
              <c:f>'Chart Data'!$C$2:$C$4</c:f>
              <c:strCache>
                <c:ptCount val="3"/>
                <c:pt idx="0">
                  <c:v>Pass claims</c:v>
                </c:pt>
                <c:pt idx="1">
                  <c:v>QR pass uses</c:v>
                </c:pt>
                <c:pt idx="2">
                  <c:v>Pickup requests</c:v>
                </c:pt>
              </c:strCache>
            </c:strRef>
          </c:cat>
          <c:val>
            <c:numRef>
              <c:f>'Chart Data'!$D$2:$D$4</c:f>
              <c:numCache>
                <c:formatCode>General</c:formatCode>
                <c:ptCount val="3"/>
                <c:pt idx="0">
                  <c:v>480</c:v>
                </c:pt>
                <c:pt idx="1">
                  <c:v>312</c:v>
                </c:pt>
                <c:pt idx="2">
                  <c:v>96</c:v>
                </c:pt>
              </c:numCache>
            </c:numRef>
          </c:val>
        </c:ser>
        <c:dLbls>
          <c:txPr>
            <a:bodyPr xmlns:a="http://schemas.openxmlformats.org/drawingml/2006/main" anchorCtr="1"/>
            <a:lstStyle xmlns:a="http://schemas.openxmlformats.org/drawingml/2006/main"/>
            <a:p xmlns:a="http://schemas.openxmlformats.org/drawingml/2006/main">
              <a:pPr>
                <a:defRPr sz="1200">
                  <a:solidFill>
                    <a:srgbClr val="FAF8FF"/>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l"/>
        <c:majorGridlines>
          <c:spPr>
            <a:ln xmlns:a="http://schemas.openxmlformats.org/drawingml/2006/main" w="4763">
              <a:solidFill>
                <a:srgbClr val="443653"/>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C6C1D1"/>
                </a:solidFill>
                <a:latin typeface="Arial"/>
                <a:ea typeface="Arial"/>
                <a:cs typeface="Aria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FAF8FF"/>
                </a:solidFill>
                <a:latin typeface="Arial"/>
                <a:ea typeface="Arial"/>
                <a:cs typeface="Arial"/>
              </a:defRPr>
            </a:pPr>
          </a:p>
        </c:txPr>
        <c:crossAx val="48650112"/>
        <c:crossBetween val="between"/>
      </c:valAx>
      <c:spPr>
        <a:solidFill xmlns:a="http://schemas.openxmlformats.org/drawingml/2006/main">
          <a:srgbClr val="09070E"/>
        </a:solidFill>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C6C1D1"/>
              </a:solidFill>
              <a:latin typeface="Arial"/>
              <a:ea typeface="Arial"/>
              <a:cs typeface="Arial"/>
            </a:defRPr>
          </a:pPr>
        </a:p>
      </c:txPr>
    </c:legend>
    <c:plotVisOnly val="1"/>
  </c:chart>
  <c:spPr>
    <a:solidFill xmlns:a="http://schemas.openxmlformats.org/drawingml/2006/main">
      <a:srgbClr val="09070E"/>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941242D-1293-4DD9-934F-9AAC731BB6B0}"/>
              </a:ext>
            </a:extLst>
          </p:cNvPr>
          <p:cNvSpPr>
            <a:spLocks xmlns:a="http://schemas.openxmlformats.org/drawingml/2006/main" noGrp="1"/>
          </p:cNvSpPr>
          <p:nvPr/>
        </p:nvSpPr>
        <p:spPr>
          <a:xfrm xmlns:a="http://schemas.openxmlformats.org/drawingml/2006/main">
            <a:off x="619125" y="6448425"/>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B88AFF"/>
                </a:solidFill>
                <a:latin typeface="Arial"/>
                <a:ea typeface="Arial"/>
                <a:cs typeface="Arial"/>
              </a:defRPr>
            </a:pPr>
            <a:r>
              <a:rPr sz="1125" b="1">
                <a:solidFill>
                  <a:srgbClr val="B88AFF"/>
                </a:solidFill>
                <a:latin typeface="Arial"/>
                <a:ea typeface="Arial"/>
                <a:cs typeface="Arial"/>
              </a:rPr>
              <a:t>MYDANCR</a:t>
            </a:r>
          </a:p>
        </p:txBody>
      </p:sp>
      <p:sp>
        <p:nvSpPr>
          <p:cNvPr id="2" name="">
            <a:extLst xmlns:a="http://schemas.openxmlformats.org/drawingml/2006/main">
              <a:ext uri="{FF2B5EF4-FFF2-40B4-BE49-F238E27FC236}">
                <a16:creationId xmlns:a16="http://schemas.microsoft.com/office/drawing/2014/main" id="{464664FC-938A-4832-AFE8-A4A68F1B9312}"/>
              </a:ext>
            </a:extLst>
          </p:cNvPr>
          <p:cNvSpPr>
            <a:spLocks xmlns:a="http://schemas.openxmlformats.org/drawingml/2006/main" noGrp="1"/>
          </p:cNvSpPr>
          <p:nvPr/>
        </p:nvSpPr>
        <p:spPr>
          <a:xfrm xmlns:a="http://schemas.openxmlformats.org/drawingml/2006/main">
            <a:off x="10858500" y="644842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125" b="0">
                <a:solidFill>
                  <a:srgbClr val="C6C1D1"/>
                </a:solidFill>
                <a:latin typeface="Arial"/>
                <a:ea typeface="Arial"/>
                <a:cs typeface="Arial"/>
              </a:defRPr>
            </a:pPr>
            <a:r>
              <a:rPr sz="1125" b="0">
                <a:solidFill>
                  <a:srgbClr val="C6C1D1"/>
                </a:solidFill>
                <a:latin typeface="Arial"/>
                <a:ea typeface="Arial"/>
                <a:cs typeface="Arial"/>
              </a:rPr>
              <a:t>1 / 7</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3c29d201e5cc41b4"/>
          <a:stretch xmlns:a="http://schemas.openxmlformats.org/drawingml/2006/main"/>
        </p:blipFill>
        <p:spPr>
          <a:xfrm xmlns:a="http://schemas.openxmlformats.org/drawingml/2006/main">
            <a:off x="7677150" y="1976788"/>
            <a:ext cx="4257675" cy="2380549"/>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f97ab1e1b7147ef"/>
          <a:stretch xmlns:a="http://schemas.openxmlformats.org/drawingml/2006/main"/>
        </p:blipFill>
        <p:spPr>
          <a:xfrm xmlns:a="http://schemas.openxmlformats.org/drawingml/2006/main">
            <a:off x="590550" y="491502"/>
            <a:ext cx="2809875" cy="874372"/>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4BBA8BF-43D5-473F-A160-F0ABEE62B2C5}"/>
              </a:ext>
            </a:extLst>
          </p:cNvPr>
          <p:cNvSpPr>
            <a:spLocks xmlns:a="http://schemas.openxmlformats.org/drawingml/2006/main" noGrp="1"/>
          </p:cNvSpPr>
          <p:nvPr/>
        </p:nvSpPr>
        <p:spPr>
          <a:xfrm xmlns:a="http://schemas.openxmlformats.org/drawingml/2006/main">
            <a:off x="571500" y="1914525"/>
            <a:ext cx="7572375"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575" b="1">
                <a:solidFill>
                  <a:srgbClr val="FAF8FF"/>
                </a:solidFill>
                <a:latin typeface="Arial"/>
                <a:ea typeface="Arial"/>
                <a:cs typeface="Arial"/>
              </a:defRPr>
            </a:pPr>
            <a:r>
              <a:rPr sz="4575" b="1">
                <a:solidFill>
                  <a:srgbClr val="FAF8FF"/>
                </a:solidFill>
                <a:latin typeface="Arial"/>
                <a:ea typeface="Arial"/>
                <a:cs typeface="Arial"/>
              </a:rPr>
              <a:t>Club operations &amp;</a:t>
            </a:r>
          </a:p>
          <a:p xmlns:a="http://schemas.openxmlformats.org/drawingml/2006/main">
            <a:pPr>
              <a:buNone/>
              <a:defRPr sz="4575" b="1">
                <a:solidFill>
                  <a:srgbClr val="FAF8FF"/>
                </a:solidFill>
                <a:latin typeface="Arial"/>
                <a:ea typeface="Arial"/>
                <a:cs typeface="Arial"/>
              </a:defRPr>
            </a:pPr>
            <a:r>
              <a:rPr sz="4575" b="1">
                <a:solidFill>
                  <a:srgbClr val="FAF8FF"/>
                </a:solidFill>
                <a:latin typeface="Arial"/>
                <a:ea typeface="Arial"/>
                <a:cs typeface="Arial"/>
              </a:rPr>
              <a:t>guest discovery</a:t>
            </a:r>
          </a:p>
        </p:txBody>
      </p:sp>
      <p:sp>
        <p:nvSpPr>
          <p:cNvPr id="6" name="">
            <a:extLst xmlns:a="http://schemas.openxmlformats.org/drawingml/2006/main">
              <a:ext uri="{FF2B5EF4-FFF2-40B4-BE49-F238E27FC236}">
                <a16:creationId xmlns:a16="http://schemas.microsoft.com/office/drawing/2014/main" id="{D8A07424-3E21-4087-A6E0-A948263367C7}"/>
              </a:ext>
            </a:extLst>
          </p:cNvPr>
          <p:cNvSpPr>
            <a:spLocks xmlns:a="http://schemas.openxmlformats.org/drawingml/2006/main" noGrp="1"/>
          </p:cNvSpPr>
          <p:nvPr/>
        </p:nvSpPr>
        <p:spPr>
          <a:xfrm xmlns:a="http://schemas.openxmlformats.org/drawingml/2006/main">
            <a:off x="619125" y="3762375"/>
            <a:ext cx="6524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C6C1D1"/>
                </a:solidFill>
                <a:latin typeface="Arial"/>
                <a:ea typeface="Arial"/>
                <a:cs typeface="Arial"/>
              </a:defRPr>
            </a:pPr>
            <a:r>
              <a:rPr sz="2250" b="0">
                <a:solidFill>
                  <a:srgbClr val="C6C1D1"/>
                </a:solidFill>
                <a:latin typeface="Arial"/>
                <a:ea typeface="Arial"/>
                <a:cs typeface="Arial"/>
              </a:rPr>
              <a:t>For club owners and groups</a:t>
            </a:r>
          </a:p>
          <a:p xmlns:a="http://schemas.openxmlformats.org/drawingml/2006/main">
            <a:pPr>
              <a:buNone/>
              <a:defRPr sz="2250" b="0">
                <a:solidFill>
                  <a:srgbClr val="C6C1D1"/>
                </a:solidFill>
                <a:latin typeface="Arial"/>
                <a:ea typeface="Arial"/>
                <a:cs typeface="Arial"/>
              </a:defRPr>
            </a:pPr>
            <a:r>
              <a:rPr sz="2250" b="0">
                <a:solidFill>
                  <a:srgbClr val="C6C1D1"/>
                </a:solidFill>
                <a:latin typeface="Arial"/>
                <a:ea typeface="Arial"/>
                <a:cs typeface="Arial"/>
              </a:rPr>
              <a:t>operating multiple venues</a:t>
            </a:r>
          </a:p>
        </p:txBody>
      </p:sp>
      <p:sp>
        <p:nvSpPr>
          <p:cNvPr id="7" name="">
            <a:extLst xmlns:a="http://schemas.openxmlformats.org/drawingml/2006/main">
              <a:ext uri="{FF2B5EF4-FFF2-40B4-BE49-F238E27FC236}">
                <a16:creationId xmlns:a16="http://schemas.microsoft.com/office/drawing/2014/main" id="{0EE95C7C-C9EA-4C7A-A501-F6F6A9F1D03E}"/>
              </a:ext>
            </a:extLst>
          </p:cNvPr>
          <p:cNvSpPr>
            <a:spLocks xmlns:a="http://schemas.openxmlformats.org/drawingml/2006/main" noGrp="1"/>
          </p:cNvSpPr>
          <p:nvPr/>
        </p:nvSpPr>
        <p:spPr>
          <a:xfrm xmlns:a="http://schemas.openxmlformats.org/drawingml/2006/main">
            <a:off x="619125" y="5095875"/>
            <a:ext cx="685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FAF8FF"/>
                </a:solidFill>
                <a:latin typeface="Arial"/>
                <a:ea typeface="Arial"/>
                <a:cs typeface="Arial"/>
              </a:defRPr>
            </a:pPr>
            <a:r>
              <a:rPr sz="1950" b="0">
                <a:solidFill>
                  <a:srgbClr val="FAF8FF"/>
                </a:solidFill>
                <a:latin typeface="Arial"/>
                <a:ea typeface="Arial"/>
                <a:cs typeface="Arial"/>
              </a:rPr>
              <a:t>Connect the guest experience with the club floor</a:t>
            </a:r>
          </a:p>
          <a:p xmlns:a="http://schemas.openxmlformats.org/drawingml/2006/main">
            <a:pPr>
              <a:buNone/>
              <a:defRPr sz="1950" b="0">
                <a:solidFill>
                  <a:srgbClr val="FAF8FF"/>
                </a:solidFill>
                <a:latin typeface="Arial"/>
                <a:ea typeface="Arial"/>
                <a:cs typeface="Arial"/>
              </a:defRPr>
            </a:pPr>
            <a:r>
              <a:rPr sz="1950" b="0">
                <a:solidFill>
                  <a:srgbClr val="FAF8FF"/>
                </a:solidFill>
                <a:latin typeface="Arial"/>
                <a:ea typeface="Arial"/>
                <a:cs typeface="Arial"/>
              </a:rPr>
              <a:t>and measurable activity at each location.</a:t>
            </a:r>
          </a:p>
        </p:txBody>
      </p:sp>
    </p:spTree>
    <p:extLst>
      <p:ext uri="{BB962C8B-B14F-4D97-AF65-F5344CB8AC3E}">
        <p14:creationId xmlns:p14="http://schemas.microsoft.com/office/powerpoint/2010/main" val="1808670197"/>
      </p:ext>
    </p:extLst>
  </p:cSld>
</p:sld>
</file>

<file path=ppt/slides/slide2.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2D63A7C-0929-4D08-B3D6-337B5401DC35}"/>
              </a:ext>
            </a:extLst>
          </p:cNvPr>
          <p:cNvSpPr>
            <a:spLocks xmlns:a="http://schemas.openxmlformats.org/drawingml/2006/main" noGrp="1"/>
          </p:cNvSpPr>
          <p:nvPr/>
        </p:nvSpPr>
        <p:spPr>
          <a:xfrm xmlns:a="http://schemas.openxmlformats.org/drawingml/2006/main">
            <a:off x="590550" y="40957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FAF8FF"/>
                </a:solidFill>
                <a:latin typeface="Arial"/>
                <a:ea typeface="Arial"/>
                <a:cs typeface="Arial"/>
              </a:defRPr>
            </a:pPr>
            <a:r>
              <a:rPr sz="3300" b="1">
                <a:solidFill>
                  <a:srgbClr val="FAF8FF"/>
                </a:solidFill>
                <a:latin typeface="Arial"/>
                <a:ea typeface="Arial"/>
                <a:cs typeface="Arial"/>
              </a:rPr>
              <a:t>The guest experience</a:t>
            </a:r>
          </a:p>
        </p:txBody>
      </p:sp>
      <p:sp>
        <p:nvSpPr>
          <p:cNvPr id="2" name="">
            <a:extLst xmlns:a="http://schemas.openxmlformats.org/drawingml/2006/main">
              <a:ext uri="{FF2B5EF4-FFF2-40B4-BE49-F238E27FC236}">
                <a16:creationId xmlns:a16="http://schemas.microsoft.com/office/drawing/2014/main" id="{AD214686-117B-44A4-8B88-BB5C77253DBF}"/>
              </a:ext>
            </a:extLst>
          </p:cNvPr>
          <p:cNvSpPr>
            <a:spLocks xmlns:a="http://schemas.openxmlformats.org/drawingml/2006/main" noGrp="1"/>
          </p:cNvSpPr>
          <p:nvPr/>
        </p:nvSpPr>
        <p:spPr>
          <a:xfrm xmlns:a="http://schemas.openxmlformats.org/drawingml/2006/main">
            <a:off x="619125" y="11906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C6C1D1"/>
                </a:solidFill>
                <a:latin typeface="Arial"/>
                <a:ea typeface="Arial"/>
                <a:cs typeface="Arial"/>
              </a:defRPr>
            </a:pPr>
            <a:r>
              <a:rPr sz="1650" b="0">
                <a:solidFill>
                  <a:srgbClr val="C6C1D1"/>
                </a:solidFill>
                <a:latin typeface="Arial"/>
                <a:ea typeface="Arial"/>
                <a:cs typeface="Arial"/>
              </a:rPr>
              <a:t>Discovery, visit planning and entry in one customer journey</a:t>
            </a:r>
          </a:p>
        </p:txBody>
      </p:sp>
      <p:sp>
        <p:nvSpPr>
          <p:cNvPr id="3" name="">
            <a:extLst xmlns:a="http://schemas.openxmlformats.org/drawingml/2006/main">
              <a:ext uri="{FF2B5EF4-FFF2-40B4-BE49-F238E27FC236}">
                <a16:creationId xmlns:a16="http://schemas.microsoft.com/office/drawing/2014/main" id="{DF904837-8E3D-474C-95AD-EABB1E39FC96}"/>
              </a:ext>
            </a:extLst>
          </p:cNvPr>
          <p:cNvSpPr>
            <a:spLocks xmlns:a="http://schemas.openxmlformats.org/drawingml/2006/main" noGrp="1"/>
          </p:cNvSpPr>
          <p:nvPr/>
        </p:nvSpPr>
        <p:spPr>
          <a:xfrm xmlns:a="http://schemas.openxmlformats.org/drawingml/2006/main">
            <a:off x="619125" y="6448425"/>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B88AFF"/>
                </a:solidFill>
                <a:latin typeface="Arial"/>
                <a:ea typeface="Arial"/>
                <a:cs typeface="Arial"/>
              </a:defRPr>
            </a:pPr>
            <a:r>
              <a:rPr sz="1125" b="1">
                <a:solidFill>
                  <a:srgbClr val="B88AFF"/>
                </a:solidFill>
                <a:latin typeface="Arial"/>
                <a:ea typeface="Arial"/>
                <a:cs typeface="Arial"/>
              </a:rPr>
              <a:t>MYDANCR</a:t>
            </a:r>
          </a:p>
        </p:txBody>
      </p:sp>
      <p:sp>
        <p:nvSpPr>
          <p:cNvPr id="4" name="">
            <a:extLst xmlns:a="http://schemas.openxmlformats.org/drawingml/2006/main">
              <a:ext uri="{FF2B5EF4-FFF2-40B4-BE49-F238E27FC236}">
                <a16:creationId xmlns:a16="http://schemas.microsoft.com/office/drawing/2014/main" id="{5DC19584-EE3F-4A5B-B4EC-CFB4991D277E}"/>
              </a:ext>
            </a:extLst>
          </p:cNvPr>
          <p:cNvSpPr>
            <a:spLocks xmlns:a="http://schemas.openxmlformats.org/drawingml/2006/main" noGrp="1"/>
          </p:cNvSpPr>
          <p:nvPr/>
        </p:nvSpPr>
        <p:spPr>
          <a:xfrm xmlns:a="http://schemas.openxmlformats.org/drawingml/2006/main">
            <a:off x="10858500" y="644842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125" b="0">
                <a:solidFill>
                  <a:srgbClr val="C6C1D1"/>
                </a:solidFill>
                <a:latin typeface="Arial"/>
                <a:ea typeface="Arial"/>
                <a:cs typeface="Arial"/>
              </a:defRPr>
            </a:pPr>
            <a:r>
              <a:rPr sz="1125" b="0">
                <a:solidFill>
                  <a:srgbClr val="C6C1D1"/>
                </a:solidFill>
                <a:latin typeface="Arial"/>
                <a:ea typeface="Arial"/>
                <a:cs typeface="Arial"/>
              </a:rPr>
              <a:t>2 / 7</a:t>
            </a:r>
          </a:p>
        </p:txBody>
      </p:sp>
      <p:sp>
        <p:nvSpPr>
          <p:cNvPr id="5" name="">
            <a:extLst xmlns:a="http://schemas.openxmlformats.org/drawingml/2006/main">
              <a:ext uri="{FF2B5EF4-FFF2-40B4-BE49-F238E27FC236}">
                <a16:creationId xmlns:a16="http://schemas.microsoft.com/office/drawing/2014/main" id="{6952C330-4409-4F8F-9F4C-378BD2B7F9D0}"/>
              </a:ext>
            </a:extLst>
          </p:cNvPr>
          <p:cNvSpPr>
            <a:spLocks xmlns:a="http://schemas.openxmlformats.org/drawingml/2006/main" noGrp="1"/>
          </p:cNvSpPr>
          <p:nvPr/>
        </p:nvSpPr>
        <p:spPr>
          <a:xfrm xmlns:a="http://schemas.openxmlformats.org/drawingml/2006/main">
            <a:off x="619125" y="1933575"/>
            <a:ext cx="790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B88AFF"/>
                </a:solidFill>
                <a:latin typeface="Arial"/>
                <a:ea typeface="Arial"/>
                <a:cs typeface="Arial"/>
              </a:defRPr>
            </a:pPr>
            <a:r>
              <a:rPr sz="2025" b="1">
                <a:solidFill>
                  <a:srgbClr val="B88AFF"/>
                </a:solidFill>
                <a:latin typeface="Arial"/>
                <a:ea typeface="Arial"/>
                <a:cs typeface="Arial"/>
              </a:rPr>
              <a:t>Find a club and see who’s working</a:t>
            </a:r>
          </a:p>
        </p:txBody>
      </p:sp>
      <p:sp>
        <p:nvSpPr>
          <p:cNvPr id="6" name="">
            <a:extLst xmlns:a="http://schemas.openxmlformats.org/drawingml/2006/main">
              <a:ext uri="{FF2B5EF4-FFF2-40B4-BE49-F238E27FC236}">
                <a16:creationId xmlns:a16="http://schemas.microsoft.com/office/drawing/2014/main" id="{7BFE09CC-A289-4C47-8BD2-8576185E525C}"/>
              </a:ext>
            </a:extLst>
          </p:cNvPr>
          <p:cNvSpPr>
            <a:spLocks xmlns:a="http://schemas.openxmlformats.org/drawingml/2006/main" noGrp="1"/>
          </p:cNvSpPr>
          <p:nvPr/>
        </p:nvSpPr>
        <p:spPr>
          <a:xfrm xmlns:a="http://schemas.openxmlformats.org/drawingml/2006/main">
            <a:off x="619125" y="2343150"/>
            <a:ext cx="7905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FAF8FF"/>
                </a:solidFill>
                <a:latin typeface="Arial"/>
                <a:ea typeface="Arial"/>
                <a:cs typeface="Arial"/>
              </a:defRPr>
            </a:pPr>
            <a:r>
              <a:rPr sz="1800" b="0">
                <a:solidFill>
                  <a:srgbClr val="FAF8FF"/>
                </a:solidFill>
                <a:latin typeface="Arial"/>
                <a:ea typeface="Arial"/>
                <a:cs typeface="Arial"/>
              </a:rPr>
              <a:t>Browse clubs by city, explore dancer profiles and schedules,</a:t>
            </a:r>
          </a:p>
          <a:p xmlns:a="http://schemas.openxmlformats.org/drawingml/2006/main">
            <a:pPr>
              <a:buNone/>
              <a:defRPr sz="1800" b="0">
                <a:solidFill>
                  <a:srgbClr val="FAF8FF"/>
                </a:solidFill>
                <a:latin typeface="Arial"/>
                <a:ea typeface="Arial"/>
                <a:cs typeface="Arial"/>
              </a:defRPr>
            </a:pPr>
            <a:r>
              <a:rPr sz="1800" b="0">
                <a:solidFill>
                  <a:srgbClr val="FAF8FF"/>
                </a:solidFill>
                <a:latin typeface="Arial"/>
                <a:ea typeface="Arial"/>
                <a:cs typeface="Arial"/>
              </a:rPr>
              <a:t>and watch MyDancr TV videos.</a:t>
            </a:r>
          </a:p>
        </p:txBody>
      </p:sp>
      <p:sp>
        <p:nvSpPr>
          <p:cNvPr id="7" name="">
            <a:extLst xmlns:a="http://schemas.openxmlformats.org/drawingml/2006/main">
              <a:ext uri="{FF2B5EF4-FFF2-40B4-BE49-F238E27FC236}">
                <a16:creationId xmlns:a16="http://schemas.microsoft.com/office/drawing/2014/main" id="{5F13718D-AFF8-4933-928B-0A591294BF86}"/>
              </a:ext>
            </a:extLst>
          </p:cNvPr>
          <p:cNvSpPr>
            <a:spLocks xmlns:a="http://schemas.openxmlformats.org/drawingml/2006/main" noGrp="1"/>
          </p:cNvSpPr>
          <p:nvPr/>
        </p:nvSpPr>
        <p:spPr>
          <a:xfrm xmlns:a="http://schemas.openxmlformats.org/drawingml/2006/main">
            <a:off x="619125" y="3381375"/>
            <a:ext cx="790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B88AFF"/>
                </a:solidFill>
                <a:latin typeface="Arial"/>
                <a:ea typeface="Arial"/>
                <a:cs typeface="Arial"/>
              </a:defRPr>
            </a:pPr>
            <a:r>
              <a:rPr sz="2025" b="1">
                <a:solidFill>
                  <a:srgbClr val="B88AFF"/>
                </a:solidFill>
                <a:latin typeface="Arial"/>
                <a:ea typeface="Arial"/>
                <a:cs typeface="Arial"/>
              </a:rPr>
              <a:t>Choose an offer and plan the arrival</a:t>
            </a:r>
          </a:p>
        </p:txBody>
      </p:sp>
      <p:sp>
        <p:nvSpPr>
          <p:cNvPr id="8" name="">
            <a:extLst xmlns:a="http://schemas.openxmlformats.org/drawingml/2006/main">
              <a:ext uri="{FF2B5EF4-FFF2-40B4-BE49-F238E27FC236}">
                <a16:creationId xmlns:a16="http://schemas.microsoft.com/office/drawing/2014/main" id="{46534BA6-FE5A-4E69-BCD8-406850473751}"/>
              </a:ext>
            </a:extLst>
          </p:cNvPr>
          <p:cNvSpPr>
            <a:spLocks xmlns:a="http://schemas.openxmlformats.org/drawingml/2006/main" noGrp="1"/>
          </p:cNvSpPr>
          <p:nvPr/>
        </p:nvSpPr>
        <p:spPr>
          <a:xfrm xmlns:a="http://schemas.openxmlformats.org/drawingml/2006/main">
            <a:off x="619125" y="3790950"/>
            <a:ext cx="7905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FAF8FF"/>
                </a:solidFill>
                <a:latin typeface="Arial"/>
                <a:ea typeface="Arial"/>
                <a:cs typeface="Arial"/>
              </a:defRPr>
            </a:pPr>
            <a:r>
              <a:rPr sz="1800" b="0">
                <a:solidFill>
                  <a:srgbClr val="FAF8FF"/>
                </a:solidFill>
                <a:latin typeface="Arial"/>
                <a:ea typeface="Arial"/>
                <a:cs typeface="Arial"/>
              </a:rPr>
              <a:t>Claim an entry pass, submit guest-list details or request</a:t>
            </a:r>
          </a:p>
          <a:p xmlns:a="http://schemas.openxmlformats.org/drawingml/2006/main">
            <a:pPr>
              <a:buNone/>
              <a:defRPr sz="1800" b="0">
                <a:solidFill>
                  <a:srgbClr val="FAF8FF"/>
                </a:solidFill>
                <a:latin typeface="Arial"/>
                <a:ea typeface="Arial"/>
                <a:cs typeface="Arial"/>
              </a:defRPr>
            </a:pPr>
            <a:r>
              <a:rPr sz="1800" b="0">
                <a:solidFill>
                  <a:srgbClr val="FAF8FF"/>
                </a:solidFill>
                <a:latin typeface="Arial"/>
                <a:ea typeface="Arial"/>
                <a:cs typeface="Arial"/>
              </a:rPr>
              <a:t>a club pickup where offered. Get directions to the venue.</a:t>
            </a:r>
          </a:p>
        </p:txBody>
      </p:sp>
      <p:sp>
        <p:nvSpPr>
          <p:cNvPr id="9" name="">
            <a:extLst xmlns:a="http://schemas.openxmlformats.org/drawingml/2006/main">
              <a:ext uri="{FF2B5EF4-FFF2-40B4-BE49-F238E27FC236}">
                <a16:creationId xmlns:a16="http://schemas.microsoft.com/office/drawing/2014/main" id="{2B973BA3-6B7F-4899-9E17-63BD53C8471A}"/>
              </a:ext>
            </a:extLst>
          </p:cNvPr>
          <p:cNvSpPr>
            <a:spLocks xmlns:a="http://schemas.openxmlformats.org/drawingml/2006/main" noGrp="1"/>
          </p:cNvSpPr>
          <p:nvPr/>
        </p:nvSpPr>
        <p:spPr>
          <a:xfrm xmlns:a="http://schemas.openxmlformats.org/drawingml/2006/main">
            <a:off x="619125" y="4829175"/>
            <a:ext cx="790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B88AFF"/>
                </a:solidFill>
                <a:latin typeface="Arial"/>
                <a:ea typeface="Arial"/>
                <a:cs typeface="Arial"/>
              </a:defRPr>
            </a:pPr>
            <a:r>
              <a:rPr sz="2025" b="1">
                <a:solidFill>
                  <a:srgbClr val="B88AFF"/>
                </a:solidFill>
                <a:latin typeface="Arial"/>
                <a:ea typeface="Arial"/>
                <a:cs typeface="Arial"/>
              </a:rPr>
              <a:t>Stay connected</a:t>
            </a:r>
          </a:p>
        </p:txBody>
      </p:sp>
      <p:sp>
        <p:nvSpPr>
          <p:cNvPr id="10" name="">
            <a:extLst xmlns:a="http://schemas.openxmlformats.org/drawingml/2006/main">
              <a:ext uri="{FF2B5EF4-FFF2-40B4-BE49-F238E27FC236}">
                <a16:creationId xmlns:a16="http://schemas.microsoft.com/office/drawing/2014/main" id="{8935E40B-5618-448B-B540-099A597A4221}"/>
              </a:ext>
            </a:extLst>
          </p:cNvPr>
          <p:cNvSpPr>
            <a:spLocks xmlns:a="http://schemas.openxmlformats.org/drawingml/2006/main" noGrp="1"/>
          </p:cNvSpPr>
          <p:nvPr/>
        </p:nvSpPr>
        <p:spPr>
          <a:xfrm xmlns:a="http://schemas.openxmlformats.org/drawingml/2006/main">
            <a:off x="619125" y="5238750"/>
            <a:ext cx="7905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FAF8FF"/>
                </a:solidFill>
                <a:latin typeface="Arial"/>
                <a:ea typeface="Arial"/>
                <a:cs typeface="Arial"/>
              </a:defRPr>
            </a:pPr>
            <a:r>
              <a:rPr sz="1800" b="0">
                <a:solidFill>
                  <a:srgbClr val="FAF8FF"/>
                </a:solidFill>
                <a:latin typeface="Arial"/>
                <a:ea typeface="Arial"/>
                <a:cs typeface="Arial"/>
              </a:rPr>
              <a:t>Follow clubs and dancers, save offers and mark</a:t>
            </a:r>
          </a:p>
          <a:p xmlns:a="http://schemas.openxmlformats.org/drawingml/2006/main">
            <a:pPr>
              <a:buNone/>
              <a:defRPr sz="1800" b="0">
                <a:solidFill>
                  <a:srgbClr val="FAF8FF"/>
                </a:solidFill>
                <a:latin typeface="Arial"/>
                <a:ea typeface="Arial"/>
                <a:cs typeface="Arial"/>
              </a:defRPr>
            </a:pPr>
            <a:r>
              <a:rPr sz="1800" b="0">
                <a:solidFill>
                  <a:srgbClr val="FAF8FF"/>
                </a:solidFill>
                <a:latin typeface="Arial"/>
                <a:ea typeface="Arial"/>
                <a:cs typeface="Arial"/>
              </a:rPr>
              <a:t>“I’m Going” to signal a planned visit.</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6b579df4309b4e4e"/>
          <a:stretch xmlns:a="http://schemas.openxmlformats.org/drawingml/2006/main"/>
        </p:blipFill>
        <p:spPr>
          <a:xfrm xmlns:a="http://schemas.openxmlformats.org/drawingml/2006/main">
            <a:off x="9032869" y="1771650"/>
            <a:ext cx="2060586" cy="4467225"/>
          </a:xfrm>
          <a:prstGeom xmlns:a="http://schemas.openxmlformats.org/drawingml/2006/main" prst="rect">
            <a:avLst/>
          </a:prstGeom>
        </p:spPr>
      </p:pic>
      <p:sp>
        <p:nvSpPr>
          <p:cNvPr id="14" name="Demo venue label Club D">
            <a:extLst xmlns:a="http://schemas.openxmlformats.org/drawingml/2006/main">
              <a:ext uri="{FF2B5EF4-FFF2-40B4-BE49-F238E27FC236}">
                <a16:creationId xmlns:a16="http://schemas.microsoft.com/office/drawing/2014/main" id="{80269E64-4683-4590-AA51-7124D0058E89}"/>
              </a:ext>
            </a:extLst>
          </p:cNvPr>
          <p:cNvSpPr>
            <a:spLocks xmlns:a="http://schemas.openxmlformats.org/drawingml/2006/main" noGrp="1"/>
          </p:cNvSpPr>
          <p:nvPr/>
        </p:nvSpPr>
        <p:spPr>
          <a:xfrm xmlns:a="http://schemas.openxmlformats.org/drawingml/2006/main">
            <a:off x="9913686" y="2301215"/>
            <a:ext cx="608201" cy="104864"/>
          </a:xfrm>
          <a:prstGeom xmlns:a="http://schemas.openxmlformats.org/drawingml/2006/main" prst="rect">
            <a:avLst/>
          </a:prstGeom>
          <a:solidFill xmlns:a="http://schemas.openxmlformats.org/drawingml/2006/main">
            <a:srgbClr val="111111"/>
          </a:solidFill>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578" b="1">
                <a:solidFill>
                  <a:srgbClr val="FFFFFF"/>
                </a:solidFill>
                <a:latin typeface="Arial"/>
                <a:ea typeface="Arial"/>
                <a:cs typeface="Arial"/>
              </a:defRPr>
            </a:pPr>
            <a:r>
              <a:rPr sz="578" b="1">
                <a:solidFill>
                  <a:srgbClr val="FFFFFF"/>
                </a:solidFill>
                <a:latin typeface="Arial"/>
                <a:ea typeface="Arial"/>
                <a:cs typeface="Arial"/>
              </a:rPr>
              <a:t>CLUB D</a:t>
            </a:r>
          </a:p>
        </p:txBody>
      </p:sp>
      <p:sp>
        <p:nvSpPr>
          <p:cNvPr id="15" name="Demo venue label Club A">
            <a:extLst xmlns:a="http://schemas.openxmlformats.org/drawingml/2006/main">
              <a:ext uri="{FF2B5EF4-FFF2-40B4-BE49-F238E27FC236}">
                <a16:creationId xmlns:a16="http://schemas.microsoft.com/office/drawing/2014/main" id="{00C00396-70F0-4982-A01A-5EC00F74D0B4}"/>
              </a:ext>
            </a:extLst>
          </p:cNvPr>
          <p:cNvSpPr>
            <a:spLocks xmlns:a="http://schemas.openxmlformats.org/drawingml/2006/main" noGrp="1"/>
          </p:cNvSpPr>
          <p:nvPr/>
        </p:nvSpPr>
        <p:spPr>
          <a:xfrm xmlns:a="http://schemas.openxmlformats.org/drawingml/2006/main">
            <a:off x="9913686" y="3963317"/>
            <a:ext cx="613444" cy="110108"/>
          </a:xfrm>
          <a:prstGeom xmlns:a="http://schemas.openxmlformats.org/drawingml/2006/main" prst="rect">
            <a:avLst/>
          </a:prstGeom>
          <a:solidFill xmlns:a="http://schemas.openxmlformats.org/drawingml/2006/main">
            <a:srgbClr val="111111"/>
          </a:solidFill>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619" b="1">
                <a:solidFill>
                  <a:srgbClr val="FFFFFF"/>
                </a:solidFill>
                <a:latin typeface="Arial"/>
                <a:ea typeface="Arial"/>
                <a:cs typeface="Arial"/>
              </a:defRPr>
            </a:pPr>
            <a:r>
              <a:rPr sz="619" b="1">
                <a:solidFill>
                  <a:srgbClr val="FFFFFF"/>
                </a:solidFill>
                <a:latin typeface="Arial"/>
                <a:ea typeface="Arial"/>
                <a:cs typeface="Arial"/>
              </a:rPr>
              <a:t>CLUB A</a:t>
            </a:r>
          </a:p>
        </p:txBody>
      </p:sp>
      <p:sp>
        <p:nvSpPr>
          <p:cNvPr id="16" name="Demo venue label Club E">
            <a:extLst xmlns:a="http://schemas.openxmlformats.org/drawingml/2006/main">
              <a:ext uri="{FF2B5EF4-FFF2-40B4-BE49-F238E27FC236}">
                <a16:creationId xmlns:a16="http://schemas.microsoft.com/office/drawing/2014/main" id="{326192C6-BC80-4229-82D8-903727AEC660}"/>
              </a:ext>
            </a:extLst>
          </p:cNvPr>
          <p:cNvSpPr>
            <a:spLocks xmlns:a="http://schemas.openxmlformats.org/drawingml/2006/main" noGrp="1"/>
          </p:cNvSpPr>
          <p:nvPr/>
        </p:nvSpPr>
        <p:spPr>
          <a:xfrm xmlns:a="http://schemas.openxmlformats.org/drawingml/2006/main">
            <a:off x="9913686" y="5641148"/>
            <a:ext cx="629174" cy="104864"/>
          </a:xfrm>
          <a:prstGeom xmlns:a="http://schemas.openxmlformats.org/drawingml/2006/main" prst="rect">
            <a:avLst/>
          </a:prstGeom>
          <a:solidFill xmlns:a="http://schemas.openxmlformats.org/drawingml/2006/main">
            <a:srgbClr val="111111"/>
          </a:solidFill>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578" b="1">
                <a:solidFill>
                  <a:srgbClr val="FFFFFF"/>
                </a:solidFill>
                <a:latin typeface="Arial"/>
                <a:ea typeface="Arial"/>
                <a:cs typeface="Arial"/>
              </a:defRPr>
            </a:pPr>
            <a:r>
              <a:rPr sz="578" b="1">
                <a:solidFill>
                  <a:srgbClr val="FFFFFF"/>
                </a:solidFill>
                <a:latin typeface="Arial"/>
                <a:ea typeface="Arial"/>
                <a:cs typeface="Arial"/>
              </a:rPr>
              <a:t>CLUB E</a:t>
            </a:r>
          </a:p>
        </p:txBody>
      </p:sp>
    </p:spTree>
    <p:extLst>
      <p:ext uri="{BB962C8B-B14F-4D97-AF65-F5344CB8AC3E}">
        <p14:creationId xmlns:p14="http://schemas.microsoft.com/office/powerpoint/2010/main" val="416010741"/>
      </p:ext>
    </p:extLst>
  </p:cSld>
</p:sld>
</file>

<file path=ppt/slides/slide3.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67E5967-0F2E-49EC-B8E1-742E0DCAF68F}"/>
              </a:ext>
            </a:extLst>
          </p:cNvPr>
          <p:cNvSpPr>
            <a:spLocks xmlns:a="http://schemas.openxmlformats.org/drawingml/2006/main" noGrp="1"/>
          </p:cNvSpPr>
          <p:nvPr/>
        </p:nvSpPr>
        <p:spPr>
          <a:xfrm xmlns:a="http://schemas.openxmlformats.org/drawingml/2006/main">
            <a:off x="590550" y="40957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FAF8FF"/>
                </a:solidFill>
                <a:latin typeface="Arial"/>
                <a:ea typeface="Arial"/>
                <a:cs typeface="Arial"/>
              </a:defRPr>
            </a:pPr>
            <a:r>
              <a:rPr sz="3300" b="1">
                <a:solidFill>
                  <a:srgbClr val="FAF8FF"/>
                </a:solidFill>
                <a:latin typeface="Arial"/>
                <a:ea typeface="Arial"/>
                <a:cs typeface="Arial"/>
              </a:rPr>
              <a:t>The table experience</a:t>
            </a:r>
          </a:p>
        </p:txBody>
      </p:sp>
      <p:sp>
        <p:nvSpPr>
          <p:cNvPr id="2" name="">
            <a:extLst xmlns:a="http://schemas.openxmlformats.org/drawingml/2006/main">
              <a:ext uri="{FF2B5EF4-FFF2-40B4-BE49-F238E27FC236}">
                <a16:creationId xmlns:a16="http://schemas.microsoft.com/office/drawing/2014/main" id="{C8824FCD-F583-4102-A1D4-0DD43BAB68A2}"/>
              </a:ext>
            </a:extLst>
          </p:cNvPr>
          <p:cNvSpPr>
            <a:spLocks xmlns:a="http://schemas.openxmlformats.org/drawingml/2006/main" noGrp="1"/>
          </p:cNvSpPr>
          <p:nvPr/>
        </p:nvSpPr>
        <p:spPr>
          <a:xfrm xmlns:a="http://schemas.openxmlformats.org/drawingml/2006/main">
            <a:off x="619125" y="11906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C6C1D1"/>
                </a:solidFill>
                <a:latin typeface="Arial"/>
                <a:ea typeface="Arial"/>
                <a:cs typeface="Arial"/>
              </a:defRPr>
            </a:pPr>
            <a:r>
              <a:rPr sz="1650" b="0">
                <a:solidFill>
                  <a:srgbClr val="C6C1D1"/>
                </a:solidFill>
                <a:latin typeface="Arial"/>
                <a:ea typeface="Arial"/>
                <a:cs typeface="Arial"/>
              </a:rPr>
              <a:t>Available dancers and requests from a table QR code</a:t>
            </a:r>
          </a:p>
        </p:txBody>
      </p:sp>
      <p:sp>
        <p:nvSpPr>
          <p:cNvPr id="3" name="">
            <a:extLst xmlns:a="http://schemas.openxmlformats.org/drawingml/2006/main">
              <a:ext uri="{FF2B5EF4-FFF2-40B4-BE49-F238E27FC236}">
                <a16:creationId xmlns:a16="http://schemas.microsoft.com/office/drawing/2014/main" id="{15E3C878-D68D-4846-ACA2-62CBE24C92C0}"/>
              </a:ext>
            </a:extLst>
          </p:cNvPr>
          <p:cNvSpPr>
            <a:spLocks xmlns:a="http://schemas.openxmlformats.org/drawingml/2006/main" noGrp="1"/>
          </p:cNvSpPr>
          <p:nvPr/>
        </p:nvSpPr>
        <p:spPr>
          <a:xfrm xmlns:a="http://schemas.openxmlformats.org/drawingml/2006/main">
            <a:off x="619125" y="6448425"/>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B88AFF"/>
                </a:solidFill>
                <a:latin typeface="Arial"/>
                <a:ea typeface="Arial"/>
                <a:cs typeface="Arial"/>
              </a:defRPr>
            </a:pPr>
            <a:r>
              <a:rPr sz="1125" b="1">
                <a:solidFill>
                  <a:srgbClr val="B88AFF"/>
                </a:solidFill>
                <a:latin typeface="Arial"/>
                <a:ea typeface="Arial"/>
                <a:cs typeface="Arial"/>
              </a:rPr>
              <a:t>MYDANCR</a:t>
            </a:r>
          </a:p>
        </p:txBody>
      </p:sp>
      <p:sp>
        <p:nvSpPr>
          <p:cNvPr id="4" name="">
            <a:extLst xmlns:a="http://schemas.openxmlformats.org/drawingml/2006/main">
              <a:ext uri="{FF2B5EF4-FFF2-40B4-BE49-F238E27FC236}">
                <a16:creationId xmlns:a16="http://schemas.microsoft.com/office/drawing/2014/main" id="{6D3B4203-5BBF-4508-8A44-933177C8FC30}"/>
              </a:ext>
            </a:extLst>
          </p:cNvPr>
          <p:cNvSpPr>
            <a:spLocks xmlns:a="http://schemas.openxmlformats.org/drawingml/2006/main" noGrp="1"/>
          </p:cNvSpPr>
          <p:nvPr/>
        </p:nvSpPr>
        <p:spPr>
          <a:xfrm xmlns:a="http://schemas.openxmlformats.org/drawingml/2006/main">
            <a:off x="10858500" y="644842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125" b="0">
                <a:solidFill>
                  <a:srgbClr val="C6C1D1"/>
                </a:solidFill>
                <a:latin typeface="Arial"/>
                <a:ea typeface="Arial"/>
                <a:cs typeface="Arial"/>
              </a:defRPr>
            </a:pPr>
            <a:r>
              <a:rPr sz="1125" b="0">
                <a:solidFill>
                  <a:srgbClr val="C6C1D1"/>
                </a:solidFill>
                <a:latin typeface="Arial"/>
                <a:ea typeface="Arial"/>
                <a:cs typeface="Arial"/>
              </a:rPr>
              <a:t>3 / 7</a:t>
            </a:r>
          </a:p>
        </p:txBody>
      </p:sp>
      <p:sp>
        <p:nvSpPr>
          <p:cNvPr id="5" name="">
            <a:extLst xmlns:a="http://schemas.openxmlformats.org/drawingml/2006/main">
              <a:ext uri="{FF2B5EF4-FFF2-40B4-BE49-F238E27FC236}">
                <a16:creationId xmlns:a16="http://schemas.microsoft.com/office/drawing/2014/main" id="{E744E986-68F4-4B26-8FD3-D2BE1E69E292}"/>
              </a:ext>
            </a:extLst>
          </p:cNvPr>
          <p:cNvSpPr>
            <a:spLocks xmlns:a="http://schemas.openxmlformats.org/drawingml/2006/main" noGrp="1"/>
          </p:cNvSpPr>
          <p:nvPr/>
        </p:nvSpPr>
        <p:spPr>
          <a:xfrm xmlns:a="http://schemas.openxmlformats.org/drawingml/2006/main">
            <a:off x="619125" y="1809750"/>
            <a:ext cx="709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B88AFF"/>
                </a:solidFill>
                <a:latin typeface="Arial"/>
                <a:ea typeface="Arial"/>
                <a:cs typeface="Arial"/>
              </a:defRPr>
            </a:pPr>
            <a:r>
              <a:rPr sz="2025" b="1">
                <a:solidFill>
                  <a:srgbClr val="B88AFF"/>
                </a:solidFill>
                <a:latin typeface="Arial"/>
                <a:ea typeface="Arial"/>
                <a:cs typeface="Arial"/>
              </a:rPr>
              <a:t>Live roster &amp; visibility</a:t>
            </a:r>
          </a:p>
        </p:txBody>
      </p:sp>
      <p:sp>
        <p:nvSpPr>
          <p:cNvPr id="6" name="">
            <a:extLst xmlns:a="http://schemas.openxmlformats.org/drawingml/2006/main">
              <a:ext uri="{FF2B5EF4-FFF2-40B4-BE49-F238E27FC236}">
                <a16:creationId xmlns:a16="http://schemas.microsoft.com/office/drawing/2014/main" id="{C6A47C3C-BF65-4ED0-A125-59804B5E8AB8}"/>
              </a:ext>
            </a:extLst>
          </p:cNvPr>
          <p:cNvSpPr>
            <a:spLocks xmlns:a="http://schemas.openxmlformats.org/drawingml/2006/main" noGrp="1"/>
          </p:cNvSpPr>
          <p:nvPr/>
        </p:nvSpPr>
        <p:spPr>
          <a:xfrm xmlns:a="http://schemas.openxmlformats.org/drawingml/2006/main">
            <a:off x="619125" y="2219325"/>
            <a:ext cx="7096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FAF8FF"/>
                </a:solidFill>
                <a:latin typeface="Arial"/>
                <a:ea typeface="Arial"/>
                <a:cs typeface="Arial"/>
              </a:defRPr>
            </a:pPr>
            <a:r>
              <a:rPr sz="1800" b="0">
                <a:solidFill>
                  <a:srgbClr val="FAF8FF"/>
                </a:solidFill>
                <a:latin typeface="Arial"/>
                <a:ea typeface="Arial"/>
                <a:cs typeface="Arial"/>
              </a:rPr>
              <a:t>Dressing-room NFC check-in sets working status.</a:t>
            </a:r>
          </a:p>
          <a:p xmlns:a="http://schemas.openxmlformats.org/drawingml/2006/main">
            <a:pPr>
              <a:buNone/>
              <a:defRPr sz="1800" b="0">
                <a:solidFill>
                  <a:srgbClr val="FAF8FF"/>
                </a:solidFill>
                <a:latin typeface="Arial"/>
                <a:ea typeface="Arial"/>
                <a:cs typeface="Arial"/>
              </a:defRPr>
            </a:pPr>
            <a:r>
              <a:rPr sz="1800" b="0">
                <a:solidFill>
                  <a:srgbClr val="FAF8FF"/>
                </a:solidFill>
                <a:latin typeface="Arial"/>
                <a:ea typeface="Arial"/>
                <a:cs typeface="Arial"/>
              </a:rPr>
              <a:t>Dancers choose internal and external visibility.</a:t>
            </a:r>
          </a:p>
        </p:txBody>
      </p:sp>
      <p:sp>
        <p:nvSpPr>
          <p:cNvPr id="7" name="">
            <a:extLst xmlns:a="http://schemas.openxmlformats.org/drawingml/2006/main">
              <a:ext uri="{FF2B5EF4-FFF2-40B4-BE49-F238E27FC236}">
                <a16:creationId xmlns:a16="http://schemas.microsoft.com/office/drawing/2014/main" id="{116F9917-B70A-426F-AE59-659134A689F6}"/>
              </a:ext>
            </a:extLst>
          </p:cNvPr>
          <p:cNvSpPr>
            <a:spLocks xmlns:a="http://schemas.openxmlformats.org/drawingml/2006/main" noGrp="1"/>
          </p:cNvSpPr>
          <p:nvPr/>
        </p:nvSpPr>
        <p:spPr>
          <a:xfrm xmlns:a="http://schemas.openxmlformats.org/drawingml/2006/main">
            <a:off x="619125" y="2905125"/>
            <a:ext cx="709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B88AFF"/>
                </a:solidFill>
                <a:latin typeface="Arial"/>
                <a:ea typeface="Arial"/>
                <a:cs typeface="Arial"/>
              </a:defRPr>
            </a:pPr>
            <a:r>
              <a:rPr sz="2025" b="1">
                <a:solidFill>
                  <a:srgbClr val="B88AFF"/>
                </a:solidFill>
                <a:latin typeface="Arial"/>
                <a:ea typeface="Arial"/>
                <a:cs typeface="Arial"/>
              </a:rPr>
              <a:t>Full dancer profiles</a:t>
            </a:r>
          </a:p>
        </p:txBody>
      </p:sp>
      <p:sp>
        <p:nvSpPr>
          <p:cNvPr id="8" name="">
            <a:extLst xmlns:a="http://schemas.openxmlformats.org/drawingml/2006/main">
              <a:ext uri="{FF2B5EF4-FFF2-40B4-BE49-F238E27FC236}">
                <a16:creationId xmlns:a16="http://schemas.microsoft.com/office/drawing/2014/main" id="{3FF2D131-F68B-4890-BA54-D21935AF4122}"/>
              </a:ext>
            </a:extLst>
          </p:cNvPr>
          <p:cNvSpPr>
            <a:spLocks xmlns:a="http://schemas.openxmlformats.org/drawingml/2006/main" noGrp="1"/>
          </p:cNvSpPr>
          <p:nvPr/>
        </p:nvSpPr>
        <p:spPr>
          <a:xfrm xmlns:a="http://schemas.openxmlformats.org/drawingml/2006/main">
            <a:off x="619125" y="3314700"/>
            <a:ext cx="7096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FAF8FF"/>
                </a:solidFill>
                <a:latin typeface="Arial"/>
                <a:ea typeface="Arial"/>
                <a:cs typeface="Arial"/>
              </a:defRPr>
            </a:pPr>
            <a:r>
              <a:rPr sz="1800" b="0">
                <a:solidFill>
                  <a:srgbClr val="FAF8FF"/>
                </a:solidFill>
                <a:latin typeface="Arial"/>
                <a:ea typeface="Arial"/>
                <a:cs typeface="Arial"/>
              </a:rPr>
              <a:t>Guests scan a table QR code and browse the roster.</a:t>
            </a:r>
          </a:p>
          <a:p xmlns:a="http://schemas.openxmlformats.org/drawingml/2006/main">
            <a:pPr>
              <a:buNone/>
              <a:defRPr sz="1800" b="0">
                <a:solidFill>
                  <a:srgbClr val="FAF8FF"/>
                </a:solidFill>
                <a:latin typeface="Arial"/>
                <a:ea typeface="Arial"/>
                <a:cs typeface="Arial"/>
              </a:defRPr>
            </a:pPr>
            <a:r>
              <a:rPr sz="1800" b="0">
                <a:solidFill>
                  <a:srgbClr val="FAF8FF"/>
                </a:solidFill>
                <a:latin typeface="Arial"/>
                <a:ea typeface="Arial"/>
                <a:cs typeface="Arial"/>
              </a:rPr>
              <a:t>A photo opens the dancer’s full profile.</a:t>
            </a:r>
          </a:p>
        </p:txBody>
      </p:sp>
      <p:sp>
        <p:nvSpPr>
          <p:cNvPr id="9" name="">
            <a:extLst xmlns:a="http://schemas.openxmlformats.org/drawingml/2006/main">
              <a:ext uri="{FF2B5EF4-FFF2-40B4-BE49-F238E27FC236}">
                <a16:creationId xmlns:a16="http://schemas.microsoft.com/office/drawing/2014/main" id="{56EC9493-6D42-48C7-A5F7-5E448606808A}"/>
              </a:ext>
            </a:extLst>
          </p:cNvPr>
          <p:cNvSpPr>
            <a:spLocks xmlns:a="http://schemas.openxmlformats.org/drawingml/2006/main" noGrp="1"/>
          </p:cNvSpPr>
          <p:nvPr/>
        </p:nvSpPr>
        <p:spPr>
          <a:xfrm xmlns:a="http://schemas.openxmlformats.org/drawingml/2006/main">
            <a:off x="619125" y="4000500"/>
            <a:ext cx="709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B88AFF"/>
                </a:solidFill>
                <a:latin typeface="Arial"/>
                <a:ea typeface="Arial"/>
                <a:cs typeface="Arial"/>
              </a:defRPr>
            </a:pPr>
            <a:r>
              <a:rPr sz="2025" b="1">
                <a:solidFill>
                  <a:srgbClr val="B88AFF"/>
                </a:solidFill>
                <a:latin typeface="Arial"/>
                <a:ea typeface="Arial"/>
                <a:cs typeface="Arial"/>
              </a:rPr>
              <a:t>Requests from the table</a:t>
            </a:r>
          </a:p>
        </p:txBody>
      </p:sp>
      <p:sp>
        <p:nvSpPr>
          <p:cNvPr id="10" name="">
            <a:extLst xmlns:a="http://schemas.openxmlformats.org/drawingml/2006/main">
              <a:ext uri="{FF2B5EF4-FFF2-40B4-BE49-F238E27FC236}">
                <a16:creationId xmlns:a16="http://schemas.microsoft.com/office/drawing/2014/main" id="{6C8982CA-5885-40A3-AF89-30E08663ED72}"/>
              </a:ext>
            </a:extLst>
          </p:cNvPr>
          <p:cNvSpPr>
            <a:spLocks xmlns:a="http://schemas.openxmlformats.org/drawingml/2006/main" noGrp="1"/>
          </p:cNvSpPr>
          <p:nvPr/>
        </p:nvSpPr>
        <p:spPr>
          <a:xfrm xmlns:a="http://schemas.openxmlformats.org/drawingml/2006/main">
            <a:off x="619125" y="4410075"/>
            <a:ext cx="7096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FAF8FF"/>
                </a:solidFill>
                <a:latin typeface="Arial"/>
                <a:ea typeface="Arial"/>
                <a:cs typeface="Arial"/>
              </a:defRPr>
            </a:pPr>
            <a:r>
              <a:rPr sz="1800" b="0">
                <a:solidFill>
                  <a:srgbClr val="FAF8FF"/>
                </a:solidFill>
                <a:latin typeface="Arial"/>
                <a:ea typeface="Arial"/>
                <a:cs typeface="Arial"/>
              </a:rPr>
              <a:t>Guests request a dancer from the grid or profile.</a:t>
            </a:r>
          </a:p>
          <a:p xmlns:a="http://schemas.openxmlformats.org/drawingml/2006/main">
            <a:pPr>
              <a:buNone/>
              <a:defRPr sz="1800" b="0">
                <a:solidFill>
                  <a:srgbClr val="FAF8FF"/>
                </a:solidFill>
                <a:latin typeface="Arial"/>
                <a:ea typeface="Arial"/>
                <a:cs typeface="Arial"/>
              </a:defRPr>
            </a:pPr>
            <a:r>
              <a:rPr sz="1800" b="0">
                <a:solidFill>
                  <a:srgbClr val="FAF8FF"/>
                </a:solidFill>
                <a:latin typeface="Arial"/>
                <a:ea typeface="Arial"/>
                <a:cs typeface="Arial"/>
              </a:rPr>
              <a:t>The request identifies the guest’s table.</a:t>
            </a:r>
          </a:p>
        </p:txBody>
      </p:sp>
      <p:sp>
        <p:nvSpPr>
          <p:cNvPr id="11" name="">
            <a:extLst xmlns:a="http://schemas.openxmlformats.org/drawingml/2006/main">
              <a:ext uri="{FF2B5EF4-FFF2-40B4-BE49-F238E27FC236}">
                <a16:creationId xmlns:a16="http://schemas.microsoft.com/office/drawing/2014/main" id="{E5945CCE-9C13-4375-B25E-34593A410D34}"/>
              </a:ext>
            </a:extLst>
          </p:cNvPr>
          <p:cNvSpPr>
            <a:spLocks xmlns:a="http://schemas.openxmlformats.org/drawingml/2006/main" noGrp="1"/>
          </p:cNvSpPr>
          <p:nvPr/>
        </p:nvSpPr>
        <p:spPr>
          <a:xfrm xmlns:a="http://schemas.openxmlformats.org/drawingml/2006/main">
            <a:off x="619125" y="5095875"/>
            <a:ext cx="709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B88AFF"/>
                </a:solidFill>
                <a:latin typeface="Arial"/>
                <a:ea typeface="Arial"/>
                <a:cs typeface="Arial"/>
              </a:defRPr>
            </a:pPr>
            <a:r>
              <a:rPr sz="2025" b="1">
                <a:solidFill>
                  <a:srgbClr val="B88AFF"/>
                </a:solidFill>
                <a:latin typeface="Arial"/>
                <a:ea typeface="Arial"/>
                <a:cs typeface="Arial"/>
              </a:rPr>
              <a:t>Staff coordination</a:t>
            </a:r>
          </a:p>
        </p:txBody>
      </p:sp>
      <p:sp>
        <p:nvSpPr>
          <p:cNvPr id="12" name="">
            <a:extLst xmlns:a="http://schemas.openxmlformats.org/drawingml/2006/main">
              <a:ext uri="{FF2B5EF4-FFF2-40B4-BE49-F238E27FC236}">
                <a16:creationId xmlns:a16="http://schemas.microsoft.com/office/drawing/2014/main" id="{69AA1A54-1850-4DF1-80EF-8AF2534D8CAA}"/>
              </a:ext>
            </a:extLst>
          </p:cNvPr>
          <p:cNvSpPr>
            <a:spLocks xmlns:a="http://schemas.openxmlformats.org/drawingml/2006/main" noGrp="1"/>
          </p:cNvSpPr>
          <p:nvPr/>
        </p:nvSpPr>
        <p:spPr>
          <a:xfrm xmlns:a="http://schemas.openxmlformats.org/drawingml/2006/main">
            <a:off x="619125" y="5505450"/>
            <a:ext cx="7096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FAF8FF"/>
                </a:solidFill>
                <a:latin typeface="Arial"/>
                <a:ea typeface="Arial"/>
                <a:cs typeface="Arial"/>
              </a:defRPr>
            </a:pPr>
            <a:r>
              <a:rPr sz="1800" b="0">
                <a:solidFill>
                  <a:srgbClr val="FAF8FF"/>
                </a:solidFill>
                <a:latin typeface="Arial"/>
                <a:ea typeface="Arial"/>
                <a:cs typeface="Arial"/>
              </a:rPr>
              <a:t>Staff mark requests seen, complete or dismissed.</a:t>
            </a:r>
          </a:p>
          <a:p xmlns:a="http://schemas.openxmlformats.org/drawingml/2006/main">
            <a:pPr>
              <a:buNone/>
              <a:defRPr sz="1800" b="0">
                <a:solidFill>
                  <a:srgbClr val="FAF8FF"/>
                </a:solidFill>
                <a:latin typeface="Arial"/>
                <a:ea typeface="Arial"/>
                <a:cs typeface="Arial"/>
              </a:defRPr>
            </a:pPr>
            <a:r>
              <a:rPr sz="1800" b="0">
                <a:solidFill>
                  <a:srgbClr val="FAF8FF"/>
                </a:solidFill>
                <a:latin typeface="Arial"/>
                <a:ea typeface="Arial"/>
                <a:cs typeface="Arial"/>
              </a:rPr>
              <a:t>Club staff confirm availability.</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ab3ef0a995db4845"/>
          <a:stretch xmlns:a="http://schemas.openxmlformats.org/drawingml/2006/main"/>
        </p:blipFill>
        <p:spPr>
          <a:xfrm xmlns:a="http://schemas.openxmlformats.org/drawingml/2006/main">
            <a:off x="7877175" y="1810226"/>
            <a:ext cx="3657600" cy="4094798"/>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9CBA32A7-068F-40A8-95D9-B617583B5AFF}"/>
              </a:ext>
            </a:extLst>
          </p:cNvPr>
          <p:cNvSpPr>
            <a:spLocks xmlns:a="http://schemas.openxmlformats.org/drawingml/2006/main" noGrp="1"/>
          </p:cNvSpPr>
          <p:nvPr/>
        </p:nvSpPr>
        <p:spPr>
          <a:xfrm xmlns:a="http://schemas.openxmlformats.org/drawingml/2006/main">
            <a:off x="7715250" y="6019800"/>
            <a:ext cx="38766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C6C1D1"/>
                </a:solidFill>
                <a:latin typeface="Arial"/>
                <a:ea typeface="Arial"/>
                <a:cs typeface="Arial"/>
              </a:defRPr>
            </a:pPr>
            <a:r>
              <a:rPr sz="1125" b="0">
                <a:solidFill>
                  <a:srgbClr val="C6C1D1"/>
                </a:solidFill>
                <a:latin typeface="Arial"/>
                <a:ea typeface="Arial"/>
                <a:cs typeface="Arial"/>
              </a:rPr>
              <a:t>Demo table view · requests remain staff-coordinated</a:t>
            </a:r>
          </a:p>
        </p:txBody>
      </p:sp>
      <p:sp>
        <p:nvSpPr>
          <p:cNvPr id="17" name="Demo venue label Club A">
            <a:extLst xmlns:a="http://schemas.openxmlformats.org/drawingml/2006/main">
              <a:ext uri="{FF2B5EF4-FFF2-40B4-BE49-F238E27FC236}">
                <a16:creationId xmlns:a16="http://schemas.microsoft.com/office/drawing/2014/main" id="{3E7FC25D-CBC5-4590-8FFD-9A9B51B93E8C}"/>
              </a:ext>
            </a:extLst>
          </p:cNvPr>
          <p:cNvSpPr>
            <a:spLocks xmlns:a="http://schemas.openxmlformats.org/drawingml/2006/main" noGrp="1"/>
          </p:cNvSpPr>
          <p:nvPr/>
        </p:nvSpPr>
        <p:spPr>
          <a:xfrm xmlns:a="http://schemas.openxmlformats.org/drawingml/2006/main">
            <a:off x="8471535" y="2041684"/>
            <a:ext cx="225743" cy="48578"/>
          </a:xfrm>
          <a:prstGeom xmlns:a="http://schemas.openxmlformats.org/drawingml/2006/main" prst="rect">
            <a:avLst/>
          </a:prstGeom>
          <a:solidFill xmlns:a="http://schemas.openxmlformats.org/drawingml/2006/main">
            <a:srgbClr val="09090B"/>
          </a:solidFill>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8" b="1">
                <a:solidFill>
                  <a:srgbClr val="FFFFFF"/>
                </a:solidFill>
                <a:latin typeface="Arial"/>
                <a:ea typeface="Arial"/>
                <a:cs typeface="Arial"/>
              </a:defRPr>
            </a:pPr>
            <a:r>
              <a:rPr sz="248" b="1">
                <a:solidFill>
                  <a:srgbClr val="FFFFFF"/>
                </a:solidFill>
                <a:latin typeface="Arial"/>
                <a:ea typeface="Arial"/>
                <a:cs typeface="Arial"/>
              </a:rPr>
              <a:t>CLUB A</a:t>
            </a:r>
          </a:p>
        </p:txBody>
      </p:sp>
    </p:spTree>
    <p:extLst>
      <p:ext uri="{BB962C8B-B14F-4D97-AF65-F5344CB8AC3E}">
        <p14:creationId xmlns:p14="http://schemas.microsoft.com/office/powerpoint/2010/main" val="1612359973"/>
      </p:ext>
    </p:extLst>
  </p:cSld>
</p:sld>
</file>

<file path=ppt/slides/slide4.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2E4245D-574B-4183-8CFE-E3CD88482B3A}"/>
              </a:ext>
            </a:extLst>
          </p:cNvPr>
          <p:cNvSpPr>
            <a:spLocks xmlns:a="http://schemas.openxmlformats.org/drawingml/2006/main" noGrp="1"/>
          </p:cNvSpPr>
          <p:nvPr/>
        </p:nvSpPr>
        <p:spPr>
          <a:xfrm xmlns:a="http://schemas.openxmlformats.org/drawingml/2006/main">
            <a:off x="590550" y="40957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FAF8FF"/>
                </a:solidFill>
                <a:latin typeface="Arial"/>
                <a:ea typeface="Arial"/>
                <a:cs typeface="Arial"/>
              </a:defRPr>
            </a:pPr>
            <a:r>
              <a:rPr sz="3300" b="1">
                <a:solidFill>
                  <a:srgbClr val="FAF8FF"/>
                </a:solidFill>
                <a:latin typeface="Arial"/>
                <a:ea typeface="Arial"/>
                <a:cs typeface="Arial"/>
              </a:rPr>
              <a:t>Club staff operations</a:t>
            </a:r>
          </a:p>
        </p:txBody>
      </p:sp>
      <p:sp>
        <p:nvSpPr>
          <p:cNvPr id="2" name="">
            <a:extLst xmlns:a="http://schemas.openxmlformats.org/drawingml/2006/main">
              <a:ext uri="{FF2B5EF4-FFF2-40B4-BE49-F238E27FC236}">
                <a16:creationId xmlns:a16="http://schemas.microsoft.com/office/drawing/2014/main" id="{4561091E-D900-4E10-BE1F-241C5F1A67C1}"/>
              </a:ext>
            </a:extLst>
          </p:cNvPr>
          <p:cNvSpPr>
            <a:spLocks xmlns:a="http://schemas.openxmlformats.org/drawingml/2006/main" noGrp="1"/>
          </p:cNvSpPr>
          <p:nvPr/>
        </p:nvSpPr>
        <p:spPr>
          <a:xfrm xmlns:a="http://schemas.openxmlformats.org/drawingml/2006/main">
            <a:off x="619125" y="11906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C6C1D1"/>
                </a:solidFill>
                <a:latin typeface="Arial"/>
                <a:ea typeface="Arial"/>
                <a:cs typeface="Arial"/>
              </a:defRPr>
            </a:pPr>
            <a:r>
              <a:rPr sz="1650" b="0">
                <a:solidFill>
                  <a:srgbClr val="C6C1D1"/>
                </a:solidFill>
                <a:latin typeface="Arial"/>
                <a:ea typeface="Arial"/>
                <a:cs typeface="Arial"/>
              </a:rPr>
              <a:t>Guest handling and venue management in the club dashboard</a:t>
            </a:r>
          </a:p>
        </p:txBody>
      </p:sp>
      <p:sp>
        <p:nvSpPr>
          <p:cNvPr id="3" name="">
            <a:extLst xmlns:a="http://schemas.openxmlformats.org/drawingml/2006/main">
              <a:ext uri="{FF2B5EF4-FFF2-40B4-BE49-F238E27FC236}">
                <a16:creationId xmlns:a16="http://schemas.microsoft.com/office/drawing/2014/main" id="{AF410AD6-7DE3-43BF-8AE4-1A0FD1D269BD}"/>
              </a:ext>
            </a:extLst>
          </p:cNvPr>
          <p:cNvSpPr>
            <a:spLocks xmlns:a="http://schemas.openxmlformats.org/drawingml/2006/main" noGrp="1"/>
          </p:cNvSpPr>
          <p:nvPr/>
        </p:nvSpPr>
        <p:spPr>
          <a:xfrm xmlns:a="http://schemas.openxmlformats.org/drawingml/2006/main">
            <a:off x="619125" y="6448425"/>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B88AFF"/>
                </a:solidFill>
                <a:latin typeface="Arial"/>
                <a:ea typeface="Arial"/>
                <a:cs typeface="Arial"/>
              </a:defRPr>
            </a:pPr>
            <a:r>
              <a:rPr sz="1125" b="1">
                <a:solidFill>
                  <a:srgbClr val="B88AFF"/>
                </a:solidFill>
                <a:latin typeface="Arial"/>
                <a:ea typeface="Arial"/>
                <a:cs typeface="Arial"/>
              </a:rPr>
              <a:t>MYDANCR</a:t>
            </a:r>
          </a:p>
        </p:txBody>
      </p:sp>
      <p:sp>
        <p:nvSpPr>
          <p:cNvPr id="4" name="">
            <a:extLst xmlns:a="http://schemas.openxmlformats.org/drawingml/2006/main">
              <a:ext uri="{FF2B5EF4-FFF2-40B4-BE49-F238E27FC236}">
                <a16:creationId xmlns:a16="http://schemas.microsoft.com/office/drawing/2014/main" id="{671DF6C1-4364-4C68-B3D9-9337FA00FAB9}"/>
              </a:ext>
            </a:extLst>
          </p:cNvPr>
          <p:cNvSpPr>
            <a:spLocks xmlns:a="http://schemas.openxmlformats.org/drawingml/2006/main" noGrp="1"/>
          </p:cNvSpPr>
          <p:nvPr/>
        </p:nvSpPr>
        <p:spPr>
          <a:xfrm xmlns:a="http://schemas.openxmlformats.org/drawingml/2006/main">
            <a:off x="10858500" y="644842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125" b="0">
                <a:solidFill>
                  <a:srgbClr val="C6C1D1"/>
                </a:solidFill>
                <a:latin typeface="Arial"/>
                <a:ea typeface="Arial"/>
                <a:cs typeface="Arial"/>
              </a:defRPr>
            </a:pPr>
            <a:r>
              <a:rPr sz="1125" b="0">
                <a:solidFill>
                  <a:srgbClr val="C6C1D1"/>
                </a:solidFill>
                <a:latin typeface="Arial"/>
                <a:ea typeface="Arial"/>
                <a:cs typeface="Arial"/>
              </a:rPr>
              <a:t>4 / 7</a:t>
            </a:r>
          </a:p>
        </p:txBody>
      </p:sp>
      <p:sp>
        <p:nvSpPr>
          <p:cNvPr id="5" name="">
            <a:extLst xmlns:a="http://schemas.openxmlformats.org/drawingml/2006/main">
              <a:ext uri="{FF2B5EF4-FFF2-40B4-BE49-F238E27FC236}">
                <a16:creationId xmlns:a16="http://schemas.microsoft.com/office/drawing/2014/main" id="{847BE54B-5334-4B2A-B24E-77F24377A057}"/>
              </a:ext>
            </a:extLst>
          </p:cNvPr>
          <p:cNvSpPr>
            <a:spLocks xmlns:a="http://schemas.openxmlformats.org/drawingml/2006/main" noGrp="1"/>
          </p:cNvSpPr>
          <p:nvPr/>
        </p:nvSpPr>
        <p:spPr>
          <a:xfrm xmlns:a="http://schemas.openxmlformats.org/drawingml/2006/main">
            <a:off x="619125" y="2009775"/>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B88AFF"/>
                </a:solidFill>
                <a:latin typeface="Arial"/>
                <a:ea typeface="Arial"/>
                <a:cs typeface="Arial"/>
              </a:defRPr>
            </a:pPr>
            <a:r>
              <a:rPr sz="2100" b="1">
                <a:solidFill>
                  <a:srgbClr val="B88AFF"/>
                </a:solidFill>
                <a:latin typeface="Arial"/>
                <a:ea typeface="Arial"/>
                <a:cs typeface="Arial"/>
              </a:rPr>
              <a:t>Guest list &amp; entry passes</a:t>
            </a:r>
          </a:p>
        </p:txBody>
      </p:sp>
      <p:sp>
        <p:nvSpPr>
          <p:cNvPr id="6" name="">
            <a:extLst xmlns:a="http://schemas.openxmlformats.org/drawingml/2006/main">
              <a:ext uri="{FF2B5EF4-FFF2-40B4-BE49-F238E27FC236}">
                <a16:creationId xmlns:a16="http://schemas.microsoft.com/office/drawing/2014/main" id="{A7ECCBA2-79C9-4CFC-9038-919D8F35F820}"/>
              </a:ext>
            </a:extLst>
          </p:cNvPr>
          <p:cNvSpPr>
            <a:spLocks xmlns:a="http://schemas.openxmlformats.org/drawingml/2006/main" noGrp="1"/>
          </p:cNvSpPr>
          <p:nvPr/>
        </p:nvSpPr>
        <p:spPr>
          <a:xfrm xmlns:a="http://schemas.openxmlformats.org/drawingml/2006/main">
            <a:off x="619125" y="2476500"/>
            <a:ext cx="5000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FAF8FF"/>
                </a:solidFill>
                <a:latin typeface="Arial"/>
                <a:ea typeface="Arial"/>
                <a:cs typeface="Arial"/>
              </a:defRPr>
            </a:pPr>
            <a:r>
              <a:rPr sz="1875" b="0">
                <a:solidFill>
                  <a:srgbClr val="FAF8FF"/>
                </a:solidFill>
                <a:latin typeface="Arial"/>
                <a:ea typeface="Arial"/>
                <a:cs typeface="Arial"/>
              </a:rPr>
              <a:t>Review guest details before arrival.</a:t>
            </a:r>
          </a:p>
          <a:p xmlns:a="http://schemas.openxmlformats.org/drawingml/2006/main">
            <a:pPr>
              <a:buNone/>
              <a:defRPr sz="1875" b="0">
                <a:solidFill>
                  <a:srgbClr val="FAF8FF"/>
                </a:solidFill>
                <a:latin typeface="Arial"/>
                <a:ea typeface="Arial"/>
                <a:cs typeface="Arial"/>
              </a:defRPr>
            </a:pPr>
            <a:r>
              <a:rPr sz="1875" b="0">
                <a:solidFill>
                  <a:srgbClr val="FAF8FF"/>
                </a:solidFill>
                <a:latin typeface="Arial"/>
                <a:ea typeface="Arial"/>
                <a:cs typeface="Arial"/>
              </a:rPr>
              <a:t>Door staff check admission requirements</a:t>
            </a:r>
          </a:p>
          <a:p xmlns:a="http://schemas.openxmlformats.org/drawingml/2006/main">
            <a:pPr>
              <a:buNone/>
              <a:defRPr sz="1875" b="0">
                <a:solidFill>
                  <a:srgbClr val="FAF8FF"/>
                </a:solidFill>
                <a:latin typeface="Arial"/>
                <a:ea typeface="Arial"/>
                <a:cs typeface="Arial"/>
              </a:defRPr>
            </a:pPr>
            <a:r>
              <a:rPr sz="1875" b="0">
                <a:solidFill>
                  <a:srgbClr val="FAF8FF"/>
                </a:solidFill>
                <a:latin typeface="Arial"/>
                <a:ea typeface="Arial"/>
                <a:cs typeface="Arial"/>
              </a:rPr>
              <a:t>and scan each entry pass.</a:t>
            </a:r>
          </a:p>
        </p:txBody>
      </p:sp>
      <p:sp>
        <p:nvSpPr>
          <p:cNvPr id="7" name="">
            <a:extLst xmlns:a="http://schemas.openxmlformats.org/drawingml/2006/main">
              <a:ext uri="{FF2B5EF4-FFF2-40B4-BE49-F238E27FC236}">
                <a16:creationId xmlns:a16="http://schemas.microsoft.com/office/drawing/2014/main" id="{04450FF4-BB16-4306-A702-BAF2E755BF3E}"/>
              </a:ext>
            </a:extLst>
          </p:cNvPr>
          <p:cNvSpPr>
            <a:spLocks xmlns:a="http://schemas.openxmlformats.org/drawingml/2006/main" noGrp="1"/>
          </p:cNvSpPr>
          <p:nvPr/>
        </p:nvSpPr>
        <p:spPr>
          <a:xfrm xmlns:a="http://schemas.openxmlformats.org/drawingml/2006/main">
            <a:off x="6429375" y="2009775"/>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B88AFF"/>
                </a:solidFill>
                <a:latin typeface="Arial"/>
                <a:ea typeface="Arial"/>
                <a:cs typeface="Arial"/>
              </a:defRPr>
            </a:pPr>
            <a:r>
              <a:rPr sz="2100" b="1">
                <a:solidFill>
                  <a:srgbClr val="B88AFF"/>
                </a:solidFill>
                <a:latin typeface="Arial"/>
                <a:ea typeface="Arial"/>
                <a:cs typeface="Arial"/>
              </a:rPr>
              <a:t>Pickup coordination</a:t>
            </a:r>
          </a:p>
        </p:txBody>
      </p:sp>
      <p:sp>
        <p:nvSpPr>
          <p:cNvPr id="8" name="">
            <a:extLst xmlns:a="http://schemas.openxmlformats.org/drawingml/2006/main">
              <a:ext uri="{FF2B5EF4-FFF2-40B4-BE49-F238E27FC236}">
                <a16:creationId xmlns:a16="http://schemas.microsoft.com/office/drawing/2014/main" id="{8827ACFD-27B5-476D-A4C1-868BF15EF9DF}"/>
              </a:ext>
            </a:extLst>
          </p:cNvPr>
          <p:cNvSpPr>
            <a:spLocks xmlns:a="http://schemas.openxmlformats.org/drawingml/2006/main" noGrp="1"/>
          </p:cNvSpPr>
          <p:nvPr/>
        </p:nvSpPr>
        <p:spPr>
          <a:xfrm xmlns:a="http://schemas.openxmlformats.org/drawingml/2006/main">
            <a:off x="6429375" y="2476500"/>
            <a:ext cx="5000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FAF8FF"/>
                </a:solidFill>
                <a:latin typeface="Arial"/>
                <a:ea typeface="Arial"/>
                <a:cs typeface="Arial"/>
              </a:defRPr>
            </a:pPr>
            <a:r>
              <a:rPr sz="1875" b="0">
                <a:solidFill>
                  <a:srgbClr val="FAF8FF"/>
                </a:solidFill>
                <a:latin typeface="Arial"/>
                <a:ea typeface="Arial"/>
                <a:cs typeface="Arial"/>
              </a:rPr>
              <a:t>Review pickup requests and contact</a:t>
            </a:r>
          </a:p>
          <a:p xmlns:a="http://schemas.openxmlformats.org/drawingml/2006/main">
            <a:pPr>
              <a:buNone/>
              <a:defRPr sz="1875" b="0">
                <a:solidFill>
                  <a:srgbClr val="FAF8FF"/>
                </a:solidFill>
                <a:latin typeface="Arial"/>
                <a:ea typeface="Arial"/>
                <a:cs typeface="Arial"/>
              </a:defRPr>
            </a:pPr>
            <a:r>
              <a:rPr sz="1875" b="0">
                <a:solidFill>
                  <a:srgbClr val="FAF8FF"/>
                </a:solidFill>
                <a:latin typeface="Arial"/>
                <a:ea typeface="Arial"/>
                <a:cs typeface="Arial"/>
              </a:rPr>
              <a:t>guests through the pickup inbox</a:t>
            </a:r>
          </a:p>
          <a:p xmlns:a="http://schemas.openxmlformats.org/drawingml/2006/main">
            <a:pPr>
              <a:buNone/>
              <a:defRPr sz="1875" b="0">
                <a:solidFill>
                  <a:srgbClr val="FAF8FF"/>
                </a:solidFill>
                <a:latin typeface="Arial"/>
                <a:ea typeface="Arial"/>
                <a:cs typeface="Arial"/>
              </a:defRPr>
            </a:pPr>
            <a:r>
              <a:rPr sz="1875" b="0">
                <a:solidFill>
                  <a:srgbClr val="FAF8FF"/>
                </a:solidFill>
                <a:latin typeface="Arial"/>
                <a:ea typeface="Arial"/>
                <a:cs typeface="Arial"/>
              </a:rPr>
              <a:t>to arrange their ride.</a:t>
            </a:r>
          </a:p>
        </p:txBody>
      </p:sp>
      <p:sp>
        <p:nvSpPr>
          <p:cNvPr id="9" name="">
            <a:extLst xmlns:a="http://schemas.openxmlformats.org/drawingml/2006/main">
              <a:ext uri="{FF2B5EF4-FFF2-40B4-BE49-F238E27FC236}">
                <a16:creationId xmlns:a16="http://schemas.microsoft.com/office/drawing/2014/main" id="{4477D5CE-3913-44FA-B8BE-CC7E3DCED3F7}"/>
              </a:ext>
            </a:extLst>
          </p:cNvPr>
          <p:cNvSpPr>
            <a:spLocks xmlns:a="http://schemas.openxmlformats.org/drawingml/2006/main" noGrp="1"/>
          </p:cNvSpPr>
          <p:nvPr/>
        </p:nvSpPr>
        <p:spPr>
          <a:xfrm xmlns:a="http://schemas.openxmlformats.org/drawingml/2006/main">
            <a:off x="619125" y="4048125"/>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B88AFF"/>
                </a:solidFill>
                <a:latin typeface="Arial"/>
                <a:ea typeface="Arial"/>
                <a:cs typeface="Arial"/>
              </a:defRPr>
            </a:pPr>
            <a:r>
              <a:rPr sz="2100" b="1">
                <a:solidFill>
                  <a:srgbClr val="B88AFF"/>
                </a:solidFill>
                <a:latin typeface="Arial"/>
                <a:ea typeface="Arial"/>
                <a:cs typeface="Arial"/>
              </a:rPr>
              <a:t>Team access</a:t>
            </a:r>
          </a:p>
        </p:txBody>
      </p:sp>
      <p:sp>
        <p:nvSpPr>
          <p:cNvPr id="10" name="">
            <a:extLst xmlns:a="http://schemas.openxmlformats.org/drawingml/2006/main">
              <a:ext uri="{FF2B5EF4-FFF2-40B4-BE49-F238E27FC236}">
                <a16:creationId xmlns:a16="http://schemas.microsoft.com/office/drawing/2014/main" id="{0AE7D72A-1BFE-4AC6-8828-D7CDD15614BA}"/>
              </a:ext>
            </a:extLst>
          </p:cNvPr>
          <p:cNvSpPr>
            <a:spLocks xmlns:a="http://schemas.openxmlformats.org/drawingml/2006/main" noGrp="1"/>
          </p:cNvSpPr>
          <p:nvPr/>
        </p:nvSpPr>
        <p:spPr>
          <a:xfrm xmlns:a="http://schemas.openxmlformats.org/drawingml/2006/main">
            <a:off x="619125" y="4514850"/>
            <a:ext cx="5000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FAF8FF"/>
                </a:solidFill>
                <a:latin typeface="Arial"/>
                <a:ea typeface="Arial"/>
                <a:cs typeface="Arial"/>
              </a:defRPr>
            </a:pPr>
            <a:r>
              <a:rPr sz="1875" b="0">
                <a:solidFill>
                  <a:srgbClr val="FAF8FF"/>
                </a:solidFill>
                <a:latin typeface="Arial"/>
                <a:ea typeface="Arial"/>
                <a:cs typeface="Arial"/>
              </a:rPr>
              <a:t>Owners invite managers and staff.</a:t>
            </a:r>
          </a:p>
          <a:p xmlns:a="http://schemas.openxmlformats.org/drawingml/2006/main">
            <a:pPr>
              <a:buNone/>
              <a:defRPr sz="1875" b="0">
                <a:solidFill>
                  <a:srgbClr val="FAF8FF"/>
                </a:solidFill>
                <a:latin typeface="Arial"/>
                <a:ea typeface="Arial"/>
                <a:cs typeface="Arial"/>
              </a:defRPr>
            </a:pPr>
            <a:r>
              <a:rPr sz="1875" b="0">
                <a:solidFill>
                  <a:srgbClr val="FAF8FF"/>
                </a:solidFill>
                <a:latin typeface="Arial"/>
                <a:ea typeface="Arial"/>
                <a:cs typeface="Arial"/>
              </a:rPr>
              <a:t>Each role receives the permissions</a:t>
            </a:r>
          </a:p>
          <a:p xmlns:a="http://schemas.openxmlformats.org/drawingml/2006/main">
            <a:pPr>
              <a:buNone/>
              <a:defRPr sz="1875" b="0">
                <a:solidFill>
                  <a:srgbClr val="FAF8FF"/>
                </a:solidFill>
                <a:latin typeface="Arial"/>
                <a:ea typeface="Arial"/>
                <a:cs typeface="Arial"/>
              </a:defRPr>
            </a:pPr>
            <a:r>
              <a:rPr sz="1875" b="0">
                <a:solidFill>
                  <a:srgbClr val="FAF8FF"/>
                </a:solidFill>
                <a:latin typeface="Arial"/>
                <a:ea typeface="Arial"/>
                <a:cs typeface="Arial"/>
              </a:rPr>
              <a:t>needed for its work.</a:t>
            </a:r>
          </a:p>
        </p:txBody>
      </p:sp>
      <p:sp>
        <p:nvSpPr>
          <p:cNvPr id="11" name="">
            <a:extLst xmlns:a="http://schemas.openxmlformats.org/drawingml/2006/main">
              <a:ext uri="{FF2B5EF4-FFF2-40B4-BE49-F238E27FC236}">
                <a16:creationId xmlns:a16="http://schemas.microsoft.com/office/drawing/2014/main" id="{00614CE6-5957-4DB9-A04E-A0E138556F7D}"/>
              </a:ext>
            </a:extLst>
          </p:cNvPr>
          <p:cNvSpPr>
            <a:spLocks xmlns:a="http://schemas.openxmlformats.org/drawingml/2006/main" noGrp="1"/>
          </p:cNvSpPr>
          <p:nvPr/>
        </p:nvSpPr>
        <p:spPr>
          <a:xfrm xmlns:a="http://schemas.openxmlformats.org/drawingml/2006/main">
            <a:off x="6429375" y="4048125"/>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B88AFF"/>
                </a:solidFill>
                <a:latin typeface="Arial"/>
                <a:ea typeface="Arial"/>
                <a:cs typeface="Arial"/>
              </a:defRPr>
            </a:pPr>
            <a:r>
              <a:rPr sz="2100" b="1">
                <a:solidFill>
                  <a:srgbClr val="B88AFF"/>
                </a:solidFill>
                <a:latin typeface="Arial"/>
                <a:ea typeface="Arial"/>
                <a:cs typeface="Arial"/>
              </a:rPr>
              <a:t>Venue management</a:t>
            </a:r>
          </a:p>
        </p:txBody>
      </p:sp>
      <p:sp>
        <p:nvSpPr>
          <p:cNvPr id="12" name="">
            <a:extLst xmlns:a="http://schemas.openxmlformats.org/drawingml/2006/main">
              <a:ext uri="{FF2B5EF4-FFF2-40B4-BE49-F238E27FC236}">
                <a16:creationId xmlns:a16="http://schemas.microsoft.com/office/drawing/2014/main" id="{6DDE49C4-72A5-458A-A99A-10895C2F73BD}"/>
              </a:ext>
            </a:extLst>
          </p:cNvPr>
          <p:cNvSpPr>
            <a:spLocks xmlns:a="http://schemas.openxmlformats.org/drawingml/2006/main" noGrp="1"/>
          </p:cNvSpPr>
          <p:nvPr/>
        </p:nvSpPr>
        <p:spPr>
          <a:xfrm xmlns:a="http://schemas.openxmlformats.org/drawingml/2006/main">
            <a:off x="6429375" y="4514850"/>
            <a:ext cx="5000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FAF8FF"/>
                </a:solidFill>
                <a:latin typeface="Arial"/>
                <a:ea typeface="Arial"/>
                <a:cs typeface="Arial"/>
              </a:defRPr>
            </a:pPr>
            <a:r>
              <a:rPr sz="1875" b="0">
                <a:solidFill>
                  <a:srgbClr val="FAF8FF"/>
                </a:solidFill>
                <a:latin typeface="Arial"/>
                <a:ea typeface="Arial"/>
                <a:cs typeface="Arial"/>
              </a:rPr>
              <a:t>Review and approve the prepared</a:t>
            </a:r>
          </a:p>
          <a:p xmlns:a="http://schemas.openxmlformats.org/drawingml/2006/main">
            <a:pPr>
              <a:buNone/>
              <a:defRPr sz="1875" b="0">
                <a:solidFill>
                  <a:srgbClr val="FAF8FF"/>
                </a:solidFill>
                <a:latin typeface="Arial"/>
                <a:ea typeface="Arial"/>
                <a:cs typeface="Arial"/>
              </a:defRPr>
            </a:pPr>
            <a:r>
              <a:rPr sz="1875" b="0">
                <a:solidFill>
                  <a:srgbClr val="FAF8FF"/>
                </a:solidFill>
                <a:latin typeface="Arial"/>
                <a:ea typeface="Arial"/>
                <a:cs typeface="Arial"/>
              </a:rPr>
              <a:t>club page, request offer changes</a:t>
            </a:r>
          </a:p>
          <a:p xmlns:a="http://schemas.openxmlformats.org/drawingml/2006/main">
            <a:pPr>
              <a:buNone/>
              <a:defRPr sz="1875" b="0">
                <a:solidFill>
                  <a:srgbClr val="FAF8FF"/>
                </a:solidFill>
                <a:latin typeface="Arial"/>
                <a:ea typeface="Arial"/>
                <a:cs typeface="Arial"/>
              </a:defRPr>
            </a:pPr>
            <a:r>
              <a:rPr sz="1875" b="0">
                <a:solidFill>
                  <a:srgbClr val="FAF8FF"/>
                </a:solidFill>
                <a:latin typeface="Arial"/>
                <a:ea typeface="Arial"/>
                <a:cs typeface="Arial"/>
              </a:rPr>
              <a:t>and review venue activity.</a:t>
            </a:r>
          </a:p>
        </p:txBody>
      </p:sp>
    </p:spTree>
    <p:extLst>
      <p:ext uri="{BB962C8B-B14F-4D97-AF65-F5344CB8AC3E}">
        <p14:creationId xmlns:p14="http://schemas.microsoft.com/office/powerpoint/2010/main" val="1080678236"/>
      </p:ext>
    </p:extLst>
  </p:cSld>
</p:sld>
</file>

<file path=ppt/slides/slide5.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7922CE6-0076-4B80-B741-D54F60925ABC}"/>
              </a:ext>
            </a:extLst>
          </p:cNvPr>
          <p:cNvSpPr>
            <a:spLocks xmlns:a="http://schemas.openxmlformats.org/drawingml/2006/main" noGrp="1"/>
          </p:cNvSpPr>
          <p:nvPr/>
        </p:nvSpPr>
        <p:spPr>
          <a:xfrm xmlns:a="http://schemas.openxmlformats.org/drawingml/2006/main">
            <a:off x="590550" y="40957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FAF8FF"/>
                </a:solidFill>
                <a:latin typeface="Arial"/>
                <a:ea typeface="Arial"/>
                <a:cs typeface="Arial"/>
              </a:defRPr>
            </a:pPr>
            <a:r>
              <a:rPr sz="3300" b="1">
                <a:solidFill>
                  <a:srgbClr val="FAF8FF"/>
                </a:solidFill>
                <a:latin typeface="Arial"/>
                <a:ea typeface="Arial"/>
                <a:cs typeface="Arial"/>
              </a:rPr>
              <a:t>Sample club dashboard · </a:t>
            </a:r>
            <a:r>
              <a:rPr sz="3300" b="1">
                <a:solidFill>
                  <a:srgbClr val="FAF8FF"/>
                </a:solidFill>
                <a:latin typeface="Arial"/>
                <a:ea typeface="Arial"/>
                <a:cs typeface="Arial"/>
              </a:rPr>
              <a:t>Club A</a:t>
            </a:r>
          </a:p>
        </p:txBody>
      </p:sp>
      <p:sp>
        <p:nvSpPr>
          <p:cNvPr id="2" name="">
            <a:extLst xmlns:a="http://schemas.openxmlformats.org/drawingml/2006/main">
              <a:ext uri="{FF2B5EF4-FFF2-40B4-BE49-F238E27FC236}">
                <a16:creationId xmlns:a16="http://schemas.microsoft.com/office/drawing/2014/main" id="{EF0A736E-32A2-498B-A208-1B96830BFE63}"/>
              </a:ext>
            </a:extLst>
          </p:cNvPr>
          <p:cNvSpPr>
            <a:spLocks xmlns:a="http://schemas.openxmlformats.org/drawingml/2006/main" noGrp="1"/>
          </p:cNvSpPr>
          <p:nvPr/>
        </p:nvSpPr>
        <p:spPr>
          <a:xfrm xmlns:a="http://schemas.openxmlformats.org/drawingml/2006/main">
            <a:off x="619125" y="11906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C6C1D1"/>
                </a:solidFill>
                <a:latin typeface="Arial"/>
                <a:ea typeface="Arial"/>
                <a:cs typeface="Arial"/>
              </a:defRPr>
            </a:pPr>
            <a:r>
              <a:rPr sz="1650" b="0">
                <a:solidFill>
                  <a:srgbClr val="C6C1D1"/>
                </a:solidFill>
                <a:latin typeface="Arial"/>
                <a:ea typeface="Arial"/>
                <a:cs typeface="Arial"/>
              </a:rPr>
              <a:t>Illustrative figures · September 1–30, 2026 · compared with the previous 30 days</a:t>
            </a:r>
          </a:p>
        </p:txBody>
      </p:sp>
      <p:sp>
        <p:nvSpPr>
          <p:cNvPr id="3" name="">
            <a:extLst xmlns:a="http://schemas.openxmlformats.org/drawingml/2006/main">
              <a:ext uri="{FF2B5EF4-FFF2-40B4-BE49-F238E27FC236}">
                <a16:creationId xmlns:a16="http://schemas.microsoft.com/office/drawing/2014/main" id="{1BF2166C-5F51-46B1-98C3-D618F7C36AB1}"/>
              </a:ext>
            </a:extLst>
          </p:cNvPr>
          <p:cNvSpPr>
            <a:spLocks xmlns:a="http://schemas.openxmlformats.org/drawingml/2006/main" noGrp="1"/>
          </p:cNvSpPr>
          <p:nvPr/>
        </p:nvSpPr>
        <p:spPr>
          <a:xfrm xmlns:a="http://schemas.openxmlformats.org/drawingml/2006/main">
            <a:off x="619125" y="6448425"/>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B88AFF"/>
                </a:solidFill>
                <a:latin typeface="Arial"/>
                <a:ea typeface="Arial"/>
                <a:cs typeface="Arial"/>
              </a:defRPr>
            </a:pPr>
            <a:r>
              <a:rPr sz="1125" b="1">
                <a:solidFill>
                  <a:srgbClr val="B88AFF"/>
                </a:solidFill>
                <a:latin typeface="Arial"/>
                <a:ea typeface="Arial"/>
                <a:cs typeface="Arial"/>
              </a:rPr>
              <a:t>MYDANCR</a:t>
            </a:r>
          </a:p>
        </p:txBody>
      </p:sp>
      <p:sp>
        <p:nvSpPr>
          <p:cNvPr id="4" name="">
            <a:extLst xmlns:a="http://schemas.openxmlformats.org/drawingml/2006/main">
              <a:ext uri="{FF2B5EF4-FFF2-40B4-BE49-F238E27FC236}">
                <a16:creationId xmlns:a16="http://schemas.microsoft.com/office/drawing/2014/main" id="{6846CC07-32CD-4CD7-95BE-EBB8D2E73495}"/>
              </a:ext>
            </a:extLst>
          </p:cNvPr>
          <p:cNvSpPr>
            <a:spLocks xmlns:a="http://schemas.openxmlformats.org/drawingml/2006/main" noGrp="1"/>
          </p:cNvSpPr>
          <p:nvPr/>
        </p:nvSpPr>
        <p:spPr>
          <a:xfrm xmlns:a="http://schemas.openxmlformats.org/drawingml/2006/main">
            <a:off x="10858500" y="644842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125" b="0">
                <a:solidFill>
                  <a:srgbClr val="C6C1D1"/>
                </a:solidFill>
                <a:latin typeface="Arial"/>
                <a:ea typeface="Arial"/>
                <a:cs typeface="Arial"/>
              </a:defRPr>
            </a:pPr>
            <a:r>
              <a:rPr sz="1125" b="0">
                <a:solidFill>
                  <a:srgbClr val="C6C1D1"/>
                </a:solidFill>
                <a:latin typeface="Arial"/>
                <a:ea typeface="Arial"/>
                <a:cs typeface="Arial"/>
              </a:rPr>
              <a:t>5 / 7</a:t>
            </a:r>
          </a:p>
        </p:txBody>
      </p:sp>
      <p:sp>
        <p:nvSpPr>
          <p:cNvPr id="5" name="">
            <a:extLst xmlns:a="http://schemas.openxmlformats.org/drawingml/2006/main">
              <a:ext uri="{FF2B5EF4-FFF2-40B4-BE49-F238E27FC236}">
                <a16:creationId xmlns:a16="http://schemas.microsoft.com/office/drawing/2014/main" id="{E796AEFA-B720-4BDC-A270-5D1E97D9DF89}"/>
              </a:ext>
            </a:extLst>
          </p:cNvPr>
          <p:cNvSpPr>
            <a:spLocks xmlns:a="http://schemas.openxmlformats.org/drawingml/2006/main" noGrp="1"/>
          </p:cNvSpPr>
          <p:nvPr/>
        </p:nvSpPr>
        <p:spPr>
          <a:xfrm xmlns:a="http://schemas.openxmlformats.org/drawingml/2006/main">
            <a:off x="619125" y="1781175"/>
            <a:ext cx="26479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825" b="1">
                <a:solidFill>
                  <a:srgbClr val="B88AFF"/>
                </a:solidFill>
                <a:latin typeface="Arial"/>
                <a:ea typeface="Arial"/>
                <a:cs typeface="Arial"/>
              </a:defRPr>
            </a:pPr>
            <a:r>
              <a:rPr sz="3825" b="1">
                <a:solidFill>
                  <a:srgbClr val="B88AFF"/>
                </a:solidFill>
                <a:latin typeface="Arial"/>
                <a:ea typeface="Arial"/>
                <a:cs typeface="Arial"/>
              </a:rPr>
              <a:t>480</a:t>
            </a:r>
          </a:p>
        </p:txBody>
      </p:sp>
      <p:sp>
        <p:nvSpPr>
          <p:cNvPr id="6" name="">
            <a:extLst xmlns:a="http://schemas.openxmlformats.org/drawingml/2006/main">
              <a:ext uri="{FF2B5EF4-FFF2-40B4-BE49-F238E27FC236}">
                <a16:creationId xmlns:a16="http://schemas.microsoft.com/office/drawing/2014/main" id="{C047BB8B-2DAE-4789-AAFE-0FF9EEFE6C04}"/>
              </a:ext>
            </a:extLst>
          </p:cNvPr>
          <p:cNvSpPr>
            <a:spLocks xmlns:a="http://schemas.openxmlformats.org/drawingml/2006/main" noGrp="1"/>
          </p:cNvSpPr>
          <p:nvPr/>
        </p:nvSpPr>
        <p:spPr>
          <a:xfrm xmlns:a="http://schemas.openxmlformats.org/drawingml/2006/main">
            <a:off x="619125" y="2438400"/>
            <a:ext cx="2647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FAF8FF"/>
                </a:solidFill>
                <a:latin typeface="Arial"/>
                <a:ea typeface="Arial"/>
                <a:cs typeface="Arial"/>
              </a:defRPr>
            </a:pPr>
            <a:r>
              <a:rPr sz="1800" b="1">
                <a:solidFill>
                  <a:srgbClr val="FAF8FF"/>
                </a:solidFill>
                <a:latin typeface="Arial"/>
                <a:ea typeface="Arial"/>
                <a:cs typeface="Arial"/>
              </a:rPr>
              <a:t>Passes claimed</a:t>
            </a:r>
          </a:p>
        </p:txBody>
      </p:sp>
      <p:sp>
        <p:nvSpPr>
          <p:cNvPr id="7" name="">
            <a:extLst xmlns:a="http://schemas.openxmlformats.org/drawingml/2006/main">
              <a:ext uri="{FF2B5EF4-FFF2-40B4-BE49-F238E27FC236}">
                <a16:creationId xmlns:a16="http://schemas.microsoft.com/office/drawing/2014/main" id="{15981473-CD2F-4248-AEFE-B8DB59A0DD98}"/>
              </a:ext>
            </a:extLst>
          </p:cNvPr>
          <p:cNvSpPr>
            <a:spLocks xmlns:a="http://schemas.openxmlformats.org/drawingml/2006/main" noGrp="1"/>
          </p:cNvSpPr>
          <p:nvPr/>
        </p:nvSpPr>
        <p:spPr>
          <a:xfrm xmlns:a="http://schemas.openxmlformats.org/drawingml/2006/main">
            <a:off x="619125" y="2800350"/>
            <a:ext cx="2647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66DBAE"/>
                </a:solidFill>
                <a:latin typeface="Arial"/>
                <a:ea typeface="Arial"/>
                <a:cs typeface="Arial"/>
              </a:defRPr>
            </a:pPr>
            <a:r>
              <a:rPr sz="1425" b="0">
                <a:solidFill>
                  <a:srgbClr val="66DBAE"/>
                </a:solidFill>
                <a:latin typeface="Arial"/>
                <a:ea typeface="Arial"/>
                <a:cs typeface="Arial"/>
              </a:rPr>
              <a:t>+20% vs prior</a:t>
            </a:r>
          </a:p>
        </p:txBody>
      </p:sp>
      <p:sp>
        <p:nvSpPr>
          <p:cNvPr id="8" name="">
            <a:extLst xmlns:a="http://schemas.openxmlformats.org/drawingml/2006/main">
              <a:ext uri="{FF2B5EF4-FFF2-40B4-BE49-F238E27FC236}">
                <a16:creationId xmlns:a16="http://schemas.microsoft.com/office/drawing/2014/main" id="{2500EEFA-3B48-47D6-B2E1-FF1A0832CA51}"/>
              </a:ext>
            </a:extLst>
          </p:cNvPr>
          <p:cNvSpPr>
            <a:spLocks xmlns:a="http://schemas.openxmlformats.org/drawingml/2006/main" noGrp="1"/>
          </p:cNvSpPr>
          <p:nvPr/>
        </p:nvSpPr>
        <p:spPr>
          <a:xfrm xmlns:a="http://schemas.openxmlformats.org/drawingml/2006/main">
            <a:off x="3505200" y="1781175"/>
            <a:ext cx="26479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825" b="1">
                <a:solidFill>
                  <a:srgbClr val="B88AFF"/>
                </a:solidFill>
                <a:latin typeface="Arial"/>
                <a:ea typeface="Arial"/>
                <a:cs typeface="Arial"/>
              </a:defRPr>
            </a:pPr>
            <a:r>
              <a:rPr sz="3825" b="1">
                <a:solidFill>
                  <a:srgbClr val="B88AFF"/>
                </a:solidFill>
                <a:latin typeface="Arial"/>
                <a:ea typeface="Arial"/>
                <a:cs typeface="Arial"/>
              </a:rPr>
              <a:t>312</a:t>
            </a:r>
          </a:p>
        </p:txBody>
      </p:sp>
      <p:sp>
        <p:nvSpPr>
          <p:cNvPr id="9" name="">
            <a:extLst xmlns:a="http://schemas.openxmlformats.org/drawingml/2006/main">
              <a:ext uri="{FF2B5EF4-FFF2-40B4-BE49-F238E27FC236}">
                <a16:creationId xmlns:a16="http://schemas.microsoft.com/office/drawing/2014/main" id="{9FAB0280-C18B-4EF1-9D07-6091F16CC411}"/>
              </a:ext>
            </a:extLst>
          </p:cNvPr>
          <p:cNvSpPr>
            <a:spLocks xmlns:a="http://schemas.openxmlformats.org/drawingml/2006/main" noGrp="1"/>
          </p:cNvSpPr>
          <p:nvPr/>
        </p:nvSpPr>
        <p:spPr>
          <a:xfrm xmlns:a="http://schemas.openxmlformats.org/drawingml/2006/main">
            <a:off x="3505200" y="2438400"/>
            <a:ext cx="2647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FAF8FF"/>
                </a:solidFill>
                <a:latin typeface="Arial"/>
                <a:ea typeface="Arial"/>
                <a:cs typeface="Arial"/>
              </a:defRPr>
            </a:pPr>
            <a:r>
              <a:rPr sz="1800" b="1">
                <a:solidFill>
                  <a:srgbClr val="FAF8FF"/>
                </a:solidFill>
                <a:latin typeface="Arial"/>
                <a:ea typeface="Arial"/>
                <a:cs typeface="Arial"/>
              </a:rPr>
              <a:t>QR scan results</a:t>
            </a:r>
          </a:p>
        </p:txBody>
      </p:sp>
      <p:sp>
        <p:nvSpPr>
          <p:cNvPr id="10" name="">
            <a:extLst xmlns:a="http://schemas.openxmlformats.org/drawingml/2006/main">
              <a:ext uri="{FF2B5EF4-FFF2-40B4-BE49-F238E27FC236}">
                <a16:creationId xmlns:a16="http://schemas.microsoft.com/office/drawing/2014/main" id="{02D5250E-2E6D-4036-A70F-C7749F2FB6E4}"/>
              </a:ext>
            </a:extLst>
          </p:cNvPr>
          <p:cNvSpPr>
            <a:spLocks xmlns:a="http://schemas.openxmlformats.org/drawingml/2006/main" noGrp="1"/>
          </p:cNvSpPr>
          <p:nvPr/>
        </p:nvSpPr>
        <p:spPr>
          <a:xfrm xmlns:a="http://schemas.openxmlformats.org/drawingml/2006/main">
            <a:off x="3505200" y="2800350"/>
            <a:ext cx="2647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66DBAE"/>
                </a:solidFill>
                <a:latin typeface="Arial"/>
                <a:ea typeface="Arial"/>
                <a:cs typeface="Arial"/>
              </a:defRPr>
            </a:pPr>
            <a:r>
              <a:rPr sz="1425" b="0">
                <a:solidFill>
                  <a:srgbClr val="66DBAE"/>
                </a:solidFill>
                <a:latin typeface="Arial"/>
                <a:ea typeface="Arial"/>
                <a:cs typeface="Arial"/>
              </a:rPr>
              <a:t>+30% vs prior</a:t>
            </a:r>
          </a:p>
        </p:txBody>
      </p:sp>
      <p:sp>
        <p:nvSpPr>
          <p:cNvPr id="11" name="">
            <a:extLst xmlns:a="http://schemas.openxmlformats.org/drawingml/2006/main">
              <a:ext uri="{FF2B5EF4-FFF2-40B4-BE49-F238E27FC236}">
                <a16:creationId xmlns:a16="http://schemas.microsoft.com/office/drawing/2014/main" id="{87E0A2C1-EF69-4E75-AD86-5B2028E7AF8B}"/>
              </a:ext>
            </a:extLst>
          </p:cNvPr>
          <p:cNvSpPr>
            <a:spLocks xmlns:a="http://schemas.openxmlformats.org/drawingml/2006/main" noGrp="1"/>
          </p:cNvSpPr>
          <p:nvPr/>
        </p:nvSpPr>
        <p:spPr>
          <a:xfrm xmlns:a="http://schemas.openxmlformats.org/drawingml/2006/main">
            <a:off x="6391275" y="1781175"/>
            <a:ext cx="26479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825" b="1">
                <a:solidFill>
                  <a:srgbClr val="B88AFF"/>
                </a:solidFill>
                <a:latin typeface="Arial"/>
                <a:ea typeface="Arial"/>
                <a:cs typeface="Arial"/>
              </a:defRPr>
            </a:pPr>
            <a:r>
              <a:rPr sz="3825" b="1">
                <a:solidFill>
                  <a:srgbClr val="B88AFF"/>
                </a:solidFill>
                <a:latin typeface="Arial"/>
                <a:ea typeface="Arial"/>
                <a:cs typeface="Arial"/>
              </a:rPr>
              <a:t>65%</a:t>
            </a:r>
          </a:p>
        </p:txBody>
      </p:sp>
      <p:sp>
        <p:nvSpPr>
          <p:cNvPr id="12" name="">
            <a:extLst xmlns:a="http://schemas.openxmlformats.org/drawingml/2006/main">
              <a:ext uri="{FF2B5EF4-FFF2-40B4-BE49-F238E27FC236}">
                <a16:creationId xmlns:a16="http://schemas.microsoft.com/office/drawing/2014/main" id="{3489A033-6239-44DA-8920-0A9292D24A02}"/>
              </a:ext>
            </a:extLst>
          </p:cNvPr>
          <p:cNvSpPr>
            <a:spLocks xmlns:a="http://schemas.openxmlformats.org/drawingml/2006/main" noGrp="1"/>
          </p:cNvSpPr>
          <p:nvPr/>
        </p:nvSpPr>
        <p:spPr>
          <a:xfrm xmlns:a="http://schemas.openxmlformats.org/drawingml/2006/main">
            <a:off x="6391275" y="2438400"/>
            <a:ext cx="2647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FAF8FF"/>
                </a:solidFill>
                <a:latin typeface="Arial"/>
                <a:ea typeface="Arial"/>
                <a:cs typeface="Arial"/>
              </a:defRPr>
            </a:pPr>
            <a:r>
              <a:rPr sz="1800" b="1">
                <a:solidFill>
                  <a:srgbClr val="FAF8FF"/>
                </a:solidFill>
                <a:latin typeface="Arial"/>
                <a:ea typeface="Arial"/>
                <a:cs typeface="Arial"/>
              </a:rPr>
              <a:t>Claim → admission</a:t>
            </a:r>
          </a:p>
        </p:txBody>
      </p:sp>
      <p:sp>
        <p:nvSpPr>
          <p:cNvPr id="13" name="">
            <a:extLst xmlns:a="http://schemas.openxmlformats.org/drawingml/2006/main">
              <a:ext uri="{FF2B5EF4-FFF2-40B4-BE49-F238E27FC236}">
                <a16:creationId xmlns:a16="http://schemas.microsoft.com/office/drawing/2014/main" id="{34309421-E477-4A61-9CEB-A6D0D258C006}"/>
              </a:ext>
            </a:extLst>
          </p:cNvPr>
          <p:cNvSpPr>
            <a:spLocks xmlns:a="http://schemas.openxmlformats.org/drawingml/2006/main" noGrp="1"/>
          </p:cNvSpPr>
          <p:nvPr/>
        </p:nvSpPr>
        <p:spPr>
          <a:xfrm xmlns:a="http://schemas.openxmlformats.org/drawingml/2006/main">
            <a:off x="6391275" y="2800350"/>
            <a:ext cx="2647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66DBAE"/>
                </a:solidFill>
                <a:latin typeface="Arial"/>
                <a:ea typeface="Arial"/>
                <a:cs typeface="Arial"/>
              </a:defRPr>
            </a:pPr>
            <a:r>
              <a:rPr sz="1425" b="0">
                <a:solidFill>
                  <a:srgbClr val="66DBAE"/>
                </a:solidFill>
                <a:latin typeface="Arial"/>
                <a:ea typeface="Arial"/>
                <a:cs typeface="Arial"/>
              </a:rPr>
              <a:t>312 of 480 claims</a:t>
            </a:r>
          </a:p>
        </p:txBody>
      </p:sp>
      <p:sp>
        <p:nvSpPr>
          <p:cNvPr id="14" name="">
            <a:extLst xmlns:a="http://schemas.openxmlformats.org/drawingml/2006/main">
              <a:ext uri="{FF2B5EF4-FFF2-40B4-BE49-F238E27FC236}">
                <a16:creationId xmlns:a16="http://schemas.microsoft.com/office/drawing/2014/main" id="{BBCBF356-995B-486D-85B2-297718B19CF3}"/>
              </a:ext>
            </a:extLst>
          </p:cNvPr>
          <p:cNvSpPr>
            <a:spLocks xmlns:a="http://schemas.openxmlformats.org/drawingml/2006/main" noGrp="1"/>
          </p:cNvSpPr>
          <p:nvPr/>
        </p:nvSpPr>
        <p:spPr>
          <a:xfrm xmlns:a="http://schemas.openxmlformats.org/drawingml/2006/main">
            <a:off x="9277350" y="1781175"/>
            <a:ext cx="26479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825" b="1">
                <a:solidFill>
                  <a:srgbClr val="B88AFF"/>
                </a:solidFill>
                <a:latin typeface="Arial"/>
                <a:ea typeface="Arial"/>
                <a:cs typeface="Arial"/>
              </a:defRPr>
            </a:pPr>
            <a:r>
              <a:rPr sz="3825" b="1">
                <a:solidFill>
                  <a:srgbClr val="B88AFF"/>
                </a:solidFill>
                <a:latin typeface="Arial"/>
                <a:ea typeface="Arial"/>
                <a:cs typeface="Arial"/>
              </a:rPr>
              <a:t>96</a:t>
            </a:r>
          </a:p>
        </p:txBody>
      </p:sp>
      <p:sp>
        <p:nvSpPr>
          <p:cNvPr id="15" name="">
            <a:extLst xmlns:a="http://schemas.openxmlformats.org/drawingml/2006/main">
              <a:ext uri="{FF2B5EF4-FFF2-40B4-BE49-F238E27FC236}">
                <a16:creationId xmlns:a16="http://schemas.microsoft.com/office/drawing/2014/main" id="{78FB7E43-C362-47B6-876B-9518F3E9463F}"/>
              </a:ext>
            </a:extLst>
          </p:cNvPr>
          <p:cNvSpPr>
            <a:spLocks xmlns:a="http://schemas.openxmlformats.org/drawingml/2006/main" noGrp="1"/>
          </p:cNvSpPr>
          <p:nvPr/>
        </p:nvSpPr>
        <p:spPr>
          <a:xfrm xmlns:a="http://schemas.openxmlformats.org/drawingml/2006/main">
            <a:off x="9277350" y="2438400"/>
            <a:ext cx="2647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FAF8FF"/>
                </a:solidFill>
                <a:latin typeface="Arial"/>
                <a:ea typeface="Arial"/>
                <a:cs typeface="Arial"/>
              </a:defRPr>
            </a:pPr>
            <a:r>
              <a:rPr sz="1800" b="1">
                <a:solidFill>
                  <a:srgbClr val="FAF8FF"/>
                </a:solidFill>
                <a:latin typeface="Arial"/>
                <a:ea typeface="Arial"/>
                <a:cs typeface="Arial"/>
              </a:rPr>
              <a:t>Pickup requests</a:t>
            </a:r>
          </a:p>
        </p:txBody>
      </p:sp>
      <p:sp>
        <p:nvSpPr>
          <p:cNvPr id="16" name="">
            <a:extLst xmlns:a="http://schemas.openxmlformats.org/drawingml/2006/main">
              <a:ext uri="{FF2B5EF4-FFF2-40B4-BE49-F238E27FC236}">
                <a16:creationId xmlns:a16="http://schemas.microsoft.com/office/drawing/2014/main" id="{444B31C5-9ABA-4574-97C0-FA923FFC1B54}"/>
              </a:ext>
            </a:extLst>
          </p:cNvPr>
          <p:cNvSpPr>
            <a:spLocks xmlns:a="http://schemas.openxmlformats.org/drawingml/2006/main" noGrp="1"/>
          </p:cNvSpPr>
          <p:nvPr/>
        </p:nvSpPr>
        <p:spPr>
          <a:xfrm xmlns:a="http://schemas.openxmlformats.org/drawingml/2006/main">
            <a:off x="9277350" y="2800350"/>
            <a:ext cx="2647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66DBAE"/>
                </a:solidFill>
                <a:latin typeface="Arial"/>
                <a:ea typeface="Arial"/>
                <a:cs typeface="Arial"/>
              </a:defRPr>
            </a:pPr>
            <a:r>
              <a:rPr sz="1425" b="0">
                <a:solidFill>
                  <a:srgbClr val="66DBAE"/>
                </a:solidFill>
                <a:latin typeface="Arial"/>
                <a:ea typeface="Arial"/>
                <a:cs typeface="Arial"/>
              </a:rPr>
              <a:t>+20% vs prior</a:t>
            </a:r>
          </a:p>
        </p:txBody>
      </p:sp>
      <p:graphicFrame>
        <p:nvGraphicFramePr>
          <p:cNvPr id="39" name="Chart"/>
          <p:cNvGraphicFramePr/>
          <p:nvPr/>
        </p:nvGraphicFramePr>
        <p:xfrm>
          <a:off xmlns:a="http://schemas.openxmlformats.org/drawingml/2006/main" x="609600" y="3333750"/>
          <a:ext xmlns:a="http://schemas.openxmlformats.org/drawingml/2006/main" cx="6419850" cy="2276475"/>
        </p:xfrm>
        <a:graphic xmlns:a="http://schemas.openxmlformats.org/drawingml/2006/main">
          <a:graphicData uri="http://schemas.openxmlformats.org/drawingml/2006/chart">
            <c:chart xmlns:r="http://schemas.openxmlformats.org/officeDocument/2006/relationships" xmlns:c="http://schemas.openxmlformats.org/drawingml/2006/chart" r:id="Re4e568a09e49489b"/>
          </a:graphicData>
        </a:graphic>
      </p:graphicFrame>
      <p:graphicFrame>
        <p:nvGraphicFramePr>
          <p:cNvPr id="40" name=""/>
          <p:cNvGraphicFramePr/>
          <p:nvPr/>
        </p:nvGraphicFramePr>
        <p:xfrm>
          <a:off xmlns:a="http://schemas.openxmlformats.org/drawingml/2006/main" x="7429500" y="3371850"/>
          <a:ext xmlns:a="http://schemas.openxmlformats.org/drawingml/2006/main" cx="4143375" cy="2228850"/>
        </p:xfrm>
        <a:graphic xmlns:a="http://schemas.openxmlformats.org/drawingml/2006/main">
          <a:graphicData uri="http://schemas.openxmlformats.org/drawingml/2006/table">
            <a:tbl>
              <a:tblPr/>
              <a:tblGrid>
                <a:gridCol w="2876550"/>
                <a:gridCol w="1266825"/>
              </a:tblGrid>
              <a:tr h="445770">
                <a:tc>
                  <a:txBody>
                    <a:bodyPr>
                      <a:noAutofit/>
                    </a:bodyPr>
                    <a:lstStyle/>
                    <a:p>
                      <a:r>
                        <a:rPr sz="1500" b="1">
                          <a:solidFill>
                            <a:srgbClr val="FAF8FF"/>
                          </a:solidFill>
                          <a:latin typeface="Arial"/>
                          <a:ea typeface="Arial"/>
                          <a:cs typeface="Arial"/>
                        </a:rPr>
                        <a:t>Audience &amp; intent</a:t>
                      </a:r>
                    </a:p>
                  </a:txBody>
                  <a:tcPr marL="91440" marR="91440" marT="45720" marB="45720">
                    <a:solidFill>
                      <a:srgbClr val="332048"/>
                    </a:solidFill>
                  </a:tcPr>
                </a:tc>
                <a:tc>
                  <a:txBody>
                    <a:bodyPr>
                      <a:noAutofit/>
                    </a:bodyPr>
                    <a:lstStyle/>
                    <a:p>
                      <a:r>
                        <a:rPr sz="1500" b="1">
                          <a:solidFill>
                            <a:srgbClr val="FAF8FF"/>
                          </a:solidFill>
                          <a:latin typeface="Arial"/>
                          <a:ea typeface="Arial"/>
                          <a:cs typeface="Arial"/>
                        </a:rPr>
                        <a:t>Count</a:t>
                      </a:r>
                    </a:p>
                  </a:txBody>
                  <a:tcPr marL="91440" marR="91440" marT="45720" marB="45720">
                    <a:solidFill>
                      <a:srgbClr val="332048"/>
                    </a:solidFill>
                  </a:tcPr>
                </a:tc>
              </a:tr>
              <a:tr h="445770">
                <a:tc>
                  <a:txBody>
                    <a:bodyPr>
                      <a:noAutofit/>
                    </a:bodyPr>
                    <a:lstStyle/>
                    <a:p>
                      <a:r>
                        <a:rPr sz="1500" b="1">
                          <a:solidFill>
                            <a:srgbClr val="FAF8FF"/>
                          </a:solidFill>
                          <a:latin typeface="Arial"/>
                          <a:ea typeface="Arial"/>
                          <a:cs typeface="Arial"/>
                        </a:rPr>
                        <a:t>Card impressions</a:t>
                      </a:r>
                    </a:p>
                  </a:txBody>
                  <a:tcPr marL="91440" marR="91440" marT="45720" marB="45720">
                    <a:solidFill>
                      <a:srgbClr val="15111F"/>
                    </a:solidFill>
                  </a:tcPr>
                </a:tc>
                <a:tc>
                  <a:txBody>
                    <a:bodyPr>
                      <a:noAutofit/>
                    </a:bodyPr>
                    <a:lstStyle/>
                    <a:p>
                      <a:r>
                        <a:rPr sz="1500" b="0">
                          <a:solidFill>
                            <a:srgbClr val="FAF8FF"/>
                          </a:solidFill>
                          <a:latin typeface="Arial"/>
                          <a:ea typeface="Arial"/>
                          <a:cs typeface="Arial"/>
                        </a:rPr>
                        <a:t>18,400</a:t>
                      </a:r>
                    </a:p>
                  </a:txBody>
                  <a:tcPr marL="91440" marR="91440" marT="45720" marB="45720">
                    <a:solidFill>
                      <a:srgbClr val="15111F"/>
                    </a:solidFill>
                  </a:tcPr>
                </a:tc>
              </a:tr>
              <a:tr h="445770">
                <a:tc>
                  <a:txBody>
                    <a:bodyPr>
                      <a:noAutofit/>
                    </a:bodyPr>
                    <a:lstStyle/>
                    <a:p>
                      <a:r>
                        <a:rPr sz="1500" b="1">
                          <a:solidFill>
                            <a:srgbClr val="FAF8FF"/>
                          </a:solidFill>
                          <a:latin typeface="Arial"/>
                          <a:ea typeface="Arial"/>
                          <a:cs typeface="Arial"/>
                        </a:rPr>
                        <a:t>Unique browsers</a:t>
                      </a:r>
                    </a:p>
                  </a:txBody>
                  <a:tcPr marL="91440" marR="91440" marT="45720" marB="45720">
                    <a:solidFill>
                      <a:srgbClr val="1C1728"/>
                    </a:solidFill>
                  </a:tcPr>
                </a:tc>
                <a:tc>
                  <a:txBody>
                    <a:bodyPr>
                      <a:noAutofit/>
                    </a:bodyPr>
                    <a:lstStyle/>
                    <a:p>
                      <a:r>
                        <a:rPr sz="1500" b="0">
                          <a:solidFill>
                            <a:srgbClr val="FAF8FF"/>
                          </a:solidFill>
                          <a:latin typeface="Arial"/>
                          <a:ea typeface="Arial"/>
                          <a:cs typeface="Arial"/>
                        </a:rPr>
                        <a:t>4,200</a:t>
                      </a:r>
                    </a:p>
                  </a:txBody>
                  <a:tcPr marL="91440" marR="91440" marT="45720" marB="45720">
                    <a:solidFill>
                      <a:srgbClr val="1C1728"/>
                    </a:solidFill>
                  </a:tcPr>
                </a:tc>
              </a:tr>
              <a:tr h="445770">
                <a:tc>
                  <a:txBody>
                    <a:bodyPr>
                      <a:noAutofit/>
                    </a:bodyPr>
                    <a:lstStyle/>
                    <a:p>
                      <a:r>
                        <a:rPr sz="1500" b="1">
                          <a:solidFill>
                            <a:srgbClr val="FAF8FF"/>
                          </a:solidFill>
                          <a:latin typeface="Arial"/>
                          <a:ea typeface="Arial"/>
                          <a:cs typeface="Arial"/>
                        </a:rPr>
                        <a:t>Directions opened</a:t>
                      </a:r>
                    </a:p>
                  </a:txBody>
                  <a:tcPr marL="91440" marR="91440" marT="45720" marB="45720">
                    <a:solidFill>
                      <a:srgbClr val="15111F"/>
                    </a:solidFill>
                  </a:tcPr>
                </a:tc>
                <a:tc>
                  <a:txBody>
                    <a:bodyPr>
                      <a:noAutofit/>
                    </a:bodyPr>
                    <a:lstStyle/>
                    <a:p>
                      <a:r>
                        <a:rPr sz="1500" b="0">
                          <a:solidFill>
                            <a:srgbClr val="FAF8FF"/>
                          </a:solidFill>
                          <a:latin typeface="Arial"/>
                          <a:ea typeface="Arial"/>
                          <a:cs typeface="Arial"/>
                        </a:rPr>
                        <a:t>640</a:t>
                      </a:r>
                    </a:p>
                  </a:txBody>
                  <a:tcPr marL="91440" marR="91440" marT="45720" marB="45720">
                    <a:solidFill>
                      <a:srgbClr val="15111F"/>
                    </a:solidFill>
                  </a:tcPr>
                </a:tc>
              </a:tr>
              <a:tr h="445770">
                <a:tc>
                  <a:txBody>
                    <a:bodyPr>
                      <a:noAutofit/>
                    </a:bodyPr>
                    <a:lstStyle/>
                    <a:p>
                      <a:r>
                        <a:rPr sz="1500" b="1">
                          <a:solidFill>
                            <a:srgbClr val="FAF8FF"/>
                          </a:solidFill>
                          <a:latin typeface="Arial"/>
                          <a:ea typeface="Arial"/>
                          <a:cs typeface="Arial"/>
                        </a:rPr>
                        <a:t>New followers</a:t>
                      </a:r>
                    </a:p>
                  </a:txBody>
                  <a:tcPr marL="91440" marR="91440" marT="45720" marB="45720">
                    <a:solidFill>
                      <a:srgbClr val="1C1728"/>
                    </a:solidFill>
                  </a:tcPr>
                </a:tc>
                <a:tc>
                  <a:txBody>
                    <a:bodyPr>
                      <a:noAutofit/>
                    </a:bodyPr>
                    <a:lstStyle/>
                    <a:p>
                      <a:r>
                        <a:rPr sz="1500" b="0">
                          <a:solidFill>
                            <a:srgbClr val="FAF8FF"/>
                          </a:solidFill>
                          <a:latin typeface="Arial"/>
                          <a:ea typeface="Arial"/>
                          <a:cs typeface="Arial"/>
                        </a:rPr>
                        <a:t>185</a:t>
                      </a:r>
                    </a:p>
                  </a:txBody>
                  <a:tcPr marL="91440" marR="91440" marT="45720" marB="45720">
                    <a:solidFill>
                      <a:srgbClr val="1C1728"/>
                    </a:solidFill>
                  </a:tcPr>
                </a:tc>
              </a:tr>
            </a:tbl>
          </a:graphicData>
        </a:graphic>
      </p:graphicFrame>
      <p:sp>
        <p:nvSpPr>
          <p:cNvPr id="19" name="">
            <a:extLst xmlns:a="http://schemas.openxmlformats.org/drawingml/2006/main">
              <a:ext uri="{FF2B5EF4-FFF2-40B4-BE49-F238E27FC236}">
                <a16:creationId xmlns:a16="http://schemas.microsoft.com/office/drawing/2014/main" id="{E8A00BA7-C779-475A-BBBF-162972246F33}"/>
              </a:ext>
            </a:extLst>
          </p:cNvPr>
          <p:cNvSpPr>
            <a:spLocks xmlns:a="http://schemas.openxmlformats.org/drawingml/2006/main" noGrp="1"/>
          </p:cNvSpPr>
          <p:nvPr/>
        </p:nvSpPr>
        <p:spPr>
          <a:xfrm xmlns:a="http://schemas.openxmlformats.org/drawingml/2006/main">
            <a:off x="619125" y="5867400"/>
            <a:ext cx="10953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C6C1D1"/>
                </a:solidFill>
                <a:latin typeface="Arial"/>
                <a:ea typeface="Arial"/>
                <a:cs typeface="Arial"/>
              </a:defRPr>
            </a:pPr>
            <a:r>
              <a:rPr sz="1275" b="0">
                <a:solidFill>
                  <a:srgbClr val="C6C1D1"/>
                </a:solidFill>
                <a:latin typeface="Arial"/>
                <a:ea typeface="Arial"/>
                <a:cs typeface="Arial"/>
              </a:rPr>
              <a:t>QR results are confirmed pass uses, not total club attendance. This example assumes all 312 uses belong to the 480 passes</a:t>
            </a:r>
          </a:p>
          <a:p xmlns:a="http://schemas.openxmlformats.org/drawingml/2006/main">
            <a:pPr>
              <a:buNone/>
              <a:defRPr sz="1275" b="0">
                <a:solidFill>
                  <a:srgbClr val="C6C1D1"/>
                </a:solidFill>
                <a:latin typeface="Arial"/>
                <a:ea typeface="Arial"/>
                <a:cs typeface="Arial"/>
              </a:defRPr>
            </a:pPr>
            <a:r>
              <a:rPr sz="1275" b="0">
                <a:solidFill>
                  <a:srgbClr val="C6C1D1"/>
                </a:solidFill>
                <a:latin typeface="Arial"/>
                <a:ea typeface="Arial"/>
                <a:cs typeface="Arial"/>
              </a:rPr>
              <a:t>claimed in the period. Unique browsers are not an exact count of people.</a:t>
            </a:r>
          </a:p>
        </p:txBody>
      </p:sp>
    </p:spTree>
    <p:extLst>
      <p:ext uri="{BB962C8B-B14F-4D97-AF65-F5344CB8AC3E}">
        <p14:creationId xmlns:p14="http://schemas.microsoft.com/office/powerpoint/2010/main" val="2071491846"/>
      </p:ext>
    </p:extLst>
  </p:cSld>
</p:sld>
</file>

<file path=ppt/slides/slide6.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7DDF5F7-CDA6-4866-A342-F6C314DCD2E0}"/>
              </a:ext>
            </a:extLst>
          </p:cNvPr>
          <p:cNvSpPr>
            <a:spLocks xmlns:a="http://schemas.openxmlformats.org/drawingml/2006/main" noGrp="1"/>
          </p:cNvSpPr>
          <p:nvPr/>
        </p:nvSpPr>
        <p:spPr>
          <a:xfrm xmlns:a="http://schemas.openxmlformats.org/drawingml/2006/main">
            <a:off x="590550" y="40957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FAF8FF"/>
                </a:solidFill>
                <a:latin typeface="Arial"/>
                <a:ea typeface="Arial"/>
                <a:cs typeface="Arial"/>
              </a:defRPr>
            </a:pPr>
            <a:r>
              <a:rPr sz="3300" b="1">
                <a:solidFill>
                  <a:srgbClr val="FAF8FF"/>
                </a:solidFill>
                <a:latin typeface="Arial"/>
                <a:ea typeface="Arial"/>
                <a:cs typeface="Arial"/>
              </a:rPr>
              <a:t>Compare performance across clubs</a:t>
            </a:r>
          </a:p>
        </p:txBody>
      </p:sp>
      <p:sp>
        <p:nvSpPr>
          <p:cNvPr id="2" name="">
            <a:extLst xmlns:a="http://schemas.openxmlformats.org/drawingml/2006/main">
              <a:ext uri="{FF2B5EF4-FFF2-40B4-BE49-F238E27FC236}">
                <a16:creationId xmlns:a16="http://schemas.microsoft.com/office/drawing/2014/main" id="{A4906549-2D42-40DE-A46B-A5B49EF0B87D}"/>
              </a:ext>
            </a:extLst>
          </p:cNvPr>
          <p:cNvSpPr>
            <a:spLocks xmlns:a="http://schemas.openxmlformats.org/drawingml/2006/main" noGrp="1"/>
          </p:cNvSpPr>
          <p:nvPr/>
        </p:nvSpPr>
        <p:spPr>
          <a:xfrm xmlns:a="http://schemas.openxmlformats.org/drawingml/2006/main">
            <a:off x="619125" y="11906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C6C1D1"/>
                </a:solidFill>
                <a:latin typeface="Arial"/>
                <a:ea typeface="Arial"/>
                <a:cs typeface="Arial"/>
              </a:defRPr>
            </a:pPr>
            <a:r>
              <a:rPr sz="1650" b="0">
                <a:solidFill>
                  <a:srgbClr val="C6C1D1"/>
                </a:solidFill>
                <a:latin typeface="Arial"/>
                <a:ea typeface="Arial"/>
                <a:cs typeface="Arial"/>
              </a:rPr>
              <a:t>Illustrative management report · the same 30-day period and metric definitions</a:t>
            </a:r>
          </a:p>
        </p:txBody>
      </p:sp>
      <p:sp>
        <p:nvSpPr>
          <p:cNvPr id="3" name="">
            <a:extLst xmlns:a="http://schemas.openxmlformats.org/drawingml/2006/main">
              <a:ext uri="{FF2B5EF4-FFF2-40B4-BE49-F238E27FC236}">
                <a16:creationId xmlns:a16="http://schemas.microsoft.com/office/drawing/2014/main" id="{86FD2B13-133B-4665-966C-61063B18A383}"/>
              </a:ext>
            </a:extLst>
          </p:cNvPr>
          <p:cNvSpPr>
            <a:spLocks xmlns:a="http://schemas.openxmlformats.org/drawingml/2006/main" noGrp="1"/>
          </p:cNvSpPr>
          <p:nvPr/>
        </p:nvSpPr>
        <p:spPr>
          <a:xfrm xmlns:a="http://schemas.openxmlformats.org/drawingml/2006/main">
            <a:off x="619125" y="6448425"/>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B88AFF"/>
                </a:solidFill>
                <a:latin typeface="Arial"/>
                <a:ea typeface="Arial"/>
                <a:cs typeface="Arial"/>
              </a:defRPr>
            </a:pPr>
            <a:r>
              <a:rPr sz="1125" b="1">
                <a:solidFill>
                  <a:srgbClr val="B88AFF"/>
                </a:solidFill>
                <a:latin typeface="Arial"/>
                <a:ea typeface="Arial"/>
                <a:cs typeface="Arial"/>
              </a:rPr>
              <a:t>MYDANCR</a:t>
            </a:r>
          </a:p>
        </p:txBody>
      </p:sp>
      <p:sp>
        <p:nvSpPr>
          <p:cNvPr id="4" name="">
            <a:extLst xmlns:a="http://schemas.openxmlformats.org/drawingml/2006/main">
              <a:ext uri="{FF2B5EF4-FFF2-40B4-BE49-F238E27FC236}">
                <a16:creationId xmlns:a16="http://schemas.microsoft.com/office/drawing/2014/main" id="{6FF8B351-2488-4258-8BD8-DE68782CF224}"/>
              </a:ext>
            </a:extLst>
          </p:cNvPr>
          <p:cNvSpPr>
            <a:spLocks xmlns:a="http://schemas.openxmlformats.org/drawingml/2006/main" noGrp="1"/>
          </p:cNvSpPr>
          <p:nvPr/>
        </p:nvSpPr>
        <p:spPr>
          <a:xfrm xmlns:a="http://schemas.openxmlformats.org/drawingml/2006/main">
            <a:off x="10858500" y="644842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125" b="0">
                <a:solidFill>
                  <a:srgbClr val="C6C1D1"/>
                </a:solidFill>
                <a:latin typeface="Arial"/>
                <a:ea typeface="Arial"/>
                <a:cs typeface="Arial"/>
              </a:defRPr>
            </a:pPr>
            <a:r>
              <a:rPr sz="1125" b="0">
                <a:solidFill>
                  <a:srgbClr val="C6C1D1"/>
                </a:solidFill>
                <a:latin typeface="Arial"/>
                <a:ea typeface="Arial"/>
                <a:cs typeface="Arial"/>
              </a:rPr>
              <a:t>6 / 7</a:t>
            </a:r>
          </a:p>
        </p:txBody>
      </p:sp>
      <p:graphicFrame>
        <p:nvGraphicFramePr>
          <p:cNvPr id="17" name=""/>
          <p:cNvGraphicFramePr/>
          <p:nvPr/>
        </p:nvGraphicFramePr>
        <p:xfrm>
          <a:off xmlns:a="http://schemas.openxmlformats.org/drawingml/2006/main" x="619125" y="1905000"/>
          <a:ext xmlns:a="http://schemas.openxmlformats.org/drawingml/2006/main" cx="10953750" cy="2714625"/>
        </p:xfrm>
        <a:graphic xmlns:a="http://schemas.openxmlformats.org/drawingml/2006/main">
          <a:graphicData uri="http://schemas.openxmlformats.org/drawingml/2006/table">
            <a:tbl>
              <a:tblPr/>
              <a:tblGrid>
                <a:gridCol w="2333625"/>
                <a:gridCol w="1647825"/>
                <a:gridCol w="1647825"/>
                <a:gridCol w="1857375"/>
                <a:gridCol w="1752600"/>
                <a:gridCol w="1714500"/>
              </a:tblGrid>
              <a:tr h="542925">
                <a:tc>
                  <a:txBody>
                    <a:bodyPr>
                      <a:noAutofit/>
                    </a:bodyPr>
                    <a:lstStyle/>
                    <a:p>
                      <a:r>
                        <a:rPr sz="1725" b="1">
                          <a:solidFill>
                            <a:srgbClr val="FAF8FF"/>
                          </a:solidFill>
                          <a:latin typeface="Arial"/>
                          <a:ea typeface="Arial"/>
                          <a:cs typeface="Arial"/>
                        </a:rPr>
                        <a:t>Club</a:t>
                      </a:r>
                    </a:p>
                  </a:txBody>
                  <a:tcPr marL="91440" marR="91440" marT="45720" marB="45720">
                    <a:solidFill>
                      <a:srgbClr val="332048"/>
                    </a:solidFill>
                  </a:tcPr>
                </a:tc>
                <a:tc>
                  <a:txBody>
                    <a:bodyPr>
                      <a:noAutofit/>
                    </a:bodyPr>
                    <a:lstStyle/>
                    <a:p>
                      <a:r>
                        <a:rPr sz="1725" b="1">
                          <a:solidFill>
                            <a:srgbClr val="FAF8FF"/>
                          </a:solidFill>
                          <a:latin typeface="Arial"/>
                          <a:ea typeface="Arial"/>
                          <a:cs typeface="Arial"/>
                        </a:rPr>
                        <a:t>Passes</a:t>
                      </a:r>
                    </a:p>
                    <a:p>
                      <a:r>
                        <a:rPr sz="1725" b="1">
                          <a:solidFill>
                            <a:srgbClr val="FAF8FF"/>
                          </a:solidFill>
                          <a:latin typeface="Arial"/>
                          <a:ea typeface="Arial"/>
                          <a:cs typeface="Arial"/>
                        </a:rPr>
                        <a:t>claimed</a:t>
                      </a:r>
                    </a:p>
                  </a:txBody>
                  <a:tcPr marL="91440" marR="91440" marT="45720" marB="45720">
                    <a:solidFill>
                      <a:srgbClr val="332048"/>
                    </a:solidFill>
                  </a:tcPr>
                </a:tc>
                <a:tc>
                  <a:txBody>
                    <a:bodyPr>
                      <a:noAutofit/>
                    </a:bodyPr>
                    <a:lstStyle/>
                    <a:p>
                      <a:r>
                        <a:rPr sz="1725" b="1">
                          <a:solidFill>
                            <a:srgbClr val="FAF8FF"/>
                          </a:solidFill>
                          <a:latin typeface="Arial"/>
                          <a:ea typeface="Arial"/>
                          <a:cs typeface="Arial"/>
                        </a:rPr>
                        <a:t>QR pass</a:t>
                      </a:r>
                    </a:p>
                    <a:p>
                      <a:r>
                        <a:rPr sz="1725" b="1">
                          <a:solidFill>
                            <a:srgbClr val="FAF8FF"/>
                          </a:solidFill>
                          <a:latin typeface="Arial"/>
                          <a:ea typeface="Arial"/>
                          <a:cs typeface="Arial"/>
                        </a:rPr>
                        <a:t>uses</a:t>
                      </a:r>
                    </a:p>
                  </a:txBody>
                  <a:tcPr marL="91440" marR="91440" marT="45720" marB="45720">
                    <a:solidFill>
                      <a:srgbClr val="332048"/>
                    </a:solidFill>
                  </a:tcPr>
                </a:tc>
                <a:tc>
                  <a:txBody>
                    <a:bodyPr>
                      <a:noAutofit/>
                    </a:bodyPr>
                    <a:lstStyle/>
                    <a:p>
                      <a:r>
                        <a:rPr sz="1725" b="1">
                          <a:solidFill>
                            <a:srgbClr val="FAF8FF"/>
                          </a:solidFill>
                          <a:latin typeface="Arial"/>
                          <a:ea typeface="Arial"/>
                          <a:cs typeface="Arial"/>
                        </a:rPr>
                        <a:t>Claim →</a:t>
                      </a:r>
                    </a:p>
                    <a:p>
                      <a:r>
                        <a:rPr sz="1725" b="1">
                          <a:solidFill>
                            <a:srgbClr val="FAF8FF"/>
                          </a:solidFill>
                          <a:latin typeface="Arial"/>
                          <a:ea typeface="Arial"/>
                          <a:cs typeface="Arial"/>
                        </a:rPr>
                        <a:t>admission</a:t>
                      </a:r>
                    </a:p>
                  </a:txBody>
                  <a:tcPr marL="91440" marR="91440" marT="45720" marB="45720">
                    <a:solidFill>
                      <a:srgbClr val="332048"/>
                    </a:solidFill>
                  </a:tcPr>
                </a:tc>
                <a:tc>
                  <a:txBody>
                    <a:bodyPr>
                      <a:noAutofit/>
                    </a:bodyPr>
                    <a:lstStyle/>
                    <a:p>
                      <a:r>
                        <a:rPr sz="1725" b="1">
                          <a:solidFill>
                            <a:srgbClr val="FAF8FF"/>
                          </a:solidFill>
                          <a:latin typeface="Arial"/>
                          <a:ea typeface="Arial"/>
                          <a:cs typeface="Arial"/>
                        </a:rPr>
                        <a:t>Pickup</a:t>
                      </a:r>
                    </a:p>
                    <a:p>
                      <a:r>
                        <a:rPr sz="1725" b="1">
                          <a:solidFill>
                            <a:srgbClr val="FAF8FF"/>
                          </a:solidFill>
                          <a:latin typeface="Arial"/>
                          <a:ea typeface="Arial"/>
                          <a:cs typeface="Arial"/>
                        </a:rPr>
                        <a:t>requests</a:t>
                      </a:r>
                    </a:p>
                  </a:txBody>
                  <a:tcPr marL="91440" marR="91440" marT="45720" marB="45720">
                    <a:solidFill>
                      <a:srgbClr val="332048"/>
                    </a:solidFill>
                  </a:tcPr>
                </a:tc>
                <a:tc>
                  <a:txBody>
                    <a:bodyPr>
                      <a:noAutofit/>
                    </a:bodyPr>
                    <a:lstStyle/>
                    <a:p>
                      <a:r>
                        <a:rPr sz="1725" b="1">
                          <a:solidFill>
                            <a:srgbClr val="FAF8FF"/>
                          </a:solidFill>
                          <a:latin typeface="Arial"/>
                          <a:ea typeface="Arial"/>
                          <a:cs typeface="Arial"/>
                        </a:rPr>
                        <a:t>New</a:t>
                      </a:r>
                    </a:p>
                    <a:p>
                      <a:r>
                        <a:rPr sz="1725" b="1">
                          <a:solidFill>
                            <a:srgbClr val="FAF8FF"/>
                          </a:solidFill>
                          <a:latin typeface="Arial"/>
                          <a:ea typeface="Arial"/>
                          <a:cs typeface="Arial"/>
                        </a:rPr>
                        <a:t>followers</a:t>
                      </a:r>
                    </a:p>
                  </a:txBody>
                  <a:tcPr marL="91440" marR="91440" marT="45720" marB="45720">
                    <a:solidFill>
                      <a:srgbClr val="332048"/>
                    </a:solidFill>
                  </a:tcPr>
                </a:tc>
              </a:tr>
              <a:tr h="542925">
                <a:tc>
                  <a:txBody>
                    <a:bodyPr>
                      <a:noAutofit/>
                    </a:bodyPr>
                    <a:lstStyle/>
                    <a:p>
                      <a:r>
                        <a:rPr sz="1725" b="1">
                          <a:solidFill>
                            <a:srgbClr val="FAF8FF"/>
                          </a:solidFill>
                          <a:latin typeface="Arial"/>
                          <a:ea typeface="Arial"/>
                          <a:cs typeface="Arial"/>
                        </a:rPr>
                        <a:t>Club A</a:t>
                      </a:r>
                    </a:p>
                  </a:txBody>
                  <a:tcPr marL="91440" marR="91440" marT="45720" marB="45720">
                    <a:solidFill>
                      <a:srgbClr val="15111F"/>
                    </a:solidFill>
                  </a:tcPr>
                </a:tc>
                <a:tc>
                  <a:txBody>
                    <a:bodyPr>
                      <a:noAutofit/>
                    </a:bodyPr>
                    <a:lstStyle/>
                    <a:p>
                      <a:r>
                        <a:rPr sz="1725" b="0">
                          <a:solidFill>
                            <a:srgbClr val="FAF8FF"/>
                          </a:solidFill>
                          <a:latin typeface="Arial"/>
                          <a:ea typeface="Arial"/>
                          <a:cs typeface="Arial"/>
                        </a:rPr>
                        <a:t>480</a:t>
                      </a:r>
                    </a:p>
                  </a:txBody>
                  <a:tcPr marL="91440" marR="91440" marT="45720" marB="45720">
                    <a:solidFill>
                      <a:srgbClr val="15111F"/>
                    </a:solidFill>
                  </a:tcPr>
                </a:tc>
                <a:tc>
                  <a:txBody>
                    <a:bodyPr>
                      <a:noAutofit/>
                    </a:bodyPr>
                    <a:lstStyle/>
                    <a:p>
                      <a:r>
                        <a:rPr sz="1725" b="0">
                          <a:solidFill>
                            <a:srgbClr val="FAF8FF"/>
                          </a:solidFill>
                          <a:latin typeface="Arial"/>
                          <a:ea typeface="Arial"/>
                          <a:cs typeface="Arial"/>
                        </a:rPr>
                        <a:t>312</a:t>
                      </a:r>
                    </a:p>
                  </a:txBody>
                  <a:tcPr marL="91440" marR="91440" marT="45720" marB="45720">
                    <a:solidFill>
                      <a:srgbClr val="15111F"/>
                    </a:solidFill>
                  </a:tcPr>
                </a:tc>
                <a:tc>
                  <a:txBody>
                    <a:bodyPr>
                      <a:noAutofit/>
                    </a:bodyPr>
                    <a:lstStyle/>
                    <a:p>
                      <a:r>
                        <a:rPr sz="1725" b="0">
                          <a:solidFill>
                            <a:srgbClr val="FAF8FF"/>
                          </a:solidFill>
                          <a:latin typeface="Arial"/>
                          <a:ea typeface="Arial"/>
                          <a:cs typeface="Arial"/>
                        </a:rPr>
                        <a:t>65.0%</a:t>
                      </a:r>
                    </a:p>
                  </a:txBody>
                  <a:tcPr marL="91440" marR="91440" marT="45720" marB="45720">
                    <a:solidFill>
                      <a:srgbClr val="15111F"/>
                    </a:solidFill>
                  </a:tcPr>
                </a:tc>
                <a:tc>
                  <a:txBody>
                    <a:bodyPr>
                      <a:noAutofit/>
                    </a:bodyPr>
                    <a:lstStyle/>
                    <a:p>
                      <a:r>
                        <a:rPr sz="1725" b="0">
                          <a:solidFill>
                            <a:srgbClr val="FAF8FF"/>
                          </a:solidFill>
                          <a:latin typeface="Arial"/>
                          <a:ea typeface="Arial"/>
                          <a:cs typeface="Arial"/>
                        </a:rPr>
                        <a:t>96</a:t>
                      </a:r>
                    </a:p>
                  </a:txBody>
                  <a:tcPr marL="91440" marR="91440" marT="45720" marB="45720">
                    <a:solidFill>
                      <a:srgbClr val="15111F"/>
                    </a:solidFill>
                  </a:tcPr>
                </a:tc>
                <a:tc>
                  <a:txBody>
                    <a:bodyPr>
                      <a:noAutofit/>
                    </a:bodyPr>
                    <a:lstStyle/>
                    <a:p>
                      <a:r>
                        <a:rPr sz="1725" b="0">
                          <a:solidFill>
                            <a:srgbClr val="FAF8FF"/>
                          </a:solidFill>
                          <a:latin typeface="Arial"/>
                          <a:ea typeface="Arial"/>
                          <a:cs typeface="Arial"/>
                        </a:rPr>
                        <a:t>185</a:t>
                      </a:r>
                    </a:p>
                  </a:txBody>
                  <a:tcPr marL="91440" marR="91440" marT="45720" marB="45720">
                    <a:solidFill>
                      <a:srgbClr val="15111F"/>
                    </a:solidFill>
                  </a:tcPr>
                </a:tc>
              </a:tr>
              <a:tr h="542925">
                <a:tc>
                  <a:txBody>
                    <a:bodyPr>
                      <a:noAutofit/>
                    </a:bodyPr>
                    <a:lstStyle/>
                    <a:p>
                      <a:r>
                        <a:rPr sz="1725" b="1">
                          <a:solidFill>
                            <a:srgbClr val="FAF8FF"/>
                          </a:solidFill>
                          <a:latin typeface="Arial"/>
                          <a:ea typeface="Arial"/>
                          <a:cs typeface="Arial"/>
                        </a:rPr>
                        <a:t>Club B</a:t>
                      </a:r>
                    </a:p>
                  </a:txBody>
                  <a:tcPr marL="91440" marR="91440" marT="45720" marB="45720">
                    <a:solidFill>
                      <a:srgbClr val="1C1728"/>
                    </a:solidFill>
                  </a:tcPr>
                </a:tc>
                <a:tc>
                  <a:txBody>
                    <a:bodyPr>
                      <a:noAutofit/>
                    </a:bodyPr>
                    <a:lstStyle/>
                    <a:p>
                      <a:r>
                        <a:rPr sz="1725" b="0">
                          <a:solidFill>
                            <a:srgbClr val="FAF8FF"/>
                          </a:solidFill>
                          <a:latin typeface="Arial"/>
                          <a:ea typeface="Arial"/>
                          <a:cs typeface="Arial"/>
                        </a:rPr>
                        <a:t>400</a:t>
                      </a:r>
                    </a:p>
                  </a:txBody>
                  <a:tcPr marL="91440" marR="91440" marT="45720" marB="45720">
                    <a:solidFill>
                      <a:srgbClr val="1C1728"/>
                    </a:solidFill>
                  </a:tcPr>
                </a:tc>
                <a:tc>
                  <a:txBody>
                    <a:bodyPr>
                      <a:noAutofit/>
                    </a:bodyPr>
                    <a:lstStyle/>
                    <a:p>
                      <a:r>
                        <a:rPr sz="1725" b="0">
                          <a:solidFill>
                            <a:srgbClr val="FAF8FF"/>
                          </a:solidFill>
                          <a:latin typeface="Arial"/>
                          <a:ea typeface="Arial"/>
                          <a:cs typeface="Arial"/>
                        </a:rPr>
                        <a:t>220</a:t>
                      </a:r>
                    </a:p>
                  </a:txBody>
                  <a:tcPr marL="91440" marR="91440" marT="45720" marB="45720">
                    <a:solidFill>
                      <a:srgbClr val="1C1728"/>
                    </a:solidFill>
                  </a:tcPr>
                </a:tc>
                <a:tc>
                  <a:txBody>
                    <a:bodyPr>
                      <a:noAutofit/>
                    </a:bodyPr>
                    <a:lstStyle/>
                    <a:p>
                      <a:r>
                        <a:rPr sz="1725" b="0">
                          <a:solidFill>
                            <a:srgbClr val="FAF8FF"/>
                          </a:solidFill>
                          <a:latin typeface="Arial"/>
                          <a:ea typeface="Arial"/>
                          <a:cs typeface="Arial"/>
                        </a:rPr>
                        <a:t>55.0%</a:t>
                      </a:r>
                    </a:p>
                  </a:txBody>
                  <a:tcPr marL="91440" marR="91440" marT="45720" marB="45720">
                    <a:solidFill>
                      <a:srgbClr val="1C1728"/>
                    </a:solidFill>
                  </a:tcPr>
                </a:tc>
                <a:tc>
                  <a:txBody>
                    <a:bodyPr>
                      <a:noAutofit/>
                    </a:bodyPr>
                    <a:lstStyle/>
                    <a:p>
                      <a:r>
                        <a:rPr sz="1725" b="0">
                          <a:solidFill>
                            <a:srgbClr val="FAF8FF"/>
                          </a:solidFill>
                          <a:latin typeface="Arial"/>
                          <a:ea typeface="Arial"/>
                          <a:cs typeface="Arial"/>
                        </a:rPr>
                        <a:t>72</a:t>
                      </a:r>
                    </a:p>
                  </a:txBody>
                  <a:tcPr marL="91440" marR="91440" marT="45720" marB="45720">
                    <a:solidFill>
                      <a:srgbClr val="1C1728"/>
                    </a:solidFill>
                  </a:tcPr>
                </a:tc>
                <a:tc>
                  <a:txBody>
                    <a:bodyPr>
                      <a:noAutofit/>
                    </a:bodyPr>
                    <a:lstStyle/>
                    <a:p>
                      <a:r>
                        <a:rPr sz="1725" b="0">
                          <a:solidFill>
                            <a:srgbClr val="FAF8FF"/>
                          </a:solidFill>
                          <a:latin typeface="Arial"/>
                          <a:ea typeface="Arial"/>
                          <a:cs typeface="Arial"/>
                        </a:rPr>
                        <a:t>150</a:t>
                      </a:r>
                    </a:p>
                  </a:txBody>
                  <a:tcPr marL="91440" marR="91440" marT="45720" marB="45720">
                    <a:solidFill>
                      <a:srgbClr val="1C1728"/>
                    </a:solidFill>
                  </a:tcPr>
                </a:tc>
              </a:tr>
              <a:tr h="542925">
                <a:tc>
                  <a:txBody>
                    <a:bodyPr>
                      <a:noAutofit/>
                    </a:bodyPr>
                    <a:lstStyle/>
                    <a:p>
                      <a:r>
                        <a:rPr sz="1725" b="1">
                          <a:solidFill>
                            <a:srgbClr val="FAF8FF"/>
                          </a:solidFill>
                          <a:latin typeface="Arial"/>
                          <a:ea typeface="Arial"/>
                          <a:cs typeface="Arial"/>
                        </a:rPr>
                        <a:t>Club C</a:t>
                      </a:r>
                    </a:p>
                  </a:txBody>
                  <a:tcPr marL="91440" marR="91440" marT="45720" marB="45720">
                    <a:solidFill>
                      <a:srgbClr val="15111F"/>
                    </a:solidFill>
                  </a:tcPr>
                </a:tc>
                <a:tc>
                  <a:txBody>
                    <a:bodyPr>
                      <a:noAutofit/>
                    </a:bodyPr>
                    <a:lstStyle/>
                    <a:p>
                      <a:r>
                        <a:rPr sz="1725" b="0">
                          <a:solidFill>
                            <a:srgbClr val="FAF8FF"/>
                          </a:solidFill>
                          <a:latin typeface="Arial"/>
                          <a:ea typeface="Arial"/>
                          <a:cs typeface="Arial"/>
                        </a:rPr>
                        <a:t>360</a:t>
                      </a:r>
                    </a:p>
                  </a:txBody>
                  <a:tcPr marL="91440" marR="91440" marT="45720" marB="45720">
                    <a:solidFill>
                      <a:srgbClr val="15111F"/>
                    </a:solidFill>
                  </a:tcPr>
                </a:tc>
                <a:tc>
                  <a:txBody>
                    <a:bodyPr>
                      <a:noAutofit/>
                    </a:bodyPr>
                    <a:lstStyle/>
                    <a:p>
                      <a:r>
                        <a:rPr sz="1725" b="0">
                          <a:solidFill>
                            <a:srgbClr val="FAF8FF"/>
                          </a:solidFill>
                          <a:latin typeface="Arial"/>
                          <a:ea typeface="Arial"/>
                          <a:cs typeface="Arial"/>
                        </a:rPr>
                        <a:t>252</a:t>
                      </a:r>
                    </a:p>
                  </a:txBody>
                  <a:tcPr marL="91440" marR="91440" marT="45720" marB="45720">
                    <a:solidFill>
                      <a:srgbClr val="15111F"/>
                    </a:solidFill>
                  </a:tcPr>
                </a:tc>
                <a:tc>
                  <a:txBody>
                    <a:bodyPr>
                      <a:noAutofit/>
                    </a:bodyPr>
                    <a:lstStyle/>
                    <a:p>
                      <a:r>
                        <a:rPr sz="1725" b="0">
                          <a:solidFill>
                            <a:srgbClr val="FAF8FF"/>
                          </a:solidFill>
                          <a:latin typeface="Arial"/>
                          <a:ea typeface="Arial"/>
                          <a:cs typeface="Arial"/>
                        </a:rPr>
                        <a:t>70.0%</a:t>
                      </a:r>
                    </a:p>
                  </a:txBody>
                  <a:tcPr marL="91440" marR="91440" marT="45720" marB="45720">
                    <a:solidFill>
                      <a:srgbClr val="15111F"/>
                    </a:solidFill>
                  </a:tcPr>
                </a:tc>
                <a:tc>
                  <a:txBody>
                    <a:bodyPr>
                      <a:noAutofit/>
                    </a:bodyPr>
                    <a:lstStyle/>
                    <a:p>
                      <a:r>
                        <a:rPr sz="1725" b="0">
                          <a:solidFill>
                            <a:srgbClr val="FAF8FF"/>
                          </a:solidFill>
                          <a:latin typeface="Arial"/>
                          <a:ea typeface="Arial"/>
                          <a:cs typeface="Arial"/>
                        </a:rPr>
                        <a:t>60</a:t>
                      </a:r>
                    </a:p>
                  </a:txBody>
                  <a:tcPr marL="91440" marR="91440" marT="45720" marB="45720">
                    <a:solidFill>
                      <a:srgbClr val="15111F"/>
                    </a:solidFill>
                  </a:tcPr>
                </a:tc>
                <a:tc>
                  <a:txBody>
                    <a:bodyPr>
                      <a:noAutofit/>
                    </a:bodyPr>
                    <a:lstStyle/>
                    <a:p>
                      <a:r>
                        <a:rPr sz="1725" b="0">
                          <a:solidFill>
                            <a:srgbClr val="FAF8FF"/>
                          </a:solidFill>
                          <a:latin typeface="Arial"/>
                          <a:ea typeface="Arial"/>
                          <a:cs typeface="Arial"/>
                        </a:rPr>
                        <a:t>120</a:t>
                      </a:r>
                    </a:p>
                  </a:txBody>
                  <a:tcPr marL="91440" marR="91440" marT="45720" marB="45720">
                    <a:solidFill>
                      <a:srgbClr val="15111F"/>
                    </a:solidFill>
                  </a:tcPr>
                </a:tc>
              </a:tr>
              <a:tr h="542925">
                <a:tc>
                  <a:txBody>
                    <a:bodyPr>
                      <a:noAutofit/>
                    </a:bodyPr>
                    <a:lstStyle/>
                    <a:p>
                      <a:r>
                        <a:rPr sz="1725" b="1">
                          <a:solidFill>
                            <a:srgbClr val="FAF8FF"/>
                          </a:solidFill>
                          <a:latin typeface="Arial"/>
                          <a:ea typeface="Arial"/>
                          <a:cs typeface="Arial"/>
                        </a:rPr>
                        <a:t>Group total</a:t>
                      </a:r>
                    </a:p>
                  </a:txBody>
                  <a:tcPr marL="91440" marR="91440" marT="45720" marB="45720">
                    <a:solidFill>
                      <a:srgbClr val="302043"/>
                    </a:solidFill>
                  </a:tcPr>
                </a:tc>
                <a:tc>
                  <a:txBody>
                    <a:bodyPr>
                      <a:noAutofit/>
                    </a:bodyPr>
                    <a:lstStyle/>
                    <a:p>
                      <a:r>
                        <a:rPr sz="1725" b="1">
                          <a:solidFill>
                            <a:srgbClr val="FAF8FF"/>
                          </a:solidFill>
                          <a:latin typeface="Arial"/>
                          <a:ea typeface="Arial"/>
                          <a:cs typeface="Arial"/>
                        </a:rPr>
                        <a:t>1,240</a:t>
                      </a:r>
                    </a:p>
                  </a:txBody>
                  <a:tcPr marL="91440" marR="91440" marT="45720" marB="45720">
                    <a:solidFill>
                      <a:srgbClr val="302043"/>
                    </a:solidFill>
                  </a:tcPr>
                </a:tc>
                <a:tc>
                  <a:txBody>
                    <a:bodyPr>
                      <a:noAutofit/>
                    </a:bodyPr>
                    <a:lstStyle/>
                    <a:p>
                      <a:r>
                        <a:rPr sz="1725" b="1">
                          <a:solidFill>
                            <a:srgbClr val="FAF8FF"/>
                          </a:solidFill>
                          <a:latin typeface="Arial"/>
                          <a:ea typeface="Arial"/>
                          <a:cs typeface="Arial"/>
                        </a:rPr>
                        <a:t>784</a:t>
                      </a:r>
                    </a:p>
                  </a:txBody>
                  <a:tcPr marL="91440" marR="91440" marT="45720" marB="45720">
                    <a:solidFill>
                      <a:srgbClr val="302043"/>
                    </a:solidFill>
                  </a:tcPr>
                </a:tc>
                <a:tc>
                  <a:txBody>
                    <a:bodyPr>
                      <a:noAutofit/>
                    </a:bodyPr>
                    <a:lstStyle/>
                    <a:p>
                      <a:r>
                        <a:rPr sz="1725" b="1">
                          <a:solidFill>
                            <a:srgbClr val="FAF8FF"/>
                          </a:solidFill>
                          <a:latin typeface="Arial"/>
                          <a:ea typeface="Arial"/>
                          <a:cs typeface="Arial"/>
                        </a:rPr>
                        <a:t>63.2%</a:t>
                      </a:r>
                    </a:p>
                  </a:txBody>
                  <a:tcPr marL="91440" marR="91440" marT="45720" marB="45720">
                    <a:solidFill>
                      <a:srgbClr val="302043"/>
                    </a:solidFill>
                  </a:tcPr>
                </a:tc>
                <a:tc>
                  <a:txBody>
                    <a:bodyPr>
                      <a:noAutofit/>
                    </a:bodyPr>
                    <a:lstStyle/>
                    <a:p>
                      <a:r>
                        <a:rPr sz="1725" b="1">
                          <a:solidFill>
                            <a:srgbClr val="FAF8FF"/>
                          </a:solidFill>
                          <a:latin typeface="Arial"/>
                          <a:ea typeface="Arial"/>
                          <a:cs typeface="Arial"/>
                        </a:rPr>
                        <a:t>228</a:t>
                      </a:r>
                    </a:p>
                  </a:txBody>
                  <a:tcPr marL="91440" marR="91440" marT="45720" marB="45720">
                    <a:solidFill>
                      <a:srgbClr val="302043"/>
                    </a:solidFill>
                  </a:tcPr>
                </a:tc>
                <a:tc>
                  <a:txBody>
                    <a:bodyPr>
                      <a:noAutofit/>
                    </a:bodyPr>
                    <a:lstStyle/>
                    <a:p>
                      <a:r>
                        <a:rPr sz="1725" b="1">
                          <a:solidFill>
                            <a:srgbClr val="FAF8FF"/>
                          </a:solidFill>
                          <a:latin typeface="Arial"/>
                          <a:ea typeface="Arial"/>
                          <a:cs typeface="Arial"/>
                        </a:rPr>
                        <a:t>455</a:t>
                      </a:r>
                    </a:p>
                  </a:txBody>
                  <a:tcPr marL="91440" marR="91440" marT="45720" marB="45720">
                    <a:solidFill>
                      <a:srgbClr val="302043"/>
                    </a:solidFill>
                  </a:tcPr>
                </a:tc>
              </a:tr>
            </a:tbl>
          </a:graphicData>
        </a:graphic>
      </p:graphicFrame>
      <p:sp>
        <p:nvSpPr>
          <p:cNvPr id="6" name="">
            <a:extLst xmlns:a="http://schemas.openxmlformats.org/drawingml/2006/main">
              <a:ext uri="{FF2B5EF4-FFF2-40B4-BE49-F238E27FC236}">
                <a16:creationId xmlns:a16="http://schemas.microsoft.com/office/drawing/2014/main" id="{475E16F2-3C80-4D5D-BD1E-ECA880D93A6C}"/>
              </a:ext>
            </a:extLst>
          </p:cNvPr>
          <p:cNvSpPr>
            <a:spLocks xmlns:a="http://schemas.openxmlformats.org/drawingml/2006/main" noGrp="1"/>
          </p:cNvSpPr>
          <p:nvPr/>
        </p:nvSpPr>
        <p:spPr>
          <a:xfrm xmlns:a="http://schemas.openxmlformats.org/drawingml/2006/main">
            <a:off x="619125" y="4991100"/>
            <a:ext cx="5000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B88AFF"/>
                </a:solidFill>
                <a:latin typeface="Arial"/>
                <a:ea typeface="Arial"/>
                <a:cs typeface="Arial"/>
              </a:defRPr>
            </a:pPr>
            <a:r>
              <a:rPr sz="1875" b="1">
                <a:solidFill>
                  <a:srgbClr val="B88AFF"/>
                </a:solidFill>
                <a:latin typeface="Arial"/>
                <a:ea typeface="Arial"/>
                <a:cs typeface="Arial"/>
              </a:rPr>
              <a:t>Club B</a:t>
            </a:r>
          </a:p>
        </p:txBody>
      </p:sp>
      <p:sp>
        <p:nvSpPr>
          <p:cNvPr id="7" name="">
            <a:extLst xmlns:a="http://schemas.openxmlformats.org/drawingml/2006/main">
              <a:ext uri="{FF2B5EF4-FFF2-40B4-BE49-F238E27FC236}">
                <a16:creationId xmlns:a16="http://schemas.microsoft.com/office/drawing/2014/main" id="{5087D4AC-FC8B-405D-B6E6-811A482226C8}"/>
              </a:ext>
            </a:extLst>
          </p:cNvPr>
          <p:cNvSpPr>
            <a:spLocks xmlns:a="http://schemas.openxmlformats.org/drawingml/2006/main" noGrp="1"/>
          </p:cNvSpPr>
          <p:nvPr/>
        </p:nvSpPr>
        <p:spPr>
          <a:xfrm xmlns:a="http://schemas.openxmlformats.org/drawingml/2006/main">
            <a:off x="619125" y="5381625"/>
            <a:ext cx="5000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FAF8FF"/>
                </a:solidFill>
                <a:latin typeface="Arial"/>
                <a:ea typeface="Arial"/>
                <a:cs typeface="Arial"/>
              </a:defRPr>
            </a:pPr>
            <a:r>
              <a:rPr sz="1725" b="0">
                <a:solidFill>
                  <a:srgbClr val="FAF8FF"/>
                </a:solidFill>
                <a:latin typeface="Arial"/>
                <a:ea typeface="Arial"/>
                <a:cs typeface="Arial"/>
              </a:rPr>
              <a:t>Review the gap between pass claims and confirmed use.</a:t>
            </a:r>
          </a:p>
        </p:txBody>
      </p:sp>
      <p:sp>
        <p:nvSpPr>
          <p:cNvPr id="8" name="">
            <a:extLst xmlns:a="http://schemas.openxmlformats.org/drawingml/2006/main">
              <a:ext uri="{FF2B5EF4-FFF2-40B4-BE49-F238E27FC236}">
                <a16:creationId xmlns:a16="http://schemas.microsoft.com/office/drawing/2014/main" id="{F720172C-DB9D-4D88-B801-ECFEA4DFDA40}"/>
              </a:ext>
            </a:extLst>
          </p:cNvPr>
          <p:cNvSpPr>
            <a:spLocks xmlns:a="http://schemas.openxmlformats.org/drawingml/2006/main" noGrp="1"/>
          </p:cNvSpPr>
          <p:nvPr/>
        </p:nvSpPr>
        <p:spPr>
          <a:xfrm xmlns:a="http://schemas.openxmlformats.org/drawingml/2006/main">
            <a:off x="6429375" y="4991100"/>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B88AFF"/>
                </a:solidFill>
                <a:latin typeface="Arial"/>
                <a:ea typeface="Arial"/>
                <a:cs typeface="Arial"/>
              </a:defRPr>
            </a:pPr>
            <a:r>
              <a:rPr sz="1875" b="1">
                <a:solidFill>
                  <a:srgbClr val="B88AFF"/>
                </a:solidFill>
                <a:latin typeface="Arial"/>
                <a:ea typeface="Arial"/>
                <a:cs typeface="Arial"/>
              </a:rPr>
              <a:t>Club C</a:t>
            </a:r>
          </a:p>
        </p:txBody>
      </p:sp>
      <p:sp>
        <p:nvSpPr>
          <p:cNvPr id="9" name="">
            <a:extLst xmlns:a="http://schemas.openxmlformats.org/drawingml/2006/main">
              <a:ext uri="{FF2B5EF4-FFF2-40B4-BE49-F238E27FC236}">
                <a16:creationId xmlns:a16="http://schemas.microsoft.com/office/drawing/2014/main" id="{2F58C738-2033-49D7-87A0-6F782DF17154}"/>
              </a:ext>
            </a:extLst>
          </p:cNvPr>
          <p:cNvSpPr>
            <a:spLocks xmlns:a="http://schemas.openxmlformats.org/drawingml/2006/main" noGrp="1"/>
          </p:cNvSpPr>
          <p:nvPr/>
        </p:nvSpPr>
        <p:spPr>
          <a:xfrm xmlns:a="http://schemas.openxmlformats.org/drawingml/2006/main">
            <a:off x="6429375" y="5381625"/>
            <a:ext cx="5143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FAF8FF"/>
                </a:solidFill>
                <a:latin typeface="Arial"/>
                <a:ea typeface="Arial"/>
                <a:cs typeface="Arial"/>
              </a:defRPr>
            </a:pPr>
            <a:r>
              <a:rPr sz="1725" b="0">
                <a:solidFill>
                  <a:srgbClr val="FAF8FF"/>
                </a:solidFill>
                <a:latin typeface="Arial"/>
                <a:ea typeface="Arial"/>
                <a:cs typeface="Arial"/>
              </a:rPr>
              <a:t>Compare offers and arrival handling behind its 70% rate.</a:t>
            </a:r>
          </a:p>
        </p:txBody>
      </p:sp>
      <p:sp>
        <p:nvSpPr>
          <p:cNvPr id="10" name="">
            <a:extLst xmlns:a="http://schemas.openxmlformats.org/drawingml/2006/main">
              <a:ext uri="{FF2B5EF4-FFF2-40B4-BE49-F238E27FC236}">
                <a16:creationId xmlns:a16="http://schemas.microsoft.com/office/drawing/2014/main" id="{D46801E3-45D1-4079-AA7C-9E3D95F92927}"/>
              </a:ext>
            </a:extLst>
          </p:cNvPr>
          <p:cNvSpPr>
            <a:spLocks xmlns:a="http://schemas.openxmlformats.org/drawingml/2006/main" noGrp="1"/>
          </p:cNvSpPr>
          <p:nvPr/>
        </p:nvSpPr>
        <p:spPr>
          <a:xfrm xmlns:a="http://schemas.openxmlformats.org/drawingml/2006/main">
            <a:off x="619125" y="604837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C6C1D1"/>
                </a:solidFill>
                <a:latin typeface="Arial"/>
                <a:ea typeface="Arial"/>
                <a:cs typeface="Arial"/>
              </a:defRPr>
            </a:pPr>
            <a:r>
              <a:rPr sz="1275" b="0">
                <a:solidFill>
                  <a:srgbClr val="C6C1D1"/>
                </a:solidFill>
                <a:latin typeface="Arial"/>
                <a:ea typeface="Arial"/>
                <a:cs typeface="Arial"/>
              </a:rPr>
              <a:t>Sample roll-up assembled from per-club metrics; this is not an existing consolidated corporate dashboard.</a:t>
            </a:r>
          </a:p>
        </p:txBody>
      </p:sp>
    </p:spTree>
    <p:extLst>
      <p:ext uri="{BB962C8B-B14F-4D97-AF65-F5344CB8AC3E}">
        <p14:creationId xmlns:p14="http://schemas.microsoft.com/office/powerpoint/2010/main" val="1415057821"/>
      </p:ext>
    </p:extLst>
  </p:cSld>
</p:sld>
</file>

<file path=ppt/slides/slide7.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C5B6961-3891-428E-A771-3D81C8E46412}"/>
              </a:ext>
            </a:extLst>
          </p:cNvPr>
          <p:cNvSpPr>
            <a:spLocks xmlns:a="http://schemas.openxmlformats.org/drawingml/2006/main" noGrp="1"/>
          </p:cNvSpPr>
          <p:nvPr/>
        </p:nvSpPr>
        <p:spPr>
          <a:xfrm xmlns:a="http://schemas.openxmlformats.org/drawingml/2006/main">
            <a:off x="590550" y="40957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FAF8FF"/>
                </a:solidFill>
                <a:latin typeface="Arial"/>
                <a:ea typeface="Arial"/>
                <a:cs typeface="Arial"/>
              </a:defRPr>
            </a:pPr>
            <a:r>
              <a:rPr sz="3300" b="1">
                <a:solidFill>
                  <a:srgbClr val="FAF8FF"/>
                </a:solidFill>
                <a:latin typeface="Arial"/>
                <a:ea typeface="Arial"/>
                <a:cs typeface="Arial"/>
              </a:rPr>
              <a:t>A pilot at your club</a:t>
            </a:r>
          </a:p>
        </p:txBody>
      </p:sp>
      <p:sp>
        <p:nvSpPr>
          <p:cNvPr id="2" name="">
            <a:extLst xmlns:a="http://schemas.openxmlformats.org/drawingml/2006/main">
              <a:ext uri="{FF2B5EF4-FFF2-40B4-BE49-F238E27FC236}">
                <a16:creationId xmlns:a16="http://schemas.microsoft.com/office/drawing/2014/main" id="{AB8DBEA6-14BC-471C-83E7-16AA496FE899}"/>
              </a:ext>
            </a:extLst>
          </p:cNvPr>
          <p:cNvSpPr>
            <a:spLocks xmlns:a="http://schemas.openxmlformats.org/drawingml/2006/main" noGrp="1"/>
          </p:cNvSpPr>
          <p:nvPr/>
        </p:nvSpPr>
        <p:spPr>
          <a:xfrm xmlns:a="http://schemas.openxmlformats.org/drawingml/2006/main">
            <a:off x="619125" y="11906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C6C1D1"/>
                </a:solidFill>
                <a:latin typeface="Arial"/>
                <a:ea typeface="Arial"/>
                <a:cs typeface="Arial"/>
              </a:defRPr>
            </a:pPr>
            <a:r>
              <a:rPr sz="1650" b="0">
                <a:solidFill>
                  <a:srgbClr val="C6C1D1"/>
                </a:solidFill>
                <a:latin typeface="Arial"/>
                <a:ea typeface="Arial"/>
                <a:cs typeface="Arial"/>
              </a:rPr>
              <a:t>Proposed next step for an owner or venue group</a:t>
            </a:r>
          </a:p>
        </p:txBody>
      </p:sp>
      <p:sp>
        <p:nvSpPr>
          <p:cNvPr id="3" name="">
            <a:extLst xmlns:a="http://schemas.openxmlformats.org/drawingml/2006/main">
              <a:ext uri="{FF2B5EF4-FFF2-40B4-BE49-F238E27FC236}">
                <a16:creationId xmlns:a16="http://schemas.microsoft.com/office/drawing/2014/main" id="{EBE0F74C-8FA1-4AFC-8109-1AEC337448CC}"/>
              </a:ext>
            </a:extLst>
          </p:cNvPr>
          <p:cNvSpPr>
            <a:spLocks xmlns:a="http://schemas.openxmlformats.org/drawingml/2006/main" noGrp="1"/>
          </p:cNvSpPr>
          <p:nvPr/>
        </p:nvSpPr>
        <p:spPr>
          <a:xfrm xmlns:a="http://schemas.openxmlformats.org/drawingml/2006/main">
            <a:off x="619125" y="6448425"/>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B88AFF"/>
                </a:solidFill>
                <a:latin typeface="Arial"/>
                <a:ea typeface="Arial"/>
                <a:cs typeface="Arial"/>
              </a:defRPr>
            </a:pPr>
            <a:r>
              <a:rPr sz="1125" b="1">
                <a:solidFill>
                  <a:srgbClr val="B88AFF"/>
                </a:solidFill>
                <a:latin typeface="Arial"/>
                <a:ea typeface="Arial"/>
                <a:cs typeface="Arial"/>
              </a:rPr>
              <a:t>MYDANCR</a:t>
            </a:r>
          </a:p>
        </p:txBody>
      </p:sp>
      <p:sp>
        <p:nvSpPr>
          <p:cNvPr id="4" name="">
            <a:extLst xmlns:a="http://schemas.openxmlformats.org/drawingml/2006/main">
              <a:ext uri="{FF2B5EF4-FFF2-40B4-BE49-F238E27FC236}">
                <a16:creationId xmlns:a16="http://schemas.microsoft.com/office/drawing/2014/main" id="{E5B866F7-6A71-4987-8230-D45A80ED3489}"/>
              </a:ext>
            </a:extLst>
          </p:cNvPr>
          <p:cNvSpPr>
            <a:spLocks xmlns:a="http://schemas.openxmlformats.org/drawingml/2006/main" noGrp="1"/>
          </p:cNvSpPr>
          <p:nvPr/>
        </p:nvSpPr>
        <p:spPr>
          <a:xfrm xmlns:a="http://schemas.openxmlformats.org/drawingml/2006/main">
            <a:off x="10858500" y="644842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125" b="0">
                <a:solidFill>
                  <a:srgbClr val="C6C1D1"/>
                </a:solidFill>
                <a:latin typeface="Arial"/>
                <a:ea typeface="Arial"/>
                <a:cs typeface="Arial"/>
              </a:defRPr>
            </a:pPr>
            <a:r>
              <a:rPr sz="1125" b="0">
                <a:solidFill>
                  <a:srgbClr val="C6C1D1"/>
                </a:solidFill>
                <a:latin typeface="Arial"/>
                <a:ea typeface="Arial"/>
                <a:cs typeface="Arial"/>
              </a:rPr>
              <a:t>7 / 7</a:t>
            </a:r>
          </a:p>
        </p:txBody>
      </p:sp>
      <p:sp>
        <p:nvSpPr>
          <p:cNvPr id="5" name="">
            <a:extLst xmlns:a="http://schemas.openxmlformats.org/drawingml/2006/main">
              <a:ext uri="{FF2B5EF4-FFF2-40B4-BE49-F238E27FC236}">
                <a16:creationId xmlns:a16="http://schemas.microsoft.com/office/drawing/2014/main" id="{4743BEEB-F7E4-4492-A80E-EB09C4E27ECB}"/>
              </a:ext>
            </a:extLst>
          </p:cNvPr>
          <p:cNvSpPr>
            <a:spLocks xmlns:a="http://schemas.openxmlformats.org/drawingml/2006/main" noGrp="1"/>
          </p:cNvSpPr>
          <p:nvPr/>
        </p:nvSpPr>
        <p:spPr>
          <a:xfrm xmlns:a="http://schemas.openxmlformats.org/drawingml/2006/main">
            <a:off x="619125" y="2000250"/>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B88AFF"/>
                </a:solidFill>
                <a:latin typeface="Arial"/>
                <a:ea typeface="Arial"/>
                <a:cs typeface="Arial"/>
              </a:defRPr>
            </a:pPr>
            <a:r>
              <a:rPr sz="2100" b="1">
                <a:solidFill>
                  <a:srgbClr val="B88AFF"/>
                </a:solidFill>
                <a:latin typeface="Arial"/>
                <a:ea typeface="Arial"/>
                <a:cs typeface="Arial"/>
              </a:rPr>
              <a:t>One venue and a club lead</a:t>
            </a:r>
          </a:p>
        </p:txBody>
      </p:sp>
      <p:sp>
        <p:nvSpPr>
          <p:cNvPr id="6" name="">
            <a:extLst xmlns:a="http://schemas.openxmlformats.org/drawingml/2006/main">
              <a:ext uri="{FF2B5EF4-FFF2-40B4-BE49-F238E27FC236}">
                <a16:creationId xmlns:a16="http://schemas.microsoft.com/office/drawing/2014/main" id="{4AD957C0-1212-4C8B-93A6-65F93EBD7C85}"/>
              </a:ext>
            </a:extLst>
          </p:cNvPr>
          <p:cNvSpPr>
            <a:spLocks xmlns:a="http://schemas.openxmlformats.org/drawingml/2006/main" noGrp="1"/>
          </p:cNvSpPr>
          <p:nvPr/>
        </p:nvSpPr>
        <p:spPr>
          <a:xfrm xmlns:a="http://schemas.openxmlformats.org/drawingml/2006/main">
            <a:off x="619125" y="2466975"/>
            <a:ext cx="5000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FAF8FF"/>
                </a:solidFill>
                <a:latin typeface="Arial"/>
                <a:ea typeface="Arial"/>
                <a:cs typeface="Arial"/>
              </a:defRPr>
            </a:pPr>
            <a:r>
              <a:rPr sz="1875" b="0">
                <a:solidFill>
                  <a:srgbClr val="FAF8FF"/>
                </a:solidFill>
                <a:latin typeface="Arial"/>
                <a:ea typeface="Arial"/>
                <a:cs typeface="Arial"/>
              </a:rPr>
              <a:t>Choose the starting location and</a:t>
            </a:r>
          </a:p>
          <a:p xmlns:a="http://schemas.openxmlformats.org/drawingml/2006/main">
            <a:pPr>
              <a:buNone/>
              <a:defRPr sz="1875" b="0">
                <a:solidFill>
                  <a:srgbClr val="FAF8FF"/>
                </a:solidFill>
                <a:latin typeface="Arial"/>
                <a:ea typeface="Arial"/>
                <a:cs typeface="Arial"/>
              </a:defRPr>
            </a:pPr>
            <a:r>
              <a:rPr sz="1875" b="0">
                <a:solidFill>
                  <a:srgbClr val="FAF8FF"/>
                </a:solidFill>
                <a:latin typeface="Arial"/>
                <a:ea typeface="Arial"/>
                <a:cs typeface="Arial"/>
              </a:rPr>
              <a:t>the person responsible for rollout.</a:t>
            </a:r>
          </a:p>
        </p:txBody>
      </p:sp>
      <p:sp>
        <p:nvSpPr>
          <p:cNvPr id="7" name="">
            <a:extLst xmlns:a="http://schemas.openxmlformats.org/drawingml/2006/main">
              <a:ext uri="{FF2B5EF4-FFF2-40B4-BE49-F238E27FC236}">
                <a16:creationId xmlns:a16="http://schemas.microsoft.com/office/drawing/2014/main" id="{B9059D52-726E-4453-8294-A0DFE909C404}"/>
              </a:ext>
            </a:extLst>
          </p:cNvPr>
          <p:cNvSpPr>
            <a:spLocks xmlns:a="http://schemas.openxmlformats.org/drawingml/2006/main" noGrp="1"/>
          </p:cNvSpPr>
          <p:nvPr/>
        </p:nvSpPr>
        <p:spPr>
          <a:xfrm xmlns:a="http://schemas.openxmlformats.org/drawingml/2006/main">
            <a:off x="6429375" y="2000250"/>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B88AFF"/>
                </a:solidFill>
                <a:latin typeface="Arial"/>
                <a:ea typeface="Arial"/>
                <a:cs typeface="Arial"/>
              </a:defRPr>
            </a:pPr>
            <a:r>
              <a:rPr sz="2100" b="1">
                <a:solidFill>
                  <a:srgbClr val="B88AFF"/>
                </a:solidFill>
                <a:latin typeface="Arial"/>
                <a:ea typeface="Arial"/>
                <a:cs typeface="Arial"/>
              </a:rPr>
              <a:t>Guest experience setup</a:t>
            </a:r>
          </a:p>
        </p:txBody>
      </p:sp>
      <p:sp>
        <p:nvSpPr>
          <p:cNvPr id="8" name="">
            <a:extLst xmlns:a="http://schemas.openxmlformats.org/drawingml/2006/main">
              <a:ext uri="{FF2B5EF4-FFF2-40B4-BE49-F238E27FC236}">
                <a16:creationId xmlns:a16="http://schemas.microsoft.com/office/drawing/2014/main" id="{1CB59E47-F2B8-4675-8305-36DD5B1994AA}"/>
              </a:ext>
            </a:extLst>
          </p:cNvPr>
          <p:cNvSpPr>
            <a:spLocks xmlns:a="http://schemas.openxmlformats.org/drawingml/2006/main" noGrp="1"/>
          </p:cNvSpPr>
          <p:nvPr/>
        </p:nvSpPr>
        <p:spPr>
          <a:xfrm xmlns:a="http://schemas.openxmlformats.org/drawingml/2006/main">
            <a:off x="6429375" y="2466975"/>
            <a:ext cx="5000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FAF8FF"/>
                </a:solidFill>
                <a:latin typeface="Arial"/>
                <a:ea typeface="Arial"/>
                <a:cs typeface="Arial"/>
              </a:defRPr>
            </a:pPr>
            <a:r>
              <a:rPr sz="1875" b="0">
                <a:solidFill>
                  <a:srgbClr val="FAF8FF"/>
                </a:solidFill>
                <a:latin typeface="Arial"/>
                <a:ea typeface="Arial"/>
                <a:cs typeface="Arial"/>
              </a:rPr>
              <a:t>Confirm the club page and offers.</a:t>
            </a:r>
          </a:p>
          <a:p xmlns:a="http://schemas.openxmlformats.org/drawingml/2006/main">
            <a:pPr>
              <a:buNone/>
              <a:defRPr sz="1875" b="0">
                <a:solidFill>
                  <a:srgbClr val="FAF8FF"/>
                </a:solidFill>
                <a:latin typeface="Arial"/>
                <a:ea typeface="Arial"/>
                <a:cs typeface="Arial"/>
              </a:defRPr>
            </a:pPr>
            <a:r>
              <a:rPr sz="1875" b="0">
                <a:solidFill>
                  <a:srgbClr val="FAF8FF"/>
                </a:solidFill>
                <a:latin typeface="Arial"/>
                <a:ea typeface="Arial"/>
                <a:cs typeface="Arial"/>
              </a:rPr>
              <a:t>Set up NFC check-in and table QR codes.</a:t>
            </a:r>
          </a:p>
        </p:txBody>
      </p:sp>
      <p:sp>
        <p:nvSpPr>
          <p:cNvPr id="9" name="">
            <a:extLst xmlns:a="http://schemas.openxmlformats.org/drawingml/2006/main">
              <a:ext uri="{FF2B5EF4-FFF2-40B4-BE49-F238E27FC236}">
                <a16:creationId xmlns:a16="http://schemas.microsoft.com/office/drawing/2014/main" id="{9B37B37C-8065-4848-B697-3B0CE55C34DC}"/>
              </a:ext>
            </a:extLst>
          </p:cNvPr>
          <p:cNvSpPr>
            <a:spLocks xmlns:a="http://schemas.openxmlformats.org/drawingml/2006/main" noGrp="1"/>
          </p:cNvSpPr>
          <p:nvPr/>
        </p:nvSpPr>
        <p:spPr>
          <a:xfrm xmlns:a="http://schemas.openxmlformats.org/drawingml/2006/main">
            <a:off x="619125" y="3876675"/>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B88AFF"/>
                </a:solidFill>
                <a:latin typeface="Arial"/>
                <a:ea typeface="Arial"/>
                <a:cs typeface="Arial"/>
              </a:defRPr>
            </a:pPr>
            <a:r>
              <a:rPr sz="2100" b="1">
                <a:solidFill>
                  <a:srgbClr val="B88AFF"/>
                </a:solidFill>
                <a:latin typeface="Arial"/>
                <a:ea typeface="Arial"/>
                <a:cs typeface="Arial"/>
              </a:rPr>
              <a:t>A trial with the team</a:t>
            </a:r>
          </a:p>
        </p:txBody>
      </p:sp>
      <p:sp>
        <p:nvSpPr>
          <p:cNvPr id="10" name="">
            <a:extLst xmlns:a="http://schemas.openxmlformats.org/drawingml/2006/main">
              <a:ext uri="{FF2B5EF4-FFF2-40B4-BE49-F238E27FC236}">
                <a16:creationId xmlns:a16="http://schemas.microsoft.com/office/drawing/2014/main" id="{7949F8E2-9E0E-471A-8F3F-BF879058F6DA}"/>
              </a:ext>
            </a:extLst>
          </p:cNvPr>
          <p:cNvSpPr>
            <a:spLocks xmlns:a="http://schemas.openxmlformats.org/drawingml/2006/main" noGrp="1"/>
          </p:cNvSpPr>
          <p:nvPr/>
        </p:nvSpPr>
        <p:spPr>
          <a:xfrm xmlns:a="http://schemas.openxmlformats.org/drawingml/2006/main">
            <a:off x="619125" y="4343400"/>
            <a:ext cx="5000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FAF8FF"/>
                </a:solidFill>
                <a:latin typeface="Arial"/>
                <a:ea typeface="Arial"/>
                <a:cs typeface="Arial"/>
              </a:defRPr>
            </a:pPr>
            <a:r>
              <a:rPr sz="1875" b="0">
                <a:solidFill>
                  <a:srgbClr val="FAF8FF"/>
                </a:solidFill>
                <a:latin typeface="Arial"/>
                <a:ea typeface="Arial"/>
                <a:cs typeface="Arial"/>
              </a:rPr>
              <a:t>Agree a trial period and train staff</a:t>
            </a:r>
          </a:p>
          <a:p xmlns:a="http://schemas.openxmlformats.org/drawingml/2006/main">
            <a:pPr>
              <a:buNone/>
              <a:defRPr sz="1875" b="0">
                <a:solidFill>
                  <a:srgbClr val="FAF8FF"/>
                </a:solidFill>
                <a:latin typeface="Arial"/>
                <a:ea typeface="Arial"/>
                <a:cs typeface="Arial"/>
              </a:defRPr>
            </a:pPr>
            <a:r>
              <a:rPr sz="1875" b="0">
                <a:solidFill>
                  <a:srgbClr val="FAF8FF"/>
                </a:solidFill>
                <a:latin typeface="Arial"/>
                <a:ea typeface="Arial"/>
                <a:cs typeface="Arial"/>
              </a:rPr>
              <a:t>to handle entry passes and requests.</a:t>
            </a:r>
          </a:p>
        </p:txBody>
      </p:sp>
      <p:sp>
        <p:nvSpPr>
          <p:cNvPr id="11" name="">
            <a:extLst xmlns:a="http://schemas.openxmlformats.org/drawingml/2006/main">
              <a:ext uri="{FF2B5EF4-FFF2-40B4-BE49-F238E27FC236}">
                <a16:creationId xmlns:a16="http://schemas.microsoft.com/office/drawing/2014/main" id="{BEE17427-E11C-4D58-BC91-6F679B8A6978}"/>
              </a:ext>
            </a:extLst>
          </p:cNvPr>
          <p:cNvSpPr>
            <a:spLocks xmlns:a="http://schemas.openxmlformats.org/drawingml/2006/main" noGrp="1"/>
          </p:cNvSpPr>
          <p:nvPr/>
        </p:nvSpPr>
        <p:spPr>
          <a:xfrm xmlns:a="http://schemas.openxmlformats.org/drawingml/2006/main">
            <a:off x="6429375" y="3876675"/>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B88AFF"/>
                </a:solidFill>
                <a:latin typeface="Arial"/>
                <a:ea typeface="Arial"/>
                <a:cs typeface="Arial"/>
              </a:defRPr>
            </a:pPr>
            <a:r>
              <a:rPr sz="2100" b="1">
                <a:solidFill>
                  <a:srgbClr val="B88AFF"/>
                </a:solidFill>
                <a:latin typeface="Arial"/>
                <a:ea typeface="Arial"/>
                <a:cs typeface="Arial"/>
              </a:rPr>
              <a:t>Review and expansion</a:t>
            </a:r>
          </a:p>
        </p:txBody>
      </p:sp>
      <p:sp>
        <p:nvSpPr>
          <p:cNvPr id="12" name="">
            <a:extLst xmlns:a="http://schemas.openxmlformats.org/drawingml/2006/main">
              <a:ext uri="{FF2B5EF4-FFF2-40B4-BE49-F238E27FC236}">
                <a16:creationId xmlns:a16="http://schemas.microsoft.com/office/drawing/2014/main" id="{95641475-8EB5-4345-A3AD-5BC779B758D5}"/>
              </a:ext>
            </a:extLst>
          </p:cNvPr>
          <p:cNvSpPr>
            <a:spLocks xmlns:a="http://schemas.openxmlformats.org/drawingml/2006/main" noGrp="1"/>
          </p:cNvSpPr>
          <p:nvPr/>
        </p:nvSpPr>
        <p:spPr>
          <a:xfrm xmlns:a="http://schemas.openxmlformats.org/drawingml/2006/main">
            <a:off x="6429375" y="4343400"/>
            <a:ext cx="5000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FAF8FF"/>
                </a:solidFill>
                <a:latin typeface="Arial"/>
                <a:ea typeface="Arial"/>
                <a:cs typeface="Arial"/>
              </a:defRPr>
            </a:pPr>
            <a:r>
              <a:rPr sz="1875" b="0">
                <a:solidFill>
                  <a:srgbClr val="FAF8FF"/>
                </a:solidFill>
                <a:latin typeface="Arial"/>
                <a:ea typeface="Arial"/>
                <a:cs typeface="Arial"/>
              </a:rPr>
              <a:t>Compare pass use and pickup activity.</a:t>
            </a:r>
          </a:p>
          <a:p xmlns:a="http://schemas.openxmlformats.org/drawingml/2006/main">
            <a:pPr>
              <a:buNone/>
              <a:defRPr sz="1875" b="0">
                <a:solidFill>
                  <a:srgbClr val="FAF8FF"/>
                </a:solidFill>
                <a:latin typeface="Arial"/>
                <a:ea typeface="Arial"/>
                <a:cs typeface="Arial"/>
              </a:defRPr>
            </a:pPr>
            <a:r>
              <a:rPr sz="1875" b="0">
                <a:solidFill>
                  <a:srgbClr val="FAF8FF"/>
                </a:solidFill>
                <a:latin typeface="Arial"/>
                <a:ea typeface="Arial"/>
                <a:cs typeface="Arial"/>
              </a:rPr>
              <a:t>Use staff feedback to plan the next step.</a:t>
            </a:r>
          </a:p>
        </p:txBody>
      </p:sp>
      <p:sp>
        <p:nvSpPr>
          <p:cNvPr id="13" name="">
            <a:extLst xmlns:a="http://schemas.openxmlformats.org/drawingml/2006/main">
              <a:ext uri="{FF2B5EF4-FFF2-40B4-BE49-F238E27FC236}">
                <a16:creationId xmlns:a16="http://schemas.microsoft.com/office/drawing/2014/main" id="{16EDEDD2-4FD9-48A7-9F9C-FD67A57FB0FF}"/>
              </a:ext>
            </a:extLst>
          </p:cNvPr>
          <p:cNvSpPr>
            <a:spLocks xmlns:a="http://schemas.openxmlformats.org/drawingml/2006/main" noGrp="1"/>
          </p:cNvSpPr>
          <p:nvPr/>
        </p:nvSpPr>
        <p:spPr>
          <a:xfrm xmlns:a="http://schemas.openxmlformats.org/drawingml/2006/main">
            <a:off x="619125" y="5857875"/>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FAF8FF"/>
                </a:solidFill>
                <a:latin typeface="Arial"/>
                <a:ea typeface="Arial"/>
                <a:cs typeface="Arial"/>
              </a:defRPr>
            </a:pPr>
            <a:r>
              <a:rPr sz="2100" b="1">
                <a:solidFill>
                  <a:srgbClr val="FAF8FF"/>
                </a:solidFill>
                <a:latin typeface="Arial"/>
                <a:ea typeface="Arial"/>
                <a:cs typeface="Arial"/>
              </a:rPr>
              <a:t>Next step: choose a pilot venue and venue lead.</a:t>
            </a:r>
          </a:p>
        </p:txBody>
      </p:sp>
    </p:spTree>
    <p:extLst>
      <p:ext uri="{BB962C8B-B14F-4D97-AF65-F5344CB8AC3E}">
        <p14:creationId xmlns:p14="http://schemas.microsoft.com/office/powerpoint/2010/main" val="9664102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2026-10-02T07:56:35.1060000Z</dcterms:created>
  <dcterms:modified xsi:type="dcterms:W3CDTF">2026-10-02T07:56:35.1060000Z</dcterms:modified>
</coreProperties>
</file>