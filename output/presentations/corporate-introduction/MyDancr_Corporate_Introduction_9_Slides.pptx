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dae9e0b0c2434b" /><Relationship Type="http://schemas.openxmlformats.org/officeDocument/2006/relationships/extended-properties" Target="/docProps/app.xml" Id="Rc8813a8c70e040c7" /><Relationship Type="http://schemas.openxmlformats.org/officeDocument/2006/relationships/officeDocument" Target="/ppt/presentation.xml" Id="Re17eb53d2ad44611" /></Relationships>
</file>

<file path=ppt/presentation.xml><?xml version="1.0" encoding="utf-8"?>
<p:presentation xmlns:p="http://schemas.openxmlformats.org/presentationml/2006/main">
  <p:sldMasterIdLst>
    <p:sldMasterId xmlns:r="http://schemas.openxmlformats.org/officeDocument/2006/relationships" id="2147483648" r:id="R46f602a992964cf1"/>
  </p:sldMasterIdLst>
  <p:notesMasterIdLst>
    <p:notesMasterId xmlns:r="http://schemas.openxmlformats.org/officeDocument/2006/relationships" r:id="R5cbb2ecc3d654650"/>
  </p:notesMasterIdLst>
  <p:sldIdLst>
    <p:sldId xmlns:r="http://schemas.openxmlformats.org/officeDocument/2006/relationships" id="256" r:id="R89810439084f4768"/>
    <p:sldId xmlns:r="http://schemas.openxmlformats.org/officeDocument/2006/relationships" id="257" r:id="R562349768edc4f52"/>
    <p:sldId xmlns:r="http://schemas.openxmlformats.org/officeDocument/2006/relationships" id="258" r:id="Ra23e57355ec74f8a"/>
    <p:sldId xmlns:r="http://schemas.openxmlformats.org/officeDocument/2006/relationships" id="259" r:id="R620fc547fd644507"/>
    <p:sldId xmlns:r="http://schemas.openxmlformats.org/officeDocument/2006/relationships" id="260" r:id="R8ca55d6f58df4e58"/>
    <p:sldId xmlns:r="http://schemas.openxmlformats.org/officeDocument/2006/relationships" id="261" r:id="R5e6754523b194e85"/>
    <p:sldId xmlns:r="http://schemas.openxmlformats.org/officeDocument/2006/relationships" id="262" r:id="R083f22708f2245e6"/>
    <p:sldId xmlns:r="http://schemas.openxmlformats.org/officeDocument/2006/relationships" id="263" r:id="Rba45140b78fa45c3"/>
    <p:sldId xmlns:r="http://schemas.openxmlformats.org/officeDocument/2006/relationships" id="264" r:id="Rca6d2b2c4d274d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0c6fd3c69342c9" /><Relationship Type="http://schemas.openxmlformats.org/officeDocument/2006/relationships/slideMaster" Target="/ppt/slideMasters/slideMaster1.xml" Id="R46f602a992964cf1" /><Relationship Type="http://schemas.openxmlformats.org/officeDocument/2006/relationships/notesMaster" Target="/ppt/notesMasters/notesMaster1.xml" Id="R5cbb2ecc3d654650" /><Relationship Type="http://schemas.openxmlformats.org/officeDocument/2006/relationships/presProps" Target="/ppt/presProps.xml" Id="R9e760d7f3aa94d41" /><Relationship Type="http://schemas.openxmlformats.org/officeDocument/2006/relationships/tableStyles" Target="/ppt/tableStyles.xml" Id="Rfc2d12a3a90943b4" /><Relationship Type="http://schemas.openxmlformats.org/officeDocument/2006/relationships/slide" Target="/ppt/slides/slide1.xml" Id="R89810439084f4768" /><Relationship Type="http://schemas.openxmlformats.org/officeDocument/2006/relationships/slide" Target="/ppt/slides/slide2.xml" Id="R562349768edc4f52" /><Relationship Type="http://schemas.openxmlformats.org/officeDocument/2006/relationships/slide" Target="/ppt/slides/slide3.xml" Id="Ra23e57355ec74f8a" /><Relationship Type="http://schemas.openxmlformats.org/officeDocument/2006/relationships/slide" Target="/ppt/slides/slide4.xml" Id="R620fc547fd644507" /><Relationship Type="http://schemas.openxmlformats.org/officeDocument/2006/relationships/slide" Target="/ppt/slides/slide5.xml" Id="R8ca55d6f58df4e58" /><Relationship Type="http://schemas.openxmlformats.org/officeDocument/2006/relationships/slide" Target="/ppt/slides/slide6.xml" Id="R5e6754523b194e85" /><Relationship Type="http://schemas.openxmlformats.org/officeDocument/2006/relationships/slide" Target="/ppt/slides/slide7.xml" Id="R083f22708f2245e6" /><Relationship Type="http://schemas.openxmlformats.org/officeDocument/2006/relationships/slide" Target="/ppt/slides/slide8.xml" Id="Rba45140b78fa45c3" /><Relationship Type="http://schemas.openxmlformats.org/officeDocument/2006/relationships/slide" Target="/ppt/slides/slide9.xml" Id="Rca6d2b2c4d274d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9bc465abf54d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5b3f9760e94094" /><Relationship Type="http://schemas.openxmlformats.org/officeDocument/2006/relationships/notesMaster" Target="/ppt/notesMasters/notesMaster1.xml" Id="R01d6e079e7de4a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94a1f024454e38" /><Relationship Type="http://schemas.openxmlformats.org/officeDocument/2006/relationships/notesMaster" Target="/ppt/notesMasters/notesMaster1.xml" Id="R0fa0f446291f48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9a1a918ffe4930" /><Relationship Type="http://schemas.openxmlformats.org/officeDocument/2006/relationships/notesMaster" Target="/ppt/notesMasters/notesMaster1.xml" Id="Re627d4e0ff1548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7413a16eac42b5" /><Relationship Type="http://schemas.openxmlformats.org/officeDocument/2006/relationships/notesMaster" Target="/ppt/notesMasters/notesMaster1.xml" Id="R5359104df7374e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61e32d53c84e7a" /><Relationship Type="http://schemas.openxmlformats.org/officeDocument/2006/relationships/notesMaster" Target="/ppt/notesMasters/notesMaster1.xml" Id="Rd19db8a8210d45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91df48481341d6" /><Relationship Type="http://schemas.openxmlformats.org/officeDocument/2006/relationships/notesMaster" Target="/ppt/notesMasters/notesMaster1.xml" Id="Rafbd9f99de4b41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70d04e58a640db" /><Relationship Type="http://schemas.openxmlformats.org/officeDocument/2006/relationships/notesMaster" Target="/ppt/notesMasters/notesMaster1.xml" Id="R18b4287c0ff34e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b0e85235fe4f6c" /><Relationship Type="http://schemas.openxmlformats.org/officeDocument/2006/relationships/notesMaster" Target="/ppt/notesMasters/notesMaster1.xml" Id="Rc09ff5ed1dfc44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71d8fa14b141e9" /><Relationship Type="http://schemas.openxmlformats.org/officeDocument/2006/relationships/notesMaster" Target="/ppt/notesMasters/notesMaster1.xml" Id="Rd905f250b46349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Corporate introduction prepared for a club operator with multiple locations. This is a proposed partnership and rollout discussion, not a commercial offer or performance guarantee. MyDancr is a guest-facing discovery experience and a venue operations platform.</a:t>
            </a:r>
          </a:p>
          <a:p xmlns:a="http://schemas.openxmlformats.org/drawingml/2006/main">
            <a:r>
              <a:t>Artwork: output/presentations/assets/polished-deck/lounge-cover.png. Existing AI-generated conceptual venue artwork, not a photograph of a specific operating club. Logo: outputs/mydancr-logo-current.png.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 docs/working-now-club-participation.md (reviewed October 2, 2026).</a:t>
            </a:r>
          </a:p>
          <a:p xmlns:a="http://schemas.openxmlformats.org/drawingml/2006/main">
            <a:r>
              <a:t>Repository source: docs/venue-subscription-analytics.md (reviewed October 2, 2026).</a:t>
            </a:r>
          </a:p>
          <a:p xmlns:a="http://schemas.openxmlformats.org/drawingml/2006/main">
            <a:r>
              <a:t>Repository source: src/live-shell/app/11-post-verified-shift.js (reviewed October 2, 2026).</a:t>
            </a:r>
          </a:p>
          <a:p xmlns:a="http://schemas.openxmlformats.org/drawingml/2006/main">
            <a:r>
              <a:t>Screenshot: user-supplied 24433.jpg. Fictional demo content, supplied before the latest header spacing update. It illustrates the product rather than customer traction. Working Now requires an active, confirmed check-in at a participating club and expires under the existing six-hour policy. Future schedule posting is retired and is not offered here. Benefits are proposed use cases, not measured acquisition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 docs/club-deal-transportation.md (reviewed October 2, 2026).</a:t>
            </a:r>
          </a:p>
          <a:p xmlns:a="http://schemas.openxmlformats.org/drawingml/2006/main">
            <a:r>
              <a:t>Repository source: docs/pickup-contact-forms.md (reviewed October 2, 2026).</a:t>
            </a:r>
          </a:p>
          <a:p xmlns:a="http://schemas.openxmlformats.org/drawingml/2006/main">
            <a:r>
              <a:t>Repository source: docs/venue-subscription-analytics.md (reviewed October 2, 2026).</a:t>
            </a:r>
          </a:p>
          <a:p xmlns:a="http://schemas.openxmlformats.org/drawingml/2006/main">
            <a:r>
              <a:t>Screenshot: user-supplied 24431.jpg, fictional demo data. Current Free Entry eligibility is private-car or club-provided transport arrival. Rideshare and taxi arrivals do not qualify for that offer. Pickup submissions are requests, not confirmed rides. Clubs contact guests to arrange transport. The offer and actual arrival eligibility remain subject to venue rules. Only redeemed passes count as verified admissions; clicks and claims do not prove attendance.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 docs/venue-onboarding.md (reviewed October 2, 2026).</a:t>
            </a:r>
          </a:p>
          <a:p xmlns:a="http://schemas.openxmlformats.org/drawingml/2006/main">
            <a:r>
              <a:t>Repository source: docs/working-now-club-participation.md (reviewed October 2, 2026).</a:t>
            </a:r>
          </a:p>
          <a:p xmlns:a="http://schemas.openxmlformats.org/drawingml/2006/main">
            <a:r>
              <a:t>Repository source: docs/pickup-contact-forms.md (reviewed October 2, 2026).</a:t>
            </a:r>
          </a:p>
          <a:p xmlns:a="http://schemas.openxmlformats.org/drawingml/2006/main">
            <a:r>
              <a:t>Repository source: docs/internal-table-request-push.md (reviewed October 2, 2026).</a:t>
            </a:r>
          </a:p>
          <a:p xmlns:a="http://schemas.openxmlformats.org/drawingml/2006/main">
            <a:r>
              <a:t>The left column summarizes documented venue capabilities. The right column describes the proposed implementation and operating model, not an existing single corporate console. Venue accounts access their own venue dashboard. Consolidated corporate analytics, cross-location identity resolution, POS/CRM integrations, procurement and group commercial arrangements require scoping and agreement. Internal table QR requests notify eligible venue staff and can support host workflows where configured. Dancer accounts remain dancer-owned.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 docs/venue-subscription-analytics.md (reviewed October 2, 2026).</a:t>
            </a:r>
          </a:p>
          <a:p xmlns:a="http://schemas.openxmlformats.org/drawingml/2006/main">
            <a:r>
              <a:t>Repository source: src/lib/dancr/venue-analytics.ts (reviewed October 2, 2026).</a:t>
            </a:r>
          </a:p>
          <a:p xmlns:a="http://schemas.openxmlformats.org/drawingml/2006/main">
            <a:r>
              <a:t>Reports distinguish visitors (browser identifiers), impressions, intentions, claims, pickup requests and verified admissions. Unique browsers are not independently verified unique people. Button reports distinguish venue scroll cards, venue detail, dancer profiles and TV sources. TV outcome credit requires an explicit video-to-club click; the signed venue-specific attribution cookie lasts 30 minutes, and newly issued passes retain original credit through redemption. Historical tracking is not backfilled. Costs per admission remain unavailable until authoritative period-matched venue subscription costs are connected. Causal lift and customer spending require additional agreed measurement, such as comparable baseline periods or a holdout plus finance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inputs and outcomes are illustrative, created for this proposal. No audited results, commercial pricing, contractual terms or promised returns are represented.</a:t>
            </a:r>
          </a:p>
          <a:p xmlns:a="http://schemas.openxmlformats.org/drawingml/2006/main">
            <a:r>
              <a:t>Formula: group incremental contribution = location count × incremental admissions per location × contribution per admission. Contribution should be net of incremental service costs, promotion discount/foregone cover, and other visit-variable costs. Total program cost should include software/service fees, amortized setup and training, content/marketing spend, and additional ongoing overhead, without double-counting costs already removed from contribution.</a:t>
            </a:r>
          </a:p>
          <a:p xmlns:a="http://schemas.openxmlformats.org/drawingml/2006/main">
            <a:r>
              <a:t>10 locations × $1,500 monthly program cost = $15,000 group cost. Lower: 500 incremental admissions × $40 = $20,000 contribution, $5,000 net, 33.33% ROI. Base: 1,000 × $40 = $40,000 contribution, $25,000 net, 166.67% ROI. Higher: 2,000 × $40 = $80,000 contribution, $65,000 net, 433.33% ROI. Break-even: $1,500 / $40 = 37.5, rounded up to 38 additional admissions per location.</a:t>
            </a:r>
          </a:p>
          <a:p xmlns:a="http://schemas.openxmlformats.org/drawingml/2006/main">
            <a:r>
              <a:t>Incremental admissions must be estimated against an agreed baseline or holdout, adjusted for repeat/existing guests, seasonality and other concurrent campaigns. Attributed redemptions alone do not establish causality. Replace these inputs with the corporation’s actual location count, economics, proposal cost and observed pilot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mathematical illustration, not historical MyDancr data or a growth forecast. No external benchmark or assumed empirical viral coefficient is claimed. New referred app visitors in generation n = 1,000 × K^n. The series shows each new generation, not cumulative reach, and the horizontal axis denotes sharing cycles, not months. K is an effective referral factor incorporating the chance that a visitor shares and that sharing yields new unique visitors. It is not a measured current product KPI. At K=1.3, generation six is 4,826.809 visitors, 4.8268 times the seed generation. At K=1.0, it is 1,000. At K=0.7, it is 117.649. Audience overlap, saturation, locality, platform distribution and changing behavior can reduce K over time.</a:t>
            </a:r>
          </a:p>
          <a:p xmlns:a="http://schemas.openxmlformats.org/drawingml/2006/main">
            <a:r>
              <a:t>Proposed acquisition method: participating dancers and club teams share relevant content and venue links with their external audiences; recipients open MyDancr, discover a club, and some may share again or visit. External channel attribution, deduplication and referral-generation measurement need to be scoped in the pilot. Do not imply that existing share-event counts establish downstream external reach. Track admissions separately and assess incremental value.</a:t>
            </a:r>
          </a:p>
          <a:p xmlns:a="http://schemas.openxmlformats.org/drawingml/2006/main">
            <a:r>
              <a:t>Repository source: src/lib/dancr/venue-analytics.ts (reviewed October 2, 2026).</a:t>
            </a:r>
          </a:p>
          <a:p xmlns:a="http://schemas.openxmlformats.org/drawingml/2006/main">
            <a:r>
              <a:t>Repository source: docs/venue-subscription-analytics.md (reviewed October 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proposes the hands-on service and governance model for the corporate engagement. Specific staffing, support coverage, deliverables and timing require agreement. The documented venue publication flow is request-first: authorized representative request, administrator review and commercial agreement outside the application, private workspace and signup code, account creation, MyDancr-prepared completed page, venue review/corrections, and immediate publication when the venue approves the exact package. Accounts do not gain MyDancr administrator access. There is no claim-existing-page workflow.</a:t>
            </a:r>
          </a:p>
          <a:p xmlns:a="http://schemas.openxmlformats.org/drawingml/2006/main">
            <a:r>
              <a:t>Repository source: docs/venue-onboarding.md (reviewed October 2, 2026).</a:t>
            </a:r>
          </a:p>
          <a:p xmlns:a="http://schemas.openxmlformats.org/drawingml/2006/main">
            <a:r>
              <a:t>Rollout acceptance should include correct hours/address/official media/deal, named trained staff, completed admission and pickup workflow training, consent and notification readiness where relevant, and baseline performance capture. These are proposed training and rollout activities, not automated production tests being performed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select two or three representative locations with a corporate sponsor and local champions. Agree commercial scope, setup requirements and a 30-day post-launch measurement review. Thirty days is a proposed first review window, not a guarantee of sufficient data or a deadline for enterprise deployment. Expansion criteria should include staff adoption, a reliable admission workflow, contribution after program cost, and evidence of incremental visitors under an agreed measurement design.</a:t>
            </a:r>
          </a:p>
          <a:p xmlns:a="http://schemas.openxmlformats.org/drawingml/2006/main">
            <a:r>
              <a:t>Training and support are proposed implementation services to agree with the operator. Supported configuration is not unlimited product customization. Corporate roll-ups, POS/CRM connections, bespoke pricing or offer models, and additional product features require feasibility review and a statement of work. Current offer policy, venue permissions and dancer account ownership remain applicable.</a:t>
            </a:r>
          </a:p>
          <a:p xmlns:a="http://schemas.openxmlformats.org/drawingml/2006/main">
            <a:r>
              <a:t>Repository source: docs/venue-onboarding.md (reviewed October 2, 2026).</a:t>
            </a:r>
          </a:p>
          <a:p xmlns:a="http://schemas.openxmlformats.org/drawingml/2006/main">
            <a:r>
              <a:t>Repository source: docs/working-now-club-participation.md (reviewed October 2, 2026).</a:t>
            </a:r>
          </a:p>
          <a:p xmlns:a="http://schemas.openxmlformats.org/drawingml/2006/main">
            <a:r>
              <a:t>Repository source: docs/internal-table-request-push.md (reviewed October 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4bf48e80d248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a9697ff09b43e5" /><Relationship Type="http://schemas.openxmlformats.org/officeDocument/2006/relationships/slideLayout" Target="/ppt/slideLayouts/slideLayout1.xml" Id="R4baf5e1bae2a42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af5e1bae2a42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deb2791a93401d" /><Relationship Type="http://schemas.openxmlformats.org/officeDocument/2006/relationships/image" Target="/ppt/media/image.png" Id="R64a357e373fd4921" /><Relationship Type="http://schemas.openxmlformats.org/officeDocument/2006/relationships/image" Target="/ppt/media/image2.png" Id="R3adb85e76d9540eb" /><Relationship Type="http://schemas.openxmlformats.org/officeDocument/2006/relationships/notesSlide" Target="/ppt/notesSlides/notesSlide1.xml" Id="R9322904474aa42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61978f8c134f43" /><Relationship Type="http://schemas.openxmlformats.org/officeDocument/2006/relationships/image" Target="/ppt/media/image.jpeg" Id="R8264a93ca0c54705" /><Relationship Type="http://schemas.openxmlformats.org/officeDocument/2006/relationships/notesSlide" Target="/ppt/notesSlides/notesSlide2.xml" Id="R342443f939254e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0d68dc71924815" /><Relationship Type="http://schemas.openxmlformats.org/officeDocument/2006/relationships/image" Target="/ppt/media/image2.jpeg" Id="R94153a9bb89746d5" /><Relationship Type="http://schemas.openxmlformats.org/officeDocument/2006/relationships/notesSlide" Target="/ppt/notesSlides/notesSlide3.xml" Id="Rd49b7431486646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e8cd1acfef4165" /><Relationship Type="http://schemas.openxmlformats.org/officeDocument/2006/relationships/notesSlide" Target="/ppt/notesSlides/notesSlide4.xml" Id="Rdc8f8a3342a441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5d5bd4b6cd4044" /><Relationship Type="http://schemas.openxmlformats.org/officeDocument/2006/relationships/notesSlide" Target="/ppt/notesSlides/notesSlide5.xml" Id="R033df2fb4fbd40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429f60c1b34ea2" /><Relationship Type="http://schemas.openxmlformats.org/officeDocument/2006/relationships/notesSlide" Target="/ppt/notesSlides/notesSlide6.xml" Id="R9fcaf4431c3549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b318d92304439b" /><Relationship Type="http://schemas.openxmlformats.org/officeDocument/2006/relationships/chart" Target="/ppt/slides/charts/chart1.xml" Id="Rbe5769027dba41a3" /><Relationship Type="http://schemas.openxmlformats.org/officeDocument/2006/relationships/notesSlide" Target="/ppt/notesSlides/notesSlide7.xml" Id="R6691abe9b18840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fb30e5a3734fb6" /><Relationship Type="http://schemas.openxmlformats.org/officeDocument/2006/relationships/notesSlide" Target="/ppt/notesSlides/notesSlide8.xml" Id="Rfb524a78fca643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c3d9c240a74114" /><Relationship Type="http://schemas.openxmlformats.org/officeDocument/2006/relationships/notesSlide" Target="/ppt/notesSlides/notesSlide9.xml" Id="R599a94bb5f0c49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K = 1.3</c:v>
          </c:tx>
          <c:spPr>
            <a:solidFill xmlns:a="http://schemas.openxmlformats.org/drawingml/2006/main">
              <a:srgbClr val="753CE7"/>
            </a:solidFill>
            <a:ln xmlns:a="http://schemas.openxmlformats.org/drawingml/2006/main" w="38100">
              <a:solidFill>
                <a:srgbClr val="753CE7"/>
              </a:solidFill>
            </a:ln>
          </c:spPr>
          <c:marker>
            <c:symbol val="circle"/>
            <c:size val="6"/>
            <c:spPr>
              <a:solidFill xmlns:a="http://schemas.openxmlformats.org/drawingml/2006/main">
                <a:srgbClr val="753CE7"/>
              </a:solidFill>
            </c:spPr>
          </c:marker>
          <c:cat>
            <c:numRef>
              <c:f>'Chart Data'!$A$2:$A$8</c:f>
              <c:numCache>
                <c:formatCode>General</c:formatCode>
                <c:ptCount val="7"/>
                <c:pt idx="0">
                  <c:v>0</c:v>
                </c:pt>
                <c:pt idx="1">
                  <c:v>1</c:v>
                </c:pt>
                <c:pt idx="2">
                  <c:v>2</c:v>
                </c:pt>
                <c:pt idx="3">
                  <c:v>3</c:v>
                </c:pt>
                <c:pt idx="4">
                  <c:v>4</c:v>
                </c:pt>
                <c:pt idx="5">
                  <c:v>5</c:v>
                </c:pt>
                <c:pt idx="6">
                  <c:v>6</c:v>
                </c:pt>
              </c:numCache>
            </c:numRef>
          </c:cat>
          <c:val>
            <c:numRef>
              <c:f>'Chart Data'!$B$2:$B$8</c:f>
              <c:numCache>
                <c:formatCode>#,##0</c:formatCode>
                <c:ptCount val="7"/>
                <c:pt idx="0">
                  <c:v>1000</c:v>
                </c:pt>
                <c:pt idx="1">
                  <c:v>1300</c:v>
                </c:pt>
                <c:pt idx="2">
                  <c:v>1690</c:v>
                </c:pt>
                <c:pt idx="3">
                  <c:v>2197</c:v>
                </c:pt>
                <c:pt idx="4">
                  <c:v>2856.1</c:v>
                </c:pt>
                <c:pt idx="5">
                  <c:v>3712.93</c:v>
                </c:pt>
                <c:pt idx="6">
                  <c:v>4826.809</c:v>
                </c:pt>
              </c:numCache>
            </c:numRef>
          </c:val>
          <c:smooth val="0"/>
        </c:ser>
        <c:ser>
          <c:idx val="1"/>
          <c:order val="1"/>
          <c:tx>
            <c:v>K = 1.0</c:v>
          </c:tx>
          <c:spPr>
            <a:solidFill xmlns:a="http://schemas.openxmlformats.org/drawingml/2006/main">
              <a:srgbClr val="167E72"/>
            </a:solidFill>
            <a:ln xmlns:a="http://schemas.openxmlformats.org/drawingml/2006/main" w="28575">
              <a:solidFill>
                <a:srgbClr val="167E72"/>
              </a:solidFill>
            </a:ln>
          </c:spPr>
          <c:marker>
            <c:symbol val="none"/>
          </c:marker>
          <c:cat>
            <c:numRef>
              <c:f>'Chart Data'!$C$2:$C$8</c:f>
              <c:numCache>
                <c:formatCode>General</c:formatCode>
                <c:ptCount val="7"/>
                <c:pt idx="0">
                  <c:v>0</c:v>
                </c:pt>
                <c:pt idx="1">
                  <c:v>1</c:v>
                </c:pt>
                <c:pt idx="2">
                  <c:v>2</c:v>
                </c:pt>
                <c:pt idx="3">
                  <c:v>3</c:v>
                </c:pt>
                <c:pt idx="4">
                  <c:v>4</c:v>
                </c:pt>
                <c:pt idx="5">
                  <c:v>5</c:v>
                </c:pt>
                <c:pt idx="6">
                  <c:v>6</c:v>
                </c:pt>
              </c:numCache>
            </c:numRef>
          </c:cat>
          <c:val>
            <c:numRef>
              <c:f>'Chart Data'!$D$2:$D$8</c:f>
              <c:numCache>
                <c:formatCode>#,##0</c:formatCode>
                <c:ptCount val="7"/>
                <c:pt idx="0">
                  <c:v>1000</c:v>
                </c:pt>
                <c:pt idx="1">
                  <c:v>1000</c:v>
                </c:pt>
                <c:pt idx="2">
                  <c:v>1000</c:v>
                </c:pt>
                <c:pt idx="3">
                  <c:v>1000</c:v>
                </c:pt>
                <c:pt idx="4">
                  <c:v>1000</c:v>
                </c:pt>
                <c:pt idx="5">
                  <c:v>1000</c:v>
                </c:pt>
                <c:pt idx="6">
                  <c:v>1000</c:v>
                </c:pt>
              </c:numCache>
            </c:numRef>
          </c:val>
          <c:smooth val="0"/>
        </c:ser>
        <c:ser>
          <c:idx val="2"/>
          <c:order val="2"/>
          <c:tx>
            <c:v>K = 0.7</c:v>
          </c:tx>
          <c:spPr>
            <a:solidFill xmlns:a="http://schemas.openxmlformats.org/drawingml/2006/main">
              <a:srgbClr val="9B91AB"/>
            </a:solidFill>
            <a:ln xmlns:a="http://schemas.openxmlformats.org/drawingml/2006/main" w="28575">
              <a:solidFill>
                <a:srgbClr val="9B91AB"/>
              </a:solidFill>
            </a:ln>
          </c:spPr>
          <c:marker>
            <c:symbol val="none"/>
          </c:marker>
          <c:cat>
            <c:numRef>
              <c:f>'Chart Data'!$E$2:$E$8</c:f>
              <c:numCache>
                <c:formatCode>General</c:formatCode>
                <c:ptCount val="7"/>
                <c:pt idx="0">
                  <c:v>0</c:v>
                </c:pt>
                <c:pt idx="1">
                  <c:v>1</c:v>
                </c:pt>
                <c:pt idx="2">
                  <c:v>2</c:v>
                </c:pt>
                <c:pt idx="3">
                  <c:v>3</c:v>
                </c:pt>
                <c:pt idx="4">
                  <c:v>4</c:v>
                </c:pt>
                <c:pt idx="5">
                  <c:v>5</c:v>
                </c:pt>
                <c:pt idx="6">
                  <c:v>6</c:v>
                </c:pt>
              </c:numCache>
            </c:numRef>
          </c:cat>
          <c:val>
            <c:numRef>
              <c:f>'Chart Data'!$F$2:$F$8</c:f>
              <c:numCache>
                <c:formatCode>#,##0</c:formatCode>
                <c:ptCount val="7"/>
                <c:pt idx="0">
                  <c:v>1000</c:v>
                </c:pt>
                <c:pt idx="1">
                  <c:v>700</c:v>
                </c:pt>
                <c:pt idx="2">
                  <c:v>490</c:v>
                </c:pt>
                <c:pt idx="3">
                  <c:v>343</c:v>
                </c:pt>
                <c:pt idx="4">
                  <c:v>240.1</c:v>
                </c:pt>
                <c:pt idx="5">
                  <c:v>168.07</c:v>
                </c:pt>
                <c:pt idx="6">
                  <c:v>117.649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6B6378"/>
                    </a:solidFill>
                    <a:latin typeface="Arial"/>
                    <a:ea typeface="Arial"/>
                    <a:cs typeface="Arial"/>
                  </a:rPr>
                  <a:t>Sharing generation</a:t>
                </a:r>
              </a:p>
            </c:rich>
          </c:tx>
          <c:overlay val="0"/>
          <c:txPr>
            <a:bodyPr xmlns:a="http://schemas.openxmlformats.org/drawingml/2006/main" anchorCtr="1"/>
            <a:lstStyle xmlns:a="http://schemas.openxmlformats.org/drawingml/2006/main"/>
            <a:p xmlns:a="http://schemas.openxmlformats.org/drawingml/2006/main">
              <a:pPr>
                <a:defRPr sz="1575">
                  <a:solidFill>
                    <a:srgbClr val="6B6378"/>
                  </a:solidFill>
                  <a:latin typeface="Arial"/>
                  <a:ea typeface="Arial"/>
                  <a:cs typeface="Arial"/>
                </a:defRPr>
              </a:pPr>
            </a:p>
          </c:txPr>
        </c:title>
        <c:numFmt formatCode="General"/>
        <c:majorTickMark val="none"/>
        <c:minorTickMark val="none"/>
        <c:spPr>
          <a:ln xmlns:a="http://schemas.openxmlformats.org/drawingml/2006/main" w="9525">
            <a:solidFill>
              <a:srgbClr val="DED7E8"/>
            </a:solidFill>
          </a:ln>
        </c:spPr>
        <c:txPr>
          <a:bodyPr xmlns:a="http://schemas.openxmlformats.org/drawingml/2006/main" anchorCtr="1"/>
          <a:lstStyle xmlns:a="http://schemas.openxmlformats.org/drawingml/2006/main"/>
          <a:p xmlns:a="http://schemas.openxmlformats.org/drawingml/2006/main">
            <a:pPr>
              <a:defRPr sz="1500">
                <a:solidFill>
                  <a:srgbClr val="6B6378"/>
                </a:solidFill>
                <a:latin typeface="Arial"/>
                <a:ea typeface="Arial"/>
                <a:cs typeface="Arial"/>
              </a:defRPr>
            </a:pPr>
          </a:p>
        </c:txPr>
        <c:crossAx val="48672768"/>
      </c:catAx>
      <c:valAx>
        <c:axId val="48672768"/>
        <c:scaling>
          <c:orientation val="minMax"/>
          <c:max val="5000"/>
          <c:min val="0"/>
        </c:scaling>
        <c:delete val="0"/>
        <c:axPos val="l"/>
        <c:majorGridlines>
          <c:spPr>
            <a:ln xmlns:a="http://schemas.openxmlformats.org/drawingml/2006/main" w="9525">
              <a:solidFill>
                <a:srgbClr val="DED7E8"/>
              </a:solidFill>
            </a:ln>
          </c:spPr>
        </c:majorGridlines>
        <c:title>
          <c:tx>
            <c:rich>
              <a:bodyPr xmlns:a="http://schemas.openxmlformats.org/drawingml/2006/main"/>
              <a:lstStyle xmlns:a="http://schemas.openxmlformats.org/drawingml/2006/main"/>
              <a:p xmlns:a="http://schemas.openxmlformats.org/drawingml/2006/main">
                <a:r>
                  <a:rPr sz="1575">
                    <a:solidFill>
                      <a:srgbClr val="6B6378"/>
                    </a:solidFill>
                    <a:latin typeface="Arial"/>
                    <a:ea typeface="Arial"/>
                    <a:cs typeface="Arial"/>
                  </a:rPr>
                  <a:t>New app visitors</a:t>
                </a:r>
              </a:p>
            </c:rich>
          </c:tx>
          <c:overlay val="0"/>
          <c:txPr>
            <a:bodyPr xmlns:a="http://schemas.openxmlformats.org/drawingml/2006/main" anchorCtr="1"/>
            <a:lstStyle xmlns:a="http://schemas.openxmlformats.org/drawingml/2006/main"/>
            <a:p xmlns:a="http://schemas.openxmlformats.org/drawingml/2006/main">
              <a:pPr>
                <a:defRPr sz="1575">
                  <a:solidFill>
                    <a:srgbClr val="6B6378"/>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B6378"/>
                </a:solidFill>
                <a:latin typeface="Arial"/>
                <a:ea typeface="Arial"/>
                <a:cs typeface="Arial"/>
              </a:defRPr>
            </a:pPr>
          </a:p>
        </c:txPr>
        <c:crossAx val="48650112"/>
        <c:crossBetween val="between"/>
        <c:majorUnit val="1000"/>
      </c:valAx>
      <c:spPr>
        <a:solidFill xmlns:a="http://schemas.openxmlformats.org/drawingml/2006/main">
          <a:srgbClr val="F6F4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1121"/>
              </a:solidFill>
              <a:latin typeface="Arial"/>
              <a:ea typeface="Arial"/>
              <a:cs typeface="Arial"/>
            </a:defRPr>
          </a:pPr>
        </a:p>
      </c:txPr>
    </c:legend>
    <c:plotVisOnly val="1"/>
  </c:chart>
  <c:spPr>
    <a:solidFill xmlns:a="http://schemas.openxmlformats.org/drawingml/2006/main">
      <a:srgbClr val="F6F4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81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4a357e373fd492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adb85e76d9540eb"/>
          <a:stretch xmlns:a="http://schemas.openxmlformats.org/drawingml/2006/main"/>
        </p:blipFill>
        <p:spPr>
          <a:xfrm xmlns:a="http://schemas.openxmlformats.org/drawingml/2006/main">
            <a:off x="571500" y="515328"/>
            <a:ext cx="2381250" cy="740993"/>
          </a:xfrm>
          <a:prstGeom xmlns:a="http://schemas.openxmlformats.org/drawingml/2006/main" prst="rect">
            <a:avLst/>
          </a:prstGeom>
        </p:spPr>
      </p:pic>
      <p:sp>
        <p:nvSpPr>
          <p:cNvPr id="3" name="A measurable&#10;growth channel&#10;for every location">
            <a:extLst xmlns:a="http://schemas.openxmlformats.org/drawingml/2006/main">
              <a:ext uri="{FF2B5EF4-FFF2-40B4-BE49-F238E27FC236}">
                <a16:creationId xmlns:a16="http://schemas.microsoft.com/office/drawing/2014/main" id="{355D2473-0346-47E1-A2FF-F19F4666C21A}"/>
              </a:ext>
            </a:extLst>
          </p:cNvPr>
          <p:cNvSpPr>
            <a:spLocks xmlns:a="http://schemas.openxmlformats.org/drawingml/2006/main" noGrp="1"/>
          </p:cNvSpPr>
          <p:nvPr/>
        </p:nvSpPr>
        <p:spPr>
          <a:xfrm xmlns:a="http://schemas.openxmlformats.org/drawingml/2006/main">
            <a:off x="609600" y="2114550"/>
            <a:ext cx="68580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A measurable</a:t>
            </a:r>
          </a:p>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growth channel</a:t>
            </a:r>
          </a:p>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for every location</a:t>
            </a:r>
          </a:p>
        </p:txBody>
      </p:sp>
      <p:sp>
        <p:nvSpPr>
          <p:cNvPr id="4" name="MyDancr for club groups">
            <a:extLst xmlns:a="http://schemas.openxmlformats.org/drawingml/2006/main">
              <a:ext uri="{FF2B5EF4-FFF2-40B4-BE49-F238E27FC236}">
                <a16:creationId xmlns:a16="http://schemas.microsoft.com/office/drawing/2014/main" id="{79847528-87B3-4DBF-A698-ADD1F50FB82B}"/>
              </a:ext>
            </a:extLst>
          </p:cNvPr>
          <p:cNvSpPr>
            <a:spLocks xmlns:a="http://schemas.openxmlformats.org/drawingml/2006/main" noGrp="1"/>
          </p:cNvSpPr>
          <p:nvPr/>
        </p:nvSpPr>
        <p:spPr>
          <a:xfrm xmlns:a="http://schemas.openxmlformats.org/drawingml/2006/main">
            <a:off x="628650" y="495300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MyDancr for club groups</a:t>
            </a:r>
          </a:p>
        </p:txBody>
      </p:sp>
      <p:sp>
        <p:nvSpPr>
          <p:cNvPr id="5" name="Discovery, guest acquisition and venue performance">
            <a:extLst xmlns:a="http://schemas.openxmlformats.org/drawingml/2006/main">
              <a:ext uri="{FF2B5EF4-FFF2-40B4-BE49-F238E27FC236}">
                <a16:creationId xmlns:a16="http://schemas.microsoft.com/office/drawing/2014/main" id="{D1E02F20-6DCA-4304-B080-7A9DAA995419}"/>
              </a:ext>
            </a:extLst>
          </p:cNvPr>
          <p:cNvSpPr>
            <a:spLocks xmlns:a="http://schemas.openxmlformats.org/drawingml/2006/main" noGrp="1"/>
          </p:cNvSpPr>
          <p:nvPr/>
        </p:nvSpPr>
        <p:spPr>
          <a:xfrm xmlns:a="http://schemas.openxmlformats.org/drawingml/2006/main">
            <a:off x="628650" y="54864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8C0D4"/>
                </a:solidFill>
                <a:latin typeface="Arial"/>
                <a:ea typeface="Arial"/>
                <a:cs typeface="Arial"/>
              </a:defRPr>
            </a:pPr>
            <a:r>
              <a:rPr sz="1950" b="0">
                <a:solidFill>
                  <a:srgbClr val="C8C0D4"/>
                </a:solidFill>
                <a:latin typeface="Arial"/>
                <a:ea typeface="Arial"/>
                <a:cs typeface="Arial"/>
              </a:rPr>
              <a:t>Discovery, guest acquisition and venue performance</a:t>
            </a:r>
          </a:p>
        </p:txBody>
      </p:sp>
    </p:spTree>
    <p:extLst>
      <p:ext uri="{BB962C8B-B14F-4D97-AF65-F5344CB8AC3E}">
        <p14:creationId xmlns:p14="http://schemas.microsoft.com/office/powerpoint/2010/main" val="834119435"/>
      </p:ext>
    </p:extLst>
  </p:cSld>
</p:sld>
</file>

<file path=ppt/slides/slide2.xml><?xml version="1.0" encoding="utf-8"?>
<p:sld xmlns:p="http://schemas.openxmlformats.org/presentationml/2006/main">
  <p:cSld>
    <p:bg>
      <p:bgPr>
        <a:solidFill xmlns:a="http://schemas.openxmlformats.org/drawingml/2006/main">
          <a:srgbClr val="0B0812"/>
        </a:solidFill>
      </p:bgPr>
    </p:bg>
    <p:spTree>
      <p:nvGrpSpPr>
        <p:cNvPr id="1" name=""/>
        <p:cNvGrpSpPr/>
        <p:nvPr/>
      </p:nvGrpSpPr>
      <p:grpSpPr>
        <a:xfrm xmlns:a="http://schemas.openxmlformats.org/drawingml/2006/main"/>
      </p:grpSpPr>
      <p:sp>
        <p:nvSpPr>
          <p:cNvPr id="9" name="The app connects guests&#10;with clubs and dancers">
            <a:extLst xmlns:a="http://schemas.openxmlformats.org/drawingml/2006/main">
              <a:ext uri="{FF2B5EF4-FFF2-40B4-BE49-F238E27FC236}">
                <a16:creationId xmlns:a16="http://schemas.microsoft.com/office/drawing/2014/main" id="{88E5443D-8B7D-4A0F-AE09-5779D34B6703}"/>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The app connects guests</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with clubs and dancers</a:t>
            </a:r>
          </a:p>
        </p:txBody>
      </p:sp>
      <p:sp>
        <p:nvSpPr>
          <p:cNvPr id="2" name="02">
            <a:extLst xmlns:a="http://schemas.openxmlformats.org/drawingml/2006/main">
              <a:ext uri="{FF2B5EF4-FFF2-40B4-BE49-F238E27FC236}">
                <a16:creationId xmlns:a16="http://schemas.microsoft.com/office/drawing/2014/main" id="{C2A9628A-FB07-4CCE-A4DB-A9BFF60B3094}"/>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8C0D4"/>
                </a:solidFill>
                <a:latin typeface="Arial"/>
                <a:ea typeface="Arial"/>
                <a:cs typeface="Arial"/>
              </a:defRPr>
            </a:pPr>
            <a:r>
              <a:rPr sz="1200" b="0">
                <a:solidFill>
                  <a:srgbClr val="C8C0D4"/>
                </a:solidFill>
                <a:latin typeface="Arial"/>
                <a:ea typeface="Arial"/>
                <a:cs typeface="Arial"/>
              </a:rPr>
              <a:t>02</a:t>
            </a:r>
          </a:p>
        </p:txBody>
      </p:sp>
      <p:sp>
        <p:nvSpPr>
          <p:cNvPr id="3" name="Nearby discovery">
            <a:extLst xmlns:a="http://schemas.openxmlformats.org/drawingml/2006/main">
              <a:ext uri="{FF2B5EF4-FFF2-40B4-BE49-F238E27FC236}">
                <a16:creationId xmlns:a16="http://schemas.microsoft.com/office/drawing/2014/main" id="{B4257C8F-3C0C-4827-9F59-12CECFEFEA07}"/>
              </a:ext>
            </a:extLst>
          </p:cNvPr>
          <p:cNvSpPr>
            <a:spLocks xmlns:a="http://schemas.openxmlformats.org/drawingml/2006/main" noGrp="1"/>
          </p:cNvSpPr>
          <p:nvPr/>
        </p:nvSpPr>
        <p:spPr>
          <a:xfrm xmlns:a="http://schemas.openxmlformats.org/drawingml/2006/main">
            <a:off x="609600" y="23812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Nearby discovery</a:t>
            </a:r>
          </a:p>
        </p:txBody>
      </p:sp>
      <p:sp>
        <p:nvSpPr>
          <p:cNvPr id="4" name="Guests compare clubs, see location details and&#10;find dan">
            <a:extLst xmlns:a="http://schemas.openxmlformats.org/drawingml/2006/main">
              <a:ext uri="{FF2B5EF4-FFF2-40B4-BE49-F238E27FC236}">
                <a16:creationId xmlns:a16="http://schemas.microsoft.com/office/drawing/2014/main" id="{B1F64D60-1945-44A4-A00D-AA2A1111E9FB}"/>
              </a:ext>
            </a:extLst>
          </p:cNvPr>
          <p:cNvSpPr>
            <a:spLocks xmlns:a="http://schemas.openxmlformats.org/drawingml/2006/main" noGrp="1"/>
          </p:cNvSpPr>
          <p:nvPr/>
        </p:nvSpPr>
        <p:spPr>
          <a:xfrm xmlns:a="http://schemas.openxmlformats.org/drawingml/2006/main">
            <a:off x="609600" y="2847975"/>
            <a:ext cx="642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Guests compare clubs, see location details and</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find dancers currently checked in.</a:t>
            </a:r>
          </a:p>
        </p:txBody>
      </p:sp>
      <p:sp>
        <p:nvSpPr>
          <p:cNvPr id="5" name="Content that leads to a venue">
            <a:extLst xmlns:a="http://schemas.openxmlformats.org/drawingml/2006/main">
              <a:ext uri="{FF2B5EF4-FFF2-40B4-BE49-F238E27FC236}">
                <a16:creationId xmlns:a16="http://schemas.microsoft.com/office/drawing/2014/main" id="{47530148-03B6-4899-80BA-1C74136A06BB}"/>
              </a:ext>
            </a:extLst>
          </p:cNvPr>
          <p:cNvSpPr>
            <a:spLocks xmlns:a="http://schemas.openxmlformats.org/drawingml/2006/main" noGrp="1"/>
          </p:cNvSpPr>
          <p:nvPr/>
        </p:nvSpPr>
        <p:spPr>
          <a:xfrm xmlns:a="http://schemas.openxmlformats.org/drawingml/2006/main">
            <a:off x="609600" y="385762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Content that leads to a venue</a:t>
            </a:r>
          </a:p>
        </p:txBody>
      </p:sp>
      <p:sp>
        <p:nvSpPr>
          <p:cNvPr id="6" name="MyDancr TV, dancer profiles and shared club links&#10;give ">
            <a:extLst xmlns:a="http://schemas.openxmlformats.org/drawingml/2006/main">
              <a:ext uri="{FF2B5EF4-FFF2-40B4-BE49-F238E27FC236}">
                <a16:creationId xmlns:a16="http://schemas.microsoft.com/office/drawing/2014/main" id="{D567F14D-ED71-4900-A39E-7611D573F7F4}"/>
              </a:ext>
            </a:extLst>
          </p:cNvPr>
          <p:cNvSpPr>
            <a:spLocks xmlns:a="http://schemas.openxmlformats.org/drawingml/2006/main" noGrp="1"/>
          </p:cNvSpPr>
          <p:nvPr/>
        </p:nvSpPr>
        <p:spPr>
          <a:xfrm xmlns:a="http://schemas.openxmlformats.org/drawingml/2006/main">
            <a:off x="609600" y="4324350"/>
            <a:ext cx="670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MyDancr TV, dancer profiles and shared club links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give audiences more ways to find your locations.</a:t>
            </a:r>
          </a:p>
        </p:txBody>
      </p:sp>
      <p:sp>
        <p:nvSpPr>
          <p:cNvPr id="7" name="Business benefit: a clear destination for interest&#10;gene">
            <a:extLst xmlns:a="http://schemas.openxmlformats.org/drawingml/2006/main">
              <a:ext uri="{FF2B5EF4-FFF2-40B4-BE49-F238E27FC236}">
                <a16:creationId xmlns:a16="http://schemas.microsoft.com/office/drawing/2014/main" id="{99EC3AFB-DB5A-4E7D-A6E1-06A87F90B547}"/>
              </a:ext>
            </a:extLst>
          </p:cNvPr>
          <p:cNvSpPr>
            <a:spLocks xmlns:a="http://schemas.openxmlformats.org/drawingml/2006/main" noGrp="1"/>
          </p:cNvSpPr>
          <p:nvPr/>
        </p:nvSpPr>
        <p:spPr>
          <a:xfrm xmlns:a="http://schemas.openxmlformats.org/drawingml/2006/main">
            <a:off x="609600" y="5476875"/>
            <a:ext cx="681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Business benefit: a clear destination for interest</a:t>
            </a:r>
          </a:p>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generated by your brand and participating dancers.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264a93ca0c54705"/>
          <a:stretch xmlns:a="http://schemas.openxmlformats.org/drawingml/2006/main"/>
        </p:blipFill>
        <p:spPr>
          <a:xfrm xmlns:a="http://schemas.openxmlformats.org/drawingml/2006/main">
            <a:off x="8229600" y="421840"/>
            <a:ext cx="2724150" cy="5900020"/>
          </a:xfrm>
          <a:prstGeom xmlns:a="http://schemas.openxmlformats.org/drawingml/2006/main" prst="rect">
            <a:avLst/>
          </a:prstGeom>
        </p:spPr>
      </p:pic>
    </p:spTree>
    <p:extLst>
      <p:ext uri="{BB962C8B-B14F-4D97-AF65-F5344CB8AC3E}">
        <p14:creationId xmlns:p14="http://schemas.microsoft.com/office/powerpoint/2010/main" val="49392603"/>
      </p:ext>
    </p:extLst>
  </p:cSld>
</p:sld>
</file>

<file path=ppt/slides/slide3.xml><?xml version="1.0" encoding="utf-8"?>
<p:sld xmlns:p="http://schemas.openxmlformats.org/presentationml/2006/main">
  <p:cSld>
    <p:bg>
      <p:bgPr>
        <a:solidFill xmlns:a="http://schemas.openxmlformats.org/drawingml/2006/main">
          <a:srgbClr val="0B0812"/>
        </a:solidFill>
      </p:bgPr>
    </p:bg>
    <p:spTree>
      <p:nvGrpSpPr>
        <p:cNvPr id="1" name=""/>
        <p:cNvGrpSpPr/>
        <p:nvPr/>
      </p:nvGrpSpPr>
      <p:grpSpPr>
        <a:xfrm xmlns:a="http://schemas.openxmlformats.org/drawingml/2006/main"/>
      </p:grpSpPr>
      <p:sp>
        <p:nvSpPr>
          <p:cNvPr id="14" name="A direct path from interest&#10;to a club visit">
            <a:extLst xmlns:a="http://schemas.openxmlformats.org/drawingml/2006/main">
              <a:ext uri="{FF2B5EF4-FFF2-40B4-BE49-F238E27FC236}">
                <a16:creationId xmlns:a16="http://schemas.microsoft.com/office/drawing/2014/main" id="{DF73AD23-600C-434B-987A-B03F73D35625}"/>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 direct path from interest</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to a club visit</a:t>
            </a:r>
          </a:p>
        </p:txBody>
      </p:sp>
      <p:sp>
        <p:nvSpPr>
          <p:cNvPr id="2" name="03">
            <a:extLst xmlns:a="http://schemas.openxmlformats.org/drawingml/2006/main">
              <a:ext uri="{FF2B5EF4-FFF2-40B4-BE49-F238E27FC236}">
                <a16:creationId xmlns:a16="http://schemas.microsoft.com/office/drawing/2014/main" id="{97F086C4-ECA4-4402-8F9A-B03E95CFA70B}"/>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8C0D4"/>
                </a:solidFill>
                <a:latin typeface="Arial"/>
                <a:ea typeface="Arial"/>
                <a:cs typeface="Arial"/>
              </a:defRPr>
            </a:pPr>
            <a:r>
              <a:rPr sz="1200" b="0">
                <a:solidFill>
                  <a:srgbClr val="C8C0D4"/>
                </a:solidFill>
                <a:latin typeface="Arial"/>
                <a:ea typeface="Arial"/>
                <a:cs typeface="Arial"/>
              </a:rPr>
              <a:t>03</a:t>
            </a:r>
          </a:p>
        </p:txBody>
      </p:sp>
      <p:sp>
        <p:nvSpPr>
          <p:cNvPr id="3" name="01">
            <a:extLst xmlns:a="http://schemas.openxmlformats.org/drawingml/2006/main">
              <a:ext uri="{FF2B5EF4-FFF2-40B4-BE49-F238E27FC236}">
                <a16:creationId xmlns:a16="http://schemas.microsoft.com/office/drawing/2014/main" id="{0A9FC80E-7533-4E72-ADB9-7795BD776BD9}"/>
              </a:ext>
            </a:extLst>
          </p:cNvPr>
          <p:cNvSpPr>
            <a:spLocks xmlns:a="http://schemas.openxmlformats.org/drawingml/2006/main" noGrp="1"/>
          </p:cNvSpPr>
          <p:nvPr/>
        </p:nvSpPr>
        <p:spPr>
          <a:xfrm xmlns:a="http://schemas.openxmlformats.org/drawingml/2006/main">
            <a:off x="609600" y="2333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01</a:t>
            </a:r>
          </a:p>
        </p:txBody>
      </p:sp>
      <p:sp>
        <p:nvSpPr>
          <p:cNvPr id="4" name="A reason to choose your club">
            <a:extLst xmlns:a="http://schemas.openxmlformats.org/drawingml/2006/main">
              <a:ext uri="{FF2B5EF4-FFF2-40B4-BE49-F238E27FC236}">
                <a16:creationId xmlns:a16="http://schemas.microsoft.com/office/drawing/2014/main" id="{CA7F158D-3099-4168-B7E0-383E4B6C9CDF}"/>
              </a:ext>
            </a:extLst>
          </p:cNvPr>
          <p:cNvSpPr>
            <a:spLocks xmlns:a="http://schemas.openxmlformats.org/drawingml/2006/main" noGrp="1"/>
          </p:cNvSpPr>
          <p:nvPr/>
        </p:nvSpPr>
        <p:spPr>
          <a:xfrm xmlns:a="http://schemas.openxmlformats.org/drawingml/2006/main">
            <a:off x="1362075" y="233362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A reason to choose your club</a:t>
            </a:r>
          </a:p>
        </p:txBody>
      </p:sp>
      <p:sp>
        <p:nvSpPr>
          <p:cNvPr id="5" name="Current dancer activity and the club’s active offer.">
            <a:extLst xmlns:a="http://schemas.openxmlformats.org/drawingml/2006/main">
              <a:ext uri="{FF2B5EF4-FFF2-40B4-BE49-F238E27FC236}">
                <a16:creationId xmlns:a16="http://schemas.microsoft.com/office/drawing/2014/main" id="{6CCC9493-C996-4A63-B566-4FF6C4F31B02}"/>
              </a:ext>
            </a:extLst>
          </p:cNvPr>
          <p:cNvSpPr>
            <a:spLocks xmlns:a="http://schemas.openxmlformats.org/drawingml/2006/main" noGrp="1"/>
          </p:cNvSpPr>
          <p:nvPr/>
        </p:nvSpPr>
        <p:spPr>
          <a:xfrm xmlns:a="http://schemas.openxmlformats.org/drawingml/2006/main">
            <a:off x="1362075" y="2781300"/>
            <a:ext cx="6048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Current dancer activity and the club’s active offer.</a:t>
            </a:r>
          </a:p>
        </p:txBody>
      </p:sp>
      <p:sp>
        <p:nvSpPr>
          <p:cNvPr id="6" name="02">
            <a:extLst xmlns:a="http://schemas.openxmlformats.org/drawingml/2006/main">
              <a:ext uri="{FF2B5EF4-FFF2-40B4-BE49-F238E27FC236}">
                <a16:creationId xmlns:a16="http://schemas.microsoft.com/office/drawing/2014/main" id="{37ECEDFD-777A-4F29-941E-C0899691E7C1}"/>
              </a:ext>
            </a:extLst>
          </p:cNvPr>
          <p:cNvSpPr>
            <a:spLocks xmlns:a="http://schemas.openxmlformats.org/drawingml/2006/main" noGrp="1"/>
          </p:cNvSpPr>
          <p:nvPr/>
        </p:nvSpPr>
        <p:spPr>
          <a:xfrm xmlns:a="http://schemas.openxmlformats.org/drawingml/2006/main">
            <a:off x="609600" y="34671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02</a:t>
            </a:r>
          </a:p>
        </p:txBody>
      </p:sp>
      <p:sp>
        <p:nvSpPr>
          <p:cNvPr id="7" name="A practical next step">
            <a:extLst xmlns:a="http://schemas.openxmlformats.org/drawingml/2006/main">
              <a:ext uri="{FF2B5EF4-FFF2-40B4-BE49-F238E27FC236}">
                <a16:creationId xmlns:a16="http://schemas.microsoft.com/office/drawing/2014/main" id="{BB5C6676-A95B-45B6-AD39-3A01DA458B1C}"/>
              </a:ext>
            </a:extLst>
          </p:cNvPr>
          <p:cNvSpPr>
            <a:spLocks xmlns:a="http://schemas.openxmlformats.org/drawingml/2006/main" noGrp="1"/>
          </p:cNvSpPr>
          <p:nvPr/>
        </p:nvSpPr>
        <p:spPr>
          <a:xfrm xmlns:a="http://schemas.openxmlformats.org/drawingml/2006/main">
            <a:off x="1362075" y="346710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A practical next step</a:t>
            </a:r>
          </a:p>
        </p:txBody>
      </p:sp>
      <p:sp>
        <p:nvSpPr>
          <p:cNvPr id="8" name="Free Entry, directions and eligible pickup requests.">
            <a:extLst xmlns:a="http://schemas.openxmlformats.org/drawingml/2006/main">
              <a:ext uri="{FF2B5EF4-FFF2-40B4-BE49-F238E27FC236}">
                <a16:creationId xmlns:a16="http://schemas.microsoft.com/office/drawing/2014/main" id="{C2FC13A9-FBAD-46DC-A4C6-19D57948FB14}"/>
              </a:ext>
            </a:extLst>
          </p:cNvPr>
          <p:cNvSpPr>
            <a:spLocks xmlns:a="http://schemas.openxmlformats.org/drawingml/2006/main" noGrp="1"/>
          </p:cNvSpPr>
          <p:nvPr/>
        </p:nvSpPr>
        <p:spPr>
          <a:xfrm xmlns:a="http://schemas.openxmlformats.org/drawingml/2006/main">
            <a:off x="1362075" y="3914775"/>
            <a:ext cx="6048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Free Entry, directions and eligible pickup requests.</a:t>
            </a:r>
          </a:p>
        </p:txBody>
      </p:sp>
      <p:sp>
        <p:nvSpPr>
          <p:cNvPr id="9" name="03">
            <a:extLst xmlns:a="http://schemas.openxmlformats.org/drawingml/2006/main">
              <a:ext uri="{FF2B5EF4-FFF2-40B4-BE49-F238E27FC236}">
                <a16:creationId xmlns:a16="http://schemas.microsoft.com/office/drawing/2014/main" id="{05839CB6-4C6C-4948-9715-937808E475C7}"/>
              </a:ext>
            </a:extLst>
          </p:cNvPr>
          <p:cNvSpPr>
            <a:spLocks xmlns:a="http://schemas.openxmlformats.org/drawingml/2006/main" noGrp="1"/>
          </p:cNvSpPr>
          <p:nvPr/>
        </p:nvSpPr>
        <p:spPr>
          <a:xfrm xmlns:a="http://schemas.openxmlformats.org/drawingml/2006/main">
            <a:off x="609600" y="46005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C7A6FF"/>
                </a:solidFill>
                <a:latin typeface="Arial"/>
                <a:ea typeface="Arial"/>
                <a:cs typeface="Arial"/>
              </a:defRPr>
            </a:pPr>
            <a:r>
              <a:rPr sz="2250" b="1">
                <a:solidFill>
                  <a:srgbClr val="C7A6FF"/>
                </a:solidFill>
                <a:latin typeface="Arial"/>
                <a:ea typeface="Arial"/>
                <a:cs typeface="Arial"/>
              </a:rPr>
              <a:t>03</a:t>
            </a:r>
          </a:p>
        </p:txBody>
      </p:sp>
      <p:sp>
        <p:nvSpPr>
          <p:cNvPr id="10" name="A measurable arrival">
            <a:extLst xmlns:a="http://schemas.openxmlformats.org/drawingml/2006/main">
              <a:ext uri="{FF2B5EF4-FFF2-40B4-BE49-F238E27FC236}">
                <a16:creationId xmlns:a16="http://schemas.microsoft.com/office/drawing/2014/main" id="{79F1B826-3D94-448A-A1D1-DFC16EDC959A}"/>
              </a:ext>
            </a:extLst>
          </p:cNvPr>
          <p:cNvSpPr>
            <a:spLocks xmlns:a="http://schemas.openxmlformats.org/drawingml/2006/main" noGrp="1"/>
          </p:cNvSpPr>
          <p:nvPr/>
        </p:nvSpPr>
        <p:spPr>
          <a:xfrm xmlns:a="http://schemas.openxmlformats.org/drawingml/2006/main">
            <a:off x="1362075" y="46005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A measurable arrival</a:t>
            </a:r>
          </a:p>
        </p:txBody>
      </p:sp>
      <p:sp>
        <p:nvSpPr>
          <p:cNvPr id="11" name="Staff redeem admission passes at the venue.">
            <a:extLst xmlns:a="http://schemas.openxmlformats.org/drawingml/2006/main">
              <a:ext uri="{FF2B5EF4-FFF2-40B4-BE49-F238E27FC236}">
                <a16:creationId xmlns:a16="http://schemas.microsoft.com/office/drawing/2014/main" id="{4D7DA866-FE07-4E61-AE21-71A152679E01}"/>
              </a:ext>
            </a:extLst>
          </p:cNvPr>
          <p:cNvSpPr>
            <a:spLocks xmlns:a="http://schemas.openxmlformats.org/drawingml/2006/main" noGrp="1"/>
          </p:cNvSpPr>
          <p:nvPr/>
        </p:nvSpPr>
        <p:spPr>
          <a:xfrm xmlns:a="http://schemas.openxmlformats.org/drawingml/2006/main">
            <a:off x="1362075" y="5048250"/>
            <a:ext cx="6048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Staff redeem admission passes at the venue.</a:t>
            </a:r>
          </a:p>
        </p:txBody>
      </p:sp>
      <p:sp>
        <p:nvSpPr>
          <p:cNvPr id="12" name="Follows help guests keep the club in their discovery ex">
            <a:extLst xmlns:a="http://schemas.openxmlformats.org/drawingml/2006/main">
              <a:ext uri="{FF2B5EF4-FFF2-40B4-BE49-F238E27FC236}">
                <a16:creationId xmlns:a16="http://schemas.microsoft.com/office/drawing/2014/main" id="{3C25E52A-28FF-4FE9-937D-5D9E83DBF7E5}"/>
              </a:ext>
            </a:extLst>
          </p:cNvPr>
          <p:cNvSpPr>
            <a:spLocks xmlns:a="http://schemas.openxmlformats.org/drawingml/2006/main" noGrp="1"/>
          </p:cNvSpPr>
          <p:nvPr/>
        </p:nvSpPr>
        <p:spPr>
          <a:xfrm xmlns:a="http://schemas.openxmlformats.org/drawingml/2006/main">
            <a:off x="609600" y="590550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8C0D4"/>
                </a:solidFill>
                <a:latin typeface="Arial"/>
                <a:ea typeface="Arial"/>
                <a:cs typeface="Arial"/>
              </a:defRPr>
            </a:pPr>
            <a:r>
              <a:rPr sz="1650" b="0">
                <a:solidFill>
                  <a:srgbClr val="C8C0D4"/>
                </a:solidFill>
                <a:latin typeface="Arial"/>
                <a:ea typeface="Arial"/>
                <a:cs typeface="Arial"/>
              </a:rPr>
              <a:t>Follows help guests keep the club in their discovery experience.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4153a9bb89746d5"/>
          <a:stretch xmlns:a="http://schemas.openxmlformats.org/drawingml/2006/main"/>
        </p:blipFill>
        <p:spPr>
          <a:xfrm xmlns:a="http://schemas.openxmlformats.org/drawingml/2006/main">
            <a:off x="8229600" y="421840"/>
            <a:ext cx="2724150" cy="5900020"/>
          </a:xfrm>
          <a:prstGeom xmlns:a="http://schemas.openxmlformats.org/drawingml/2006/main" prst="rect">
            <a:avLst/>
          </a:prstGeom>
        </p:spPr>
      </p:pic>
    </p:spTree>
    <p:extLst>
      <p:ext uri="{BB962C8B-B14F-4D97-AF65-F5344CB8AC3E}">
        <p14:creationId xmlns:p14="http://schemas.microsoft.com/office/powerpoint/2010/main" val="598332449"/>
      </p:ext>
    </p:extLst>
  </p:cSld>
</p:sld>
</file>

<file path=ppt/slides/slide4.xml><?xml version="1.0" encoding="utf-8"?>
<p:sld xmlns:p="http://schemas.openxmlformats.org/presentationml/2006/main">
  <p:cSld>
    <p:bg>
      <p:bgPr>
        <a:solidFill xmlns:a="http://schemas.openxmlformats.org/drawingml/2006/main">
          <a:srgbClr val="F6F4FA"/>
        </a:solidFill>
      </p:bgPr>
    </p:bg>
    <p:spTree>
      <p:nvGrpSpPr>
        <p:cNvPr id="1" name=""/>
        <p:cNvGrpSpPr/>
        <p:nvPr/>
      </p:nvGrpSpPr>
      <p:grpSpPr>
        <a:xfrm xmlns:a="http://schemas.openxmlformats.org/drawingml/2006/main"/>
      </p:grpSpPr>
      <p:sp>
        <p:nvSpPr>
          <p:cNvPr id="9" name="A corporate playbook with local execution">
            <a:extLst xmlns:a="http://schemas.openxmlformats.org/drawingml/2006/main">
              <a:ext uri="{FF2B5EF4-FFF2-40B4-BE49-F238E27FC236}">
                <a16:creationId xmlns:a16="http://schemas.microsoft.com/office/drawing/2014/main" id="{0AE8316A-11F9-4806-8B36-419F8E60FBAC}"/>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121"/>
                </a:solidFill>
                <a:latin typeface="Arial"/>
                <a:ea typeface="Arial"/>
                <a:cs typeface="Arial"/>
              </a:defRPr>
            </a:pPr>
            <a:r>
              <a:rPr sz="3600" b="1">
                <a:solidFill>
                  <a:srgbClr val="171121"/>
                </a:solidFill>
                <a:latin typeface="Arial"/>
                <a:ea typeface="Arial"/>
                <a:cs typeface="Arial"/>
              </a:rPr>
              <a:t>A corporate playbook with local execution</a:t>
            </a:r>
          </a:p>
        </p:txBody>
      </p:sp>
      <p:sp>
        <p:nvSpPr>
          <p:cNvPr id="2" name="A repeatable launch approach that preserves each club’s">
            <a:extLst xmlns:a="http://schemas.openxmlformats.org/drawingml/2006/main">
              <a:ext uri="{FF2B5EF4-FFF2-40B4-BE49-F238E27FC236}">
                <a16:creationId xmlns:a16="http://schemas.microsoft.com/office/drawing/2014/main" id="{82CE8473-44CD-42EE-A04A-327C414D9214}"/>
              </a:ext>
            </a:extLst>
          </p:cNvPr>
          <p:cNvSpPr>
            <a:spLocks xmlns:a="http://schemas.openxmlformats.org/drawingml/2006/main" noGrp="1"/>
          </p:cNvSpPr>
          <p:nvPr/>
        </p:nvSpPr>
        <p:spPr>
          <a:xfrm xmlns:a="http://schemas.openxmlformats.org/drawingml/2006/main">
            <a:off x="609600" y="142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B6378"/>
                </a:solidFill>
                <a:latin typeface="Arial"/>
                <a:ea typeface="Arial"/>
                <a:cs typeface="Arial"/>
              </a:defRPr>
            </a:pPr>
            <a:r>
              <a:rPr sz="1950" b="0">
                <a:solidFill>
                  <a:srgbClr val="6B6378"/>
                </a:solidFill>
                <a:latin typeface="Arial"/>
                <a:ea typeface="Arial"/>
                <a:cs typeface="Arial"/>
              </a:rPr>
              <a:t>A repeatable launch approach that preserves each club’s identity and operating needs.</a:t>
            </a:r>
          </a:p>
        </p:txBody>
      </p:sp>
      <p:sp>
        <p:nvSpPr>
          <p:cNvPr id="3" name="04">
            <a:extLst xmlns:a="http://schemas.openxmlformats.org/drawingml/2006/main">
              <a:ext uri="{FF2B5EF4-FFF2-40B4-BE49-F238E27FC236}">
                <a16:creationId xmlns:a16="http://schemas.microsoft.com/office/drawing/2014/main" id="{21652C19-90AC-4185-8410-F9D6E40042F9}"/>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B6378"/>
                </a:solidFill>
                <a:latin typeface="Arial"/>
                <a:ea typeface="Arial"/>
                <a:cs typeface="Arial"/>
              </a:defRPr>
            </a:pPr>
            <a:r>
              <a:rPr sz="1200" b="0">
                <a:solidFill>
                  <a:srgbClr val="6B6378"/>
                </a:solidFill>
                <a:latin typeface="Arial"/>
                <a:ea typeface="Arial"/>
                <a:cs typeface="Arial"/>
              </a:rPr>
              <a:t>04</a:t>
            </a:r>
          </a:p>
        </p:txBody>
      </p:sp>
      <p:sp>
        <p:nvSpPr>
          <p:cNvPr id="4" name="At each location">
            <a:extLst xmlns:a="http://schemas.openxmlformats.org/drawingml/2006/main">
              <a:ext uri="{FF2B5EF4-FFF2-40B4-BE49-F238E27FC236}">
                <a16:creationId xmlns:a16="http://schemas.microsoft.com/office/drawing/2014/main" id="{4CA471EB-BA40-4815-9C16-259B82C753B1}"/>
              </a:ext>
            </a:extLst>
          </p:cNvPr>
          <p:cNvSpPr>
            <a:spLocks xmlns:a="http://schemas.openxmlformats.org/drawingml/2006/main" noGrp="1"/>
          </p:cNvSpPr>
          <p:nvPr/>
        </p:nvSpPr>
        <p:spPr>
          <a:xfrm xmlns:a="http://schemas.openxmlformats.org/drawingml/2006/main">
            <a:off x="609600" y="2457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753CE7"/>
                </a:solidFill>
                <a:latin typeface="Arial"/>
                <a:ea typeface="Arial"/>
                <a:cs typeface="Arial"/>
              </a:defRPr>
            </a:pPr>
            <a:r>
              <a:rPr sz="2550" b="1">
                <a:solidFill>
                  <a:srgbClr val="753CE7"/>
                </a:solidFill>
                <a:latin typeface="Arial"/>
                <a:ea typeface="Arial"/>
                <a:cs typeface="Arial"/>
              </a:rPr>
              <a:t>At each location</a:t>
            </a:r>
          </a:p>
        </p:txBody>
      </p:sp>
      <p:sp>
        <p:nvSpPr>
          <p:cNvPr id="5" name="Official club page and active deal&#10;Venue-specific owner">
            <a:extLst xmlns:a="http://schemas.openxmlformats.org/drawingml/2006/main">
              <a:ext uri="{FF2B5EF4-FFF2-40B4-BE49-F238E27FC236}">
                <a16:creationId xmlns:a16="http://schemas.microsoft.com/office/drawing/2014/main" id="{FA0E2671-F947-45E1-890C-F4E4BB8CC39D}"/>
              </a:ext>
            </a:extLst>
          </p:cNvPr>
          <p:cNvSpPr>
            <a:spLocks xmlns:a="http://schemas.openxmlformats.org/drawingml/2006/main" noGrp="1"/>
          </p:cNvSpPr>
          <p:nvPr/>
        </p:nvSpPr>
        <p:spPr>
          <a:xfrm xmlns:a="http://schemas.openxmlformats.org/drawingml/2006/main">
            <a:off x="609600" y="3143250"/>
            <a:ext cx="51435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Official club page and active deal</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Venue-specific owner and team access</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Current dancer check-in controls</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Pickup inbox and optional table requests</a:t>
            </a:r>
          </a:p>
        </p:txBody>
      </p:sp>
      <p:sp>
        <p:nvSpPr>
          <p:cNvPr id="6" name="Across the group">
            <a:extLst xmlns:a="http://schemas.openxmlformats.org/drawingml/2006/main">
              <a:ext uri="{FF2B5EF4-FFF2-40B4-BE49-F238E27FC236}">
                <a16:creationId xmlns:a16="http://schemas.microsoft.com/office/drawing/2014/main" id="{4254BBD1-54E8-4BE3-BBE6-124472F22C78}"/>
              </a:ext>
            </a:extLst>
          </p:cNvPr>
          <p:cNvSpPr>
            <a:spLocks xmlns:a="http://schemas.openxmlformats.org/drawingml/2006/main" noGrp="1"/>
          </p:cNvSpPr>
          <p:nvPr/>
        </p:nvSpPr>
        <p:spPr>
          <a:xfrm xmlns:a="http://schemas.openxmlformats.org/drawingml/2006/main">
            <a:off x="6515100" y="2457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753CE7"/>
                </a:solidFill>
                <a:latin typeface="Arial"/>
                <a:ea typeface="Arial"/>
                <a:cs typeface="Arial"/>
              </a:defRPr>
            </a:pPr>
            <a:r>
              <a:rPr sz="2550" b="1">
                <a:solidFill>
                  <a:srgbClr val="753CE7"/>
                </a:solidFill>
                <a:latin typeface="Arial"/>
                <a:ea typeface="Arial"/>
                <a:cs typeface="Arial"/>
              </a:rPr>
              <a:t>Across the group</a:t>
            </a:r>
          </a:p>
        </p:txBody>
      </p:sp>
      <p:sp>
        <p:nvSpPr>
          <p:cNvPr id="7" name="Shared brand and content standards&#10;Common KPIs and revi">
            <a:extLst xmlns:a="http://schemas.openxmlformats.org/drawingml/2006/main">
              <a:ext uri="{FF2B5EF4-FFF2-40B4-BE49-F238E27FC236}">
                <a16:creationId xmlns:a16="http://schemas.microsoft.com/office/drawing/2014/main" id="{8486AF61-FDEA-47C5-9EDB-1D0C54FF4541}"/>
              </a:ext>
            </a:extLst>
          </p:cNvPr>
          <p:cNvSpPr>
            <a:spLocks xmlns:a="http://schemas.openxmlformats.org/drawingml/2006/main" noGrp="1"/>
          </p:cNvSpPr>
          <p:nvPr/>
        </p:nvSpPr>
        <p:spPr>
          <a:xfrm xmlns:a="http://schemas.openxmlformats.org/drawingml/2006/main">
            <a:off x="6515100" y="3143250"/>
            <a:ext cx="5048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Shared brand and content standards</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Common KPIs and review cadence</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Local training and adoption champions</a:t>
            </a:r>
          </a:p>
          <a:p xmlns:a="http://schemas.openxmlformats.org/drawingml/2006/main">
            <a:pPr algn="l">
              <a:defRPr sz="2100" b="0">
                <a:solidFill>
                  <a:srgbClr val="171121"/>
                </a:solidFill>
                <a:latin typeface="Arial"/>
                <a:ea typeface="Arial"/>
                <a:cs typeface="Arial"/>
              </a:defRPr>
            </a:pPr>
            <a:r>
              <a:rPr sz="2100" b="0">
                <a:solidFill>
                  <a:srgbClr val="171121"/>
                </a:solidFill>
                <a:latin typeface="Arial"/>
                <a:ea typeface="Arial"/>
                <a:cs typeface="Arial"/>
              </a:rPr>
              <a:t>A repeatable playbook for expansion</a:t>
            </a:r>
          </a:p>
        </p:txBody>
      </p:sp>
      <p:sp>
        <p:nvSpPr>
          <p:cNvPr id="8" name="Proposed corporate setup: consolidated reporting and an">
            <a:extLst xmlns:a="http://schemas.openxmlformats.org/drawingml/2006/main">
              <a:ext uri="{FF2B5EF4-FFF2-40B4-BE49-F238E27FC236}">
                <a16:creationId xmlns:a16="http://schemas.microsoft.com/office/drawing/2014/main" id="{E3FBC5AC-C1FD-4FEE-B26C-7B529474F3C0}"/>
              </a:ext>
            </a:extLst>
          </p:cNvPr>
          <p:cNvSpPr>
            <a:spLocks xmlns:a="http://schemas.openxmlformats.org/drawingml/2006/main" noGrp="1"/>
          </p:cNvSpPr>
          <p:nvPr/>
        </p:nvSpPr>
        <p:spPr>
          <a:xfrm xmlns:a="http://schemas.openxmlformats.org/drawingml/2006/main">
            <a:off x="609600" y="57245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Proposed corporate setup: consolidated reporting and any POS, CRM or custom integrations are scoped during onboarding.</a:t>
            </a:r>
          </a:p>
        </p:txBody>
      </p:sp>
    </p:spTree>
    <p:extLst>
      <p:ext uri="{BB962C8B-B14F-4D97-AF65-F5344CB8AC3E}">
        <p14:creationId xmlns:p14="http://schemas.microsoft.com/office/powerpoint/2010/main" val="1091506112"/>
      </p:ext>
    </p:extLst>
  </p:cSld>
</p:sld>
</file>

<file path=ppt/slides/slide5.xml><?xml version="1.0" encoding="utf-8"?>
<p:sld xmlns:p="http://schemas.openxmlformats.org/presentationml/2006/main">
  <p:cSld>
    <p:bg>
      <p:bgPr>
        <a:solidFill xmlns:a="http://schemas.openxmlformats.org/drawingml/2006/main">
          <a:srgbClr val="F6F4FA"/>
        </a:solidFill>
      </p:bgPr>
    </p:bg>
    <p:spTree>
      <p:nvGrpSpPr>
        <p:cNvPr id="1" name=""/>
        <p:cNvGrpSpPr/>
        <p:nvPr/>
      </p:nvGrpSpPr>
      <p:grpSpPr>
        <a:xfrm xmlns:a="http://schemas.openxmlformats.org/drawingml/2006/main"/>
      </p:grpSpPr>
      <p:sp>
        <p:nvSpPr>
          <p:cNvPr id="7" name="Analytics tied to customer actions">
            <a:extLst xmlns:a="http://schemas.openxmlformats.org/drawingml/2006/main">
              <a:ext uri="{FF2B5EF4-FFF2-40B4-BE49-F238E27FC236}">
                <a16:creationId xmlns:a16="http://schemas.microsoft.com/office/drawing/2014/main" id="{21243A58-CC42-4CF2-8F6B-83646F8A4124}"/>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121"/>
                </a:solidFill>
                <a:latin typeface="Arial"/>
                <a:ea typeface="Arial"/>
                <a:cs typeface="Arial"/>
              </a:defRPr>
            </a:pPr>
            <a:r>
              <a:rPr sz="3600" b="1">
                <a:solidFill>
                  <a:srgbClr val="171121"/>
                </a:solidFill>
                <a:latin typeface="Arial"/>
                <a:ea typeface="Arial"/>
                <a:cs typeface="Arial"/>
              </a:rPr>
              <a:t>Analytics tied to customer actions</a:t>
            </a:r>
          </a:p>
        </p:txBody>
      </p:sp>
      <p:sp>
        <p:nvSpPr>
          <p:cNvPr id="2" name="Venue reports compare Tonight, 7 days and 30 days with ">
            <a:extLst xmlns:a="http://schemas.openxmlformats.org/drawingml/2006/main">
              <a:ext uri="{FF2B5EF4-FFF2-40B4-BE49-F238E27FC236}">
                <a16:creationId xmlns:a16="http://schemas.microsoft.com/office/drawing/2014/main" id="{5D5B76E8-A86E-418B-B51A-4805095EF872}"/>
              </a:ext>
            </a:extLst>
          </p:cNvPr>
          <p:cNvSpPr>
            <a:spLocks xmlns:a="http://schemas.openxmlformats.org/drawingml/2006/main" noGrp="1"/>
          </p:cNvSpPr>
          <p:nvPr/>
        </p:nvSpPr>
        <p:spPr>
          <a:xfrm xmlns:a="http://schemas.openxmlformats.org/drawingml/2006/main">
            <a:off x="609600" y="142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B6378"/>
                </a:solidFill>
                <a:latin typeface="Arial"/>
                <a:ea typeface="Arial"/>
                <a:cs typeface="Arial"/>
              </a:defRPr>
            </a:pPr>
            <a:r>
              <a:rPr sz="1950" b="0">
                <a:solidFill>
                  <a:srgbClr val="6B6378"/>
                </a:solidFill>
                <a:latin typeface="Arial"/>
                <a:ea typeface="Arial"/>
                <a:cs typeface="Arial"/>
              </a:rPr>
              <a:t>Venue reports compare Tonight, 7 days and 30 days with equivalent prior periods.</a:t>
            </a:r>
          </a:p>
        </p:txBody>
      </p:sp>
      <p:sp>
        <p:nvSpPr>
          <p:cNvPr id="3" name="05">
            <a:extLst xmlns:a="http://schemas.openxmlformats.org/drawingml/2006/main">
              <a:ext uri="{FF2B5EF4-FFF2-40B4-BE49-F238E27FC236}">
                <a16:creationId xmlns:a16="http://schemas.microsoft.com/office/drawing/2014/main" id="{ED1EF24B-64C7-4680-A147-E46944846D99}"/>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B6378"/>
                </a:solidFill>
                <a:latin typeface="Arial"/>
                <a:ea typeface="Arial"/>
                <a:cs typeface="Arial"/>
              </a:defRPr>
            </a:pPr>
            <a:r>
              <a:rPr sz="1200" b="0">
                <a:solidFill>
                  <a:srgbClr val="6B6378"/>
                </a:solidFill>
                <a:latin typeface="Arial"/>
                <a:ea typeface="Arial"/>
                <a:cs typeface="Arial"/>
              </a:rPr>
              <a:t>05</a:t>
            </a:r>
          </a:p>
        </p:txBody>
      </p:sp>
      <p:graphicFrame>
        <p:nvGraphicFramePr>
          <p:cNvPr id="10" name=""/>
          <p:cNvGraphicFramePr/>
          <p:nvPr/>
        </p:nvGraphicFramePr>
        <p:xfrm>
          <a:off xmlns:a="http://schemas.openxmlformats.org/drawingml/2006/main" x="609600" y="2371725"/>
          <a:ext xmlns:a="http://schemas.openxmlformats.org/drawingml/2006/main" cx="10972800" cy="2952750"/>
        </p:xfrm>
        <a:graphic xmlns:a="http://schemas.openxmlformats.org/drawingml/2006/main">
          <a:graphicData uri="http://schemas.openxmlformats.org/drawingml/2006/table">
            <a:tbl>
              <a:tblPr firstRow="0" bandRow="0"/>
              <a:tblGrid>
                <a:gridCol w="3562350"/>
                <a:gridCol w="7410450"/>
              </a:tblGrid>
              <a:tr h="590550">
                <a:tc>
                  <a:txBody>
                    <a:bodyPr/>
                    <a:lstStyle/>
                    <a:p>
                      <a:pPr algn="l"/>
                      <a:r>
                        <a:rPr sz="1800" b="1">
                          <a:solidFill>
                            <a:srgbClr val="FFFFFF"/>
                          </a:solidFill>
                          <a:latin typeface="Arial"/>
                          <a:ea typeface="Arial"/>
                          <a:cs typeface="Arial"/>
                        </a:rPr>
                        <a:t>What the app measures</a:t>
                      </a:r>
                    </a:p>
                  </a:txBody>
                  <a:tcPr marL="152400" marR="152400" marT="76200" marB="76200" anchor="ctr">
                    <a:solidFill>
                      <a:srgbClr val="171121"/>
                    </a:solidFill>
                  </a:tcPr>
                </a:tc>
                <a:tc>
                  <a:txBody>
                    <a:bodyPr/>
                    <a:lstStyle/>
                    <a:p>
                      <a:pPr algn="l"/>
                      <a:r>
                        <a:rPr sz="1800" b="1">
                          <a:solidFill>
                            <a:srgbClr val="FFFFFF"/>
                          </a:solidFill>
                          <a:latin typeface="Arial"/>
                          <a:ea typeface="Arial"/>
                          <a:cs typeface="Arial"/>
                        </a:rPr>
                        <a:t>How management can use it</a:t>
                      </a:r>
                    </a:p>
                  </a:txBody>
                  <a:tcPr marL="152400" marR="152400" marT="76200" marB="76200" anchor="ctr">
                    <a:solidFill>
                      <a:srgbClr val="171121"/>
                    </a:solidFill>
                  </a:tcPr>
                </a:tc>
              </a:tr>
              <a:tr h="590550">
                <a:tc>
                  <a:txBody>
                    <a:bodyPr/>
                    <a:lstStyle/>
                    <a:p>
                      <a:pPr algn="l"/>
                      <a:r>
                        <a:rPr sz="1800" b="1">
                          <a:solidFill>
                            <a:srgbClr val="171121"/>
                          </a:solidFill>
                          <a:latin typeface="Arial"/>
                          <a:ea typeface="Arial"/>
                          <a:cs typeface="Arial"/>
                        </a:rPr>
                        <a:t>Discovery and interest</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Review impressions, unique browsers, directions and follows.</a:t>
                      </a:r>
                    </a:p>
                  </a:txBody>
                  <a:tcPr marL="152400" marR="152400" marT="76200" marB="76200" anchor="ctr">
                    <a:solidFill>
                      <a:srgbClr val="F6F4FA"/>
                    </a:solidFill>
                  </a:tcPr>
                </a:tc>
              </a:tr>
              <a:tr h="590550">
                <a:tc>
                  <a:txBody>
                    <a:bodyPr/>
                    <a:lstStyle/>
                    <a:p>
                      <a:pPr algn="l"/>
                      <a:r>
                        <a:rPr sz="1800" b="1">
                          <a:solidFill>
                            <a:srgbClr val="171121"/>
                          </a:solidFill>
                          <a:latin typeface="Arial"/>
                          <a:ea typeface="Arial"/>
                          <a:cs typeface="Arial"/>
                        </a:rPr>
                        <a:t>Claims and admissions</a:t>
                      </a:r>
                    </a:p>
                  </a:txBody>
                  <a:tcPr marL="152400" marR="152400" marT="76200" marB="76200" anchor="ctr">
                    <a:solidFill>
                      <a:srgbClr val="ECE6F6"/>
                    </a:solidFill>
                  </a:tcPr>
                </a:tc>
                <a:tc>
                  <a:txBody>
                    <a:bodyPr/>
                    <a:lstStyle/>
                    <a:p>
                      <a:pPr algn="l"/>
                      <a:r>
                        <a:rPr sz="1800" b="0">
                          <a:solidFill>
                            <a:srgbClr val="171121"/>
                          </a:solidFill>
                          <a:latin typeface="Arial"/>
                          <a:ea typeface="Arial"/>
                          <a:cs typeface="Arial"/>
                        </a:rPr>
                        <a:t>Compare pass claims with verified redemptions.</a:t>
                      </a:r>
                    </a:p>
                  </a:txBody>
                  <a:tcPr marL="152400" marR="152400" marT="76200" marB="76200" anchor="ctr">
                    <a:solidFill>
                      <a:srgbClr val="ECE6F6"/>
                    </a:solidFill>
                  </a:tcPr>
                </a:tc>
              </a:tr>
              <a:tr h="590550">
                <a:tc>
                  <a:txBody>
                    <a:bodyPr/>
                    <a:lstStyle/>
                    <a:p>
                      <a:pPr algn="l"/>
                      <a:r>
                        <a:rPr sz="1800" b="1">
                          <a:solidFill>
                            <a:srgbClr val="171121"/>
                          </a:solidFill>
                          <a:latin typeface="Arial"/>
                          <a:ea typeface="Arial"/>
                          <a:cs typeface="Arial"/>
                        </a:rPr>
                        <a:t>Dancer and TV activity</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Identify content associated with clicks, claims and admissions.</a:t>
                      </a:r>
                    </a:p>
                  </a:txBody>
                  <a:tcPr marL="152400" marR="152400" marT="76200" marB="76200" anchor="ctr">
                    <a:solidFill>
                      <a:srgbClr val="F6F4FA"/>
                    </a:solidFill>
                  </a:tcPr>
                </a:tc>
              </a:tr>
              <a:tr h="590550">
                <a:tc>
                  <a:txBody>
                    <a:bodyPr/>
                    <a:lstStyle/>
                    <a:p>
                      <a:pPr algn="l"/>
                      <a:r>
                        <a:rPr sz="1800" b="1">
                          <a:solidFill>
                            <a:srgbClr val="171121"/>
                          </a:solidFill>
                          <a:latin typeface="Arial"/>
                          <a:ea typeface="Arial"/>
                          <a:cs typeface="Arial"/>
                        </a:rPr>
                        <a:t>Pickup demand</a:t>
                      </a:r>
                    </a:p>
                  </a:txBody>
                  <a:tcPr marL="152400" marR="152400" marT="76200" marB="76200" anchor="ctr">
                    <a:solidFill>
                      <a:srgbClr val="ECE6F6"/>
                    </a:solidFill>
                  </a:tcPr>
                </a:tc>
                <a:tc>
                  <a:txBody>
                    <a:bodyPr/>
                    <a:lstStyle/>
                    <a:p>
                      <a:pPr algn="l"/>
                      <a:r>
                        <a:rPr sz="1800" b="0">
                          <a:solidFill>
                            <a:srgbClr val="171121"/>
                          </a:solidFill>
                          <a:latin typeface="Arial"/>
                          <a:ea typeface="Arial"/>
                          <a:cs typeface="Arial"/>
                        </a:rPr>
                        <a:t>Review requests and passenger totals to plan follow-up.</a:t>
                      </a:r>
                    </a:p>
                  </a:txBody>
                  <a:tcPr marL="152400" marR="152400" marT="76200" marB="76200" anchor="ctr">
                    <a:solidFill>
                      <a:srgbClr val="ECE6F6"/>
                    </a:solidFill>
                  </a:tcPr>
                </a:tc>
              </a:tr>
            </a:tbl>
          </a:graphicData>
        </a:graphic>
      </p:graphicFrame>
      <p:sp>
        <p:nvSpPr>
          <p:cNvPr id="5" name="Verified admissions count redeemed passes at the venue.">
            <a:extLst xmlns:a="http://schemas.openxmlformats.org/drawingml/2006/main">
              <a:ext uri="{FF2B5EF4-FFF2-40B4-BE49-F238E27FC236}">
                <a16:creationId xmlns:a16="http://schemas.microsoft.com/office/drawing/2014/main" id="{96319544-6EB5-41C9-98DB-3C6B528A81FC}"/>
              </a:ext>
            </a:extLst>
          </p:cNvPr>
          <p:cNvSpPr>
            <a:spLocks xmlns:a="http://schemas.openxmlformats.org/drawingml/2006/main" noGrp="1"/>
          </p:cNvSpPr>
          <p:nvPr/>
        </p:nvSpPr>
        <p:spPr>
          <a:xfrm xmlns:a="http://schemas.openxmlformats.org/drawingml/2006/main">
            <a:off x="609600" y="5619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753CE7"/>
                </a:solidFill>
                <a:latin typeface="Arial"/>
                <a:ea typeface="Arial"/>
                <a:cs typeface="Arial"/>
              </a:defRPr>
            </a:pPr>
            <a:r>
              <a:rPr sz="1950" b="1">
                <a:solidFill>
                  <a:srgbClr val="753CE7"/>
                </a:solidFill>
                <a:latin typeface="Arial"/>
                <a:ea typeface="Arial"/>
                <a:cs typeface="Arial"/>
              </a:rPr>
              <a:t>Verified admissions count redeemed passes at the venue.</a:t>
            </a:r>
          </a:p>
        </p:txBody>
      </p:sp>
      <p:sp>
        <p:nvSpPr>
          <p:cNvPr id="6" name="Corporate ROI also needs your costs, margins and an agr">
            <a:extLst xmlns:a="http://schemas.openxmlformats.org/drawingml/2006/main">
              <a:ext uri="{FF2B5EF4-FFF2-40B4-BE49-F238E27FC236}">
                <a16:creationId xmlns:a16="http://schemas.microsoft.com/office/drawing/2014/main" id="{F9F047C8-540F-48A9-B1B9-9DF31E2CB353}"/>
              </a:ext>
            </a:extLst>
          </p:cNvPr>
          <p:cNvSpPr>
            <a:spLocks xmlns:a="http://schemas.openxmlformats.org/drawingml/2006/main" noGrp="1"/>
          </p:cNvSpPr>
          <p:nvPr/>
        </p:nvSpPr>
        <p:spPr>
          <a:xfrm xmlns:a="http://schemas.openxmlformats.org/drawingml/2006/main">
            <a:off x="609600" y="60674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6378"/>
                </a:solidFill>
                <a:latin typeface="Arial"/>
                <a:ea typeface="Arial"/>
                <a:cs typeface="Arial"/>
              </a:defRPr>
            </a:pPr>
            <a:r>
              <a:rPr sz="1650" b="0">
                <a:solidFill>
                  <a:srgbClr val="6B6378"/>
                </a:solidFill>
                <a:latin typeface="Arial"/>
                <a:ea typeface="Arial"/>
                <a:cs typeface="Arial"/>
              </a:rPr>
              <a:t>Corporate ROI also needs your costs, margins and an agreed method for measuring incremental visits.</a:t>
            </a:r>
          </a:p>
        </p:txBody>
      </p:sp>
    </p:spTree>
    <p:extLst>
      <p:ext uri="{BB962C8B-B14F-4D97-AF65-F5344CB8AC3E}">
        <p14:creationId xmlns:p14="http://schemas.microsoft.com/office/powerpoint/2010/main" val="1655972351"/>
      </p:ext>
    </p:extLst>
  </p:cSld>
</p:sld>
</file>

<file path=ppt/slides/slide6.xml><?xml version="1.0" encoding="utf-8"?>
<p:sld xmlns:p="http://schemas.openxmlformats.org/presentationml/2006/main">
  <p:cSld>
    <p:bg>
      <p:bgPr>
        <a:solidFill xmlns:a="http://schemas.openxmlformats.org/drawingml/2006/main">
          <a:srgbClr val="F6F4FA"/>
        </a:solidFill>
      </p:bgPr>
    </p:bg>
    <p:spTree>
      <p:nvGrpSpPr>
        <p:cNvPr id="1" name=""/>
        <p:cNvGrpSpPr/>
        <p:nvPr/>
      </p:nvGrpSpPr>
      <p:grpSpPr>
        <a:xfrm xmlns:a="http://schemas.openxmlformats.org/drawingml/2006/main"/>
      </p:grpSpPr>
      <p:sp>
        <p:nvSpPr>
          <p:cNvPr id="13" name="Illustrative monthly return on investment">
            <a:extLst xmlns:a="http://schemas.openxmlformats.org/drawingml/2006/main">
              <a:ext uri="{FF2B5EF4-FFF2-40B4-BE49-F238E27FC236}">
                <a16:creationId xmlns:a16="http://schemas.microsoft.com/office/drawing/2014/main" id="{A9E5CEDF-9EB6-4AAF-982D-0482E841DA74}"/>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121"/>
                </a:solidFill>
                <a:latin typeface="Arial"/>
                <a:ea typeface="Arial"/>
                <a:cs typeface="Arial"/>
              </a:defRPr>
            </a:pPr>
            <a:r>
              <a:rPr sz="3600" b="1">
                <a:solidFill>
                  <a:srgbClr val="171121"/>
                </a:solidFill>
                <a:latin typeface="Arial"/>
                <a:ea typeface="Arial"/>
                <a:cs typeface="Arial"/>
              </a:rPr>
              <a:t>Illustrative monthly return on investment</a:t>
            </a:r>
          </a:p>
        </p:txBody>
      </p:sp>
      <p:sp>
        <p:nvSpPr>
          <p:cNvPr id="2" name="Example assumptions for 10 locations. These are plannin">
            <a:extLst xmlns:a="http://schemas.openxmlformats.org/drawingml/2006/main">
              <a:ext uri="{FF2B5EF4-FFF2-40B4-BE49-F238E27FC236}">
                <a16:creationId xmlns:a16="http://schemas.microsoft.com/office/drawing/2014/main" id="{8DC69D7D-B804-40F1-ACB8-1BFEBFDD3EE0}"/>
              </a:ext>
            </a:extLst>
          </p:cNvPr>
          <p:cNvSpPr>
            <a:spLocks xmlns:a="http://schemas.openxmlformats.org/drawingml/2006/main" noGrp="1"/>
          </p:cNvSpPr>
          <p:nvPr/>
        </p:nvSpPr>
        <p:spPr>
          <a:xfrm xmlns:a="http://schemas.openxmlformats.org/drawingml/2006/main">
            <a:off x="609600" y="142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B6378"/>
                </a:solidFill>
                <a:latin typeface="Arial"/>
                <a:ea typeface="Arial"/>
                <a:cs typeface="Arial"/>
              </a:defRPr>
            </a:pPr>
            <a:r>
              <a:rPr sz="1950" b="0">
                <a:solidFill>
                  <a:srgbClr val="6B6378"/>
                </a:solidFill>
                <a:latin typeface="Arial"/>
                <a:ea typeface="Arial"/>
                <a:cs typeface="Arial"/>
              </a:rPr>
              <a:t>Example assumptions for 10 locations. These are planning inputs, not MyDancr pricing or results.</a:t>
            </a:r>
          </a:p>
        </p:txBody>
      </p:sp>
      <p:sp>
        <p:nvSpPr>
          <p:cNvPr id="3" name="06">
            <a:extLst xmlns:a="http://schemas.openxmlformats.org/drawingml/2006/main">
              <a:ext uri="{FF2B5EF4-FFF2-40B4-BE49-F238E27FC236}">
                <a16:creationId xmlns:a16="http://schemas.microsoft.com/office/drawing/2014/main" id="{5E437882-4F3D-423F-A4B2-8F7DA76984FB}"/>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B6378"/>
                </a:solidFill>
                <a:latin typeface="Arial"/>
                <a:ea typeface="Arial"/>
                <a:cs typeface="Arial"/>
              </a:defRPr>
            </a:pPr>
            <a:r>
              <a:rPr sz="1200" b="0">
                <a:solidFill>
                  <a:srgbClr val="6B6378"/>
                </a:solidFill>
                <a:latin typeface="Arial"/>
                <a:ea typeface="Arial"/>
                <a:cs typeface="Arial"/>
              </a:rPr>
              <a:t>06</a:t>
            </a:r>
          </a:p>
        </p:txBody>
      </p:sp>
      <p:sp>
        <p:nvSpPr>
          <p:cNvPr id="4" name="$40">
            <a:extLst xmlns:a="http://schemas.openxmlformats.org/drawingml/2006/main">
              <a:ext uri="{FF2B5EF4-FFF2-40B4-BE49-F238E27FC236}">
                <a16:creationId xmlns:a16="http://schemas.microsoft.com/office/drawing/2014/main" id="{7CACA7CB-B62A-40E8-B523-F387D98187C3}"/>
              </a:ext>
            </a:extLst>
          </p:cNvPr>
          <p:cNvSpPr>
            <a:spLocks xmlns:a="http://schemas.openxmlformats.org/drawingml/2006/main" noGrp="1"/>
          </p:cNvSpPr>
          <p:nvPr/>
        </p:nvSpPr>
        <p:spPr>
          <a:xfrm xmlns:a="http://schemas.openxmlformats.org/drawingml/2006/main">
            <a:off x="609600" y="2333625"/>
            <a:ext cx="2209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753CE7"/>
                </a:solidFill>
                <a:latin typeface="Arial"/>
                <a:ea typeface="Arial"/>
                <a:cs typeface="Arial"/>
              </a:defRPr>
            </a:pPr>
            <a:r>
              <a:rPr sz="4050" b="1">
                <a:solidFill>
                  <a:srgbClr val="753CE7"/>
                </a:solidFill>
                <a:latin typeface="Arial"/>
                <a:ea typeface="Arial"/>
                <a:cs typeface="Arial"/>
              </a:rPr>
              <a:t>$40</a:t>
            </a:r>
          </a:p>
        </p:txBody>
      </p:sp>
      <p:sp>
        <p:nvSpPr>
          <p:cNvPr id="5" name="Contribution per&#10;incremental visit">
            <a:extLst xmlns:a="http://schemas.openxmlformats.org/drawingml/2006/main">
              <a:ext uri="{FF2B5EF4-FFF2-40B4-BE49-F238E27FC236}">
                <a16:creationId xmlns:a16="http://schemas.microsoft.com/office/drawing/2014/main" id="{B74E881A-3DBB-489D-BA79-86587A89A91E}"/>
              </a:ext>
            </a:extLst>
          </p:cNvPr>
          <p:cNvSpPr>
            <a:spLocks xmlns:a="http://schemas.openxmlformats.org/drawingml/2006/main" noGrp="1"/>
          </p:cNvSpPr>
          <p:nvPr/>
        </p:nvSpPr>
        <p:spPr>
          <a:xfrm xmlns:a="http://schemas.openxmlformats.org/drawingml/2006/main">
            <a:off x="609600" y="301942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Contribution per</a:t>
            </a:r>
          </a:p>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incremental visit</a:t>
            </a:r>
          </a:p>
        </p:txBody>
      </p:sp>
      <p:sp>
        <p:nvSpPr>
          <p:cNvPr id="6" name="$1,500">
            <a:extLst xmlns:a="http://schemas.openxmlformats.org/drawingml/2006/main">
              <a:ext uri="{FF2B5EF4-FFF2-40B4-BE49-F238E27FC236}">
                <a16:creationId xmlns:a16="http://schemas.microsoft.com/office/drawing/2014/main" id="{E3342ED8-691A-4367-A1A0-D42C86A282D9}"/>
              </a:ext>
            </a:extLst>
          </p:cNvPr>
          <p:cNvSpPr>
            <a:spLocks xmlns:a="http://schemas.openxmlformats.org/drawingml/2006/main" noGrp="1"/>
          </p:cNvSpPr>
          <p:nvPr/>
        </p:nvSpPr>
        <p:spPr>
          <a:xfrm xmlns:a="http://schemas.openxmlformats.org/drawingml/2006/main">
            <a:off x="3857625" y="2333625"/>
            <a:ext cx="285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753CE7"/>
                </a:solidFill>
                <a:latin typeface="Arial"/>
                <a:ea typeface="Arial"/>
                <a:cs typeface="Arial"/>
              </a:defRPr>
            </a:pPr>
            <a:r>
              <a:rPr sz="4050" b="1">
                <a:solidFill>
                  <a:srgbClr val="753CE7"/>
                </a:solidFill>
                <a:latin typeface="Arial"/>
                <a:ea typeface="Arial"/>
                <a:cs typeface="Arial"/>
              </a:rPr>
              <a:t>$1,500</a:t>
            </a:r>
          </a:p>
        </p:txBody>
      </p:sp>
      <p:sp>
        <p:nvSpPr>
          <p:cNvPr id="7" name="Monthly program cost&#10;per location">
            <a:extLst xmlns:a="http://schemas.openxmlformats.org/drawingml/2006/main">
              <a:ext uri="{FF2B5EF4-FFF2-40B4-BE49-F238E27FC236}">
                <a16:creationId xmlns:a16="http://schemas.microsoft.com/office/drawing/2014/main" id="{6D1C0CFF-94D5-402A-92D0-9590F1A75FC6}"/>
              </a:ext>
            </a:extLst>
          </p:cNvPr>
          <p:cNvSpPr>
            <a:spLocks xmlns:a="http://schemas.openxmlformats.org/drawingml/2006/main" noGrp="1"/>
          </p:cNvSpPr>
          <p:nvPr/>
        </p:nvSpPr>
        <p:spPr>
          <a:xfrm xmlns:a="http://schemas.openxmlformats.org/drawingml/2006/main">
            <a:off x="3857625" y="3019425"/>
            <a:ext cx="2876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Monthly program cost</a:t>
            </a:r>
          </a:p>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per location</a:t>
            </a:r>
          </a:p>
        </p:txBody>
      </p:sp>
      <p:sp>
        <p:nvSpPr>
          <p:cNvPr id="8" name="38 visits">
            <a:extLst xmlns:a="http://schemas.openxmlformats.org/drawingml/2006/main">
              <a:ext uri="{FF2B5EF4-FFF2-40B4-BE49-F238E27FC236}">
                <a16:creationId xmlns:a16="http://schemas.microsoft.com/office/drawing/2014/main" id="{2714FA68-99AE-4872-B1E4-BE5A4D40B813}"/>
              </a:ext>
            </a:extLst>
          </p:cNvPr>
          <p:cNvSpPr>
            <a:spLocks xmlns:a="http://schemas.openxmlformats.org/drawingml/2006/main" noGrp="1"/>
          </p:cNvSpPr>
          <p:nvPr/>
        </p:nvSpPr>
        <p:spPr>
          <a:xfrm xmlns:a="http://schemas.openxmlformats.org/drawingml/2006/main">
            <a:off x="7867650" y="2333625"/>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753CE7"/>
                </a:solidFill>
                <a:latin typeface="Arial"/>
                <a:ea typeface="Arial"/>
                <a:cs typeface="Arial"/>
              </a:defRPr>
            </a:pPr>
            <a:r>
              <a:rPr sz="4050" b="1">
                <a:solidFill>
                  <a:srgbClr val="753CE7"/>
                </a:solidFill>
                <a:latin typeface="Arial"/>
                <a:ea typeface="Arial"/>
                <a:cs typeface="Arial"/>
              </a:rPr>
              <a:t>38 visits</a:t>
            </a:r>
          </a:p>
        </p:txBody>
      </p:sp>
      <p:sp>
        <p:nvSpPr>
          <p:cNvPr id="9" name="Monthly break-even&#10;per location, rounded up">
            <a:extLst xmlns:a="http://schemas.openxmlformats.org/drawingml/2006/main">
              <a:ext uri="{FF2B5EF4-FFF2-40B4-BE49-F238E27FC236}">
                <a16:creationId xmlns:a16="http://schemas.microsoft.com/office/drawing/2014/main" id="{E17B92EB-04F9-4A69-A83D-43E6646F7190}"/>
              </a:ext>
            </a:extLst>
          </p:cNvPr>
          <p:cNvSpPr>
            <a:spLocks xmlns:a="http://schemas.openxmlformats.org/drawingml/2006/main" noGrp="1"/>
          </p:cNvSpPr>
          <p:nvPr/>
        </p:nvSpPr>
        <p:spPr>
          <a:xfrm xmlns:a="http://schemas.openxmlformats.org/drawingml/2006/main">
            <a:off x="7867650" y="301942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Monthly break-even</a:t>
            </a:r>
          </a:p>
          <a:p xmlns:a="http://schemas.openxmlformats.org/drawingml/2006/main">
            <a:pPr algn="l">
              <a:defRPr sz="1800" b="0">
                <a:solidFill>
                  <a:srgbClr val="171121"/>
                </a:solidFill>
                <a:latin typeface="Arial"/>
                <a:ea typeface="Arial"/>
                <a:cs typeface="Arial"/>
              </a:defRPr>
            </a:pPr>
            <a:r>
              <a:rPr sz="1800" b="0">
                <a:solidFill>
                  <a:srgbClr val="171121"/>
                </a:solidFill>
                <a:latin typeface="Arial"/>
                <a:ea typeface="Arial"/>
                <a:cs typeface="Arial"/>
              </a:rPr>
              <a:t>per location, rounded up</a:t>
            </a:r>
          </a:p>
        </p:txBody>
      </p:sp>
      <p:graphicFrame>
        <p:nvGraphicFramePr>
          <p:cNvPr id="22" name=""/>
          <p:cNvGraphicFramePr/>
          <p:nvPr/>
        </p:nvGraphicFramePr>
        <p:xfrm>
          <a:off xmlns:a="http://schemas.openxmlformats.org/drawingml/2006/main" x="609600" y="3933825"/>
          <a:ext xmlns:a="http://schemas.openxmlformats.org/drawingml/2006/main" cx="10972800" cy="1752600"/>
        </p:xfrm>
        <a:graphic xmlns:a="http://schemas.openxmlformats.org/drawingml/2006/main">
          <a:graphicData uri="http://schemas.openxmlformats.org/drawingml/2006/table">
            <a:tbl>
              <a:tblPr firstRow="0" bandRow="0"/>
              <a:tblGrid>
                <a:gridCol w="2238375"/>
                <a:gridCol w="3381375"/>
                <a:gridCol w="3238500"/>
                <a:gridCol w="2114550"/>
              </a:tblGrid>
              <a:tr h="438150">
                <a:tc>
                  <a:txBody>
                    <a:bodyPr/>
                    <a:lstStyle/>
                    <a:p>
                      <a:pPr algn="l"/>
                      <a:r>
                        <a:rPr sz="1800" b="1">
                          <a:solidFill>
                            <a:srgbClr val="FFFFFF"/>
                          </a:solidFill>
                          <a:latin typeface="Arial"/>
                          <a:ea typeface="Arial"/>
                          <a:cs typeface="Arial"/>
                        </a:rPr>
                        <a:t>Scenario</a:t>
                      </a:r>
                    </a:p>
                  </a:txBody>
                  <a:tcPr marL="152400" marR="152400" marT="76200" marB="76200" anchor="ctr">
                    <a:solidFill>
                      <a:srgbClr val="171121"/>
                    </a:solidFill>
                  </a:tcPr>
                </a:tc>
                <a:tc>
                  <a:txBody>
                    <a:bodyPr/>
                    <a:lstStyle/>
                    <a:p>
                      <a:pPr algn="l"/>
                      <a:r>
                        <a:rPr sz="1800" b="1">
                          <a:solidFill>
                            <a:srgbClr val="FFFFFF"/>
                          </a:solidFill>
                          <a:latin typeface="Arial"/>
                          <a:ea typeface="Arial"/>
                          <a:cs typeface="Arial"/>
                        </a:rPr>
                        <a:t>Extra visits / location</a:t>
                      </a:r>
                    </a:p>
                  </a:txBody>
                  <a:tcPr marL="152400" marR="152400" marT="76200" marB="76200" anchor="ctr">
                    <a:solidFill>
                      <a:srgbClr val="171121"/>
                    </a:solidFill>
                  </a:tcPr>
                </a:tc>
                <a:tc>
                  <a:txBody>
                    <a:bodyPr/>
                    <a:lstStyle/>
                    <a:p>
                      <a:pPr algn="l"/>
                      <a:r>
                        <a:rPr sz="1800" b="1">
                          <a:solidFill>
                            <a:srgbClr val="FFFFFF"/>
                          </a:solidFill>
                          <a:latin typeface="Arial"/>
                          <a:ea typeface="Arial"/>
                          <a:cs typeface="Arial"/>
                        </a:rPr>
                        <a:t>Group net benefit</a:t>
                      </a:r>
                    </a:p>
                  </a:txBody>
                  <a:tcPr marL="152400" marR="152400" marT="76200" marB="76200" anchor="ctr">
                    <a:solidFill>
                      <a:srgbClr val="171121"/>
                    </a:solidFill>
                  </a:tcPr>
                </a:tc>
                <a:tc>
                  <a:txBody>
                    <a:bodyPr/>
                    <a:lstStyle/>
                    <a:p>
                      <a:pPr algn="l"/>
                      <a:r>
                        <a:rPr sz="1800" b="1">
                          <a:solidFill>
                            <a:srgbClr val="FFFFFF"/>
                          </a:solidFill>
                          <a:latin typeface="Arial"/>
                          <a:ea typeface="Arial"/>
                          <a:cs typeface="Arial"/>
                        </a:rPr>
                        <a:t>ROI</a:t>
                      </a:r>
                    </a:p>
                  </a:txBody>
                  <a:tcPr marL="152400" marR="152400" marT="76200" marB="76200" anchor="ctr">
                    <a:solidFill>
                      <a:srgbClr val="171121"/>
                    </a:solidFill>
                  </a:tcPr>
                </a:tc>
              </a:tr>
              <a:tr h="438150">
                <a:tc>
                  <a:txBody>
                    <a:bodyPr/>
                    <a:lstStyle/>
                    <a:p>
                      <a:pPr algn="l"/>
                      <a:r>
                        <a:rPr sz="1800" b="1">
                          <a:solidFill>
                            <a:srgbClr val="171121"/>
                          </a:solidFill>
                          <a:latin typeface="Arial"/>
                          <a:ea typeface="Arial"/>
                          <a:cs typeface="Arial"/>
                        </a:rPr>
                        <a:t>Lower</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50</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$5,000</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33%</a:t>
                      </a:r>
                    </a:p>
                  </a:txBody>
                  <a:tcPr marL="152400" marR="152400" marT="76200" marB="76200" anchor="ctr">
                    <a:solidFill>
                      <a:srgbClr val="F6F4FA"/>
                    </a:solidFill>
                  </a:tcPr>
                </a:tc>
              </a:tr>
              <a:tr h="438150">
                <a:tc>
                  <a:txBody>
                    <a:bodyPr/>
                    <a:lstStyle/>
                    <a:p>
                      <a:pPr algn="l"/>
                      <a:r>
                        <a:rPr sz="1800" b="1">
                          <a:solidFill>
                            <a:srgbClr val="171121"/>
                          </a:solidFill>
                          <a:latin typeface="Arial"/>
                          <a:ea typeface="Arial"/>
                          <a:cs typeface="Arial"/>
                        </a:rPr>
                        <a:t>Base</a:t>
                      </a:r>
                    </a:p>
                  </a:txBody>
                  <a:tcPr marL="152400" marR="152400" marT="76200" marB="76200" anchor="ctr">
                    <a:solidFill>
                      <a:srgbClr val="ECE6F6"/>
                    </a:solidFill>
                  </a:tcPr>
                </a:tc>
                <a:tc>
                  <a:txBody>
                    <a:bodyPr/>
                    <a:lstStyle/>
                    <a:p>
                      <a:pPr algn="l"/>
                      <a:r>
                        <a:rPr sz="1800" b="0">
                          <a:solidFill>
                            <a:srgbClr val="171121"/>
                          </a:solidFill>
                          <a:latin typeface="Arial"/>
                          <a:ea typeface="Arial"/>
                          <a:cs typeface="Arial"/>
                        </a:rPr>
                        <a:t>100</a:t>
                      </a:r>
                    </a:p>
                  </a:txBody>
                  <a:tcPr marL="152400" marR="152400" marT="76200" marB="76200" anchor="ctr">
                    <a:solidFill>
                      <a:srgbClr val="ECE6F6"/>
                    </a:solidFill>
                  </a:tcPr>
                </a:tc>
                <a:tc>
                  <a:txBody>
                    <a:bodyPr/>
                    <a:lstStyle/>
                    <a:p>
                      <a:pPr algn="l"/>
                      <a:r>
                        <a:rPr sz="1800" b="0">
                          <a:solidFill>
                            <a:srgbClr val="171121"/>
                          </a:solidFill>
                          <a:latin typeface="Arial"/>
                          <a:ea typeface="Arial"/>
                          <a:cs typeface="Arial"/>
                        </a:rPr>
                        <a:t>$25,000</a:t>
                      </a:r>
                    </a:p>
                  </a:txBody>
                  <a:tcPr marL="152400" marR="152400" marT="76200" marB="76200" anchor="ctr">
                    <a:solidFill>
                      <a:srgbClr val="ECE6F6"/>
                    </a:solidFill>
                  </a:tcPr>
                </a:tc>
                <a:tc>
                  <a:txBody>
                    <a:bodyPr/>
                    <a:lstStyle/>
                    <a:p>
                      <a:pPr algn="l"/>
                      <a:r>
                        <a:rPr sz="1800" b="0">
                          <a:solidFill>
                            <a:srgbClr val="171121"/>
                          </a:solidFill>
                          <a:latin typeface="Arial"/>
                          <a:ea typeface="Arial"/>
                          <a:cs typeface="Arial"/>
                        </a:rPr>
                        <a:t>167%</a:t>
                      </a:r>
                    </a:p>
                  </a:txBody>
                  <a:tcPr marL="152400" marR="152400" marT="76200" marB="76200" anchor="ctr">
                    <a:solidFill>
                      <a:srgbClr val="ECE6F6"/>
                    </a:solidFill>
                  </a:tcPr>
                </a:tc>
              </a:tr>
              <a:tr h="438150">
                <a:tc>
                  <a:txBody>
                    <a:bodyPr/>
                    <a:lstStyle/>
                    <a:p>
                      <a:pPr algn="l"/>
                      <a:r>
                        <a:rPr sz="1800" b="1">
                          <a:solidFill>
                            <a:srgbClr val="171121"/>
                          </a:solidFill>
                          <a:latin typeface="Arial"/>
                          <a:ea typeface="Arial"/>
                          <a:cs typeface="Arial"/>
                        </a:rPr>
                        <a:t>Higher</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200</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$65,000</a:t>
                      </a:r>
                    </a:p>
                  </a:txBody>
                  <a:tcPr marL="152400" marR="152400" marT="76200" marB="76200" anchor="ctr">
                    <a:solidFill>
                      <a:srgbClr val="F6F4FA"/>
                    </a:solidFill>
                  </a:tcPr>
                </a:tc>
                <a:tc>
                  <a:txBody>
                    <a:bodyPr/>
                    <a:lstStyle/>
                    <a:p>
                      <a:pPr algn="l"/>
                      <a:r>
                        <a:rPr sz="1800" b="0">
                          <a:solidFill>
                            <a:srgbClr val="171121"/>
                          </a:solidFill>
                          <a:latin typeface="Arial"/>
                          <a:ea typeface="Arial"/>
                          <a:cs typeface="Arial"/>
                        </a:rPr>
                        <a:t>433%</a:t>
                      </a:r>
                    </a:p>
                  </a:txBody>
                  <a:tcPr marL="152400" marR="152400" marT="76200" marB="76200" anchor="ctr">
                    <a:solidFill>
                      <a:srgbClr val="F6F4FA"/>
                    </a:solidFill>
                  </a:tcPr>
                </a:tc>
              </a:tr>
            </a:tbl>
          </a:graphicData>
        </a:graphic>
      </p:graphicFrame>
      <p:sp>
        <p:nvSpPr>
          <p:cNvPr id="11" name="ROI = (incremental contribution − total program cost) ÷">
            <a:extLst xmlns:a="http://schemas.openxmlformats.org/drawingml/2006/main">
              <a:ext uri="{FF2B5EF4-FFF2-40B4-BE49-F238E27FC236}">
                <a16:creationId xmlns:a16="http://schemas.microsoft.com/office/drawing/2014/main" id="{9BA62026-D592-4406-8FCD-46D90A442856}"/>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1121"/>
                </a:solidFill>
                <a:latin typeface="Arial"/>
                <a:ea typeface="Arial"/>
                <a:cs typeface="Arial"/>
              </a:defRPr>
            </a:pPr>
            <a:r>
              <a:rPr sz="1725" b="0">
                <a:solidFill>
                  <a:srgbClr val="171121"/>
                </a:solidFill>
                <a:latin typeface="Arial"/>
                <a:ea typeface="Arial"/>
                <a:cs typeface="Arial"/>
              </a:rPr>
              <a:t>ROI = (incremental contribution − total program cost) ÷ total program cost</a:t>
            </a:r>
          </a:p>
        </p:txBody>
      </p:sp>
      <p:sp>
        <p:nvSpPr>
          <p:cNvPr id="12" name="Contribution is after variable costs and offer impact. ">
            <a:extLst xmlns:a="http://schemas.openxmlformats.org/drawingml/2006/main">
              <a:ext uri="{FF2B5EF4-FFF2-40B4-BE49-F238E27FC236}">
                <a16:creationId xmlns:a16="http://schemas.microsoft.com/office/drawing/2014/main" id="{162BEF30-96A0-49EC-BDBF-0AEF8CF1B72B}"/>
              </a:ext>
            </a:extLst>
          </p:cNvPr>
          <p:cNvSpPr>
            <a:spLocks xmlns:a="http://schemas.openxmlformats.org/drawingml/2006/main" noGrp="1"/>
          </p:cNvSpPr>
          <p:nvPr/>
        </p:nvSpPr>
        <p:spPr>
          <a:xfrm xmlns:a="http://schemas.openxmlformats.org/drawingml/2006/main">
            <a:off x="609600" y="627697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B6378"/>
                </a:solidFill>
                <a:latin typeface="Arial"/>
                <a:ea typeface="Arial"/>
                <a:cs typeface="Arial"/>
              </a:defRPr>
            </a:pPr>
            <a:r>
              <a:rPr sz="1425" b="0">
                <a:solidFill>
                  <a:srgbClr val="6B6378"/>
                </a:solidFill>
                <a:latin typeface="Arial"/>
                <a:ea typeface="Arial"/>
                <a:cs typeface="Arial"/>
              </a:rPr>
              <a:t>Contribution is after variable costs and offer impact. Include fees, launch effort and ongoing operating costs.</a:t>
            </a:r>
          </a:p>
        </p:txBody>
      </p:sp>
    </p:spTree>
    <p:extLst>
      <p:ext uri="{BB962C8B-B14F-4D97-AF65-F5344CB8AC3E}">
        <p14:creationId xmlns:p14="http://schemas.microsoft.com/office/powerpoint/2010/main" val="675688727"/>
      </p:ext>
    </p:extLst>
  </p:cSld>
</p:sld>
</file>

<file path=ppt/slides/slide7.xml><?xml version="1.0" encoding="utf-8"?>
<p:sld xmlns:p="http://schemas.openxmlformats.org/presentationml/2006/main">
  <p:cSld>
    <p:bg>
      <p:bgPr>
        <a:solidFill xmlns:a="http://schemas.openxmlformats.org/drawingml/2006/main">
          <a:srgbClr val="F6F4FA"/>
        </a:solidFill>
      </p:bgPr>
    </p:bg>
    <p:spTree>
      <p:nvGrpSpPr>
        <p:cNvPr id="1" name=""/>
        <p:cNvGrpSpPr/>
        <p:nvPr/>
      </p:nvGrpSpPr>
      <p:grpSpPr>
        <a:xfrm xmlns:a="http://schemas.openxmlformats.org/drawingml/2006/main"/>
      </p:grpSpPr>
      <p:sp>
        <p:nvSpPr>
          <p:cNvPr id="10" name="Sharing can compound external discovery">
            <a:extLst xmlns:a="http://schemas.openxmlformats.org/drawingml/2006/main">
              <a:ext uri="{FF2B5EF4-FFF2-40B4-BE49-F238E27FC236}">
                <a16:creationId xmlns:a16="http://schemas.microsoft.com/office/drawing/2014/main" id="{F7B293AE-FB52-4658-9BA9-CAB3B37BFD08}"/>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121"/>
                </a:solidFill>
                <a:latin typeface="Arial"/>
                <a:ea typeface="Arial"/>
                <a:cs typeface="Arial"/>
              </a:defRPr>
            </a:pPr>
            <a:r>
              <a:rPr sz="3600" b="1">
                <a:solidFill>
                  <a:srgbClr val="171121"/>
                </a:solidFill>
                <a:latin typeface="Arial"/>
                <a:ea typeface="Arial"/>
                <a:cs typeface="Arial"/>
              </a:rPr>
              <a:t>Sharing can compound external discovery</a:t>
            </a:r>
          </a:p>
        </p:txBody>
      </p:sp>
      <p:sp>
        <p:nvSpPr>
          <p:cNvPr id="2" name="Club and dancer links can reach audiences beyond your c">
            <a:extLst xmlns:a="http://schemas.openxmlformats.org/drawingml/2006/main">
              <a:ext uri="{FF2B5EF4-FFF2-40B4-BE49-F238E27FC236}">
                <a16:creationId xmlns:a16="http://schemas.microsoft.com/office/drawing/2014/main" id="{FD7A4A5A-1326-4BF5-A72B-7C0412F98347}"/>
              </a:ext>
            </a:extLst>
          </p:cNvPr>
          <p:cNvSpPr>
            <a:spLocks xmlns:a="http://schemas.openxmlformats.org/drawingml/2006/main" noGrp="1"/>
          </p:cNvSpPr>
          <p:nvPr/>
        </p:nvSpPr>
        <p:spPr>
          <a:xfrm xmlns:a="http://schemas.openxmlformats.org/drawingml/2006/main">
            <a:off x="609600" y="142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B6378"/>
                </a:solidFill>
                <a:latin typeface="Arial"/>
                <a:ea typeface="Arial"/>
                <a:cs typeface="Arial"/>
              </a:defRPr>
            </a:pPr>
            <a:r>
              <a:rPr sz="1950" b="0">
                <a:solidFill>
                  <a:srgbClr val="6B6378"/>
                </a:solidFill>
                <a:latin typeface="Arial"/>
                <a:ea typeface="Arial"/>
                <a:cs typeface="Arial"/>
              </a:rPr>
              <a:t>Club and dancer links can reach audiences beyond your current followers and customer list.</a:t>
            </a:r>
          </a:p>
        </p:txBody>
      </p:sp>
      <p:sp>
        <p:nvSpPr>
          <p:cNvPr id="3" name="07">
            <a:extLst xmlns:a="http://schemas.openxmlformats.org/drawingml/2006/main">
              <a:ext uri="{FF2B5EF4-FFF2-40B4-BE49-F238E27FC236}">
                <a16:creationId xmlns:a16="http://schemas.microsoft.com/office/drawing/2014/main" id="{5DA23F33-E57D-43BE-A556-71ACCB69379C}"/>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B6378"/>
                </a:solidFill>
                <a:latin typeface="Arial"/>
                <a:ea typeface="Arial"/>
                <a:cs typeface="Arial"/>
              </a:defRPr>
            </a:pPr>
            <a:r>
              <a:rPr sz="1200" b="0">
                <a:solidFill>
                  <a:srgbClr val="6B6378"/>
                </a:solidFill>
                <a:latin typeface="Arial"/>
                <a:ea typeface="Arial"/>
                <a:cs typeface="Arial"/>
              </a:rPr>
              <a:t>07</a:t>
            </a:r>
          </a:p>
        </p:txBody>
      </p:sp>
      <p:graphicFrame>
        <p:nvGraphicFramePr>
          <p:cNvPr id="13" name="Chart"/>
          <p:cNvGraphicFramePr/>
          <p:nvPr/>
        </p:nvGraphicFramePr>
        <p:xfrm>
          <a:off xmlns:a="http://schemas.openxmlformats.org/drawingml/2006/main" x="609600" y="2286000"/>
          <a:ext xmlns:a="http://schemas.openxmlformats.org/drawingml/2006/main" cx="7086600" cy="3562350"/>
        </p:xfrm>
        <a:graphic xmlns:a="http://schemas.openxmlformats.org/drawingml/2006/main">
          <a:graphicData uri="http://schemas.openxmlformats.org/drawingml/2006/chart">
            <c:chart xmlns:r="http://schemas.openxmlformats.org/officeDocument/2006/relationships" xmlns:c="http://schemas.openxmlformats.org/drawingml/2006/chart" r:id="Rbe5769027dba41a3"/>
          </a:graphicData>
        </a:graphic>
      </p:graphicFrame>
      <p:sp>
        <p:nvSpPr>
          <p:cNvPr id="5" name="4.8×">
            <a:extLst xmlns:a="http://schemas.openxmlformats.org/drawingml/2006/main">
              <a:ext uri="{FF2B5EF4-FFF2-40B4-BE49-F238E27FC236}">
                <a16:creationId xmlns:a16="http://schemas.microsoft.com/office/drawing/2014/main" id="{A41ACD0B-E8F9-421F-BD03-40B28EBA5350}"/>
              </a:ext>
            </a:extLst>
          </p:cNvPr>
          <p:cNvSpPr>
            <a:spLocks xmlns:a="http://schemas.openxmlformats.org/drawingml/2006/main" noGrp="1"/>
          </p:cNvSpPr>
          <p:nvPr/>
        </p:nvSpPr>
        <p:spPr>
          <a:xfrm xmlns:a="http://schemas.openxmlformats.org/drawingml/2006/main">
            <a:off x="8362950" y="2343150"/>
            <a:ext cx="304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753CE7"/>
                </a:solidFill>
                <a:latin typeface="Arial"/>
                <a:ea typeface="Arial"/>
                <a:cs typeface="Arial"/>
              </a:defRPr>
            </a:pPr>
            <a:r>
              <a:rPr sz="5400" b="1">
                <a:solidFill>
                  <a:srgbClr val="753CE7"/>
                </a:solidFill>
                <a:latin typeface="Arial"/>
                <a:ea typeface="Arial"/>
                <a:cs typeface="Arial"/>
              </a:rPr>
              <a:t>4.8×</a:t>
            </a:r>
          </a:p>
        </p:txBody>
      </p:sp>
      <p:sp>
        <p:nvSpPr>
          <p:cNvPr id="6" name="larger generation after&#10;six cycles at K = 1.3">
            <a:extLst xmlns:a="http://schemas.openxmlformats.org/drawingml/2006/main">
              <a:ext uri="{FF2B5EF4-FFF2-40B4-BE49-F238E27FC236}">
                <a16:creationId xmlns:a16="http://schemas.microsoft.com/office/drawing/2014/main" id="{0FC9A8B5-A4A3-4FDC-90D2-DFAFCE237D6B}"/>
              </a:ext>
            </a:extLst>
          </p:cNvPr>
          <p:cNvSpPr>
            <a:spLocks xmlns:a="http://schemas.openxmlformats.org/drawingml/2006/main" noGrp="1"/>
          </p:cNvSpPr>
          <p:nvPr/>
        </p:nvSpPr>
        <p:spPr>
          <a:xfrm xmlns:a="http://schemas.openxmlformats.org/drawingml/2006/main">
            <a:off x="8362950" y="3286125"/>
            <a:ext cx="30384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121"/>
                </a:solidFill>
                <a:latin typeface="Arial"/>
                <a:ea typeface="Arial"/>
                <a:cs typeface="Arial"/>
              </a:defRPr>
            </a:pPr>
            <a:r>
              <a:rPr sz="2025" b="1">
                <a:solidFill>
                  <a:srgbClr val="171121"/>
                </a:solidFill>
                <a:latin typeface="Arial"/>
                <a:ea typeface="Arial"/>
                <a:cs typeface="Arial"/>
              </a:rPr>
              <a:t>larger generation after</a:t>
            </a:r>
          </a:p>
          <a:p xmlns:a="http://schemas.openxmlformats.org/drawingml/2006/main">
            <a:pPr algn="l">
              <a:defRPr sz="2025" b="1">
                <a:solidFill>
                  <a:srgbClr val="171121"/>
                </a:solidFill>
                <a:latin typeface="Arial"/>
                <a:ea typeface="Arial"/>
                <a:cs typeface="Arial"/>
              </a:defRPr>
            </a:pPr>
            <a:r>
              <a:rPr sz="2025" b="1">
                <a:solidFill>
                  <a:srgbClr val="171121"/>
                </a:solidFill>
                <a:latin typeface="Arial"/>
                <a:ea typeface="Arial"/>
                <a:cs typeface="Arial"/>
              </a:rPr>
              <a:t>six cycles at K = 1.3</a:t>
            </a:r>
          </a:p>
        </p:txBody>
      </p:sp>
      <p:sp>
        <p:nvSpPr>
          <p:cNvPr id="7" name="K is the average number of&#10;new app visitors each visito">
            <a:extLst xmlns:a="http://schemas.openxmlformats.org/drawingml/2006/main">
              <a:ext uri="{FF2B5EF4-FFF2-40B4-BE49-F238E27FC236}">
                <a16:creationId xmlns:a16="http://schemas.microsoft.com/office/drawing/2014/main" id="{A155143A-DD4B-4614-B48A-4550DCAD8256}"/>
              </a:ext>
            </a:extLst>
          </p:cNvPr>
          <p:cNvSpPr>
            <a:spLocks xmlns:a="http://schemas.openxmlformats.org/drawingml/2006/main" noGrp="1"/>
          </p:cNvSpPr>
          <p:nvPr/>
        </p:nvSpPr>
        <p:spPr>
          <a:xfrm xmlns:a="http://schemas.openxmlformats.org/drawingml/2006/main">
            <a:off x="8362950" y="42767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B6378"/>
                </a:solidFill>
                <a:latin typeface="Arial"/>
                <a:ea typeface="Arial"/>
                <a:cs typeface="Arial"/>
              </a:defRPr>
            </a:pPr>
            <a:r>
              <a:rPr sz="1800" b="0">
                <a:solidFill>
                  <a:srgbClr val="6B6378"/>
                </a:solidFill>
                <a:latin typeface="Arial"/>
                <a:ea typeface="Arial"/>
                <a:cs typeface="Arial"/>
              </a:rPr>
              <a:t>K is the average number of</a:t>
            </a:r>
          </a:p>
          <a:p xmlns:a="http://schemas.openxmlformats.org/drawingml/2006/main">
            <a:pPr algn="l">
              <a:defRPr sz="1800" b="0">
                <a:solidFill>
                  <a:srgbClr val="6B6378"/>
                </a:solidFill>
                <a:latin typeface="Arial"/>
                <a:ea typeface="Arial"/>
                <a:cs typeface="Arial"/>
              </a:defRPr>
            </a:pPr>
            <a:r>
              <a:rPr sz="1800" b="0">
                <a:solidFill>
                  <a:srgbClr val="6B6378"/>
                </a:solidFill>
                <a:latin typeface="Arial"/>
                <a:ea typeface="Arial"/>
                <a:cs typeface="Arial"/>
              </a:rPr>
              <a:t>new app visitors each visitor</a:t>
            </a:r>
          </a:p>
          <a:p xmlns:a="http://schemas.openxmlformats.org/drawingml/2006/main">
            <a:pPr algn="l">
              <a:defRPr sz="1800" b="0">
                <a:solidFill>
                  <a:srgbClr val="6B6378"/>
                </a:solidFill>
                <a:latin typeface="Arial"/>
                <a:ea typeface="Arial"/>
                <a:cs typeface="Arial"/>
              </a:defRPr>
            </a:pPr>
            <a:r>
              <a:rPr sz="1800" b="0">
                <a:solidFill>
                  <a:srgbClr val="6B6378"/>
                </a:solidFill>
                <a:latin typeface="Arial"/>
                <a:ea typeface="Arial"/>
                <a:cs typeface="Arial"/>
              </a:rPr>
              <a:t>brings in the next cycle.</a:t>
            </a:r>
          </a:p>
        </p:txBody>
      </p:sp>
      <p:sp>
        <p:nvSpPr>
          <p:cNvPr id="8" name="Illustrative model, starting with 1,000 visitors. Expon">
            <a:extLst xmlns:a="http://schemas.openxmlformats.org/drawingml/2006/main">
              <a:ext uri="{FF2B5EF4-FFF2-40B4-BE49-F238E27FC236}">
                <a16:creationId xmlns:a16="http://schemas.microsoft.com/office/drawing/2014/main" id="{AA220D05-0B88-4298-90F1-7F811950E1FE}"/>
              </a:ext>
            </a:extLst>
          </p:cNvPr>
          <p:cNvSpPr>
            <a:spLocks xmlns:a="http://schemas.openxmlformats.org/drawingml/2006/main" noGrp="1"/>
          </p:cNvSpPr>
          <p:nvPr/>
        </p:nvSpPr>
        <p:spPr>
          <a:xfrm xmlns:a="http://schemas.openxmlformats.org/drawingml/2006/main">
            <a:off x="609600" y="59721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1121"/>
                </a:solidFill>
                <a:latin typeface="Arial"/>
                <a:ea typeface="Arial"/>
                <a:cs typeface="Arial"/>
              </a:defRPr>
            </a:pPr>
            <a:r>
              <a:rPr sz="1575" b="0">
                <a:solidFill>
                  <a:srgbClr val="171121"/>
                </a:solidFill>
                <a:latin typeface="Arial"/>
                <a:ea typeface="Arial"/>
                <a:cs typeface="Arial"/>
              </a:rPr>
              <a:t>Illustrative model, starting with 1,000 visitors. Exponential growth requires K &gt; 1 and an unsaturated audience.</a:t>
            </a:r>
          </a:p>
        </p:txBody>
      </p:sp>
      <p:sp>
        <p:nvSpPr>
          <p:cNvPr id="9" name="App visitors are not club admissions. Deduplication, re">
            <a:extLst xmlns:a="http://schemas.openxmlformats.org/drawingml/2006/main">
              <a:ext uri="{FF2B5EF4-FFF2-40B4-BE49-F238E27FC236}">
                <a16:creationId xmlns:a16="http://schemas.microsoft.com/office/drawing/2014/main" id="{95C185A2-E8A7-4F7C-9806-F770D0F9FEF8}"/>
              </a:ext>
            </a:extLst>
          </p:cNvPr>
          <p:cNvSpPr>
            <a:spLocks xmlns:a="http://schemas.openxmlformats.org/drawingml/2006/main" noGrp="1"/>
          </p:cNvSpPr>
          <p:nvPr/>
        </p:nvSpPr>
        <p:spPr>
          <a:xfrm xmlns:a="http://schemas.openxmlformats.org/drawingml/2006/main">
            <a:off x="609600" y="6334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B6378"/>
                </a:solidFill>
                <a:latin typeface="Arial"/>
                <a:ea typeface="Arial"/>
                <a:cs typeface="Arial"/>
              </a:defRPr>
            </a:pPr>
            <a:r>
              <a:rPr sz="1425" b="0">
                <a:solidFill>
                  <a:srgbClr val="6B6378"/>
                </a:solidFill>
                <a:latin typeface="Arial"/>
                <a:ea typeface="Arial"/>
                <a:cs typeface="Arial"/>
              </a:rPr>
              <a:t>App visitors are not club admissions. Deduplication, repeat visitors and local conversion affect the result.</a:t>
            </a:r>
          </a:p>
        </p:txBody>
      </p:sp>
    </p:spTree>
    <p:extLst>
      <p:ext uri="{BB962C8B-B14F-4D97-AF65-F5344CB8AC3E}">
        <p14:creationId xmlns:p14="http://schemas.microsoft.com/office/powerpoint/2010/main" val="726772930"/>
      </p:ext>
    </p:extLst>
  </p:cSld>
</p:sld>
</file>

<file path=ppt/slides/slide8.xml><?xml version="1.0" encoding="utf-8"?>
<p:sld xmlns:p="http://schemas.openxmlformats.org/presentationml/2006/main">
  <p:cSld>
    <p:bg>
      <p:bgPr>
        <a:solidFill xmlns:a="http://schemas.openxmlformats.org/drawingml/2006/main">
          <a:srgbClr val="F6F4FA"/>
        </a:solidFill>
      </p:bgPr>
    </p:bg>
    <p:spTree>
      <p:nvGrpSpPr>
        <p:cNvPr id="1" name=""/>
        <p:cNvGrpSpPr/>
        <p:nvPr/>
      </p:nvGrpSpPr>
      <p:grpSpPr>
        <a:xfrm xmlns:a="http://schemas.openxmlformats.org/drawingml/2006/main"/>
      </p:grpSpPr>
      <p:sp>
        <p:nvSpPr>
          <p:cNvPr id="16" name="Hands-on implementation, location by location">
            <a:extLst xmlns:a="http://schemas.openxmlformats.org/drawingml/2006/main">
              <a:ext uri="{FF2B5EF4-FFF2-40B4-BE49-F238E27FC236}">
                <a16:creationId xmlns:a16="http://schemas.microsoft.com/office/drawing/2014/main" id="{BCB3CFFB-F696-4297-96B5-4EC745BDD148}"/>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121"/>
                </a:solidFill>
                <a:latin typeface="Arial"/>
                <a:ea typeface="Arial"/>
                <a:cs typeface="Arial"/>
              </a:defRPr>
            </a:pPr>
            <a:r>
              <a:rPr sz="3600" b="1">
                <a:solidFill>
                  <a:srgbClr val="171121"/>
                </a:solidFill>
                <a:latin typeface="Arial"/>
                <a:ea typeface="Arial"/>
                <a:cs typeface="Arial"/>
              </a:rPr>
              <a:t>Hands-on implementation, location by location</a:t>
            </a:r>
          </a:p>
        </p:txBody>
      </p:sp>
      <p:sp>
        <p:nvSpPr>
          <p:cNvPr id="2" name="Proposed rollout with a named MyDancr lead and a corpor">
            <a:extLst xmlns:a="http://schemas.openxmlformats.org/drawingml/2006/main">
              <a:ext uri="{FF2B5EF4-FFF2-40B4-BE49-F238E27FC236}">
                <a16:creationId xmlns:a16="http://schemas.microsoft.com/office/drawing/2014/main" id="{A44149C4-625E-4EF9-AB06-7B6BEDF7FDA3}"/>
              </a:ext>
            </a:extLst>
          </p:cNvPr>
          <p:cNvSpPr>
            <a:spLocks xmlns:a="http://schemas.openxmlformats.org/drawingml/2006/main" noGrp="1"/>
          </p:cNvSpPr>
          <p:nvPr/>
        </p:nvSpPr>
        <p:spPr>
          <a:xfrm xmlns:a="http://schemas.openxmlformats.org/drawingml/2006/main">
            <a:off x="609600" y="142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B6378"/>
                </a:solidFill>
                <a:latin typeface="Arial"/>
                <a:ea typeface="Arial"/>
                <a:cs typeface="Arial"/>
              </a:defRPr>
            </a:pPr>
            <a:r>
              <a:rPr sz="1950" b="0">
                <a:solidFill>
                  <a:srgbClr val="6B6378"/>
                </a:solidFill>
                <a:latin typeface="Arial"/>
                <a:ea typeface="Arial"/>
                <a:cs typeface="Arial"/>
              </a:rPr>
              <a:t>Proposed rollout with a named MyDancr lead and a corporate sponsor. Timing agreed at kickoff.</a:t>
            </a:r>
          </a:p>
        </p:txBody>
      </p:sp>
      <p:sp>
        <p:nvSpPr>
          <p:cNvPr id="3" name="08">
            <a:extLst xmlns:a="http://schemas.openxmlformats.org/drawingml/2006/main">
              <a:ext uri="{FF2B5EF4-FFF2-40B4-BE49-F238E27FC236}">
                <a16:creationId xmlns:a16="http://schemas.microsoft.com/office/drawing/2014/main" id="{E3A794A6-CE48-48F1-BE5E-CEB6170CA64E}"/>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B6378"/>
                </a:solidFill>
                <a:latin typeface="Arial"/>
                <a:ea typeface="Arial"/>
                <a:cs typeface="Arial"/>
              </a:defRPr>
            </a:pPr>
            <a:r>
              <a:rPr sz="1200" b="0">
                <a:solidFill>
                  <a:srgbClr val="6B6378"/>
                </a:solidFill>
                <a:latin typeface="Arial"/>
                <a:ea typeface="Arial"/>
                <a:cs typeface="Arial"/>
              </a:rPr>
              <a:t>08</a:t>
            </a:r>
          </a:p>
        </p:txBody>
      </p:sp>
      <p:sp>
        <p:nvSpPr>
          <p:cNvPr id="4" name="01">
            <a:extLst xmlns:a="http://schemas.openxmlformats.org/drawingml/2006/main">
              <a:ext uri="{FF2B5EF4-FFF2-40B4-BE49-F238E27FC236}">
                <a16:creationId xmlns:a16="http://schemas.microsoft.com/office/drawing/2014/main" id="{4FDD1905-0602-4DF4-8E27-0A3E7BF9D3BF}"/>
              </a:ext>
            </a:extLst>
          </p:cNvPr>
          <p:cNvSpPr>
            <a:spLocks xmlns:a="http://schemas.openxmlformats.org/drawingml/2006/main" noGrp="1"/>
          </p:cNvSpPr>
          <p:nvPr/>
        </p:nvSpPr>
        <p:spPr>
          <a:xfrm xmlns:a="http://schemas.openxmlformats.org/drawingml/2006/main">
            <a:off x="609600" y="22860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53CE7"/>
                </a:solidFill>
                <a:latin typeface="Arial"/>
                <a:ea typeface="Arial"/>
                <a:cs typeface="Arial"/>
              </a:defRPr>
            </a:pPr>
            <a:r>
              <a:rPr sz="2400" b="1">
                <a:solidFill>
                  <a:srgbClr val="753CE7"/>
                </a:solidFill>
                <a:latin typeface="Arial"/>
                <a:ea typeface="Arial"/>
                <a:cs typeface="Arial"/>
              </a:rPr>
              <a:t>01</a:t>
            </a:r>
          </a:p>
        </p:txBody>
      </p:sp>
      <p:sp>
        <p:nvSpPr>
          <p:cNvPr id="5" name="Discovery and agreement">
            <a:extLst xmlns:a="http://schemas.openxmlformats.org/drawingml/2006/main">
              <a:ext uri="{FF2B5EF4-FFF2-40B4-BE49-F238E27FC236}">
                <a16:creationId xmlns:a16="http://schemas.microsoft.com/office/drawing/2014/main" id="{4B52C819-3292-47E2-88B6-92348FD0BACE}"/>
              </a:ext>
            </a:extLst>
          </p:cNvPr>
          <p:cNvSpPr>
            <a:spLocks xmlns:a="http://schemas.openxmlformats.org/drawingml/2006/main" noGrp="1"/>
          </p:cNvSpPr>
          <p:nvPr/>
        </p:nvSpPr>
        <p:spPr>
          <a:xfrm xmlns:a="http://schemas.openxmlformats.org/drawingml/2006/main">
            <a:off x="1419225" y="226695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121"/>
                </a:solidFill>
                <a:latin typeface="Arial"/>
                <a:ea typeface="Arial"/>
                <a:cs typeface="Arial"/>
              </a:defRPr>
            </a:pPr>
            <a:r>
              <a:rPr sz="2175" b="1">
                <a:solidFill>
                  <a:srgbClr val="171121"/>
                </a:solidFill>
                <a:latin typeface="Arial"/>
                <a:ea typeface="Arial"/>
                <a:cs typeface="Arial"/>
              </a:rPr>
              <a:t>Discovery and agreement</a:t>
            </a:r>
          </a:p>
        </p:txBody>
      </p:sp>
      <p:sp>
        <p:nvSpPr>
          <p:cNvPr id="6" name="Select pilot clubs, define economics and agree success ">
            <a:extLst xmlns:a="http://schemas.openxmlformats.org/drawingml/2006/main">
              <a:ext uri="{FF2B5EF4-FFF2-40B4-BE49-F238E27FC236}">
                <a16:creationId xmlns:a16="http://schemas.microsoft.com/office/drawing/2014/main" id="{133D2F2F-6101-4C35-A2C1-1AA831FF628B}"/>
              </a:ext>
            </a:extLst>
          </p:cNvPr>
          <p:cNvSpPr>
            <a:spLocks xmlns:a="http://schemas.openxmlformats.org/drawingml/2006/main" noGrp="1"/>
          </p:cNvSpPr>
          <p:nvPr/>
        </p:nvSpPr>
        <p:spPr>
          <a:xfrm xmlns:a="http://schemas.openxmlformats.org/drawingml/2006/main">
            <a:off x="1419225" y="26860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Select pilot clubs, define economics and agree success measures.</a:t>
            </a:r>
          </a:p>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Confirm local operating rules and each venue’s authorized representative.</a:t>
            </a:r>
          </a:p>
        </p:txBody>
      </p:sp>
      <p:sp>
        <p:nvSpPr>
          <p:cNvPr id="7" name="02">
            <a:extLst xmlns:a="http://schemas.openxmlformats.org/drawingml/2006/main">
              <a:ext uri="{FF2B5EF4-FFF2-40B4-BE49-F238E27FC236}">
                <a16:creationId xmlns:a16="http://schemas.microsoft.com/office/drawing/2014/main" id="{DCEFF9F5-B6D2-4116-8486-BDFC60A7012D}"/>
              </a:ext>
            </a:extLst>
          </p:cNvPr>
          <p:cNvSpPr>
            <a:spLocks xmlns:a="http://schemas.openxmlformats.org/drawingml/2006/main" noGrp="1"/>
          </p:cNvSpPr>
          <p:nvPr/>
        </p:nvSpPr>
        <p:spPr>
          <a:xfrm xmlns:a="http://schemas.openxmlformats.org/drawingml/2006/main">
            <a:off x="609600" y="326707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53CE7"/>
                </a:solidFill>
                <a:latin typeface="Arial"/>
                <a:ea typeface="Arial"/>
                <a:cs typeface="Arial"/>
              </a:defRPr>
            </a:pPr>
            <a:r>
              <a:rPr sz="2400" b="1">
                <a:solidFill>
                  <a:srgbClr val="753CE7"/>
                </a:solidFill>
                <a:latin typeface="Arial"/>
                <a:ea typeface="Arial"/>
                <a:cs typeface="Arial"/>
              </a:rPr>
              <a:t>02</a:t>
            </a:r>
          </a:p>
        </p:txBody>
      </p:sp>
      <p:sp>
        <p:nvSpPr>
          <p:cNvPr id="8" name="Private venue setup">
            <a:extLst xmlns:a="http://schemas.openxmlformats.org/drawingml/2006/main">
              <a:ext uri="{FF2B5EF4-FFF2-40B4-BE49-F238E27FC236}">
                <a16:creationId xmlns:a16="http://schemas.microsoft.com/office/drawing/2014/main" id="{106E216A-F31D-4972-B302-A0D40FC36192}"/>
              </a:ext>
            </a:extLst>
          </p:cNvPr>
          <p:cNvSpPr>
            <a:spLocks xmlns:a="http://schemas.openxmlformats.org/drawingml/2006/main" noGrp="1"/>
          </p:cNvSpPr>
          <p:nvPr/>
        </p:nvSpPr>
        <p:spPr>
          <a:xfrm xmlns:a="http://schemas.openxmlformats.org/drawingml/2006/main">
            <a:off x="1419225" y="32480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121"/>
                </a:solidFill>
                <a:latin typeface="Arial"/>
                <a:ea typeface="Arial"/>
                <a:cs typeface="Arial"/>
              </a:defRPr>
            </a:pPr>
            <a:r>
              <a:rPr sz="2175" b="1">
                <a:solidFill>
                  <a:srgbClr val="171121"/>
                </a:solidFill>
                <a:latin typeface="Arial"/>
                <a:ea typeface="Arial"/>
                <a:cs typeface="Arial"/>
              </a:rPr>
              <a:t>Private venue setup</a:t>
            </a:r>
          </a:p>
        </p:txBody>
      </p:sp>
      <p:sp>
        <p:nvSpPr>
          <p:cNvPr id="9" name="Review requests, provision venue accounts and prepare o">
            <a:extLst xmlns:a="http://schemas.openxmlformats.org/drawingml/2006/main">
              <a:ext uri="{FF2B5EF4-FFF2-40B4-BE49-F238E27FC236}">
                <a16:creationId xmlns:a16="http://schemas.microsoft.com/office/drawing/2014/main" id="{D75C2291-C283-4DB0-900B-906D0C512D09}"/>
              </a:ext>
            </a:extLst>
          </p:cNvPr>
          <p:cNvSpPr>
            <a:spLocks xmlns:a="http://schemas.openxmlformats.org/drawingml/2006/main" noGrp="1"/>
          </p:cNvSpPr>
          <p:nvPr/>
        </p:nvSpPr>
        <p:spPr>
          <a:xfrm xmlns:a="http://schemas.openxmlformats.org/drawingml/2006/main">
            <a:off x="1419225" y="36671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Review requests, provision venue accounts and prepare official pages.</a:t>
            </a:r>
          </a:p>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Load branding, address, hours and the agreed active Club Deal.</a:t>
            </a:r>
          </a:p>
        </p:txBody>
      </p:sp>
      <p:sp>
        <p:nvSpPr>
          <p:cNvPr id="10" name="03">
            <a:extLst xmlns:a="http://schemas.openxmlformats.org/drawingml/2006/main">
              <a:ext uri="{FF2B5EF4-FFF2-40B4-BE49-F238E27FC236}">
                <a16:creationId xmlns:a16="http://schemas.microsoft.com/office/drawing/2014/main" id="{F59688CE-7046-4E4D-80AD-96E71989EC40}"/>
              </a:ext>
            </a:extLst>
          </p:cNvPr>
          <p:cNvSpPr>
            <a:spLocks xmlns:a="http://schemas.openxmlformats.org/drawingml/2006/main" noGrp="1"/>
          </p:cNvSpPr>
          <p:nvPr/>
        </p:nvSpPr>
        <p:spPr>
          <a:xfrm xmlns:a="http://schemas.openxmlformats.org/drawingml/2006/main">
            <a:off x="60960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53CE7"/>
                </a:solidFill>
                <a:latin typeface="Arial"/>
                <a:ea typeface="Arial"/>
                <a:cs typeface="Arial"/>
              </a:defRPr>
            </a:pPr>
            <a:r>
              <a:rPr sz="2400" b="1">
                <a:solidFill>
                  <a:srgbClr val="753CE7"/>
                </a:solidFill>
                <a:latin typeface="Arial"/>
                <a:ea typeface="Arial"/>
                <a:cs typeface="Arial"/>
              </a:rPr>
              <a:t>03</a:t>
            </a:r>
          </a:p>
        </p:txBody>
      </p:sp>
      <p:sp>
        <p:nvSpPr>
          <p:cNvPr id="11" name="Team readiness and approval">
            <a:extLst xmlns:a="http://schemas.openxmlformats.org/drawingml/2006/main">
              <a:ext uri="{FF2B5EF4-FFF2-40B4-BE49-F238E27FC236}">
                <a16:creationId xmlns:a16="http://schemas.microsoft.com/office/drawing/2014/main" id="{43678C92-0D5C-4AFF-B575-DA574172D196}"/>
              </a:ext>
            </a:extLst>
          </p:cNvPr>
          <p:cNvSpPr>
            <a:spLocks xmlns:a="http://schemas.openxmlformats.org/drawingml/2006/main" noGrp="1"/>
          </p:cNvSpPr>
          <p:nvPr/>
        </p:nvSpPr>
        <p:spPr>
          <a:xfrm xmlns:a="http://schemas.openxmlformats.org/drawingml/2006/main">
            <a:off x="1419225" y="422910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121"/>
                </a:solidFill>
                <a:latin typeface="Arial"/>
                <a:ea typeface="Arial"/>
                <a:cs typeface="Arial"/>
              </a:defRPr>
            </a:pPr>
            <a:r>
              <a:rPr sz="2175" b="1">
                <a:solidFill>
                  <a:srgbClr val="171121"/>
                </a:solidFill>
                <a:latin typeface="Arial"/>
                <a:ea typeface="Arial"/>
                <a:cs typeface="Arial"/>
              </a:rPr>
              <a:t>Team readiness and approval</a:t>
            </a:r>
          </a:p>
        </p:txBody>
      </p:sp>
      <p:sp>
        <p:nvSpPr>
          <p:cNvPr id="12" name="Train managers, hosts and cashiers using their actual w">
            <a:extLst xmlns:a="http://schemas.openxmlformats.org/drawingml/2006/main">
              <a:ext uri="{FF2B5EF4-FFF2-40B4-BE49-F238E27FC236}">
                <a16:creationId xmlns:a16="http://schemas.microsoft.com/office/drawing/2014/main" id="{6285CB01-2648-4F0A-9675-14F5F2693086}"/>
              </a:ext>
            </a:extLst>
          </p:cNvPr>
          <p:cNvSpPr>
            <a:spLocks xmlns:a="http://schemas.openxmlformats.org/drawingml/2006/main" noGrp="1"/>
          </p:cNvSpPr>
          <p:nvPr/>
        </p:nvSpPr>
        <p:spPr>
          <a:xfrm xmlns:a="http://schemas.openxmlformats.org/drawingml/2006/main">
            <a:off x="1419225" y="46482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Train managers, hosts and cashiers using their actual workflows.</a:t>
            </a:r>
          </a:p>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The venue reviews the completed private page and requests corrections.</a:t>
            </a:r>
          </a:p>
        </p:txBody>
      </p:sp>
      <p:sp>
        <p:nvSpPr>
          <p:cNvPr id="13" name="04">
            <a:extLst xmlns:a="http://schemas.openxmlformats.org/drawingml/2006/main">
              <a:ext uri="{FF2B5EF4-FFF2-40B4-BE49-F238E27FC236}">
                <a16:creationId xmlns:a16="http://schemas.microsoft.com/office/drawing/2014/main" id="{BDEF2157-0F3A-44D4-90C6-FE507C874D9B}"/>
              </a:ext>
            </a:extLst>
          </p:cNvPr>
          <p:cNvSpPr>
            <a:spLocks xmlns:a="http://schemas.openxmlformats.org/drawingml/2006/main" noGrp="1"/>
          </p:cNvSpPr>
          <p:nvPr/>
        </p:nvSpPr>
        <p:spPr>
          <a:xfrm xmlns:a="http://schemas.openxmlformats.org/drawingml/2006/main">
            <a:off x="609600" y="52292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53CE7"/>
                </a:solidFill>
                <a:latin typeface="Arial"/>
                <a:ea typeface="Arial"/>
                <a:cs typeface="Arial"/>
              </a:defRPr>
            </a:pPr>
            <a:r>
              <a:rPr sz="2400" b="1">
                <a:solidFill>
                  <a:srgbClr val="753CE7"/>
                </a:solidFill>
                <a:latin typeface="Arial"/>
                <a:ea typeface="Arial"/>
                <a:cs typeface="Arial"/>
              </a:rPr>
              <a:t>04</a:t>
            </a:r>
          </a:p>
        </p:txBody>
      </p:sp>
      <p:sp>
        <p:nvSpPr>
          <p:cNvPr id="14" name="Supported launch and review">
            <a:extLst xmlns:a="http://schemas.openxmlformats.org/drawingml/2006/main">
              <a:ext uri="{FF2B5EF4-FFF2-40B4-BE49-F238E27FC236}">
                <a16:creationId xmlns:a16="http://schemas.microsoft.com/office/drawing/2014/main" id="{6B53DF8D-2DCB-4ABD-BE04-FD18AD335435}"/>
              </a:ext>
            </a:extLst>
          </p:cNvPr>
          <p:cNvSpPr>
            <a:spLocks xmlns:a="http://schemas.openxmlformats.org/drawingml/2006/main" noGrp="1"/>
          </p:cNvSpPr>
          <p:nvPr/>
        </p:nvSpPr>
        <p:spPr>
          <a:xfrm xmlns:a="http://schemas.openxmlformats.org/drawingml/2006/main">
            <a:off x="1419225" y="52101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121"/>
                </a:solidFill>
                <a:latin typeface="Arial"/>
                <a:ea typeface="Arial"/>
                <a:cs typeface="Arial"/>
              </a:defRPr>
            </a:pPr>
            <a:r>
              <a:rPr sz="2175" b="1">
                <a:solidFill>
                  <a:srgbClr val="171121"/>
                </a:solidFill>
                <a:latin typeface="Arial"/>
                <a:ea typeface="Arial"/>
                <a:cs typeface="Arial"/>
              </a:rPr>
              <a:t>Supported launch and review</a:t>
            </a:r>
          </a:p>
        </p:txBody>
      </p:sp>
      <p:sp>
        <p:nvSpPr>
          <p:cNvPr id="15" name="Venue approval publishes the completed page. Provide la">
            <a:extLst xmlns:a="http://schemas.openxmlformats.org/drawingml/2006/main">
              <a:ext uri="{FF2B5EF4-FFF2-40B4-BE49-F238E27FC236}">
                <a16:creationId xmlns:a16="http://schemas.microsoft.com/office/drawing/2014/main" id="{E7BCD3C6-C87F-41E6-9F89-C06C543785AC}"/>
              </a:ext>
            </a:extLst>
          </p:cNvPr>
          <p:cNvSpPr>
            <a:spLocks xmlns:a="http://schemas.openxmlformats.org/drawingml/2006/main" noGrp="1"/>
          </p:cNvSpPr>
          <p:nvPr/>
        </p:nvSpPr>
        <p:spPr>
          <a:xfrm xmlns:a="http://schemas.openxmlformats.org/drawingml/2006/main">
            <a:off x="1419225" y="562927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Venue approval publishes the completed page. Provide launch support.</a:t>
            </a:r>
          </a:p>
          <a:p xmlns:a="http://schemas.openxmlformats.org/drawingml/2006/main">
            <a:pPr algn="l">
              <a:defRPr sz="1725" b="0">
                <a:solidFill>
                  <a:srgbClr val="6B6378"/>
                </a:solidFill>
                <a:latin typeface="Arial"/>
                <a:ea typeface="Arial"/>
                <a:cs typeface="Arial"/>
              </a:defRPr>
            </a:pPr>
            <a:r>
              <a:rPr sz="1725" b="0">
                <a:solidFill>
                  <a:srgbClr val="6B6378"/>
                </a:solidFill>
                <a:latin typeface="Arial"/>
                <a:ea typeface="Arial"/>
                <a:cs typeface="Arial"/>
              </a:rPr>
              <a:t>Review adoption and outcomes, then agree the next group of locations.</a:t>
            </a:r>
          </a:p>
        </p:txBody>
      </p:sp>
    </p:spTree>
    <p:extLst>
      <p:ext uri="{BB962C8B-B14F-4D97-AF65-F5344CB8AC3E}">
        <p14:creationId xmlns:p14="http://schemas.microsoft.com/office/powerpoint/2010/main" val="200649489"/>
      </p:ext>
    </p:extLst>
  </p:cSld>
</p:sld>
</file>

<file path=ppt/slides/slide9.xml><?xml version="1.0" encoding="utf-8"?>
<p:sld xmlns:p="http://schemas.openxmlformats.org/presentationml/2006/main">
  <p:cSld>
    <p:bg>
      <p:bgPr>
        <a:solidFill xmlns:a="http://schemas.openxmlformats.org/drawingml/2006/main">
          <a:srgbClr val="0B0812"/>
        </a:solidFill>
      </p:bgPr>
    </p:bg>
    <p:spTree>
      <p:nvGrpSpPr>
        <p:cNvPr id="1" name=""/>
        <p:cNvGrpSpPr/>
        <p:nvPr/>
      </p:nvGrpSpPr>
      <p:grpSpPr>
        <a:xfrm xmlns:a="http://schemas.openxmlformats.org/drawingml/2006/main"/>
      </p:grpSpPr>
      <p:sp>
        <p:nvSpPr>
          <p:cNvPr id="11" name="Training and customization for your business">
            <a:extLst xmlns:a="http://schemas.openxmlformats.org/drawingml/2006/main">
              <a:ext uri="{FF2B5EF4-FFF2-40B4-BE49-F238E27FC236}">
                <a16:creationId xmlns:a16="http://schemas.microsoft.com/office/drawing/2014/main" id="{F9C8D72D-BC68-4F27-BD5C-D759A625AFFC}"/>
              </a:ext>
            </a:extLst>
          </p:cNvPr>
          <p:cNvSpPr>
            <a:spLocks xmlns:a="http://schemas.openxmlformats.org/drawingml/2006/main" noGrp="1"/>
          </p:cNvSpPr>
          <p:nvPr/>
        </p:nvSpPr>
        <p:spPr>
          <a:xfrm xmlns:a="http://schemas.openxmlformats.org/drawingml/2006/main">
            <a:off x="609600" y="5143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Training and customization for your business</a:t>
            </a:r>
          </a:p>
        </p:txBody>
      </p:sp>
      <p:sp>
        <p:nvSpPr>
          <p:cNvPr id="2" name="09">
            <a:extLst xmlns:a="http://schemas.openxmlformats.org/drawingml/2006/main">
              <a:ext uri="{FF2B5EF4-FFF2-40B4-BE49-F238E27FC236}">
                <a16:creationId xmlns:a16="http://schemas.microsoft.com/office/drawing/2014/main" id="{F1DB7451-046E-446E-94F3-38D619F48B12}"/>
              </a:ext>
            </a:extLst>
          </p:cNvPr>
          <p:cNvSpPr>
            <a:spLocks xmlns:a="http://schemas.openxmlformats.org/drawingml/2006/main" noGrp="1"/>
          </p:cNvSpPr>
          <p:nvPr/>
        </p:nvSpPr>
        <p:spPr>
          <a:xfrm xmlns:a="http://schemas.openxmlformats.org/drawingml/2006/main">
            <a:off x="112395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8C0D4"/>
                </a:solidFill>
                <a:latin typeface="Arial"/>
                <a:ea typeface="Arial"/>
                <a:cs typeface="Arial"/>
              </a:defRPr>
            </a:pPr>
            <a:r>
              <a:rPr sz="1200" b="0">
                <a:solidFill>
                  <a:srgbClr val="C8C0D4"/>
                </a:solidFill>
                <a:latin typeface="Arial"/>
                <a:ea typeface="Arial"/>
                <a:cs typeface="Arial"/>
              </a:rPr>
              <a:t>09</a:t>
            </a:r>
          </a:p>
        </p:txBody>
      </p:sp>
      <p:sp>
        <p:nvSpPr>
          <p:cNvPr id="3" name="Role-based training">
            <a:extLst xmlns:a="http://schemas.openxmlformats.org/drawingml/2006/main">
              <a:ext uri="{FF2B5EF4-FFF2-40B4-BE49-F238E27FC236}">
                <a16:creationId xmlns:a16="http://schemas.microsoft.com/office/drawing/2014/main" id="{1006F9A2-6DA9-4C06-A122-BD3E6568277F}"/>
              </a:ext>
            </a:extLst>
          </p:cNvPr>
          <p:cNvSpPr>
            <a:spLocks xmlns:a="http://schemas.openxmlformats.org/drawingml/2006/main" noGrp="1"/>
          </p:cNvSpPr>
          <p:nvPr/>
        </p:nvSpPr>
        <p:spPr>
          <a:xfrm xmlns:a="http://schemas.openxmlformats.org/drawingml/2006/main">
            <a:off x="609600" y="203835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C7A6FF"/>
                </a:solidFill>
                <a:latin typeface="Arial"/>
                <a:ea typeface="Arial"/>
                <a:cs typeface="Arial"/>
              </a:defRPr>
            </a:pPr>
            <a:r>
              <a:rPr sz="2475" b="1">
                <a:solidFill>
                  <a:srgbClr val="C7A6FF"/>
                </a:solidFill>
                <a:latin typeface="Arial"/>
                <a:ea typeface="Arial"/>
                <a:cs typeface="Arial"/>
              </a:rPr>
              <a:t>Role-based training</a:t>
            </a:r>
          </a:p>
        </p:txBody>
      </p:sp>
      <p:sp>
        <p:nvSpPr>
          <p:cNvPr id="4" name="Managers: analytics, roster and pickup inbox&#10;Hosts and ">
            <a:extLst xmlns:a="http://schemas.openxmlformats.org/drawingml/2006/main">
              <a:ext uri="{FF2B5EF4-FFF2-40B4-BE49-F238E27FC236}">
                <a16:creationId xmlns:a16="http://schemas.microsoft.com/office/drawing/2014/main" id="{F8B436A0-C481-4DCF-940F-33E20A65589D}"/>
              </a:ext>
            </a:extLst>
          </p:cNvPr>
          <p:cNvSpPr>
            <a:spLocks xmlns:a="http://schemas.openxmlformats.org/drawingml/2006/main" noGrp="1"/>
          </p:cNvSpPr>
          <p:nvPr/>
        </p:nvSpPr>
        <p:spPr>
          <a:xfrm xmlns:a="http://schemas.openxmlformats.org/drawingml/2006/main">
            <a:off x="609600" y="2695575"/>
            <a:ext cx="52959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Managers: analytics, roster and pickup inbox</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Hosts and cashiers: requests and admission</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Dancer champions: check-ins and sharing</a:t>
            </a:r>
          </a:p>
        </p:txBody>
      </p:sp>
      <p:sp>
        <p:nvSpPr>
          <p:cNvPr id="5" name="Guided sessions, quick-reference playbooks&#10;and an agree">
            <a:extLst xmlns:a="http://schemas.openxmlformats.org/drawingml/2006/main">
              <a:ext uri="{FF2B5EF4-FFF2-40B4-BE49-F238E27FC236}">
                <a16:creationId xmlns:a16="http://schemas.microsoft.com/office/drawing/2014/main" id="{71484AE8-EAEA-42D6-90F2-07C97BD0D80F}"/>
              </a:ext>
            </a:extLst>
          </p:cNvPr>
          <p:cNvSpPr>
            <a:spLocks xmlns:a="http://schemas.openxmlformats.org/drawingml/2006/main" noGrp="1"/>
          </p:cNvSpPr>
          <p:nvPr/>
        </p:nvSpPr>
        <p:spPr>
          <a:xfrm xmlns:a="http://schemas.openxmlformats.org/drawingml/2006/main">
            <a:off x="609600" y="4295775"/>
            <a:ext cx="5238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Guided sessions, quick-reference playbooks</a:t>
            </a:r>
          </a:p>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and an agreed post-launch support cadence.</a:t>
            </a:r>
          </a:p>
        </p:txBody>
      </p:sp>
      <p:sp>
        <p:nvSpPr>
          <p:cNvPr id="6" name="Configuration and agreed scope">
            <a:extLst xmlns:a="http://schemas.openxmlformats.org/drawingml/2006/main">
              <a:ext uri="{FF2B5EF4-FFF2-40B4-BE49-F238E27FC236}">
                <a16:creationId xmlns:a16="http://schemas.microsoft.com/office/drawing/2014/main" id="{C5FEB5A4-E789-4D23-913E-EF20BAFAF829}"/>
              </a:ext>
            </a:extLst>
          </p:cNvPr>
          <p:cNvSpPr>
            <a:spLocks xmlns:a="http://schemas.openxmlformats.org/drawingml/2006/main" noGrp="1"/>
          </p:cNvSpPr>
          <p:nvPr/>
        </p:nvSpPr>
        <p:spPr>
          <a:xfrm xmlns:a="http://schemas.openxmlformats.org/drawingml/2006/main">
            <a:off x="6524625" y="2038350"/>
            <a:ext cx="5181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C7A6FF"/>
                </a:solidFill>
                <a:latin typeface="Arial"/>
                <a:ea typeface="Arial"/>
                <a:cs typeface="Arial"/>
              </a:defRPr>
            </a:pPr>
            <a:r>
              <a:rPr sz="2475" b="1">
                <a:solidFill>
                  <a:srgbClr val="C7A6FF"/>
                </a:solidFill>
                <a:latin typeface="Arial"/>
                <a:ea typeface="Arial"/>
                <a:cs typeface="Arial"/>
              </a:rPr>
              <a:t>Configuration and agreed scope</a:t>
            </a:r>
          </a:p>
        </p:txBody>
      </p:sp>
      <p:sp>
        <p:nvSpPr>
          <p:cNvPr id="7" name="Brand assets and location information&#10;Supported deal an">
            <a:extLst xmlns:a="http://schemas.openxmlformats.org/drawingml/2006/main">
              <a:ext uri="{FF2B5EF4-FFF2-40B4-BE49-F238E27FC236}">
                <a16:creationId xmlns:a16="http://schemas.microsoft.com/office/drawing/2014/main" id="{F7C95760-04FC-4726-85F4-664CFD4A905D}"/>
              </a:ext>
            </a:extLst>
          </p:cNvPr>
          <p:cNvSpPr>
            <a:spLocks xmlns:a="http://schemas.openxmlformats.org/drawingml/2006/main" noGrp="1"/>
          </p:cNvSpPr>
          <p:nvPr/>
        </p:nvSpPr>
        <p:spPr>
          <a:xfrm xmlns:a="http://schemas.openxmlformats.org/drawingml/2006/main">
            <a:off x="6524625" y="2695575"/>
            <a:ext cx="51625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Brand assets and location information</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Supported deal and transport rules</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Staff access and notification preferences</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Reporting and integration requirements</a:t>
            </a:r>
          </a:p>
        </p:txBody>
      </p:sp>
      <p:sp>
        <p:nvSpPr>
          <p:cNvPr id="8" name="Custom development and integrations&#10;receive a defined s">
            <a:extLst xmlns:a="http://schemas.openxmlformats.org/drawingml/2006/main">
              <a:ext uri="{FF2B5EF4-FFF2-40B4-BE49-F238E27FC236}">
                <a16:creationId xmlns:a16="http://schemas.microsoft.com/office/drawing/2014/main" id="{647F85C4-A5F6-418E-9326-481DD4722430}"/>
              </a:ext>
            </a:extLst>
          </p:cNvPr>
          <p:cNvSpPr>
            <a:spLocks xmlns:a="http://schemas.openxmlformats.org/drawingml/2006/main" noGrp="1"/>
          </p:cNvSpPr>
          <p:nvPr/>
        </p:nvSpPr>
        <p:spPr>
          <a:xfrm xmlns:a="http://schemas.openxmlformats.org/drawingml/2006/main">
            <a:off x="6524625" y="45910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Custom development and integrations</a:t>
            </a:r>
          </a:p>
          <a:p xmlns:a="http://schemas.openxmlformats.org/drawingml/2006/main">
            <a:pPr algn="l">
              <a:defRPr sz="1875" b="0">
                <a:solidFill>
                  <a:srgbClr val="C8C0D4"/>
                </a:solidFill>
                <a:latin typeface="Arial"/>
                <a:ea typeface="Arial"/>
                <a:cs typeface="Arial"/>
              </a:defRPr>
            </a:pPr>
            <a:r>
              <a:rPr sz="1875" b="0">
                <a:solidFill>
                  <a:srgbClr val="C8C0D4"/>
                </a:solidFill>
                <a:latin typeface="Arial"/>
                <a:ea typeface="Arial"/>
                <a:cs typeface="Arial"/>
              </a:rPr>
              <a:t>receive a defined scope, cost and timeline.</a:t>
            </a:r>
          </a:p>
        </p:txBody>
      </p:sp>
      <p:sp>
        <p:nvSpPr>
          <p:cNvPr id="9" name="A measured pilot in 2–3 locations">
            <a:extLst xmlns:a="http://schemas.openxmlformats.org/drawingml/2006/main">
              <a:ext uri="{FF2B5EF4-FFF2-40B4-BE49-F238E27FC236}">
                <a16:creationId xmlns:a16="http://schemas.microsoft.com/office/drawing/2014/main" id="{CA67043C-2010-46EC-85A6-817E07082AA3}"/>
              </a:ext>
            </a:extLst>
          </p:cNvPr>
          <p:cNvSpPr>
            <a:spLocks xmlns:a="http://schemas.openxmlformats.org/drawingml/2006/main" noGrp="1"/>
          </p:cNvSpPr>
          <p:nvPr/>
        </p:nvSpPr>
        <p:spPr>
          <a:xfrm xmlns:a="http://schemas.openxmlformats.org/drawingml/2006/main">
            <a:off x="609600" y="5600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A measured pilot in 2–3 locations</a:t>
            </a:r>
          </a:p>
        </p:txBody>
      </p:sp>
      <p:sp>
        <p:nvSpPr>
          <p:cNvPr id="10" name="Agree owners, a 30-day review and expansion criteria ba">
            <a:extLst xmlns:a="http://schemas.openxmlformats.org/drawingml/2006/main">
              <a:ext uri="{FF2B5EF4-FFF2-40B4-BE49-F238E27FC236}">
                <a16:creationId xmlns:a16="http://schemas.microsoft.com/office/drawing/2014/main" id="{8E18B190-2D55-4E85-988A-B5F2617A3D88}"/>
              </a:ext>
            </a:extLst>
          </p:cNvPr>
          <p:cNvSpPr>
            <a:spLocks xmlns:a="http://schemas.openxmlformats.org/drawingml/2006/main" noGrp="1"/>
          </p:cNvSpPr>
          <p:nvPr/>
        </p:nvSpPr>
        <p:spPr>
          <a:xfrm xmlns:a="http://schemas.openxmlformats.org/drawingml/2006/main">
            <a:off x="609600" y="61722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7A6FF"/>
                </a:solidFill>
                <a:latin typeface="Arial"/>
                <a:ea typeface="Arial"/>
                <a:cs typeface="Arial"/>
              </a:defRPr>
            </a:pPr>
            <a:r>
              <a:rPr sz="1800" b="0">
                <a:solidFill>
                  <a:srgbClr val="C7A6FF"/>
                </a:solidFill>
                <a:latin typeface="Arial"/>
                <a:ea typeface="Arial"/>
                <a:cs typeface="Arial"/>
              </a:rPr>
              <a:t>Agree owners, a 30-day review and expansion criteria based on incremental value.</a:t>
            </a:r>
          </a:p>
        </p:txBody>
      </p:sp>
    </p:spTree>
    <p:extLst>
      <p:ext uri="{BB962C8B-B14F-4D97-AF65-F5344CB8AC3E}">
        <p14:creationId xmlns:p14="http://schemas.microsoft.com/office/powerpoint/2010/main" val="1875128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2026-10-02T09:36:14.7690000Z</dcterms:created>
  <dcterms:modified xsi:type="dcterms:W3CDTF">2026-10-02T09:36:14.7700000Z</dcterms:modified>
</coreProperties>
</file>