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946d1759fd411f" /><Relationship Type="http://schemas.openxmlformats.org/officeDocument/2006/relationships/extended-properties" Target="/docProps/app.xml" Id="Rd61b34b351e54b25" /><Relationship Type="http://schemas.openxmlformats.org/officeDocument/2006/relationships/officeDocument" Target="/ppt/presentation.xml" Id="R7128ded82e22453b" /></Relationships>
</file>

<file path=ppt/presentation.xml><?xml version="1.0" encoding="utf-8"?>
<p:presentation xmlns:p="http://schemas.openxmlformats.org/presentationml/2006/main">
  <p:sldMasterIdLst>
    <p:sldMasterId xmlns:r="http://schemas.openxmlformats.org/officeDocument/2006/relationships" id="2147483648" r:id="R36da0b6b488741a0"/>
  </p:sldMasterIdLst>
  <p:notesMasterIdLst>
    <p:notesMasterId xmlns:r="http://schemas.openxmlformats.org/officeDocument/2006/relationships" r:id="Rad727489196e4258"/>
  </p:notesMasterIdLst>
  <p:sldIdLst>
    <p:sldId xmlns:r="http://schemas.openxmlformats.org/officeDocument/2006/relationships" id="256" r:id="R7faabd0e690540bf"/>
    <p:sldId xmlns:r="http://schemas.openxmlformats.org/officeDocument/2006/relationships" id="257" r:id="R90bf5fa0226945af"/>
    <p:sldId xmlns:r="http://schemas.openxmlformats.org/officeDocument/2006/relationships" id="258" r:id="Re841b335581b4bda"/>
    <p:sldId xmlns:r="http://schemas.openxmlformats.org/officeDocument/2006/relationships" id="259" r:id="R354200d9b30143b0"/>
    <p:sldId xmlns:r="http://schemas.openxmlformats.org/officeDocument/2006/relationships" id="260" r:id="R70119db306174de5"/>
    <p:sldId xmlns:r="http://schemas.openxmlformats.org/officeDocument/2006/relationships" id="261" r:id="R827d31f0109149d3"/>
    <p:sldId xmlns:r="http://schemas.openxmlformats.org/officeDocument/2006/relationships" id="262" r:id="Rd6149ba8610640d0"/>
    <p:sldId xmlns:r="http://schemas.openxmlformats.org/officeDocument/2006/relationships" id="263" r:id="Rd87189a2aeb54e7d"/>
    <p:sldId xmlns:r="http://schemas.openxmlformats.org/officeDocument/2006/relationships" id="264" r:id="Rbc29d60a217e43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c8f4010357447c6" /><Relationship Type="http://schemas.openxmlformats.org/officeDocument/2006/relationships/slideMaster" Target="/ppt/slideMasters/slideMaster1.xml" Id="R36da0b6b488741a0" /><Relationship Type="http://schemas.openxmlformats.org/officeDocument/2006/relationships/notesMaster" Target="/ppt/notesMasters/notesMaster1.xml" Id="Rad727489196e4258" /><Relationship Type="http://schemas.openxmlformats.org/officeDocument/2006/relationships/presProps" Target="/ppt/presProps.xml" Id="R69101cf151904a91" /><Relationship Type="http://schemas.openxmlformats.org/officeDocument/2006/relationships/viewProps" Target="/ppt/viewProps.xml" Id="Re466a250bf314ce7" /><Relationship Type="http://schemas.openxmlformats.org/officeDocument/2006/relationships/tableStyles" Target="/ppt/tableStyles.xml" Id="R88cade7586904dc2" /><Relationship Type="http://schemas.openxmlformats.org/officeDocument/2006/relationships/slide" Target="/ppt/slides/slide1.xml" Id="R7faabd0e690540bf" /><Relationship Type="http://schemas.openxmlformats.org/officeDocument/2006/relationships/slide" Target="/ppt/slides/slide2.xml" Id="R90bf5fa0226945af" /><Relationship Type="http://schemas.openxmlformats.org/officeDocument/2006/relationships/slide" Target="/ppt/slides/slide3.xml" Id="Re841b335581b4bda" /><Relationship Type="http://schemas.openxmlformats.org/officeDocument/2006/relationships/slide" Target="/ppt/slides/slide4.xml" Id="R354200d9b30143b0" /><Relationship Type="http://schemas.openxmlformats.org/officeDocument/2006/relationships/slide" Target="/ppt/slides/slide5.xml" Id="R70119db306174de5" /><Relationship Type="http://schemas.openxmlformats.org/officeDocument/2006/relationships/slide" Target="/ppt/slides/slide6.xml" Id="R827d31f0109149d3" /><Relationship Type="http://schemas.openxmlformats.org/officeDocument/2006/relationships/slide" Target="/ppt/slides/slide7.xml" Id="Rd6149ba8610640d0" /><Relationship Type="http://schemas.openxmlformats.org/officeDocument/2006/relationships/slide" Target="/ppt/slides/slide8.xml" Id="Rd87189a2aeb54e7d" /><Relationship Type="http://schemas.openxmlformats.org/officeDocument/2006/relationships/slide" Target="/ppt/slides/slide9.xml" Id="Rbc29d60a217e43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7220b9212c46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0f1ccb5df42fc" /><Relationship Type="http://schemas.openxmlformats.org/officeDocument/2006/relationships/notesMaster" Target="/ppt/notesMasters/notesMaster1.xml" Id="R2559f253423541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3ae54d1e564fdb" /><Relationship Type="http://schemas.openxmlformats.org/officeDocument/2006/relationships/notesMaster" Target="/ppt/notesMasters/notesMaster1.xml" Id="Rbb9e193aa00f49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7bfe5e7bf94a2e" /><Relationship Type="http://schemas.openxmlformats.org/officeDocument/2006/relationships/notesMaster" Target="/ppt/notesMasters/notesMaster1.xml" Id="R35fda358113948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732f9f99354eec" /><Relationship Type="http://schemas.openxmlformats.org/officeDocument/2006/relationships/notesMaster" Target="/ppt/notesMasters/notesMaster1.xml" Id="R1cb458f2ca6a40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4f1760b5204ce2" /><Relationship Type="http://schemas.openxmlformats.org/officeDocument/2006/relationships/notesMaster" Target="/ppt/notesMasters/notesMaster1.xml" Id="Ra18f5c513f7149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3114f8adfb4625" /><Relationship Type="http://schemas.openxmlformats.org/officeDocument/2006/relationships/notesMaster" Target="/ppt/notesMasters/notesMaster1.xml" Id="R933e313611b745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34d5d954b4ec4" /><Relationship Type="http://schemas.openxmlformats.org/officeDocument/2006/relationships/notesMaster" Target="/ppt/notesMasters/notesMaster1.xml" Id="R74ede033d81140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efe9e870794098" /><Relationship Type="http://schemas.openxmlformats.org/officeDocument/2006/relationships/notesMaster" Target="/ppt/notesMasters/notesMaster1.xml" Id="R5b88af1bdb8440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fd0586360540f0" /><Relationship Type="http://schemas.openxmlformats.org/officeDocument/2006/relationships/notesMaster" Target="/ppt/notesMasters/notesMaster1.xml" Id="R409ba112019540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TV screenshot source: https://www.mydancr.com/?city=Las+Vegas&amp;view=tv, captured October 2, 2026. This is the actual demo interface with fictional profiles and activity.</a:t>
            </a:r>
            <a:endParaRPr/>
          </a:p>
          <a:p xmlns:a="http://schemas.openxmlformats.org/drawingml/2006/main">
            <a:r>
              <a:t/>
            </a:r>
            <a:endParaRPr/>
          </a:p>
          <a:p xmlns:a="http://schemas.openxmlformats.org/drawingml/2006/main">
            <a:r>
              <a:t>Feature basis: the existing MyDancr TV interface supports shareable video links and venue links. Existing reporting attributes eligible TV activity. Viral reach, new traffic, club exposure and subsequent visits are potential outcomes, not measured results or guarantees.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66a01ff5d744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da4a6fa18c4a5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070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F7100B2-6F01-49A7-A702-67DFEA012D9A}"/>
              </a:ext>
            </a:extLst>
          </p:cNvPr>
          <p:cNvSpPr>
            <a:spLocks xmlns:a="http://schemas.openxmlformats.org/drawingml/2006/main" noGrp="1"/>
          </p:cNvSpPr>
          <p:nvPr/>
        </p:nvSpPr>
        <p:spPr>
          <a:xfrm xmlns:a="http://schemas.openxmlformats.org/drawingml/2006/main">
            <a:off x="0" y="0"/>
            <a:ext cx="12191695" cy="41148"/>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3" name="Text 1">
            <a:extLst xmlns:a="http://schemas.openxmlformats.org/drawingml/2006/main">
              <a:ext uri="{FF2B5EF4-FFF2-40B4-BE49-F238E27FC236}">
                <a16:creationId xmlns:a16="http://schemas.microsoft.com/office/drawing/2014/main" id="{E05F6A1A-E374-402F-8F28-F52BB64D2DC0}"/>
              </a:ext>
            </a:extLst>
          </p:cNvPr>
          <p:cNvSpPr>
            <a:spLocks xmlns:a="http://schemas.openxmlformats.org/drawingml/2006/main" noGrp="1"/>
          </p:cNvSpPr>
          <p:nvPr/>
        </p:nvSpPr>
        <p:spPr>
          <a:xfrm xmlns:a="http://schemas.openxmlformats.org/drawingml/2006/main">
            <a:off x="512064" y="201168"/>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spc="210">
                <a:solidFill>
                  <a:srgbClr val="8E8B98"/>
                </a:solidFill>
                <a:latin typeface="Inter"/>
                <a:ea typeface="Inter"/>
                <a:cs typeface="Inter"/>
              </a:rPr>
              <a:t>MYDANCR</a:t>
            </a:r>
            <a:endParaRPr sz="850"/>
          </a:p>
        </p:txBody>
      </p:sp>
      <p:sp>
        <p:nvSpPr>
          <p:cNvPr id="25" name="Slide Number Placeholder 0">
            <a:extLst xmlns:a="http://schemas.openxmlformats.org/drawingml/2006/main">
              <a:ext uri="{FF2B5EF4-FFF2-40B4-BE49-F238E27FC236}">
                <a16:creationId xmlns:a16="http://schemas.microsoft.com/office/drawing/2014/main" id="{83358AE0-FC4E-43A9-90BC-3DED4ABE5F75}"/>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1002</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2c5239c03c4bee" /><Relationship Type="http://schemas.openxmlformats.org/officeDocument/2006/relationships/slideLayout" Target="/ppt/slideLayouts/slideLayout1.xml" Id="R362e3954255f4cbb" /><Relationship Type="http://schemas.openxmlformats.org/officeDocument/2006/relationships/slideLayout" Target="/ppt/slideLayouts/slideLayout2.xml" Id="R55c49a4763b743c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CF0732C6-0608-4550-AC45-243D4F2F31A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e3954255f4cbb"/>
    <p:sldLayoutId xmlns:r="http://schemas.openxmlformats.org/officeDocument/2006/relationships" id="2147483650" r:id="R55c49a4763b743c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d230cd87da4255" /><Relationship Type="http://schemas.openxmlformats.org/officeDocument/2006/relationships/image" Target="/ppt/media/image.png" Id="Rdd390005f13843f4" /><Relationship Type="http://schemas.openxmlformats.org/officeDocument/2006/relationships/image" Target="/ppt/media/image2.png" Id="R9c38a342798e40bb" /><Relationship Type="http://schemas.openxmlformats.org/officeDocument/2006/relationships/notesSlide" Target="/ppt/notesSlides/notesSlide1.xml" Id="R4b1466a37eab4d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471bbc73b134f54" /><Relationship Type="http://schemas.openxmlformats.org/officeDocument/2006/relationships/notesSlide" Target="/ppt/notesSlides/notesSlide2.xml" Id="R531ff1fc748549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5b207150a0d493d" /><Relationship Type="http://schemas.openxmlformats.org/officeDocument/2006/relationships/image" Target="/ppt/media/image.jpeg" Id="R158ac0e877354f46" /><Relationship Type="http://schemas.openxmlformats.org/officeDocument/2006/relationships/image" Target="/ppt/media/image2.jpeg" Id="R2f6b56bd9e534505" /><Relationship Type="http://schemas.openxmlformats.org/officeDocument/2006/relationships/notesSlide" Target="/ppt/notesSlides/notesSlide3.xml" Id="R4e18061a0ccd46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006aaac017c4636" /><Relationship Type="http://schemas.openxmlformats.org/officeDocument/2006/relationships/image" Target="/ppt/media/image3.jpeg" Id="Rb6e04e3159454c5b" /><Relationship Type="http://schemas.openxmlformats.org/officeDocument/2006/relationships/notesSlide" Target="/ppt/notesSlides/notesSlide4.xml" Id="Rc35cae97d61d4f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ba7603a63154aca" /><Relationship Type="http://schemas.openxmlformats.org/officeDocument/2006/relationships/image" Target="/ppt/media/image3.png" Id="Rf8a17a7503c34e1d" /><Relationship Type="http://schemas.openxmlformats.org/officeDocument/2006/relationships/notesSlide" Target="/ppt/notesSlides/notesSlide5.xml" Id="Raf70860ad81b44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206e24333234dcd" /><Relationship Type="http://schemas.openxmlformats.org/officeDocument/2006/relationships/notesSlide" Target="/ppt/notesSlides/notesSlide6.xml" Id="Rdfa53ab475c94e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38f8f783364f63" /><Relationship Type="http://schemas.openxmlformats.org/officeDocument/2006/relationships/notesSlide" Target="/ppt/notesSlides/notesSlide7.xml" Id="R73eb3d85475046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0d9ef9fcc744040" /><Relationship Type="http://schemas.openxmlformats.org/officeDocument/2006/relationships/notesSlide" Target="/ppt/notesSlides/notesSlide8.xml" Id="R072dc3bd70f64c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d94d8288304533" /><Relationship Type="http://schemas.openxmlformats.org/officeDocument/2006/relationships/image" Target="/ppt/media/image4.png" Id="R3f4eb8956f1e4b99" /><Relationship Type="http://schemas.openxmlformats.org/officeDocument/2006/relationships/image" Target="/ppt/media/image5.png" Id="R322625bbc1504495" /><Relationship Type="http://schemas.openxmlformats.org/officeDocument/2006/relationships/notesSlide" Target="/ppt/notesSlides/notesSlide9.xml" Id="R8251b3853bff47b4" /></Relationships>
</file>

<file path=ppt/slides/slide1.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dd390005f13843f4"/>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08091D1-3B8C-4CD2-9954-F187D06D1060}"/>
              </a:ext>
            </a:extLst>
          </p:cNvPr>
          <p:cNvSpPr>
            <a:spLocks xmlns:a="http://schemas.openxmlformats.org/drawingml/2006/main" noGrp="1"/>
          </p:cNvSpPr>
          <p:nvPr/>
        </p:nvSpPr>
        <p:spPr>
          <a:xfrm xmlns:a="http://schemas.openxmlformats.org/drawingml/2006/main">
            <a:off x="0" y="0"/>
            <a:ext cx="662940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E31D546E-D110-4FA2-AF5D-2EA0ED7365A4}"/>
              </a:ext>
            </a:extLst>
          </p:cNvPr>
          <p:cNvSpPr>
            <a:spLocks xmlns:a="http://schemas.openxmlformats.org/drawingml/2006/main" noGrp="1"/>
          </p:cNvSpPr>
          <p:nvPr/>
        </p:nvSpPr>
        <p:spPr>
          <a:xfrm xmlns:a="http://schemas.openxmlformats.org/drawingml/2006/main">
            <a:off x="0" y="0"/>
            <a:ext cx="8229600" cy="6858000"/>
          </a:xfrm>
          <a:prstGeom xmlns:a="http://schemas.openxmlformats.org/drawingml/2006/main" prst="rect">
            <a:avLst/>
          </a:prstGeom>
          <a:solidFill xmlns:a="http://schemas.openxmlformats.org/drawingml/2006/main">
            <a:srgbClr val="050507">
              <a:alpha val="52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9c38a342798e40bb"/>
          <a:stretch xmlns:a="http://schemas.openxmlformats.org/drawingml/2006/main">
            <a:fillRect l="0" t="0" r="0" b="0"/>
          </a:stretch>
        </p:blipFill>
        <p:spPr>
          <a:xfrm xmlns:a="http://schemas.openxmlformats.org/drawingml/2006/main">
            <a:off x="714075" y="603504"/>
            <a:ext cx="1763105" cy="54864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35CD6E35-7D9F-4457-B5EE-7198407BCAAD}"/>
              </a:ext>
            </a:extLst>
          </p:cNvPr>
          <p:cNvSpPr>
            <a:spLocks xmlns:a="http://schemas.openxmlformats.org/drawingml/2006/main" noGrp="1"/>
          </p:cNvSpPr>
          <p:nvPr/>
        </p:nvSpPr>
        <p:spPr>
          <a:xfrm xmlns:a="http://schemas.openxmlformats.org/drawingml/2006/main">
            <a:off x="676656" y="1435608"/>
            <a:ext cx="29260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90">
                <a:solidFill>
                  <a:srgbClr val="C6A9FF"/>
                </a:solidFill>
                <a:latin typeface="Inter"/>
                <a:ea typeface="Inter"/>
                <a:cs typeface="Inter"/>
              </a:rPr>
              <a:t>FOR YOUR CLUB GROUP</a:t>
            </a:r>
            <a:endParaRPr sz="1000"/>
          </a:p>
        </p:txBody>
      </p:sp>
      <p:sp>
        <p:nvSpPr>
          <p:cNvPr id="7" name="Text 3">
            <a:extLst xmlns:a="http://schemas.openxmlformats.org/drawingml/2006/main">
              <a:ext uri="{FF2B5EF4-FFF2-40B4-BE49-F238E27FC236}">
                <a16:creationId xmlns:a16="http://schemas.microsoft.com/office/drawing/2014/main" id="{515E2D1F-20AE-42CB-A136-4196E405DCA8}"/>
              </a:ext>
            </a:extLst>
          </p:cNvPr>
          <p:cNvSpPr>
            <a:spLocks xmlns:a="http://schemas.openxmlformats.org/drawingml/2006/main" noGrp="1"/>
          </p:cNvSpPr>
          <p:nvPr/>
        </p:nvSpPr>
        <p:spPr>
          <a:xfrm xmlns:a="http://schemas.openxmlformats.org/drawingml/2006/main">
            <a:off x="658368" y="1828800"/>
            <a:ext cx="5303520" cy="142646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50" b="1">
                <a:solidFill>
                  <a:srgbClr val="F7F7FA"/>
                </a:solidFill>
                <a:latin typeface="Inter Display"/>
                <a:ea typeface="Inter Display"/>
                <a:cs typeface="Inter Display"/>
              </a:rPr>
              <a:t>Turn guest interest</a:t>
            </a:r>
            <a:endParaRPr sz="3150"/>
          </a:p>
          <a:p xmlns:a="http://schemas.openxmlformats.org/drawingml/2006/main">
            <a:pPr marL="0" indent="0">
              <a:lnSpc>
                <a:spcPct val="100000"/>
              </a:lnSpc>
              <a:buNone/>
            </a:pPr>
            <a:r>
              <a:rPr sz="3250" b="1">
                <a:solidFill>
                  <a:srgbClr val="F7F7FA"/>
                </a:solidFill>
                <a:latin typeface="Inter Display"/>
                <a:ea typeface="Inter Display"/>
                <a:cs typeface="Inter Display"/>
              </a:rPr>
              <a:t>into measurable action.</a:t>
            </a:r>
            <a:endParaRPr sz="3150"/>
          </a:p>
        </p:txBody>
      </p:sp>
      <p:sp>
        <p:nvSpPr>
          <p:cNvPr id="8" name="Text 4">
            <a:extLst xmlns:a="http://schemas.openxmlformats.org/drawingml/2006/main">
              <a:ext uri="{FF2B5EF4-FFF2-40B4-BE49-F238E27FC236}">
                <a16:creationId xmlns:a16="http://schemas.microsoft.com/office/drawing/2014/main" id="{856756D1-1A53-4D99-938B-2322EB2E184A}"/>
              </a:ext>
            </a:extLst>
          </p:cNvPr>
          <p:cNvSpPr>
            <a:spLocks xmlns:a="http://schemas.openxmlformats.org/drawingml/2006/main" noGrp="1"/>
          </p:cNvSpPr>
          <p:nvPr/>
        </p:nvSpPr>
        <p:spPr>
          <a:xfrm xmlns:a="http://schemas.openxmlformats.org/drawingml/2006/main">
            <a:off x="694944" y="3456432"/>
            <a:ext cx="4526280" cy="8229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a:solidFill>
                  <a:srgbClr val="D0CDD5"/>
                </a:solidFill>
                <a:latin typeface="Inter"/>
                <a:ea typeface="Inter"/>
                <a:cs typeface="Inter"/>
              </a:rPr>
              <a:t>A connected discovery and in-club experience designed around the venue — before, during and between visits.</a:t>
            </a:r>
            <a:endParaRPr sz="1320"/>
          </a:p>
        </p:txBody>
      </p:sp>
      <p:sp>
        <p:nvSpPr>
          <p:cNvPr id="9" name="Shape 5">
            <a:extLst xmlns:a="http://schemas.openxmlformats.org/drawingml/2006/main">
              <a:ext uri="{FF2B5EF4-FFF2-40B4-BE49-F238E27FC236}">
                <a16:creationId xmlns:a16="http://schemas.microsoft.com/office/drawing/2014/main" id="{1D50AC9C-DDC6-4F5B-8AEA-51D74D15916B}"/>
              </a:ext>
            </a:extLst>
          </p:cNvPr>
          <p:cNvSpPr>
            <a:spLocks xmlns:a="http://schemas.openxmlformats.org/drawingml/2006/main" noGrp="1"/>
          </p:cNvSpPr>
          <p:nvPr/>
        </p:nvSpPr>
        <p:spPr>
          <a:xfrm xmlns:a="http://schemas.openxmlformats.org/drawingml/2006/main">
            <a:off x="694944" y="4663440"/>
            <a:ext cx="1143000"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FB0F1E82-8459-49B4-9608-E73D49987A8D}"/>
              </a:ext>
            </a:extLst>
          </p:cNvPr>
          <p:cNvSpPr>
            <a:spLocks xmlns:a="http://schemas.openxmlformats.org/drawingml/2006/main" noGrp="1"/>
          </p:cNvSpPr>
          <p:nvPr/>
        </p:nvSpPr>
        <p:spPr>
          <a:xfrm xmlns:a="http://schemas.openxmlformats.org/drawingml/2006/main">
            <a:off x="804672" y="4718304"/>
            <a:ext cx="923544"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DISCOVERY</a:t>
            </a:r>
            <a:endParaRPr sz="840"/>
          </a:p>
        </p:txBody>
      </p:sp>
      <p:sp>
        <p:nvSpPr>
          <p:cNvPr id="11" name="Shape 7">
            <a:extLst xmlns:a="http://schemas.openxmlformats.org/drawingml/2006/main">
              <a:ext uri="{FF2B5EF4-FFF2-40B4-BE49-F238E27FC236}">
                <a16:creationId xmlns:a16="http://schemas.microsoft.com/office/drawing/2014/main" id="{3A1F610D-95AB-48ED-9844-B3CB831F270F}"/>
              </a:ext>
            </a:extLst>
          </p:cNvPr>
          <p:cNvSpPr>
            <a:spLocks xmlns:a="http://schemas.openxmlformats.org/drawingml/2006/main" noGrp="1"/>
          </p:cNvSpPr>
          <p:nvPr/>
        </p:nvSpPr>
        <p:spPr>
          <a:xfrm xmlns:a="http://schemas.openxmlformats.org/drawingml/2006/main">
            <a:off x="1920240" y="4663440"/>
            <a:ext cx="120700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8">
            <a:extLst xmlns:a="http://schemas.openxmlformats.org/drawingml/2006/main">
              <a:ext uri="{FF2B5EF4-FFF2-40B4-BE49-F238E27FC236}">
                <a16:creationId xmlns:a16="http://schemas.microsoft.com/office/drawing/2014/main" id="{21FE268A-E7A3-4EF9-A4F8-3378E5B19A06}"/>
              </a:ext>
            </a:extLst>
          </p:cNvPr>
          <p:cNvSpPr>
            <a:spLocks xmlns:a="http://schemas.openxmlformats.org/drawingml/2006/main" noGrp="1"/>
          </p:cNvSpPr>
          <p:nvPr/>
        </p:nvSpPr>
        <p:spPr>
          <a:xfrm xmlns:a="http://schemas.openxmlformats.org/drawingml/2006/main">
            <a:off x="2029968" y="4718304"/>
            <a:ext cx="98755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CONVERSION</a:t>
            </a:r>
            <a:endParaRPr sz="840"/>
          </a:p>
        </p:txBody>
      </p:sp>
      <p:sp>
        <p:nvSpPr>
          <p:cNvPr id="13" name="Shape 9">
            <a:extLst xmlns:a="http://schemas.openxmlformats.org/drawingml/2006/main">
              <a:ext uri="{FF2B5EF4-FFF2-40B4-BE49-F238E27FC236}">
                <a16:creationId xmlns:a16="http://schemas.microsoft.com/office/drawing/2014/main" id="{A6B1BF05-E488-44CF-A931-44B04F310A58}"/>
              </a:ext>
            </a:extLst>
          </p:cNvPr>
          <p:cNvSpPr>
            <a:spLocks xmlns:a="http://schemas.openxmlformats.org/drawingml/2006/main" noGrp="1"/>
          </p:cNvSpPr>
          <p:nvPr/>
        </p:nvSpPr>
        <p:spPr>
          <a:xfrm xmlns:a="http://schemas.openxmlformats.org/drawingml/2006/main">
            <a:off x="3200400" y="4663440"/>
            <a:ext cx="102412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3F5C8C9F-663C-482C-AA34-8378BD6CB8B3}"/>
              </a:ext>
            </a:extLst>
          </p:cNvPr>
          <p:cNvSpPr>
            <a:spLocks xmlns:a="http://schemas.openxmlformats.org/drawingml/2006/main" noGrp="1"/>
          </p:cNvSpPr>
          <p:nvPr/>
        </p:nvSpPr>
        <p:spPr>
          <a:xfrm xmlns:a="http://schemas.openxmlformats.org/drawingml/2006/main">
            <a:off x="3310128" y="4718304"/>
            <a:ext cx="80467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IN-CLUB</a:t>
            </a:r>
            <a:endParaRPr sz="840"/>
          </a:p>
        </p:txBody>
      </p:sp>
      <p:sp>
        <p:nvSpPr>
          <p:cNvPr id="15" name="Shape 11">
            <a:extLst xmlns:a="http://schemas.openxmlformats.org/drawingml/2006/main">
              <a:ext uri="{FF2B5EF4-FFF2-40B4-BE49-F238E27FC236}">
                <a16:creationId xmlns:a16="http://schemas.microsoft.com/office/drawing/2014/main" id="{18F9888D-3C00-420D-A575-8EE5D5C0441C}"/>
              </a:ext>
            </a:extLst>
          </p:cNvPr>
          <p:cNvSpPr>
            <a:spLocks xmlns:a="http://schemas.openxmlformats.org/drawingml/2006/main" noGrp="1"/>
          </p:cNvSpPr>
          <p:nvPr/>
        </p:nvSpPr>
        <p:spPr>
          <a:xfrm xmlns:a="http://schemas.openxmlformats.org/drawingml/2006/main">
            <a:off x="4297680" y="4663440"/>
            <a:ext cx="1335024"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2">
            <a:extLst xmlns:a="http://schemas.openxmlformats.org/drawingml/2006/main">
              <a:ext uri="{FF2B5EF4-FFF2-40B4-BE49-F238E27FC236}">
                <a16:creationId xmlns:a16="http://schemas.microsoft.com/office/drawing/2014/main" id="{26C15A0F-645A-4EFA-9B67-D14637975D9E}"/>
              </a:ext>
            </a:extLst>
          </p:cNvPr>
          <p:cNvSpPr>
            <a:spLocks xmlns:a="http://schemas.openxmlformats.org/drawingml/2006/main" noGrp="1"/>
          </p:cNvSpPr>
          <p:nvPr/>
        </p:nvSpPr>
        <p:spPr>
          <a:xfrm xmlns:a="http://schemas.openxmlformats.org/drawingml/2006/main">
            <a:off x="4407408" y="4718304"/>
            <a:ext cx="1115568"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MEASUREMENT</a:t>
            </a:r>
            <a:endParaRPr sz="840"/>
          </a:p>
        </p:txBody>
      </p:sp>
      <p:sp>
        <p:nvSpPr>
          <p:cNvPr id="17" name="Text 13">
            <a:extLst xmlns:a="http://schemas.openxmlformats.org/drawingml/2006/main">
              <a:ext uri="{FF2B5EF4-FFF2-40B4-BE49-F238E27FC236}">
                <a16:creationId xmlns:a16="http://schemas.microsoft.com/office/drawing/2014/main" id="{A1F9F8B1-5DC8-4904-89D2-E8BEB896F900}"/>
              </a:ext>
            </a:extLst>
          </p:cNvPr>
          <p:cNvSpPr>
            <a:spLocks xmlns:a="http://schemas.openxmlformats.org/drawingml/2006/main" noGrp="1"/>
          </p:cNvSpPr>
          <p:nvPr/>
        </p:nvSpPr>
        <p:spPr>
          <a:xfrm xmlns:a="http://schemas.openxmlformats.org/drawingml/2006/main">
            <a:off x="694944" y="6089904"/>
            <a:ext cx="45262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a:solidFill>
                  <a:srgbClr val="9A96A1"/>
                </a:solidFill>
                <a:latin typeface="Inter"/>
                <a:ea typeface="Inter"/>
                <a:cs typeface="Inter"/>
              </a:rPr>
              <a:t>Marketing partnership + one-location pilot proposal</a:t>
            </a:r>
            <a:endParaRPr sz="940"/>
          </a:p>
        </p:txBody>
      </p:sp>
    </p:spTree>
    <p:extLst>
      <p:ext uri="{BB962C8B-B14F-4D97-AF65-F5344CB8AC3E}">
        <p14:creationId xmlns:p14="http://schemas.microsoft.com/office/powerpoint/2010/main" val="7790695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D5B874-B0F0-4A76-AB6A-C34B1DF2A7B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THE VALUE</a:t>
            </a:r>
            <a:endParaRPr sz="950"/>
          </a:p>
        </p:txBody>
      </p:sp>
      <p:sp>
        <p:nvSpPr>
          <p:cNvPr id="3" name="Text 1">
            <a:extLst xmlns:a="http://schemas.openxmlformats.org/drawingml/2006/main">
              <a:ext uri="{FF2B5EF4-FFF2-40B4-BE49-F238E27FC236}">
                <a16:creationId xmlns:a16="http://schemas.microsoft.com/office/drawing/2014/main" id="{0511F944-F2F7-4077-88D7-9D5792279E61}"/>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One connected guest journey. Five clear benefits.</a:t>
            </a:r>
            <a:endParaRPr sz="2800"/>
          </a:p>
        </p:txBody>
      </p:sp>
      <p:sp>
        <p:nvSpPr>
          <p:cNvPr id="4" name="Text 2">
            <a:extLst xmlns:a="http://schemas.openxmlformats.org/drawingml/2006/main">
              <a:ext uri="{FF2B5EF4-FFF2-40B4-BE49-F238E27FC236}">
                <a16:creationId xmlns:a16="http://schemas.microsoft.com/office/drawing/2014/main" id="{3CE8B1A4-9C83-4A32-AE5B-92B060A07F1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connects discovery, action, in-club engagement and measurable follow-through in one venue-centered experience.</a:t>
            </a:r>
            <a:endParaRPr sz="1220"/>
          </a:p>
        </p:txBody>
      </p:sp>
      <p:sp>
        <p:nvSpPr>
          <p:cNvPr id="5" name="Shape 3">
            <a:extLst xmlns:a="http://schemas.openxmlformats.org/drawingml/2006/main">
              <a:ext uri="{FF2B5EF4-FFF2-40B4-BE49-F238E27FC236}">
                <a16:creationId xmlns:a16="http://schemas.microsoft.com/office/drawing/2014/main" id="{58D53EF3-3367-44DE-B33E-6B220E499418}"/>
              </a:ext>
            </a:extLst>
          </p:cNvPr>
          <p:cNvSpPr>
            <a:spLocks xmlns:a="http://schemas.openxmlformats.org/drawingml/2006/main" noGrp="1"/>
          </p:cNvSpPr>
          <p:nvPr/>
        </p:nvSpPr>
        <p:spPr>
          <a:xfrm xmlns:a="http://schemas.openxmlformats.org/drawingml/2006/main">
            <a:off x="566928"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98CD3E5-7737-4FFA-B910-1097EBBB7B9F}"/>
              </a:ext>
            </a:extLst>
          </p:cNvPr>
          <p:cNvSpPr>
            <a:spLocks xmlns:a="http://schemas.openxmlformats.org/drawingml/2006/main" noGrp="1"/>
          </p:cNvSpPr>
          <p:nvPr/>
        </p:nvSpPr>
        <p:spPr>
          <a:xfrm xmlns:a="http://schemas.openxmlformats.org/drawingml/2006/main">
            <a:off x="731520"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01</a:t>
            </a:r>
            <a:endParaRPr sz="1500"/>
          </a:p>
        </p:txBody>
      </p:sp>
      <p:sp>
        <p:nvSpPr>
          <p:cNvPr id="7" name="Text 5">
            <a:extLst xmlns:a="http://schemas.openxmlformats.org/drawingml/2006/main">
              <a:ext uri="{FF2B5EF4-FFF2-40B4-BE49-F238E27FC236}">
                <a16:creationId xmlns:a16="http://schemas.microsoft.com/office/drawing/2014/main" id="{AF2299A5-DCBA-4BD7-90F6-93891A6C4BC7}"/>
              </a:ext>
            </a:extLst>
          </p:cNvPr>
          <p:cNvSpPr>
            <a:spLocks xmlns:a="http://schemas.openxmlformats.org/drawingml/2006/main" noGrp="1"/>
          </p:cNvSpPr>
          <p:nvPr/>
        </p:nvSpPr>
        <p:spPr>
          <a:xfrm xmlns:a="http://schemas.openxmlformats.org/drawingml/2006/main">
            <a:off x="731520"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DISCOVERABILITY</a:t>
            </a:r>
            <a:endParaRPr sz="1020"/>
          </a:p>
        </p:txBody>
      </p:sp>
      <p:sp>
        <p:nvSpPr>
          <p:cNvPr id="8" name="Text 6">
            <a:extLst xmlns:a="http://schemas.openxmlformats.org/drawingml/2006/main">
              <a:ext uri="{FF2B5EF4-FFF2-40B4-BE49-F238E27FC236}">
                <a16:creationId xmlns:a16="http://schemas.microsoft.com/office/drawing/2014/main" id="{9DDBD24B-53BE-4314-AC39-FDC1E0B728EB}"/>
              </a:ext>
            </a:extLst>
          </p:cNvPr>
          <p:cNvSpPr>
            <a:spLocks xmlns:a="http://schemas.openxmlformats.org/drawingml/2006/main" noGrp="1"/>
          </p:cNvSpPr>
          <p:nvPr/>
        </p:nvSpPr>
        <p:spPr>
          <a:xfrm xmlns:a="http://schemas.openxmlformats.org/drawingml/2006/main">
            <a:off x="731520"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Current club + dancer activity gives guests more context when choosing where to go.</a:t>
            </a:r>
            <a:endParaRPr sz="910"/>
          </a:p>
        </p:txBody>
      </p:sp>
      <p:sp>
        <p:nvSpPr>
          <p:cNvPr id="9" name="Shape 7">
            <a:extLst xmlns:a="http://schemas.openxmlformats.org/drawingml/2006/main">
              <a:ext uri="{FF2B5EF4-FFF2-40B4-BE49-F238E27FC236}">
                <a16:creationId xmlns:a16="http://schemas.microsoft.com/office/drawing/2014/main" id="{CBCD2E69-0815-420C-9BCE-A5B1C3CF09ED}"/>
              </a:ext>
            </a:extLst>
          </p:cNvPr>
          <p:cNvSpPr>
            <a:spLocks xmlns:a="http://schemas.openxmlformats.org/drawingml/2006/main" noGrp="1"/>
          </p:cNvSpPr>
          <p:nvPr/>
        </p:nvSpPr>
        <p:spPr>
          <a:xfrm xmlns:a="http://schemas.openxmlformats.org/drawingml/2006/main">
            <a:off x="731520"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Shape 8">
            <a:extLst xmlns:a="http://schemas.openxmlformats.org/drawingml/2006/main">
              <a:ext uri="{FF2B5EF4-FFF2-40B4-BE49-F238E27FC236}">
                <a16:creationId xmlns:a16="http://schemas.microsoft.com/office/drawing/2014/main" id="{B3773C3C-5C01-4D88-BC63-AC1E2470B271}"/>
              </a:ext>
            </a:extLst>
          </p:cNvPr>
          <p:cNvSpPr>
            <a:spLocks xmlns:a="http://schemas.openxmlformats.org/drawingml/2006/main" noGrp="1"/>
          </p:cNvSpPr>
          <p:nvPr/>
        </p:nvSpPr>
        <p:spPr>
          <a:xfrm xmlns:a="http://schemas.openxmlformats.org/drawingml/2006/main">
            <a:off x="2825496"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29EE3CAE-9AFE-49E5-A314-146C831A3EF1}"/>
              </a:ext>
            </a:extLst>
          </p:cNvPr>
          <p:cNvSpPr>
            <a:spLocks xmlns:a="http://schemas.openxmlformats.org/drawingml/2006/main" noGrp="1"/>
          </p:cNvSpPr>
          <p:nvPr/>
        </p:nvSpPr>
        <p:spPr>
          <a:xfrm xmlns:a="http://schemas.openxmlformats.org/drawingml/2006/main">
            <a:off x="2990088"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02</a:t>
            </a:r>
            <a:endParaRPr sz="1500"/>
          </a:p>
        </p:txBody>
      </p:sp>
      <p:sp>
        <p:nvSpPr>
          <p:cNvPr id="12" name="Text 10">
            <a:extLst xmlns:a="http://schemas.openxmlformats.org/drawingml/2006/main">
              <a:ext uri="{FF2B5EF4-FFF2-40B4-BE49-F238E27FC236}">
                <a16:creationId xmlns:a16="http://schemas.microsoft.com/office/drawing/2014/main" id="{138F59B9-07EA-4553-931C-A99B6D6095E3}"/>
              </a:ext>
            </a:extLst>
          </p:cNvPr>
          <p:cNvSpPr>
            <a:spLocks xmlns:a="http://schemas.openxmlformats.org/drawingml/2006/main" noGrp="1"/>
          </p:cNvSpPr>
          <p:nvPr/>
        </p:nvSpPr>
        <p:spPr>
          <a:xfrm xmlns:a="http://schemas.openxmlformats.org/drawingml/2006/main">
            <a:off x="2990088"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CONVERSION</a:t>
            </a:r>
            <a:endParaRPr sz="1020"/>
          </a:p>
        </p:txBody>
      </p:sp>
      <p:sp>
        <p:nvSpPr>
          <p:cNvPr id="13" name="Text 11">
            <a:extLst xmlns:a="http://schemas.openxmlformats.org/drawingml/2006/main">
              <a:ext uri="{FF2B5EF4-FFF2-40B4-BE49-F238E27FC236}">
                <a16:creationId xmlns:a16="http://schemas.microsoft.com/office/drawing/2014/main" id="{7A345100-B7C9-409E-8250-628745A9F036}"/>
              </a:ext>
            </a:extLst>
          </p:cNvPr>
          <p:cNvSpPr>
            <a:spLocks xmlns:a="http://schemas.openxmlformats.org/drawingml/2006/main" noGrp="1"/>
          </p:cNvSpPr>
          <p:nvPr/>
        </p:nvSpPr>
        <p:spPr>
          <a:xfrm xmlns:a="http://schemas.openxmlformats.org/drawingml/2006/main">
            <a:off x="2990088"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venue offers and pickup requests give interest a clear next step.</a:t>
            </a:r>
            <a:endParaRPr sz="910"/>
          </a:p>
        </p:txBody>
      </p:sp>
      <p:sp>
        <p:nvSpPr>
          <p:cNvPr id="14" name="Shape 12">
            <a:extLst xmlns:a="http://schemas.openxmlformats.org/drawingml/2006/main">
              <a:ext uri="{FF2B5EF4-FFF2-40B4-BE49-F238E27FC236}">
                <a16:creationId xmlns:a16="http://schemas.microsoft.com/office/drawing/2014/main" id="{0F94B794-0083-4863-AB02-5E4A06E80535}"/>
              </a:ext>
            </a:extLst>
          </p:cNvPr>
          <p:cNvSpPr>
            <a:spLocks xmlns:a="http://schemas.openxmlformats.org/drawingml/2006/main" noGrp="1"/>
          </p:cNvSpPr>
          <p:nvPr/>
        </p:nvSpPr>
        <p:spPr>
          <a:xfrm xmlns:a="http://schemas.openxmlformats.org/drawingml/2006/main">
            <a:off x="2990088"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Shape 13">
            <a:extLst xmlns:a="http://schemas.openxmlformats.org/drawingml/2006/main">
              <a:ext uri="{FF2B5EF4-FFF2-40B4-BE49-F238E27FC236}">
                <a16:creationId xmlns:a16="http://schemas.microsoft.com/office/drawing/2014/main" id="{E0FBD769-8686-4014-8C40-2FA4487CC72C}"/>
              </a:ext>
            </a:extLst>
          </p:cNvPr>
          <p:cNvSpPr>
            <a:spLocks xmlns:a="http://schemas.openxmlformats.org/drawingml/2006/main" noGrp="1"/>
          </p:cNvSpPr>
          <p:nvPr/>
        </p:nvSpPr>
        <p:spPr>
          <a:xfrm xmlns:a="http://schemas.openxmlformats.org/drawingml/2006/main">
            <a:off x="5084064" y="2331720"/>
            <a:ext cx="2157984" cy="3182112"/>
          </a:xfrm>
          <a:prstGeom xmlns:a="http://schemas.openxmlformats.org/drawingml/2006/main" prst="roundRect">
            <a:avLst>
              <a:gd name="adj" fmla="val 3390"/>
            </a:avLst>
          </a:prstGeom>
          <a:solidFill xmlns:a="http://schemas.openxmlformats.org/drawingml/2006/main">
            <a:srgbClr val="11101A"/>
          </a:solidFill>
          <a:ln xmlns:a="http://schemas.openxmlformats.org/drawingml/2006/main" w="10160">
            <a:solidFill>
              <a:srgbClr val="4B2B7C"/>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989943D8-5C46-44CF-A0BA-C050B0D0DA02}"/>
              </a:ext>
            </a:extLst>
          </p:cNvPr>
          <p:cNvSpPr>
            <a:spLocks xmlns:a="http://schemas.openxmlformats.org/drawingml/2006/main" noGrp="1"/>
          </p:cNvSpPr>
          <p:nvPr/>
        </p:nvSpPr>
        <p:spPr>
          <a:xfrm xmlns:a="http://schemas.openxmlformats.org/drawingml/2006/main">
            <a:off x="5248656"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C8A7FF"/>
                </a:solidFill>
                <a:latin typeface="Inter Display"/>
                <a:ea typeface="Inter Display"/>
                <a:cs typeface="Inter Display"/>
              </a:rPr>
              <a:t>03</a:t>
            </a:r>
            <a:endParaRPr sz="1500"/>
          </a:p>
        </p:txBody>
      </p:sp>
      <p:sp>
        <p:nvSpPr>
          <p:cNvPr id="17" name="Text 15">
            <a:extLst xmlns:a="http://schemas.openxmlformats.org/drawingml/2006/main">
              <a:ext uri="{FF2B5EF4-FFF2-40B4-BE49-F238E27FC236}">
                <a16:creationId xmlns:a16="http://schemas.microsoft.com/office/drawing/2014/main" id="{43384058-B68A-40EF-9D80-C2C850004225}"/>
              </a:ext>
            </a:extLst>
          </p:cNvPr>
          <p:cNvSpPr>
            <a:spLocks xmlns:a="http://schemas.openxmlformats.org/drawingml/2006/main" noGrp="1"/>
          </p:cNvSpPr>
          <p:nvPr/>
        </p:nvSpPr>
        <p:spPr>
          <a:xfrm xmlns:a="http://schemas.openxmlformats.org/drawingml/2006/main">
            <a:off x="5248656"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IN-CLUB</a:t>
            </a:r>
            <a:endParaRPr sz="1020"/>
          </a:p>
        </p:txBody>
      </p:sp>
      <p:sp>
        <p:nvSpPr>
          <p:cNvPr id="18" name="Text 16">
            <a:extLst xmlns:a="http://schemas.openxmlformats.org/drawingml/2006/main">
              <a:ext uri="{FF2B5EF4-FFF2-40B4-BE49-F238E27FC236}">
                <a16:creationId xmlns:a16="http://schemas.microsoft.com/office/drawing/2014/main" id="{EDCCA91C-D3FB-484F-B596-EE7E8CE7C12F}"/>
              </a:ext>
            </a:extLst>
          </p:cNvPr>
          <p:cNvSpPr>
            <a:spLocks xmlns:a="http://schemas.openxmlformats.org/drawingml/2006/main" noGrp="1"/>
          </p:cNvSpPr>
          <p:nvPr/>
        </p:nvSpPr>
        <p:spPr>
          <a:xfrm xmlns:a="http://schemas.openxmlformats.org/drawingml/2006/main">
            <a:off x="5248656"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Table QR requests create a structured handoff from guest to venue staff.</a:t>
            </a:r>
            <a:endParaRPr sz="910"/>
          </a:p>
        </p:txBody>
      </p:sp>
      <p:sp>
        <p:nvSpPr>
          <p:cNvPr id="19" name="Shape 17">
            <a:extLst xmlns:a="http://schemas.openxmlformats.org/drawingml/2006/main">
              <a:ext uri="{FF2B5EF4-FFF2-40B4-BE49-F238E27FC236}">
                <a16:creationId xmlns:a16="http://schemas.microsoft.com/office/drawing/2014/main" id="{A656939E-1E84-42C1-A4BB-0A47EC2E8B87}"/>
              </a:ext>
            </a:extLst>
          </p:cNvPr>
          <p:cNvSpPr>
            <a:spLocks xmlns:a="http://schemas.openxmlformats.org/drawingml/2006/main" noGrp="1"/>
          </p:cNvSpPr>
          <p:nvPr/>
        </p:nvSpPr>
        <p:spPr>
          <a:xfrm xmlns:a="http://schemas.openxmlformats.org/drawingml/2006/main">
            <a:off x="5248656" y="5138928"/>
            <a:ext cx="621792" cy="0"/>
          </a:xfrm>
          <a:prstGeom xmlns:a="http://schemas.openxmlformats.org/drawingml/2006/main" prst="line">
            <a:avLst/>
          </a:prstGeom>
          <a:noFill xmlns:a="http://schemas.openxmlformats.org/drawingml/2006/main"/>
          <a:ln xmlns:a="http://schemas.openxmlformats.org/drawingml/2006/main" w="2794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Shape 18">
            <a:extLst xmlns:a="http://schemas.openxmlformats.org/drawingml/2006/main">
              <a:ext uri="{FF2B5EF4-FFF2-40B4-BE49-F238E27FC236}">
                <a16:creationId xmlns:a16="http://schemas.microsoft.com/office/drawing/2014/main" id="{4201C070-269A-4E7D-A504-22D0C486EEEF}"/>
              </a:ext>
            </a:extLst>
          </p:cNvPr>
          <p:cNvSpPr>
            <a:spLocks xmlns:a="http://schemas.openxmlformats.org/drawingml/2006/main" noGrp="1"/>
          </p:cNvSpPr>
          <p:nvPr/>
        </p:nvSpPr>
        <p:spPr>
          <a:xfrm xmlns:a="http://schemas.openxmlformats.org/drawingml/2006/main">
            <a:off x="7342632"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205B81C7-6A52-4087-B5F9-188E35EEB66C}"/>
              </a:ext>
            </a:extLst>
          </p:cNvPr>
          <p:cNvSpPr>
            <a:spLocks xmlns:a="http://schemas.openxmlformats.org/drawingml/2006/main" noGrp="1"/>
          </p:cNvSpPr>
          <p:nvPr/>
        </p:nvSpPr>
        <p:spPr>
          <a:xfrm xmlns:a="http://schemas.openxmlformats.org/drawingml/2006/main">
            <a:off x="7507224"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04</a:t>
            </a:r>
            <a:endParaRPr sz="1500"/>
          </a:p>
        </p:txBody>
      </p:sp>
      <p:sp>
        <p:nvSpPr>
          <p:cNvPr id="22" name="Text 20">
            <a:extLst xmlns:a="http://schemas.openxmlformats.org/drawingml/2006/main">
              <a:ext uri="{FF2B5EF4-FFF2-40B4-BE49-F238E27FC236}">
                <a16:creationId xmlns:a16="http://schemas.microsoft.com/office/drawing/2014/main" id="{979C32B2-1277-43F5-B8BB-52CB07046D33}"/>
              </a:ext>
            </a:extLst>
          </p:cNvPr>
          <p:cNvSpPr>
            <a:spLocks xmlns:a="http://schemas.openxmlformats.org/drawingml/2006/main" noGrp="1"/>
          </p:cNvSpPr>
          <p:nvPr/>
        </p:nvSpPr>
        <p:spPr>
          <a:xfrm xmlns:a="http://schemas.openxmlformats.org/drawingml/2006/main">
            <a:off x="7507224"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RETENTION</a:t>
            </a:r>
            <a:endParaRPr sz="1020"/>
          </a:p>
        </p:txBody>
      </p:sp>
      <p:sp>
        <p:nvSpPr>
          <p:cNvPr id="23" name="Text 21">
            <a:extLst xmlns:a="http://schemas.openxmlformats.org/drawingml/2006/main">
              <a:ext uri="{FF2B5EF4-FFF2-40B4-BE49-F238E27FC236}">
                <a16:creationId xmlns:a16="http://schemas.microsoft.com/office/drawing/2014/main" id="{98981845-2188-4AE3-B1CF-895018C6614A}"/>
              </a:ext>
            </a:extLst>
          </p:cNvPr>
          <p:cNvSpPr>
            <a:spLocks xmlns:a="http://schemas.openxmlformats.org/drawingml/2006/main" noGrp="1"/>
          </p:cNvSpPr>
          <p:nvPr/>
        </p:nvSpPr>
        <p:spPr>
          <a:xfrm xmlns:a="http://schemas.openxmlformats.org/drawingml/2006/main">
            <a:off x="7507224"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Follows, alerts and shareable content create reasons to revisit the experience.</a:t>
            </a:r>
            <a:endParaRPr sz="910"/>
          </a:p>
        </p:txBody>
      </p:sp>
      <p:sp>
        <p:nvSpPr>
          <p:cNvPr id="24" name="Shape 22">
            <a:extLst xmlns:a="http://schemas.openxmlformats.org/drawingml/2006/main">
              <a:ext uri="{FF2B5EF4-FFF2-40B4-BE49-F238E27FC236}">
                <a16:creationId xmlns:a16="http://schemas.microsoft.com/office/drawing/2014/main" id="{2CA9E8D8-45FE-43DE-B5EF-708EDBD4A2F2}"/>
              </a:ext>
            </a:extLst>
          </p:cNvPr>
          <p:cNvSpPr>
            <a:spLocks xmlns:a="http://schemas.openxmlformats.org/drawingml/2006/main" noGrp="1"/>
          </p:cNvSpPr>
          <p:nvPr/>
        </p:nvSpPr>
        <p:spPr>
          <a:xfrm xmlns:a="http://schemas.openxmlformats.org/drawingml/2006/main">
            <a:off x="7507224"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5" name="Shape 23">
            <a:extLst xmlns:a="http://schemas.openxmlformats.org/drawingml/2006/main">
              <a:ext uri="{FF2B5EF4-FFF2-40B4-BE49-F238E27FC236}">
                <a16:creationId xmlns:a16="http://schemas.microsoft.com/office/drawing/2014/main" id="{9DA6F3ED-2B74-4982-862A-B19737F3326A}"/>
              </a:ext>
            </a:extLst>
          </p:cNvPr>
          <p:cNvSpPr>
            <a:spLocks xmlns:a="http://schemas.openxmlformats.org/drawingml/2006/main" noGrp="1"/>
          </p:cNvSpPr>
          <p:nvPr/>
        </p:nvSpPr>
        <p:spPr>
          <a:xfrm xmlns:a="http://schemas.openxmlformats.org/drawingml/2006/main">
            <a:off x="9601200"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C36316A2-A40E-40B9-942B-D262FD3E34CE}"/>
              </a:ext>
            </a:extLst>
          </p:cNvPr>
          <p:cNvSpPr>
            <a:spLocks xmlns:a="http://schemas.openxmlformats.org/drawingml/2006/main" noGrp="1"/>
          </p:cNvSpPr>
          <p:nvPr/>
        </p:nvSpPr>
        <p:spPr>
          <a:xfrm xmlns:a="http://schemas.openxmlformats.org/drawingml/2006/main">
            <a:off x="9765792"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05</a:t>
            </a:r>
            <a:endParaRPr sz="1500"/>
          </a:p>
        </p:txBody>
      </p:sp>
      <p:sp>
        <p:nvSpPr>
          <p:cNvPr id="27" name="Text 25">
            <a:extLst xmlns:a="http://schemas.openxmlformats.org/drawingml/2006/main">
              <a:ext uri="{FF2B5EF4-FFF2-40B4-BE49-F238E27FC236}">
                <a16:creationId xmlns:a16="http://schemas.microsoft.com/office/drawing/2014/main" id="{5D743C9B-37EB-44EE-B177-C5739B4A151E}"/>
              </a:ext>
            </a:extLst>
          </p:cNvPr>
          <p:cNvSpPr>
            <a:spLocks xmlns:a="http://schemas.openxmlformats.org/drawingml/2006/main" noGrp="1"/>
          </p:cNvSpPr>
          <p:nvPr/>
        </p:nvSpPr>
        <p:spPr>
          <a:xfrm xmlns:a="http://schemas.openxmlformats.org/drawingml/2006/main">
            <a:off x="9765792"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MEASUREMENT</a:t>
            </a:r>
            <a:endParaRPr sz="1020"/>
          </a:p>
        </p:txBody>
      </p:sp>
      <p:sp>
        <p:nvSpPr>
          <p:cNvPr id="28" name="Text 26">
            <a:extLst xmlns:a="http://schemas.openxmlformats.org/drawingml/2006/main">
              <a:ext uri="{FF2B5EF4-FFF2-40B4-BE49-F238E27FC236}">
                <a16:creationId xmlns:a16="http://schemas.microsoft.com/office/drawing/2014/main" id="{380D7C63-887D-4175-8009-3A7AD044ED4E}"/>
              </a:ext>
            </a:extLst>
          </p:cNvPr>
          <p:cNvSpPr>
            <a:spLocks xmlns:a="http://schemas.openxmlformats.org/drawingml/2006/main" noGrp="1"/>
          </p:cNvSpPr>
          <p:nvPr/>
        </p:nvSpPr>
        <p:spPr>
          <a:xfrm xmlns:a="http://schemas.openxmlformats.org/drawingml/2006/main">
            <a:off x="9765792"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Venue reporting separates awareness, intent and verified pass use.</a:t>
            </a:r>
            <a:endParaRPr sz="910"/>
          </a:p>
        </p:txBody>
      </p:sp>
      <p:sp>
        <p:nvSpPr>
          <p:cNvPr id="29" name="Shape 27">
            <a:extLst xmlns:a="http://schemas.openxmlformats.org/drawingml/2006/main">
              <a:ext uri="{FF2B5EF4-FFF2-40B4-BE49-F238E27FC236}">
                <a16:creationId xmlns:a16="http://schemas.microsoft.com/office/drawing/2014/main" id="{716D47F6-D0BA-4D8E-91FE-4CD0A19519D5}"/>
              </a:ext>
            </a:extLst>
          </p:cNvPr>
          <p:cNvSpPr>
            <a:spLocks xmlns:a="http://schemas.openxmlformats.org/drawingml/2006/main" noGrp="1"/>
          </p:cNvSpPr>
          <p:nvPr/>
        </p:nvSpPr>
        <p:spPr>
          <a:xfrm xmlns:a="http://schemas.openxmlformats.org/drawingml/2006/main">
            <a:off x="9765792"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CD9E2A55-734B-44AF-9C9A-BA98F341A25F}"/>
              </a:ext>
            </a:extLst>
          </p:cNvPr>
          <p:cNvSpPr>
            <a:spLocks xmlns:a="http://schemas.openxmlformats.org/drawingml/2006/main" noGrp="1"/>
          </p:cNvSpPr>
          <p:nvPr/>
        </p:nvSpPr>
        <p:spPr>
          <a:xfrm xmlns:a="http://schemas.openxmlformats.org/drawingml/2006/main">
            <a:off x="585216" y="5888736"/>
            <a:ext cx="585216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100">
                <a:solidFill>
                  <a:srgbClr val="8A8494"/>
                </a:solidFill>
                <a:latin typeface="Inter"/>
                <a:ea typeface="Inter"/>
                <a:cs typeface="Inter"/>
              </a:rPr>
              <a:t>MYDANCR KEEPS THE CLUB ATTACHED TO THE JOURNEY</a:t>
            </a:r>
            <a:endParaRPr sz="850"/>
          </a:p>
        </p:txBody>
      </p:sp>
      <p:sp>
        <p:nvSpPr>
          <p:cNvPr id="31" name="Text 29">
            <a:extLst xmlns:a="http://schemas.openxmlformats.org/drawingml/2006/main">
              <a:ext uri="{FF2B5EF4-FFF2-40B4-BE49-F238E27FC236}">
                <a16:creationId xmlns:a16="http://schemas.microsoft.com/office/drawing/2014/main" id="{71BD051A-35E2-40C5-A5FA-14E33C28E13D}"/>
              </a:ext>
            </a:extLst>
          </p:cNvPr>
          <p:cNvSpPr>
            <a:spLocks xmlns:a="http://schemas.openxmlformats.org/drawingml/2006/main" noGrp="1"/>
          </p:cNvSpPr>
          <p:nvPr/>
        </p:nvSpPr>
        <p:spPr>
          <a:xfrm xmlns:a="http://schemas.openxmlformats.org/drawingml/2006/main">
            <a:off x="585216" y="6163056"/>
            <a:ext cx="10881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700" b="1">
                <a:solidFill>
                  <a:srgbClr val="DAD7E0"/>
                </a:solidFill>
                <a:latin typeface="Inter Display"/>
                <a:ea typeface="Inter Display"/>
                <a:cs typeface="Inter Display"/>
              </a:rPr>
              <a:t>Discover  →  Choose  →  Take action  →  Engage inside  →  Stay connected</a:t>
            </a:r>
            <a:endParaRPr sz="1550"/>
          </a:p>
        </p:txBody>
      </p:sp>
      <p:sp>
        <p:nvSpPr>
          <p:cNvPr id="32" name="Slide Number Placeholder 0">
            <a:extLst xmlns:a="http://schemas.openxmlformats.org/drawingml/2006/main">
              <a:ext uri="{FF2B5EF4-FFF2-40B4-BE49-F238E27FC236}">
                <a16:creationId xmlns:a16="http://schemas.microsoft.com/office/drawing/2014/main" id="{279B6C74-B93D-4ED2-AC49-78DAEAC54FF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2</a:t>
            </a:fld>
            <a:endParaRPr/>
          </a:p>
        </p:txBody>
      </p:sp>
    </p:spTree>
    <p:extLst>
      <p:ext uri="{BB962C8B-B14F-4D97-AF65-F5344CB8AC3E}">
        <p14:creationId xmlns:p14="http://schemas.microsoft.com/office/powerpoint/2010/main" val="276956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3F667F7-E43D-42B8-ACB9-742DCCBF723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BEFORE THE VISIT</a:t>
            </a:r>
            <a:endParaRPr sz="950"/>
          </a:p>
        </p:txBody>
      </p:sp>
      <p:sp>
        <p:nvSpPr>
          <p:cNvPr id="3" name="Text 1">
            <a:extLst xmlns:a="http://schemas.openxmlformats.org/drawingml/2006/main">
              <a:ext uri="{FF2B5EF4-FFF2-40B4-BE49-F238E27FC236}">
                <a16:creationId xmlns:a16="http://schemas.microsoft.com/office/drawing/2014/main" id="{081A1D8D-9CF7-4EC2-90B3-84130CD3DE1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Help guests choose your club — then give them a next step.</a:t>
            </a:r>
            <a:endParaRPr sz="2800"/>
          </a:p>
        </p:txBody>
      </p:sp>
      <p:sp>
        <p:nvSpPr>
          <p:cNvPr id="4" name="Text 2">
            <a:extLst xmlns:a="http://schemas.openxmlformats.org/drawingml/2006/main">
              <a:ext uri="{FF2B5EF4-FFF2-40B4-BE49-F238E27FC236}">
                <a16:creationId xmlns:a16="http://schemas.microsoft.com/office/drawing/2014/main" id="{1DA3891B-1C52-42FA-A383-1715675B948E}"/>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Turn a static listing or social post into a venue-connected experience with current context and clear actions.</a:t>
            </a:r>
            <a:endParaRPr sz="1220"/>
          </a:p>
        </p:txBody>
      </p:sp>
      <p:sp>
        <p:nvSpPr>
          <p:cNvPr id="5" name="Shape 3">
            <a:extLst xmlns:a="http://schemas.openxmlformats.org/drawingml/2006/main">
              <a:ext uri="{FF2B5EF4-FFF2-40B4-BE49-F238E27FC236}">
                <a16:creationId xmlns:a16="http://schemas.microsoft.com/office/drawing/2014/main" id="{236F49B0-449B-49C8-B1B3-371A24CDEB84}"/>
              </a:ext>
            </a:extLst>
          </p:cNvPr>
          <p:cNvSpPr>
            <a:spLocks xmlns:a="http://schemas.openxmlformats.org/drawingml/2006/main" noGrp="1"/>
          </p:cNvSpPr>
          <p:nvPr/>
        </p:nvSpPr>
        <p:spPr>
          <a:xfrm xmlns:a="http://schemas.openxmlformats.org/drawingml/2006/main">
            <a:off x="626364"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158ac0e877354f46"/>
          <a:srcRect xmlns:a="http://schemas.openxmlformats.org/drawingml/2006/main" l="0" t="13490" r="0" b="13490"/>
          <a:stretch xmlns:a="http://schemas.openxmlformats.org/drawingml/2006/main"/>
        </p:blipFill>
        <p:spPr>
          <a:xfrm xmlns:a="http://schemas.openxmlformats.org/drawingml/2006/main">
            <a:off x="658368" y="2176272"/>
            <a:ext cx="2468880" cy="390448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FBA3C88-4B35-4C37-9620-A2A8A5D44D92}"/>
              </a:ext>
            </a:extLst>
          </p:cNvPr>
          <p:cNvSpPr>
            <a:spLocks xmlns:a="http://schemas.openxmlformats.org/drawingml/2006/main" noGrp="1"/>
          </p:cNvSpPr>
          <p:nvPr/>
        </p:nvSpPr>
        <p:spPr>
          <a:xfrm xmlns:a="http://schemas.openxmlformats.org/drawingml/2006/main">
            <a:off x="3241548"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4" name="Image 1"/>
          <p:cNvPicPr>
            <a:picLocks xmlns:a="http://schemas.openxmlformats.org/drawingml/2006/main" noChangeAspect="1"/>
          </p:cNvPicPr>
          <p:nvPr/>
        </p:nvPicPr>
        <p:blipFill>
          <a:blip xmlns:r="http://schemas.openxmlformats.org/officeDocument/2006/relationships" xmlns:a="http://schemas.openxmlformats.org/drawingml/2006/main" r:embed="R2f6b56bd9e534505"/>
          <a:srcRect xmlns:a="http://schemas.openxmlformats.org/drawingml/2006/main" l="0" t="13490" r="0" b="13490"/>
          <a:stretch xmlns:a="http://schemas.openxmlformats.org/drawingml/2006/main"/>
        </p:blipFill>
        <p:spPr>
          <a:xfrm xmlns:a="http://schemas.openxmlformats.org/drawingml/2006/main">
            <a:off x="3273552" y="2176272"/>
            <a:ext cx="2468880" cy="3904488"/>
          </a:xfrm>
          <a:prstGeom xmlns:a="http://schemas.openxmlformats.org/drawingml/2006/main" prst="rect">
            <a:avLst/>
          </a:prstGeom>
        </p:spPr>
      </p:pic>
      <p:sp>
        <p:nvSpPr>
          <p:cNvPr id="9" name="Shape 5">
            <a:extLst xmlns:a="http://schemas.openxmlformats.org/drawingml/2006/main">
              <a:ext uri="{FF2B5EF4-FFF2-40B4-BE49-F238E27FC236}">
                <a16:creationId xmlns:a16="http://schemas.microsoft.com/office/drawing/2014/main" id="{732AF551-7662-4BDC-98A1-29F9DCD5A519}"/>
              </a:ext>
            </a:extLst>
          </p:cNvPr>
          <p:cNvSpPr>
            <a:spLocks xmlns:a="http://schemas.openxmlformats.org/drawingml/2006/main" noGrp="1"/>
          </p:cNvSpPr>
          <p:nvPr/>
        </p:nvSpPr>
        <p:spPr>
          <a:xfrm xmlns:a="http://schemas.openxmlformats.org/drawingml/2006/main">
            <a:off x="6126480" y="2176272"/>
            <a:ext cx="5468112" cy="3904488"/>
          </a:xfrm>
          <a:prstGeom xmlns:a="http://schemas.openxmlformats.org/drawingml/2006/main" prst="roundRect">
            <a:avLst>
              <a:gd name="adj" fmla="val 1874"/>
            </a:avLst>
          </a:prstGeom>
          <a:solidFill xmlns:a="http://schemas.openxmlformats.org/drawingml/2006/main">
            <a:srgbClr val="0D0D12"/>
          </a:solidFill>
          <a:ln xmlns:a="http://schemas.openxmlformats.org/drawingml/2006/main" w="10160">
            <a:solidFill>
              <a:srgbClr val="302A3D"/>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553CF768-68F0-43BD-A500-CB20C81BE2C0}"/>
              </a:ext>
            </a:extLst>
          </p:cNvPr>
          <p:cNvSpPr>
            <a:spLocks xmlns:a="http://schemas.openxmlformats.org/drawingml/2006/main" noGrp="1"/>
          </p:cNvSpPr>
          <p:nvPr/>
        </p:nvSpPr>
        <p:spPr>
          <a:xfrm xmlns:a="http://schemas.openxmlformats.org/drawingml/2006/main">
            <a:off x="6419088" y="254203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11" name="Text 7">
            <a:extLst xmlns:a="http://schemas.openxmlformats.org/drawingml/2006/main">
              <a:ext uri="{FF2B5EF4-FFF2-40B4-BE49-F238E27FC236}">
                <a16:creationId xmlns:a16="http://schemas.microsoft.com/office/drawing/2014/main" id="{8A3EF3A9-F5E3-4BAC-9B27-DCE20F8E2766}"/>
              </a:ext>
            </a:extLst>
          </p:cNvPr>
          <p:cNvSpPr>
            <a:spLocks xmlns:a="http://schemas.openxmlformats.org/drawingml/2006/main" noGrp="1"/>
          </p:cNvSpPr>
          <p:nvPr/>
        </p:nvSpPr>
        <p:spPr>
          <a:xfrm xmlns:a="http://schemas.openxmlformats.org/drawingml/2006/main">
            <a:off x="6858000" y="2532888"/>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CURRENT CLUB + DANCER CONTEXT</a:t>
            </a:r>
            <a:endParaRPr sz="1050"/>
          </a:p>
        </p:txBody>
      </p:sp>
      <p:sp>
        <p:nvSpPr>
          <p:cNvPr id="12" name="Text 8">
            <a:extLst xmlns:a="http://schemas.openxmlformats.org/drawingml/2006/main">
              <a:ext uri="{FF2B5EF4-FFF2-40B4-BE49-F238E27FC236}">
                <a16:creationId xmlns:a16="http://schemas.microsoft.com/office/drawing/2014/main" id="{C6683804-4503-4FE9-BB50-2C375DE876CC}"/>
              </a:ext>
            </a:extLst>
          </p:cNvPr>
          <p:cNvSpPr>
            <a:spLocks xmlns:a="http://schemas.openxmlformats.org/drawingml/2006/main" noGrp="1"/>
          </p:cNvSpPr>
          <p:nvPr/>
        </p:nvSpPr>
        <p:spPr>
          <a:xfrm xmlns:a="http://schemas.openxmlformats.org/drawingml/2006/main">
            <a:off x="6858000" y="2807208"/>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Working Now signals, venue details and approved profiles give the guest more information at the moment of decision.</a:t>
            </a:r>
            <a:endParaRPr sz="890"/>
          </a:p>
        </p:txBody>
      </p:sp>
      <p:sp>
        <p:nvSpPr>
          <p:cNvPr id="13" name="Shape 9">
            <a:extLst xmlns:a="http://schemas.openxmlformats.org/drawingml/2006/main">
              <a:ext uri="{FF2B5EF4-FFF2-40B4-BE49-F238E27FC236}">
                <a16:creationId xmlns:a16="http://schemas.microsoft.com/office/drawing/2014/main" id="{6AF229C6-CAE3-4063-AF10-5C03E1CBAAB6}"/>
              </a:ext>
            </a:extLst>
          </p:cNvPr>
          <p:cNvSpPr>
            <a:spLocks xmlns:a="http://schemas.openxmlformats.org/drawingml/2006/main" noGrp="1"/>
          </p:cNvSpPr>
          <p:nvPr/>
        </p:nvSpPr>
        <p:spPr>
          <a:xfrm xmlns:a="http://schemas.openxmlformats.org/drawingml/2006/main">
            <a:off x="6419088" y="3456432"/>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9A815DCE-F4A3-46E2-A114-C49597BC8633}"/>
              </a:ext>
            </a:extLst>
          </p:cNvPr>
          <p:cNvSpPr>
            <a:spLocks xmlns:a="http://schemas.openxmlformats.org/drawingml/2006/main" noGrp="1"/>
          </p:cNvSpPr>
          <p:nvPr/>
        </p:nvSpPr>
        <p:spPr>
          <a:xfrm xmlns:a="http://schemas.openxmlformats.org/drawingml/2006/main">
            <a:off x="6419088" y="3675888"/>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5" name="Text 11">
            <a:extLst xmlns:a="http://schemas.openxmlformats.org/drawingml/2006/main">
              <a:ext uri="{FF2B5EF4-FFF2-40B4-BE49-F238E27FC236}">
                <a16:creationId xmlns:a16="http://schemas.microsoft.com/office/drawing/2014/main" id="{CD751B1E-2EAF-4F0E-BCC4-A7EBB7FF373E}"/>
              </a:ext>
            </a:extLst>
          </p:cNvPr>
          <p:cNvSpPr>
            <a:spLocks xmlns:a="http://schemas.openxmlformats.org/drawingml/2006/main" noGrp="1"/>
          </p:cNvSpPr>
          <p:nvPr/>
        </p:nvSpPr>
        <p:spPr>
          <a:xfrm xmlns:a="http://schemas.openxmlformats.org/drawingml/2006/main">
            <a:off x="6858000" y="3666744"/>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A CLEAR ACTION</a:t>
            </a:r>
            <a:endParaRPr sz="1050"/>
          </a:p>
        </p:txBody>
      </p:sp>
      <p:sp>
        <p:nvSpPr>
          <p:cNvPr id="16" name="Text 12">
            <a:extLst xmlns:a="http://schemas.openxmlformats.org/drawingml/2006/main">
              <a:ext uri="{FF2B5EF4-FFF2-40B4-BE49-F238E27FC236}">
                <a16:creationId xmlns:a16="http://schemas.microsoft.com/office/drawing/2014/main" id="{05C76C52-3398-47C4-8B94-811E48B2C9C4}"/>
              </a:ext>
            </a:extLst>
          </p:cNvPr>
          <p:cNvSpPr>
            <a:spLocks xmlns:a="http://schemas.openxmlformats.org/drawingml/2006/main" noGrp="1"/>
          </p:cNvSpPr>
          <p:nvPr/>
        </p:nvSpPr>
        <p:spPr>
          <a:xfrm xmlns:a="http://schemas.openxmlformats.org/drawingml/2006/main">
            <a:off x="6858000" y="3941064"/>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a venue-defined offer or a club pickup request can move consideration toward a visit.</a:t>
            </a:r>
            <a:endParaRPr sz="890"/>
          </a:p>
        </p:txBody>
      </p:sp>
      <p:sp>
        <p:nvSpPr>
          <p:cNvPr id="17" name="Shape 13">
            <a:extLst xmlns:a="http://schemas.openxmlformats.org/drawingml/2006/main">
              <a:ext uri="{FF2B5EF4-FFF2-40B4-BE49-F238E27FC236}">
                <a16:creationId xmlns:a16="http://schemas.microsoft.com/office/drawing/2014/main" id="{5E8EF8BF-272B-42F4-9DFD-98B67FA3C9C7}"/>
              </a:ext>
            </a:extLst>
          </p:cNvPr>
          <p:cNvSpPr>
            <a:spLocks xmlns:a="http://schemas.openxmlformats.org/drawingml/2006/main" noGrp="1"/>
          </p:cNvSpPr>
          <p:nvPr/>
        </p:nvSpPr>
        <p:spPr>
          <a:xfrm xmlns:a="http://schemas.openxmlformats.org/drawingml/2006/main">
            <a:off x="6419088" y="4572000"/>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Text 14">
            <a:extLst xmlns:a="http://schemas.openxmlformats.org/drawingml/2006/main">
              <a:ext uri="{FF2B5EF4-FFF2-40B4-BE49-F238E27FC236}">
                <a16:creationId xmlns:a16="http://schemas.microsoft.com/office/drawing/2014/main" id="{11F2CA2A-D678-4710-972B-758B4FA966C1}"/>
              </a:ext>
            </a:extLst>
          </p:cNvPr>
          <p:cNvSpPr>
            <a:spLocks xmlns:a="http://schemas.openxmlformats.org/drawingml/2006/main" noGrp="1"/>
          </p:cNvSpPr>
          <p:nvPr/>
        </p:nvSpPr>
        <p:spPr>
          <a:xfrm xmlns:a="http://schemas.openxmlformats.org/drawingml/2006/main">
            <a:off x="6419088" y="479145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9" name="Text 15">
            <a:extLst xmlns:a="http://schemas.openxmlformats.org/drawingml/2006/main">
              <a:ext uri="{FF2B5EF4-FFF2-40B4-BE49-F238E27FC236}">
                <a16:creationId xmlns:a16="http://schemas.microsoft.com/office/drawing/2014/main" id="{8DE2D537-2D7C-4F4A-B346-E8A635C4CEE0}"/>
              </a:ext>
            </a:extLst>
          </p:cNvPr>
          <p:cNvSpPr>
            <a:spLocks xmlns:a="http://schemas.openxmlformats.org/drawingml/2006/main" noGrp="1"/>
          </p:cNvSpPr>
          <p:nvPr/>
        </p:nvSpPr>
        <p:spPr>
          <a:xfrm xmlns:a="http://schemas.openxmlformats.org/drawingml/2006/main">
            <a:off x="6858000" y="4782312"/>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THE CLUB STAYS THE DESTINATION</a:t>
            </a:r>
            <a:endParaRPr sz="1050"/>
          </a:p>
        </p:txBody>
      </p:sp>
      <p:sp>
        <p:nvSpPr>
          <p:cNvPr id="20" name="Text 16">
            <a:extLst xmlns:a="http://schemas.openxmlformats.org/drawingml/2006/main">
              <a:ext uri="{FF2B5EF4-FFF2-40B4-BE49-F238E27FC236}">
                <a16:creationId xmlns:a16="http://schemas.microsoft.com/office/drawing/2014/main" id="{312FC325-C173-4AC7-A1A6-B3DC7325F7BA}"/>
              </a:ext>
            </a:extLst>
          </p:cNvPr>
          <p:cNvSpPr>
            <a:spLocks xmlns:a="http://schemas.openxmlformats.org/drawingml/2006/main" noGrp="1"/>
          </p:cNvSpPr>
          <p:nvPr/>
        </p:nvSpPr>
        <p:spPr>
          <a:xfrm xmlns:a="http://schemas.openxmlformats.org/drawingml/2006/main">
            <a:off x="6858000" y="5056632"/>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Dancer activity is shown in venue context, so attention can lead back to the club page and club actions.</a:t>
            </a:r>
            <a:endParaRPr sz="890"/>
          </a:p>
        </p:txBody>
      </p:sp>
      <p:sp>
        <p:nvSpPr>
          <p:cNvPr id="21" name="Shape 17">
            <a:extLst xmlns:a="http://schemas.openxmlformats.org/drawingml/2006/main">
              <a:ext uri="{FF2B5EF4-FFF2-40B4-BE49-F238E27FC236}">
                <a16:creationId xmlns:a16="http://schemas.microsoft.com/office/drawing/2014/main" id="{90FF5ADA-CB5A-460B-A433-9E3B1D270CE1}"/>
              </a:ext>
            </a:extLst>
          </p:cNvPr>
          <p:cNvSpPr>
            <a:spLocks xmlns:a="http://schemas.openxmlformats.org/drawingml/2006/main" noGrp="1"/>
          </p:cNvSpPr>
          <p:nvPr/>
        </p:nvSpPr>
        <p:spPr>
          <a:xfrm xmlns:a="http://schemas.openxmlformats.org/drawingml/2006/main">
            <a:off x="6437376" y="5650992"/>
            <a:ext cx="4626864" cy="420624"/>
          </a:xfrm>
          <a:prstGeom xmlns:a="http://schemas.openxmlformats.org/drawingml/2006/main" prst="roundRect">
            <a:avLst>
              <a:gd name="adj" fmla="val 17391"/>
            </a:avLst>
          </a:prstGeom>
          <a:solidFill xmlns:a="http://schemas.openxmlformats.org/drawingml/2006/main">
            <a:srgbClr val="171120"/>
          </a:solidFill>
          <a:ln xmlns:a="http://schemas.openxmlformats.org/drawingml/2006/main" w="8890">
            <a:solidFill>
              <a:srgbClr val="4F2A8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8">
            <a:extLst xmlns:a="http://schemas.openxmlformats.org/drawingml/2006/main">
              <a:ext uri="{FF2B5EF4-FFF2-40B4-BE49-F238E27FC236}">
                <a16:creationId xmlns:a16="http://schemas.microsoft.com/office/drawing/2014/main" id="{087C299E-07AB-4703-9DA2-A230D400BC4A}"/>
              </a:ext>
            </a:extLst>
          </p:cNvPr>
          <p:cNvSpPr>
            <a:spLocks xmlns:a="http://schemas.openxmlformats.org/drawingml/2006/main" noGrp="1"/>
          </p:cNvSpPr>
          <p:nvPr/>
        </p:nvSpPr>
        <p:spPr>
          <a:xfrm xmlns:a="http://schemas.openxmlformats.org/drawingml/2006/main">
            <a:off x="6601968" y="5769864"/>
            <a:ext cx="4297680" cy="1645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8C9F8"/>
                </a:solidFill>
                <a:latin typeface="Inter"/>
                <a:ea typeface="Inter"/>
                <a:cs typeface="Inter"/>
              </a:rPr>
              <a:t>PILOT QUESTION: does this create more meaningful intent and verified arrivals?</a:t>
            </a:r>
            <a:endParaRPr sz="820"/>
          </a:p>
        </p:txBody>
      </p:sp>
      <p:sp>
        <p:nvSpPr>
          <p:cNvPr id="23" name="Text 19">
            <a:extLst xmlns:a="http://schemas.openxmlformats.org/drawingml/2006/main">
              <a:ext uri="{FF2B5EF4-FFF2-40B4-BE49-F238E27FC236}">
                <a16:creationId xmlns:a16="http://schemas.microsoft.com/office/drawing/2014/main" id="{4A00C708-65C1-4718-B7E7-2EB7FDDD7DE6}"/>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 fictional club/profile content. Pickup is a request handled by the venue. Offer eligibility remains subject to venue rules.</a:t>
            </a:r>
            <a:endParaRPr sz="670"/>
          </a:p>
        </p:txBody>
      </p:sp>
      <p:sp>
        <p:nvSpPr>
          <p:cNvPr id="25" name="Slide Number Placeholder 0">
            <a:extLst xmlns:a="http://schemas.openxmlformats.org/drawingml/2006/main">
              <a:ext uri="{FF2B5EF4-FFF2-40B4-BE49-F238E27FC236}">
                <a16:creationId xmlns:a16="http://schemas.microsoft.com/office/drawing/2014/main" id="{BE8300D8-FCCF-4028-ACD0-1680D92249CA}"/>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3</a:t>
            </a:fld>
            <a:endParaRPr/>
          </a:p>
        </p:txBody>
      </p:sp>
    </p:spTree>
    <p:extLst>
      <p:ext uri="{BB962C8B-B14F-4D97-AF65-F5344CB8AC3E}">
        <p14:creationId xmlns:p14="http://schemas.microsoft.com/office/powerpoint/2010/main" val="16113307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52DB80-C97A-41F0-8B1E-254B2012A1A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MYDANCR TV</a:t>
            </a:r>
            <a:endParaRPr sz="950"/>
          </a:p>
        </p:txBody>
      </p:sp>
      <p:sp>
        <p:nvSpPr>
          <p:cNvPr id="3" name="Text 1">
            <a:extLst xmlns:a="http://schemas.openxmlformats.org/drawingml/2006/main">
              <a:ext uri="{FF2B5EF4-FFF2-40B4-BE49-F238E27FC236}">
                <a16:creationId xmlns:a16="http://schemas.microsoft.com/office/drawing/2014/main" id="{72B2BD91-CAF2-4C22-9FCC-60EE0E94B76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Shareable video can bring your club a much wider audience.</a:t>
            </a:r>
            <a:endParaRPr sz="2800"/>
          </a:p>
        </p:txBody>
      </p:sp>
      <p:sp>
        <p:nvSpPr>
          <p:cNvPr id="4" name="Text 2">
            <a:extLst xmlns:a="http://schemas.openxmlformats.org/drawingml/2006/main">
              <a:ext uri="{FF2B5EF4-FFF2-40B4-BE49-F238E27FC236}">
                <a16:creationId xmlns:a16="http://schemas.microsoft.com/office/drawing/2014/main" id="{E76CE412-BF20-420C-B3E5-CF642D206AEB}"/>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TV clips can bring new viewers to MyDancr, with venue links that keep your club connected to the attention.</a:t>
            </a:r>
            <a:endParaRPr sz="1220"/>
          </a:p>
        </p:txBody>
      </p:sp>
      <p:sp>
        <p:nvSpPr>
          <p:cNvPr id="5" name="Shape 3">
            <a:extLst xmlns:a="http://schemas.openxmlformats.org/drawingml/2006/main">
              <a:ext uri="{FF2B5EF4-FFF2-40B4-BE49-F238E27FC236}">
                <a16:creationId xmlns:a16="http://schemas.microsoft.com/office/drawing/2014/main" id="{06A846E0-CC58-4C48-8205-E78112BA0444}"/>
              </a:ext>
            </a:extLst>
          </p:cNvPr>
          <p:cNvSpPr>
            <a:spLocks xmlns:a="http://schemas.openxmlformats.org/drawingml/2006/main" noGrp="1"/>
          </p:cNvSpPr>
          <p:nvPr/>
        </p:nvSpPr>
        <p:spPr>
          <a:xfrm xmlns:a="http://schemas.openxmlformats.org/drawingml/2006/main">
            <a:off x="681228" y="2180844"/>
            <a:ext cx="4281678" cy="4105656"/>
          </a:xfrm>
          <a:prstGeom xmlns:a="http://schemas.openxmlformats.org/drawingml/2006/main" prst="roundRect">
            <a:avLst>
              <a:gd name="adj" fmla="val 3205"/>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b6e04e3159454c5b"/>
          <a:stretch xmlns:a="http://schemas.openxmlformats.org/drawingml/2006/main"/>
        </p:blipFill>
        <p:spPr>
          <a:xfrm xmlns:a="http://schemas.openxmlformats.org/drawingml/2006/main">
            <a:off x="713232" y="2359152"/>
            <a:ext cx="4217670" cy="37490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6064469F-C3BD-4609-8BAF-ABDAA30170FC}"/>
              </a:ext>
            </a:extLst>
          </p:cNvPr>
          <p:cNvSpPr>
            <a:spLocks xmlns:a="http://schemas.openxmlformats.org/drawingml/2006/main" noGrp="1"/>
          </p:cNvSpPr>
          <p:nvPr/>
        </p:nvSpPr>
        <p:spPr>
          <a:xfrm xmlns:a="http://schemas.openxmlformats.org/drawingml/2006/main">
            <a:off x="5269230" y="2212848"/>
            <a:ext cx="6188202" cy="1316736"/>
          </a:xfrm>
          <a:prstGeom xmlns:a="http://schemas.openxmlformats.org/drawingml/2006/main" prst="roundRect">
            <a:avLst>
              <a:gd name="adj" fmla="val 5556"/>
            </a:avLst>
          </a:prstGeom>
          <a:solidFill xmlns:a="http://schemas.openxmlformats.org/drawingml/2006/main">
            <a:srgbClr val="0E0E14"/>
          </a:solidFill>
          <a:ln xmlns:a="http://schemas.openxmlformats.org/drawingml/2006/main" w="10160">
            <a:solidFill>
              <a:srgbClr val="2C28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EDEFBD8B-C629-4A33-9916-658429565167}"/>
              </a:ext>
            </a:extLst>
          </p:cNvPr>
          <p:cNvSpPr>
            <a:spLocks xmlns:a="http://schemas.openxmlformats.org/drawingml/2006/main" noGrp="1"/>
          </p:cNvSpPr>
          <p:nvPr/>
        </p:nvSpPr>
        <p:spPr>
          <a:xfrm xmlns:a="http://schemas.openxmlformats.org/drawingml/2006/main">
            <a:off x="5462379"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WATCH</a:t>
            </a:r>
            <a:endParaRPr sz="780"/>
          </a:p>
        </p:txBody>
      </p:sp>
      <p:sp>
        <p:nvSpPr>
          <p:cNvPr id="9" name="Text 6">
            <a:extLst xmlns:a="http://schemas.openxmlformats.org/drawingml/2006/main">
              <a:ext uri="{FF2B5EF4-FFF2-40B4-BE49-F238E27FC236}">
                <a16:creationId xmlns:a16="http://schemas.microsoft.com/office/drawing/2014/main" id="{0DE46F4F-9835-4D95-B935-EB8AF0EEC823}"/>
              </a:ext>
            </a:extLst>
          </p:cNvPr>
          <p:cNvSpPr>
            <a:spLocks xmlns:a="http://schemas.openxmlformats.org/drawingml/2006/main" noGrp="1"/>
          </p:cNvSpPr>
          <p:nvPr/>
        </p:nvSpPr>
        <p:spPr>
          <a:xfrm xmlns:a="http://schemas.openxmlformats.org/drawingml/2006/main">
            <a:off x="5462379"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MyDancr TV</a:t>
            </a:r>
            <a:endParaRPr sz="910"/>
          </a:p>
        </p:txBody>
      </p:sp>
      <p:sp>
        <p:nvSpPr>
          <p:cNvPr id="10" name="Text 7">
            <a:extLst xmlns:a="http://schemas.openxmlformats.org/drawingml/2006/main">
              <a:ext uri="{FF2B5EF4-FFF2-40B4-BE49-F238E27FC236}">
                <a16:creationId xmlns:a16="http://schemas.microsoft.com/office/drawing/2014/main" id="{05822024-C974-4D3E-B094-C90F87700CBF}"/>
              </a:ext>
            </a:extLst>
          </p:cNvPr>
          <p:cNvSpPr>
            <a:spLocks xmlns:a="http://schemas.openxmlformats.org/drawingml/2006/main" noGrp="1"/>
          </p:cNvSpPr>
          <p:nvPr/>
        </p:nvSpPr>
        <p:spPr>
          <a:xfrm xmlns:a="http://schemas.openxmlformats.org/drawingml/2006/main">
            <a:off x="6576701"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1" name="Text 8">
            <a:extLst xmlns:a="http://schemas.openxmlformats.org/drawingml/2006/main">
              <a:ext uri="{FF2B5EF4-FFF2-40B4-BE49-F238E27FC236}">
                <a16:creationId xmlns:a16="http://schemas.microsoft.com/office/drawing/2014/main" id="{8795CA24-FB6E-4D6D-944A-923BCC8CA172}"/>
              </a:ext>
            </a:extLst>
          </p:cNvPr>
          <p:cNvSpPr>
            <a:spLocks xmlns:a="http://schemas.openxmlformats.org/drawingml/2006/main" noGrp="1"/>
          </p:cNvSpPr>
          <p:nvPr/>
        </p:nvSpPr>
        <p:spPr>
          <a:xfrm xmlns:a="http://schemas.openxmlformats.org/drawingml/2006/main">
            <a:off x="6896140"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SHARE</a:t>
            </a:r>
            <a:endParaRPr sz="780"/>
          </a:p>
        </p:txBody>
      </p:sp>
      <p:sp>
        <p:nvSpPr>
          <p:cNvPr id="12" name="Text 9">
            <a:extLst xmlns:a="http://schemas.openxmlformats.org/drawingml/2006/main">
              <a:ext uri="{FF2B5EF4-FFF2-40B4-BE49-F238E27FC236}">
                <a16:creationId xmlns:a16="http://schemas.microsoft.com/office/drawing/2014/main" id="{E82A2BB6-D2B3-4A19-BD3F-BCE8F753D5B4}"/>
              </a:ext>
            </a:extLst>
          </p:cNvPr>
          <p:cNvSpPr>
            <a:spLocks xmlns:a="http://schemas.openxmlformats.org/drawingml/2006/main" noGrp="1"/>
          </p:cNvSpPr>
          <p:nvPr/>
        </p:nvSpPr>
        <p:spPr>
          <a:xfrm xmlns:a="http://schemas.openxmlformats.org/drawingml/2006/main">
            <a:off x="6896140"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Shared video link</a:t>
            </a:r>
            <a:endParaRPr sz="910"/>
          </a:p>
        </p:txBody>
      </p:sp>
      <p:sp>
        <p:nvSpPr>
          <p:cNvPr id="13" name="Text 10">
            <a:extLst xmlns:a="http://schemas.openxmlformats.org/drawingml/2006/main">
              <a:ext uri="{FF2B5EF4-FFF2-40B4-BE49-F238E27FC236}">
                <a16:creationId xmlns:a16="http://schemas.microsoft.com/office/drawing/2014/main" id="{E2A19BF8-A0E2-4749-BA27-5B912DFEE214}"/>
              </a:ext>
            </a:extLst>
          </p:cNvPr>
          <p:cNvSpPr>
            <a:spLocks xmlns:a="http://schemas.openxmlformats.org/drawingml/2006/main" noGrp="1"/>
          </p:cNvSpPr>
          <p:nvPr/>
        </p:nvSpPr>
        <p:spPr>
          <a:xfrm xmlns:a="http://schemas.openxmlformats.org/drawingml/2006/main">
            <a:off x="8010462"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4" name="Text 11">
            <a:extLst xmlns:a="http://schemas.openxmlformats.org/drawingml/2006/main">
              <a:ext uri="{FF2B5EF4-FFF2-40B4-BE49-F238E27FC236}">
                <a16:creationId xmlns:a16="http://schemas.microsoft.com/office/drawing/2014/main" id="{8A1B1B47-F022-4A23-8CFF-ACECC03764B8}"/>
              </a:ext>
            </a:extLst>
          </p:cNvPr>
          <p:cNvSpPr>
            <a:spLocks xmlns:a="http://schemas.openxmlformats.org/drawingml/2006/main" noGrp="1"/>
          </p:cNvSpPr>
          <p:nvPr/>
        </p:nvSpPr>
        <p:spPr>
          <a:xfrm xmlns:a="http://schemas.openxmlformats.org/drawingml/2006/main">
            <a:off x="8329901"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DISCOVER</a:t>
            </a:r>
            <a:endParaRPr sz="780"/>
          </a:p>
        </p:txBody>
      </p:sp>
      <p:sp>
        <p:nvSpPr>
          <p:cNvPr id="15" name="Text 12">
            <a:extLst xmlns:a="http://schemas.openxmlformats.org/drawingml/2006/main">
              <a:ext uri="{FF2B5EF4-FFF2-40B4-BE49-F238E27FC236}">
                <a16:creationId xmlns:a16="http://schemas.microsoft.com/office/drawing/2014/main" id="{CE0F0F50-1133-4992-BE0A-45BD5276858B}"/>
              </a:ext>
            </a:extLst>
          </p:cNvPr>
          <p:cNvSpPr>
            <a:spLocks xmlns:a="http://schemas.openxmlformats.org/drawingml/2006/main" noGrp="1"/>
          </p:cNvSpPr>
          <p:nvPr/>
        </p:nvSpPr>
        <p:spPr>
          <a:xfrm xmlns:a="http://schemas.openxmlformats.org/drawingml/2006/main">
            <a:off x="8329901"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Your club</a:t>
            </a:r>
            <a:endParaRPr sz="910"/>
          </a:p>
        </p:txBody>
      </p:sp>
      <p:sp>
        <p:nvSpPr>
          <p:cNvPr id="16" name="Text 13">
            <a:extLst xmlns:a="http://schemas.openxmlformats.org/drawingml/2006/main">
              <a:ext uri="{FF2B5EF4-FFF2-40B4-BE49-F238E27FC236}">
                <a16:creationId xmlns:a16="http://schemas.microsoft.com/office/drawing/2014/main" id="{653561F2-495F-4BEE-8511-45E4190C810F}"/>
              </a:ext>
            </a:extLst>
          </p:cNvPr>
          <p:cNvSpPr>
            <a:spLocks xmlns:a="http://schemas.openxmlformats.org/drawingml/2006/main" noGrp="1"/>
          </p:cNvSpPr>
          <p:nvPr/>
        </p:nvSpPr>
        <p:spPr>
          <a:xfrm xmlns:a="http://schemas.openxmlformats.org/drawingml/2006/main">
            <a:off x="9444223"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7" name="Text 14">
            <a:extLst xmlns:a="http://schemas.openxmlformats.org/drawingml/2006/main">
              <a:ext uri="{FF2B5EF4-FFF2-40B4-BE49-F238E27FC236}">
                <a16:creationId xmlns:a16="http://schemas.microsoft.com/office/drawing/2014/main" id="{425550FD-2FE9-46AE-91B8-712A198B4BA3}"/>
              </a:ext>
            </a:extLst>
          </p:cNvPr>
          <p:cNvSpPr>
            <a:spLocks xmlns:a="http://schemas.openxmlformats.org/drawingml/2006/main" noGrp="1"/>
          </p:cNvSpPr>
          <p:nvPr/>
        </p:nvSpPr>
        <p:spPr>
          <a:xfrm xmlns:a="http://schemas.openxmlformats.org/drawingml/2006/main">
            <a:off x="9763662"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ACT</a:t>
            </a:r>
            <a:endParaRPr sz="780"/>
          </a:p>
        </p:txBody>
      </p:sp>
      <p:sp>
        <p:nvSpPr>
          <p:cNvPr id="18" name="Text 15">
            <a:extLst xmlns:a="http://schemas.openxmlformats.org/drawingml/2006/main">
              <a:ext uri="{FF2B5EF4-FFF2-40B4-BE49-F238E27FC236}">
                <a16:creationId xmlns:a16="http://schemas.microsoft.com/office/drawing/2014/main" id="{EB34B5A1-BADA-4D2B-B3B1-92704EB6D880}"/>
              </a:ext>
            </a:extLst>
          </p:cNvPr>
          <p:cNvSpPr>
            <a:spLocks xmlns:a="http://schemas.openxmlformats.org/drawingml/2006/main" noGrp="1"/>
          </p:cNvSpPr>
          <p:nvPr/>
        </p:nvSpPr>
        <p:spPr>
          <a:xfrm xmlns:a="http://schemas.openxmlformats.org/drawingml/2006/main">
            <a:off x="9763662"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Venue page + offers</a:t>
            </a:r>
            <a:endParaRPr sz="910"/>
          </a:p>
        </p:txBody>
      </p:sp>
      <p:sp>
        <p:nvSpPr>
          <p:cNvPr id="19" name="Shape 16">
            <a:extLst xmlns:a="http://schemas.openxmlformats.org/drawingml/2006/main">
              <a:ext uri="{FF2B5EF4-FFF2-40B4-BE49-F238E27FC236}">
                <a16:creationId xmlns:a16="http://schemas.microsoft.com/office/drawing/2014/main" id="{E71A80B2-49F0-4A0C-B3D7-FC9A756DC0F0}"/>
              </a:ext>
            </a:extLst>
          </p:cNvPr>
          <p:cNvSpPr>
            <a:spLocks xmlns:a="http://schemas.openxmlformats.org/drawingml/2006/main" noGrp="1"/>
          </p:cNvSpPr>
          <p:nvPr/>
        </p:nvSpPr>
        <p:spPr>
          <a:xfrm xmlns:a="http://schemas.openxmlformats.org/drawingml/2006/main">
            <a:off x="5269230" y="3730752"/>
            <a:ext cx="6188202" cy="2523744"/>
          </a:xfrm>
          <a:prstGeom xmlns:a="http://schemas.openxmlformats.org/drawingml/2006/main" prst="roundRect">
            <a:avLst>
              <a:gd name="adj" fmla="val 2899"/>
            </a:avLst>
          </a:prstGeom>
          <a:solidFill xmlns:a="http://schemas.openxmlformats.org/drawingml/2006/main">
            <a:srgbClr val="0B0B10"/>
          </a:solidFill>
          <a:ln xmlns:a="http://schemas.openxmlformats.org/drawingml/2006/main" w="10160">
            <a:solidFill>
              <a:srgbClr val="2A2632"/>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F792A088-F9A0-4346-B97C-F360E8D4D52E}"/>
              </a:ext>
            </a:extLst>
          </p:cNvPr>
          <p:cNvSpPr>
            <a:spLocks xmlns:a="http://schemas.openxmlformats.org/drawingml/2006/main" noGrp="1"/>
          </p:cNvSpPr>
          <p:nvPr/>
        </p:nvSpPr>
        <p:spPr>
          <a:xfrm xmlns:a="http://schemas.openxmlformats.org/drawingml/2006/main">
            <a:off x="5521810" y="4005072"/>
            <a:ext cx="2674373"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spc="80">
                <a:solidFill>
                  <a:srgbClr val="BFA7EA"/>
                </a:solidFill>
                <a:latin typeface="Inter"/>
                <a:ea typeface="Inter"/>
                <a:cs typeface="Inter"/>
              </a:rPr>
              <a:t>VIRAL REACH POTENTIAL</a:t>
            </a:r>
            <a:endParaRPr sz="900"/>
          </a:p>
        </p:txBody>
      </p:sp>
      <p:sp>
        <p:nvSpPr>
          <p:cNvPr id="21" name="Shape 18">
            <a:extLst xmlns:a="http://schemas.openxmlformats.org/drawingml/2006/main">
              <a:ext uri="{FF2B5EF4-FFF2-40B4-BE49-F238E27FC236}">
                <a16:creationId xmlns:a16="http://schemas.microsoft.com/office/drawing/2014/main" id="{A368E9C9-7535-4E51-A7A1-9246A975A60C}"/>
              </a:ext>
            </a:extLst>
          </p:cNvPr>
          <p:cNvSpPr>
            <a:spLocks xmlns:a="http://schemas.openxmlformats.org/drawingml/2006/main" noGrp="1"/>
          </p:cNvSpPr>
          <p:nvPr/>
        </p:nvSpPr>
        <p:spPr>
          <a:xfrm xmlns:a="http://schemas.openxmlformats.org/drawingml/2006/main">
            <a:off x="5529238" y="4498848"/>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9">
            <a:extLst xmlns:a="http://schemas.openxmlformats.org/drawingml/2006/main">
              <a:ext uri="{FF2B5EF4-FFF2-40B4-BE49-F238E27FC236}">
                <a16:creationId xmlns:a16="http://schemas.microsoft.com/office/drawing/2014/main" id="{EDB802DB-C2F5-486D-A8ED-DC1C6F249609}"/>
              </a:ext>
            </a:extLst>
          </p:cNvPr>
          <p:cNvSpPr>
            <a:spLocks xmlns:a="http://schemas.openxmlformats.org/drawingml/2006/main" noGrp="1"/>
          </p:cNvSpPr>
          <p:nvPr/>
        </p:nvSpPr>
        <p:spPr>
          <a:xfrm xmlns:a="http://schemas.openxmlformats.org/drawingml/2006/main">
            <a:off x="5685244" y="4443984"/>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Shareable videos can reach beyond your current followers and bring new viewers to MyDancr.</a:t>
            </a:r>
            <a:endParaRPr sz="920"/>
          </a:p>
        </p:txBody>
      </p:sp>
      <p:sp>
        <p:nvSpPr>
          <p:cNvPr id="23" name="Shape 20">
            <a:extLst xmlns:a="http://schemas.openxmlformats.org/drawingml/2006/main">
              <a:ext uri="{FF2B5EF4-FFF2-40B4-BE49-F238E27FC236}">
                <a16:creationId xmlns:a16="http://schemas.microsoft.com/office/drawing/2014/main" id="{53C2BBFA-9F3A-46BC-9D96-CF190B826A97}"/>
              </a:ext>
            </a:extLst>
          </p:cNvPr>
          <p:cNvSpPr>
            <a:spLocks xmlns:a="http://schemas.openxmlformats.org/drawingml/2006/main" noGrp="1"/>
          </p:cNvSpPr>
          <p:nvPr/>
        </p:nvSpPr>
        <p:spPr>
          <a:xfrm xmlns:a="http://schemas.openxmlformats.org/drawingml/2006/main">
            <a:off x="5529238" y="4937760"/>
            <a:ext cx="59431" cy="73152"/>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1">
            <a:extLst xmlns:a="http://schemas.openxmlformats.org/drawingml/2006/main">
              <a:ext uri="{FF2B5EF4-FFF2-40B4-BE49-F238E27FC236}">
                <a16:creationId xmlns:a16="http://schemas.microsoft.com/office/drawing/2014/main" id="{F674DFA1-3E57-4849-8D79-8F7CBC9423DD}"/>
              </a:ext>
            </a:extLst>
          </p:cNvPr>
          <p:cNvSpPr>
            <a:spLocks xmlns:a="http://schemas.openxmlformats.org/drawingml/2006/main" noGrp="1"/>
          </p:cNvSpPr>
          <p:nvPr/>
        </p:nvSpPr>
        <p:spPr>
          <a:xfrm xmlns:a="http://schemas.openxmlformats.org/drawingml/2006/main">
            <a:off x="5685244" y="4882896"/>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EDE9F4"/>
                </a:solidFill>
                <a:latin typeface="Inter"/>
                <a:ea typeface="Inter"/>
                <a:cs typeface="Inter"/>
              </a:rPr>
              <a:t>Venue tags connect the video to your club, giving viewers a direct path to your venue page.</a:t>
            </a:r>
            <a:endParaRPr sz="920"/>
          </a:p>
        </p:txBody>
      </p:sp>
      <p:sp>
        <p:nvSpPr>
          <p:cNvPr id="25" name="Shape 22">
            <a:extLst xmlns:a="http://schemas.openxmlformats.org/drawingml/2006/main">
              <a:ext uri="{FF2B5EF4-FFF2-40B4-BE49-F238E27FC236}">
                <a16:creationId xmlns:a16="http://schemas.microsoft.com/office/drawing/2014/main" id="{8BAB79B7-94A1-4085-9EB3-8D074727DA59}"/>
              </a:ext>
            </a:extLst>
          </p:cNvPr>
          <p:cNvSpPr>
            <a:spLocks xmlns:a="http://schemas.openxmlformats.org/drawingml/2006/main" noGrp="1"/>
          </p:cNvSpPr>
          <p:nvPr/>
        </p:nvSpPr>
        <p:spPr>
          <a:xfrm xmlns:a="http://schemas.openxmlformats.org/drawingml/2006/main">
            <a:off x="5529238" y="5376672"/>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3">
            <a:extLst xmlns:a="http://schemas.openxmlformats.org/drawingml/2006/main">
              <a:ext uri="{FF2B5EF4-FFF2-40B4-BE49-F238E27FC236}">
                <a16:creationId xmlns:a16="http://schemas.microsoft.com/office/drawing/2014/main" id="{C838B6F7-1B2C-4C78-93DB-7B8E4942E896}"/>
              </a:ext>
            </a:extLst>
          </p:cNvPr>
          <p:cNvSpPr>
            <a:spLocks xmlns:a="http://schemas.openxmlformats.org/drawingml/2006/main" noGrp="1"/>
          </p:cNvSpPr>
          <p:nvPr/>
        </p:nvSpPr>
        <p:spPr>
          <a:xfrm xmlns:a="http://schemas.openxmlformats.org/drawingml/2006/main">
            <a:off x="5685244" y="5321808"/>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A widely shared video can give the club substantial exposure and create more opportunities for visits.</a:t>
            </a:r>
            <a:endParaRPr sz="920"/>
          </a:p>
        </p:txBody>
      </p:sp>
      <p:sp>
        <p:nvSpPr>
          <p:cNvPr id="27" name="Shape 24">
            <a:extLst xmlns:a="http://schemas.openxmlformats.org/drawingml/2006/main">
              <a:ext uri="{FF2B5EF4-FFF2-40B4-BE49-F238E27FC236}">
                <a16:creationId xmlns:a16="http://schemas.microsoft.com/office/drawing/2014/main" id="{5C4B548C-FB80-45D2-901A-3024D31EABC9}"/>
              </a:ext>
            </a:extLst>
          </p:cNvPr>
          <p:cNvSpPr>
            <a:spLocks xmlns:a="http://schemas.openxmlformats.org/drawingml/2006/main" noGrp="1"/>
          </p:cNvSpPr>
          <p:nvPr/>
        </p:nvSpPr>
        <p:spPr>
          <a:xfrm xmlns:a="http://schemas.openxmlformats.org/drawingml/2006/main">
            <a:off x="5529238" y="5815584"/>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5">
            <a:extLst xmlns:a="http://schemas.openxmlformats.org/drawingml/2006/main">
              <a:ext uri="{FF2B5EF4-FFF2-40B4-BE49-F238E27FC236}">
                <a16:creationId xmlns:a16="http://schemas.microsoft.com/office/drawing/2014/main" id="{45A7F149-4608-46C2-9929-B4CD576E014C}"/>
              </a:ext>
            </a:extLst>
          </p:cNvPr>
          <p:cNvSpPr>
            <a:spLocks xmlns:a="http://schemas.openxmlformats.org/drawingml/2006/main" noGrp="1"/>
          </p:cNvSpPr>
          <p:nvPr/>
        </p:nvSpPr>
        <p:spPr>
          <a:xfrm xmlns:a="http://schemas.openxmlformats.org/drawingml/2006/main">
            <a:off x="5685244" y="5760720"/>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Track eligible TV views and club actions to see which content attracts interest.</a:t>
            </a:r>
            <a:endParaRPr sz="920"/>
          </a:p>
        </p:txBody>
      </p:sp>
      <p:sp>
        <p:nvSpPr>
          <p:cNvPr id="29" name="Text 26">
            <a:extLst xmlns:a="http://schemas.openxmlformats.org/drawingml/2006/main">
              <a:ext uri="{FF2B5EF4-FFF2-40B4-BE49-F238E27FC236}">
                <a16:creationId xmlns:a16="http://schemas.microsoft.com/office/drawing/2014/main" id="{20B0C065-F360-4F92-B4E8-611C01FE5098}"/>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with fictional content. Viral reach and audience size depend on sharing and engagement and are not guaranteed.</a:t>
            </a:r>
            <a:endParaRPr sz="670"/>
          </a:p>
        </p:txBody>
      </p:sp>
      <p:sp>
        <p:nvSpPr>
          <p:cNvPr id="31" name="Slide Number Placeholder 0">
            <a:extLst xmlns:a="http://schemas.openxmlformats.org/drawingml/2006/main">
              <a:ext uri="{FF2B5EF4-FFF2-40B4-BE49-F238E27FC236}">
                <a16:creationId xmlns:a16="http://schemas.microsoft.com/office/drawing/2014/main" id="{DE473514-74FF-4EBD-9793-D52968F8059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4</a:t>
            </a:fld>
            <a:endParaRPr/>
          </a:p>
        </p:txBody>
      </p:sp>
    </p:spTree>
    <p:extLst>
      <p:ext uri="{BB962C8B-B14F-4D97-AF65-F5344CB8AC3E}">
        <p14:creationId xmlns:p14="http://schemas.microsoft.com/office/powerpoint/2010/main" val="19684119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00E82F-3C2A-408D-97A1-F7CCE60801CE}"/>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INSIDE THE CLUB</a:t>
            </a:r>
            <a:endParaRPr sz="950"/>
          </a:p>
        </p:txBody>
      </p:sp>
      <p:sp>
        <p:nvSpPr>
          <p:cNvPr id="3" name="Text 1">
            <a:extLst xmlns:a="http://schemas.openxmlformats.org/drawingml/2006/main">
              <a:ext uri="{FF2B5EF4-FFF2-40B4-BE49-F238E27FC236}">
                <a16:creationId xmlns:a16="http://schemas.microsoft.com/office/drawing/2014/main" id="{78504C4B-0F81-41B7-BF1F-D2862EC9DE6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Turn “I want to meet her” into a structured staff request.</a:t>
            </a:r>
            <a:endParaRPr sz="2800"/>
          </a:p>
        </p:txBody>
      </p:sp>
      <p:sp>
        <p:nvSpPr>
          <p:cNvPr id="4" name="Text 2">
            <a:extLst xmlns:a="http://schemas.openxmlformats.org/drawingml/2006/main">
              <a:ext uri="{FF2B5EF4-FFF2-40B4-BE49-F238E27FC236}">
                <a16:creationId xmlns:a16="http://schemas.microsoft.com/office/drawing/2014/main" id="{A1F1F1C6-A188-42A9-8419-1D1D77DEB4A9}"/>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The optional table experience is designed to reduce friction for the guest while keeping coordination with venue staff.</a:t>
            </a:r>
            <a:endParaRPr sz="1220"/>
          </a:p>
        </p:txBody>
      </p:sp>
      <p:sp>
        <p:nvSpPr>
          <p:cNvPr id="5" name="Shape 3">
            <a:extLst xmlns:a="http://schemas.openxmlformats.org/drawingml/2006/main">
              <a:ext uri="{FF2B5EF4-FFF2-40B4-BE49-F238E27FC236}">
                <a16:creationId xmlns:a16="http://schemas.microsoft.com/office/drawing/2014/main" id="{E20E932A-BD36-4403-B542-E37676973337}"/>
              </a:ext>
            </a:extLst>
          </p:cNvPr>
          <p:cNvSpPr>
            <a:spLocks xmlns:a="http://schemas.openxmlformats.org/drawingml/2006/main" noGrp="1"/>
          </p:cNvSpPr>
          <p:nvPr/>
        </p:nvSpPr>
        <p:spPr>
          <a:xfrm xmlns:a="http://schemas.openxmlformats.org/drawingml/2006/main">
            <a:off x="626364" y="2125980"/>
            <a:ext cx="3035808" cy="4242816"/>
          </a:xfrm>
          <a:prstGeom xmlns:a="http://schemas.openxmlformats.org/drawingml/2006/main" prst="roundRect">
            <a:avLst>
              <a:gd name="adj" fmla="val 3012"/>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f8a17a7503c34e1d"/>
          <a:srcRect xmlns:a="http://schemas.openxmlformats.org/drawingml/2006/main" l="0" t="21944" r="0" b="21944"/>
          <a:stretch xmlns:a="http://schemas.openxmlformats.org/drawingml/2006/main"/>
        </p:blipFill>
        <p:spPr>
          <a:xfrm xmlns:a="http://schemas.openxmlformats.org/drawingml/2006/main">
            <a:off x="658368" y="2157984"/>
            <a:ext cx="2971800" cy="417880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D5CF8DD0-D147-489D-8D40-12411015E63B}"/>
              </a:ext>
            </a:extLst>
          </p:cNvPr>
          <p:cNvSpPr>
            <a:spLocks xmlns:a="http://schemas.openxmlformats.org/drawingml/2006/main" noGrp="1"/>
          </p:cNvSpPr>
          <p:nvPr/>
        </p:nvSpPr>
        <p:spPr>
          <a:xfrm xmlns:a="http://schemas.openxmlformats.org/drawingml/2006/main">
            <a:off x="4005072" y="2157984"/>
            <a:ext cx="7516368" cy="4178808"/>
          </a:xfrm>
          <a:prstGeom xmlns:a="http://schemas.openxmlformats.org/drawingml/2006/main" prst="roundRect">
            <a:avLst>
              <a:gd name="adj" fmla="val 1751"/>
            </a:avLst>
          </a:prstGeom>
          <a:solidFill xmlns:a="http://schemas.openxmlformats.org/drawingml/2006/main">
            <a:srgbClr val="0D0D12"/>
          </a:solidFill>
          <a:ln xmlns:a="http://schemas.openxmlformats.org/drawingml/2006/main" w="10160">
            <a:solidFill>
              <a:srgbClr val="302A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A276A023-5097-4F80-95A0-9F015789FD70}"/>
              </a:ext>
            </a:extLst>
          </p:cNvPr>
          <p:cNvSpPr>
            <a:spLocks xmlns:a="http://schemas.openxmlformats.org/drawingml/2006/main" noGrp="1"/>
          </p:cNvSpPr>
          <p:nvPr/>
        </p:nvSpPr>
        <p:spPr>
          <a:xfrm xmlns:a="http://schemas.openxmlformats.org/drawingml/2006/main">
            <a:off x="4370832" y="255117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9" name="Text 6">
            <a:extLst xmlns:a="http://schemas.openxmlformats.org/drawingml/2006/main">
              <a:ext uri="{FF2B5EF4-FFF2-40B4-BE49-F238E27FC236}">
                <a16:creationId xmlns:a16="http://schemas.microsoft.com/office/drawing/2014/main" id="{456C6388-179D-4035-8F4B-BE8BC305F0E5}"/>
              </a:ext>
            </a:extLst>
          </p:cNvPr>
          <p:cNvSpPr>
            <a:spLocks xmlns:a="http://schemas.openxmlformats.org/drawingml/2006/main" noGrp="1"/>
          </p:cNvSpPr>
          <p:nvPr/>
        </p:nvSpPr>
        <p:spPr>
          <a:xfrm xmlns:a="http://schemas.openxmlformats.org/drawingml/2006/main">
            <a:off x="4809744" y="2542032"/>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SCAN THE TABLE QR</a:t>
            </a:r>
            <a:endParaRPr sz="1050"/>
          </a:p>
        </p:txBody>
      </p:sp>
      <p:sp>
        <p:nvSpPr>
          <p:cNvPr id="10" name="Text 7">
            <a:extLst xmlns:a="http://schemas.openxmlformats.org/drawingml/2006/main">
              <a:ext uri="{FF2B5EF4-FFF2-40B4-BE49-F238E27FC236}">
                <a16:creationId xmlns:a16="http://schemas.microsoft.com/office/drawing/2014/main" id="{21200484-ED0D-4F62-AAA8-249089695DDB}"/>
              </a:ext>
            </a:extLst>
          </p:cNvPr>
          <p:cNvSpPr>
            <a:spLocks xmlns:a="http://schemas.openxmlformats.org/drawingml/2006/main" noGrp="1"/>
          </p:cNvSpPr>
          <p:nvPr/>
        </p:nvSpPr>
        <p:spPr>
          <a:xfrm xmlns:a="http://schemas.openxmlformats.org/drawingml/2006/main">
            <a:off x="4809744" y="2816352"/>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guest opens that club’s current eligible roster.</a:t>
            </a:r>
            <a:endParaRPr sz="890"/>
          </a:p>
        </p:txBody>
      </p:sp>
      <p:sp>
        <p:nvSpPr>
          <p:cNvPr id="11" name="Shape 8">
            <a:extLst xmlns:a="http://schemas.openxmlformats.org/drawingml/2006/main">
              <a:ext uri="{FF2B5EF4-FFF2-40B4-BE49-F238E27FC236}">
                <a16:creationId xmlns:a16="http://schemas.microsoft.com/office/drawing/2014/main" id="{EBCAF7A3-0996-4640-8813-95F7199353D2}"/>
              </a:ext>
            </a:extLst>
          </p:cNvPr>
          <p:cNvSpPr>
            <a:spLocks xmlns:a="http://schemas.openxmlformats.org/drawingml/2006/main" noGrp="1"/>
          </p:cNvSpPr>
          <p:nvPr/>
        </p:nvSpPr>
        <p:spPr>
          <a:xfrm xmlns:a="http://schemas.openxmlformats.org/drawingml/2006/main">
            <a:off x="4370832" y="340156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9">
            <a:extLst xmlns:a="http://schemas.openxmlformats.org/drawingml/2006/main">
              <a:ext uri="{FF2B5EF4-FFF2-40B4-BE49-F238E27FC236}">
                <a16:creationId xmlns:a16="http://schemas.microsoft.com/office/drawing/2014/main" id="{5E98BECC-7DF5-4F25-B247-37DB752A5C19}"/>
              </a:ext>
            </a:extLst>
          </p:cNvPr>
          <p:cNvSpPr>
            <a:spLocks xmlns:a="http://schemas.openxmlformats.org/drawingml/2006/main" noGrp="1"/>
          </p:cNvSpPr>
          <p:nvPr/>
        </p:nvSpPr>
        <p:spPr>
          <a:xfrm xmlns:a="http://schemas.openxmlformats.org/drawingml/2006/main">
            <a:off x="4370832" y="363931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3" name="Text 10">
            <a:extLst xmlns:a="http://schemas.openxmlformats.org/drawingml/2006/main">
              <a:ext uri="{FF2B5EF4-FFF2-40B4-BE49-F238E27FC236}">
                <a16:creationId xmlns:a16="http://schemas.microsoft.com/office/drawing/2014/main" id="{C97C8494-18A7-4531-AD6F-47BA388E8E35}"/>
              </a:ext>
            </a:extLst>
          </p:cNvPr>
          <p:cNvSpPr>
            <a:spLocks xmlns:a="http://schemas.openxmlformats.org/drawingml/2006/main" noGrp="1"/>
          </p:cNvSpPr>
          <p:nvPr/>
        </p:nvSpPr>
        <p:spPr>
          <a:xfrm xmlns:a="http://schemas.openxmlformats.org/drawingml/2006/main">
            <a:off x="4809744" y="363016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EXPLORE A FULL PROFILE</a:t>
            </a:r>
            <a:endParaRPr sz="1050"/>
          </a:p>
        </p:txBody>
      </p:sp>
      <p:sp>
        <p:nvSpPr>
          <p:cNvPr id="14" name="Text 11">
            <a:extLst xmlns:a="http://schemas.openxmlformats.org/drawingml/2006/main">
              <a:ext uri="{FF2B5EF4-FFF2-40B4-BE49-F238E27FC236}">
                <a16:creationId xmlns:a16="http://schemas.microsoft.com/office/drawing/2014/main" id="{41A66F55-BB68-4366-BC00-62C124F87ADA}"/>
              </a:ext>
            </a:extLst>
          </p:cNvPr>
          <p:cNvSpPr>
            <a:spLocks xmlns:a="http://schemas.openxmlformats.org/drawingml/2006/main" noGrp="1"/>
          </p:cNvSpPr>
          <p:nvPr/>
        </p:nvSpPr>
        <p:spPr>
          <a:xfrm xmlns:a="http://schemas.openxmlformats.org/drawingml/2006/main">
            <a:off x="4809744" y="390448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Approved photos and videos help the guest choose.</a:t>
            </a:r>
            <a:endParaRPr sz="890"/>
          </a:p>
        </p:txBody>
      </p:sp>
      <p:sp>
        <p:nvSpPr>
          <p:cNvPr id="15" name="Shape 12">
            <a:extLst xmlns:a="http://schemas.openxmlformats.org/drawingml/2006/main">
              <a:ext uri="{FF2B5EF4-FFF2-40B4-BE49-F238E27FC236}">
                <a16:creationId xmlns:a16="http://schemas.microsoft.com/office/drawing/2014/main" id="{BDB60B9C-9C53-4ED5-9B17-F2461FF1C512}"/>
              </a:ext>
            </a:extLst>
          </p:cNvPr>
          <p:cNvSpPr>
            <a:spLocks xmlns:a="http://schemas.openxmlformats.org/drawingml/2006/main" noGrp="1"/>
          </p:cNvSpPr>
          <p:nvPr/>
        </p:nvSpPr>
        <p:spPr>
          <a:xfrm xmlns:a="http://schemas.openxmlformats.org/drawingml/2006/main">
            <a:off x="4370832" y="449884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3">
            <a:extLst xmlns:a="http://schemas.openxmlformats.org/drawingml/2006/main">
              <a:ext uri="{FF2B5EF4-FFF2-40B4-BE49-F238E27FC236}">
                <a16:creationId xmlns:a16="http://schemas.microsoft.com/office/drawing/2014/main" id="{282D3080-9A22-43D4-8004-5B6400385762}"/>
              </a:ext>
            </a:extLst>
          </p:cNvPr>
          <p:cNvSpPr>
            <a:spLocks xmlns:a="http://schemas.openxmlformats.org/drawingml/2006/main" noGrp="1"/>
          </p:cNvSpPr>
          <p:nvPr/>
        </p:nvSpPr>
        <p:spPr>
          <a:xfrm xmlns:a="http://schemas.openxmlformats.org/drawingml/2006/main">
            <a:off x="4370832" y="473659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7" name="Text 14">
            <a:extLst xmlns:a="http://schemas.openxmlformats.org/drawingml/2006/main">
              <a:ext uri="{FF2B5EF4-FFF2-40B4-BE49-F238E27FC236}">
                <a16:creationId xmlns:a16="http://schemas.microsoft.com/office/drawing/2014/main" id="{510B2921-5DBB-42C9-B0F3-94F28015FE85}"/>
              </a:ext>
            </a:extLst>
          </p:cNvPr>
          <p:cNvSpPr>
            <a:spLocks xmlns:a="http://schemas.openxmlformats.org/drawingml/2006/main" noGrp="1"/>
          </p:cNvSpPr>
          <p:nvPr/>
        </p:nvSpPr>
        <p:spPr>
          <a:xfrm xmlns:a="http://schemas.openxmlformats.org/drawingml/2006/main">
            <a:off x="4809744" y="472744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SEND A REQUEST TO STAFF</a:t>
            </a:r>
            <a:endParaRPr sz="1050"/>
          </a:p>
        </p:txBody>
      </p:sp>
      <p:sp>
        <p:nvSpPr>
          <p:cNvPr id="18" name="Text 15">
            <a:extLst xmlns:a="http://schemas.openxmlformats.org/drawingml/2006/main">
              <a:ext uri="{FF2B5EF4-FFF2-40B4-BE49-F238E27FC236}">
                <a16:creationId xmlns:a16="http://schemas.microsoft.com/office/drawing/2014/main" id="{3E4B8722-A139-491A-BCF0-674A2EC5C275}"/>
              </a:ext>
            </a:extLst>
          </p:cNvPr>
          <p:cNvSpPr>
            <a:spLocks xmlns:a="http://schemas.openxmlformats.org/drawingml/2006/main" noGrp="1"/>
          </p:cNvSpPr>
          <p:nvPr/>
        </p:nvSpPr>
        <p:spPr>
          <a:xfrm xmlns:a="http://schemas.openxmlformats.org/drawingml/2006/main">
            <a:off x="4809744" y="500176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request identifies the dancer and table so the venue team can coordinate.</a:t>
            </a:r>
            <a:endParaRPr sz="890"/>
          </a:p>
        </p:txBody>
      </p:sp>
      <p:sp>
        <p:nvSpPr>
          <p:cNvPr id="19" name="Shape 16">
            <a:extLst xmlns:a="http://schemas.openxmlformats.org/drawingml/2006/main">
              <a:ext uri="{FF2B5EF4-FFF2-40B4-BE49-F238E27FC236}">
                <a16:creationId xmlns:a16="http://schemas.microsoft.com/office/drawing/2014/main" id="{6589D5D8-472D-417D-A0C3-A75499E2D37B}"/>
              </a:ext>
            </a:extLst>
          </p:cNvPr>
          <p:cNvSpPr>
            <a:spLocks xmlns:a="http://schemas.openxmlformats.org/drawingml/2006/main" noGrp="1"/>
          </p:cNvSpPr>
          <p:nvPr/>
        </p:nvSpPr>
        <p:spPr>
          <a:xfrm xmlns:a="http://schemas.openxmlformats.org/drawingml/2006/main">
            <a:off x="4389120" y="5742432"/>
            <a:ext cx="6565392" cy="420624"/>
          </a:xfrm>
          <a:prstGeom xmlns:a="http://schemas.openxmlformats.org/drawingml/2006/main" prst="roundRect">
            <a:avLst>
              <a:gd name="adj" fmla="val 17391"/>
            </a:avLst>
          </a:prstGeom>
          <a:solidFill xmlns:a="http://schemas.openxmlformats.org/drawingml/2006/main">
            <a:srgbClr val="111A16"/>
          </a:solidFill>
          <a:ln xmlns:a="http://schemas.openxmlformats.org/drawingml/2006/main" w="8890">
            <a:solidFill>
              <a:srgbClr val="215E49"/>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1C4FBE2F-4AC4-451B-9984-C260B11AB1DC}"/>
              </a:ext>
            </a:extLst>
          </p:cNvPr>
          <p:cNvSpPr>
            <a:spLocks xmlns:a="http://schemas.openxmlformats.org/drawingml/2006/main" noGrp="1"/>
          </p:cNvSpPr>
          <p:nvPr/>
        </p:nvSpPr>
        <p:spPr>
          <a:xfrm xmlns:a="http://schemas.openxmlformats.org/drawingml/2006/main">
            <a:off x="4599432" y="5852160"/>
            <a:ext cx="6144768" cy="17373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100" b="1">
                <a:solidFill>
                  <a:srgbClr val="BFF3DE"/>
                </a:solidFill>
                <a:latin typeface="Inter"/>
                <a:ea typeface="Inter"/>
                <a:cs typeface="Inter"/>
              </a:rPr>
              <a:t>CLUB BENEFIT  •  lower-friction guest request + clearer staff handoff</a:t>
            </a:r>
            <a:endParaRPr sz="880"/>
          </a:p>
        </p:txBody>
      </p:sp>
      <p:sp>
        <p:nvSpPr>
          <p:cNvPr id="21" name="Text 18">
            <a:extLst xmlns:a="http://schemas.openxmlformats.org/drawingml/2006/main">
              <a:ext uri="{FF2B5EF4-FFF2-40B4-BE49-F238E27FC236}">
                <a16:creationId xmlns:a16="http://schemas.microsoft.com/office/drawing/2014/main" id="{8EEEFB7E-6EFE-4733-99AF-B7E6B47266CB}"/>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No customer-to-dancer messaging, payment, pricing or negotiation in the table-request flow. Requests do not confirm dancer acceptance or a purchase.</a:t>
            </a:r>
            <a:endParaRPr sz="670"/>
          </a:p>
        </p:txBody>
      </p:sp>
      <p:sp>
        <p:nvSpPr>
          <p:cNvPr id="25" name="Slide Number Placeholder 0">
            <a:extLst xmlns:a="http://schemas.openxmlformats.org/drawingml/2006/main">
              <a:ext uri="{FF2B5EF4-FFF2-40B4-BE49-F238E27FC236}">
                <a16:creationId xmlns:a16="http://schemas.microsoft.com/office/drawing/2014/main" id="{4BB47657-E1F2-46AE-8E82-9F8F1FE2951D}"/>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5</a:t>
            </a:fld>
            <a:endParaRPr/>
          </a:p>
        </p:txBody>
      </p:sp>
    </p:spTree>
    <p:extLst>
      <p:ext uri="{BB962C8B-B14F-4D97-AF65-F5344CB8AC3E}">
        <p14:creationId xmlns:p14="http://schemas.microsoft.com/office/powerpoint/2010/main" val="4109440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B732B0-B520-4295-A1AA-03082FFF719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CONTROL</a:t>
            </a:r>
            <a:endParaRPr sz="950"/>
          </a:p>
        </p:txBody>
      </p:sp>
      <p:sp>
        <p:nvSpPr>
          <p:cNvPr id="3" name="Text 1">
            <a:extLst xmlns:a="http://schemas.openxmlformats.org/drawingml/2006/main">
              <a:ext uri="{FF2B5EF4-FFF2-40B4-BE49-F238E27FC236}">
                <a16:creationId xmlns:a16="http://schemas.microsoft.com/office/drawing/2014/main" id="{9055083D-7A1A-4662-8760-16B683D7059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Add a digital layer without taking operating control away from the club.</a:t>
            </a:r>
            <a:endParaRPr sz="2800"/>
          </a:p>
        </p:txBody>
      </p:sp>
      <p:sp>
        <p:nvSpPr>
          <p:cNvPr id="4" name="Text 2">
            <a:extLst xmlns:a="http://schemas.openxmlformats.org/drawingml/2006/main">
              <a:ext uri="{FF2B5EF4-FFF2-40B4-BE49-F238E27FC236}">
                <a16:creationId xmlns:a16="http://schemas.microsoft.com/office/drawing/2014/main" id="{F55493B6-8ED3-4E2C-9F77-67E0D532F890}"/>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provides the platform and support; the venue keeps control of local rules, staff and guest handling.</a:t>
            </a:r>
            <a:endParaRPr sz="1220"/>
          </a:p>
        </p:txBody>
      </p:sp>
      <p:sp>
        <p:nvSpPr>
          <p:cNvPr id="5" name="Shape 3">
            <a:extLst xmlns:a="http://schemas.openxmlformats.org/drawingml/2006/main">
              <a:ext uri="{FF2B5EF4-FFF2-40B4-BE49-F238E27FC236}">
                <a16:creationId xmlns:a16="http://schemas.microsoft.com/office/drawing/2014/main" id="{1CDCE3FC-7243-4454-9538-407B5E4EF9BD}"/>
              </a:ext>
            </a:extLst>
          </p:cNvPr>
          <p:cNvSpPr>
            <a:spLocks xmlns:a="http://schemas.openxmlformats.org/drawingml/2006/main" noGrp="1"/>
          </p:cNvSpPr>
          <p:nvPr/>
        </p:nvSpPr>
        <p:spPr>
          <a:xfrm xmlns:a="http://schemas.openxmlformats.org/drawingml/2006/main">
            <a:off x="658368"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D856547D-C72E-49F9-85CA-A2960187F208}"/>
              </a:ext>
            </a:extLst>
          </p:cNvPr>
          <p:cNvSpPr>
            <a:spLocks xmlns:a="http://schemas.openxmlformats.org/drawingml/2006/main" noGrp="1"/>
          </p:cNvSpPr>
          <p:nvPr/>
        </p:nvSpPr>
        <p:spPr>
          <a:xfrm xmlns:a="http://schemas.openxmlformats.org/drawingml/2006/main">
            <a:off x="658368" y="2331720"/>
            <a:ext cx="3218688" cy="54864"/>
          </a:xfrm>
          <a:prstGeom xmlns:a="http://schemas.openxmlformats.org/drawingml/2006/main" prst="rect">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Text 5">
            <a:extLst xmlns:a="http://schemas.openxmlformats.org/drawingml/2006/main">
              <a:ext uri="{FF2B5EF4-FFF2-40B4-BE49-F238E27FC236}">
                <a16:creationId xmlns:a16="http://schemas.microsoft.com/office/drawing/2014/main" id="{BF2218A7-4582-41C5-B434-558307EBF2A2}"/>
              </a:ext>
            </a:extLst>
          </p:cNvPr>
          <p:cNvSpPr>
            <a:spLocks xmlns:a="http://schemas.openxmlformats.org/drawingml/2006/main" noGrp="1"/>
          </p:cNvSpPr>
          <p:nvPr/>
        </p:nvSpPr>
        <p:spPr>
          <a:xfrm xmlns:a="http://schemas.openxmlformats.org/drawingml/2006/main">
            <a:off x="886968"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MYDANCR</a:t>
            </a:r>
            <a:endParaRPr sz="1300"/>
          </a:p>
        </p:txBody>
      </p:sp>
      <p:sp>
        <p:nvSpPr>
          <p:cNvPr id="8" name="Text 6">
            <a:extLst xmlns:a="http://schemas.openxmlformats.org/drawingml/2006/main">
              <a:ext uri="{FF2B5EF4-FFF2-40B4-BE49-F238E27FC236}">
                <a16:creationId xmlns:a16="http://schemas.microsoft.com/office/drawing/2014/main" id="{5D344054-913F-40DD-A395-7C4545777BC4}"/>
              </a:ext>
            </a:extLst>
          </p:cNvPr>
          <p:cNvSpPr>
            <a:spLocks xmlns:a="http://schemas.openxmlformats.org/drawingml/2006/main" noGrp="1"/>
          </p:cNvSpPr>
          <p:nvPr/>
        </p:nvSpPr>
        <p:spPr>
          <a:xfrm xmlns:a="http://schemas.openxmlformats.org/drawingml/2006/main">
            <a:off x="886968"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A855F7"/>
                </a:solidFill>
                <a:latin typeface="Inter"/>
                <a:ea typeface="Inter"/>
                <a:cs typeface="Inter"/>
              </a:rPr>
              <a:t>Platform + enablement</a:t>
            </a:r>
            <a:endParaRPr sz="870"/>
          </a:p>
        </p:txBody>
      </p:sp>
      <p:sp>
        <p:nvSpPr>
          <p:cNvPr id="9" name="Shape 7">
            <a:extLst xmlns:a="http://schemas.openxmlformats.org/drawingml/2006/main">
              <a:ext uri="{FF2B5EF4-FFF2-40B4-BE49-F238E27FC236}">
                <a16:creationId xmlns:a16="http://schemas.microsoft.com/office/drawing/2014/main" id="{90408752-32E6-45F2-952E-DA69599F44C7}"/>
              </a:ext>
            </a:extLst>
          </p:cNvPr>
          <p:cNvSpPr>
            <a:spLocks xmlns:a="http://schemas.openxmlformats.org/drawingml/2006/main" noGrp="1"/>
          </p:cNvSpPr>
          <p:nvPr/>
        </p:nvSpPr>
        <p:spPr>
          <a:xfrm xmlns:a="http://schemas.openxmlformats.org/drawingml/2006/main">
            <a:off x="905256" y="347472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8">
            <a:extLst xmlns:a="http://schemas.openxmlformats.org/drawingml/2006/main">
              <a:ext uri="{FF2B5EF4-FFF2-40B4-BE49-F238E27FC236}">
                <a16:creationId xmlns:a16="http://schemas.microsoft.com/office/drawing/2014/main" id="{572C2D55-AFE9-4134-A079-16FFF111DEC5}"/>
              </a:ext>
            </a:extLst>
          </p:cNvPr>
          <p:cNvSpPr>
            <a:spLocks xmlns:a="http://schemas.openxmlformats.org/drawingml/2006/main" noGrp="1"/>
          </p:cNvSpPr>
          <p:nvPr/>
        </p:nvSpPr>
        <p:spPr>
          <a:xfrm xmlns:a="http://schemas.openxmlformats.org/drawingml/2006/main">
            <a:off x="1097280"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Venue workspace + prepared official page</a:t>
            </a:r>
            <a:endParaRPr sz="890"/>
          </a:p>
        </p:txBody>
      </p:sp>
      <p:sp>
        <p:nvSpPr>
          <p:cNvPr id="11" name="Shape 9">
            <a:extLst xmlns:a="http://schemas.openxmlformats.org/drawingml/2006/main">
              <a:ext uri="{FF2B5EF4-FFF2-40B4-BE49-F238E27FC236}">
                <a16:creationId xmlns:a16="http://schemas.microsoft.com/office/drawing/2014/main" id="{76480135-2C37-4393-825F-9EB9DA6734E5}"/>
              </a:ext>
            </a:extLst>
          </p:cNvPr>
          <p:cNvSpPr>
            <a:spLocks xmlns:a="http://schemas.openxmlformats.org/drawingml/2006/main" noGrp="1"/>
          </p:cNvSpPr>
          <p:nvPr/>
        </p:nvSpPr>
        <p:spPr>
          <a:xfrm xmlns:a="http://schemas.openxmlformats.org/drawingml/2006/main">
            <a:off x="905256" y="397764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10">
            <a:extLst xmlns:a="http://schemas.openxmlformats.org/drawingml/2006/main">
              <a:ext uri="{FF2B5EF4-FFF2-40B4-BE49-F238E27FC236}">
                <a16:creationId xmlns:a16="http://schemas.microsoft.com/office/drawing/2014/main" id="{3718E17A-8E85-4BB7-BFE4-ECAF7102475D}"/>
              </a:ext>
            </a:extLst>
          </p:cNvPr>
          <p:cNvSpPr>
            <a:spLocks xmlns:a="http://schemas.openxmlformats.org/drawingml/2006/main" noGrp="1"/>
          </p:cNvSpPr>
          <p:nvPr/>
        </p:nvSpPr>
        <p:spPr>
          <a:xfrm xmlns:a="http://schemas.openxmlformats.org/drawingml/2006/main">
            <a:off x="1097280"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Onboarding and staff training</a:t>
            </a:r>
            <a:endParaRPr sz="890"/>
          </a:p>
        </p:txBody>
      </p:sp>
      <p:sp>
        <p:nvSpPr>
          <p:cNvPr id="13" name="Shape 11">
            <a:extLst xmlns:a="http://schemas.openxmlformats.org/drawingml/2006/main">
              <a:ext uri="{FF2B5EF4-FFF2-40B4-BE49-F238E27FC236}">
                <a16:creationId xmlns:a16="http://schemas.microsoft.com/office/drawing/2014/main" id="{ACFBEAC3-438B-4FAD-A819-B17B3BDE2D61}"/>
              </a:ext>
            </a:extLst>
          </p:cNvPr>
          <p:cNvSpPr>
            <a:spLocks xmlns:a="http://schemas.openxmlformats.org/drawingml/2006/main" noGrp="1"/>
          </p:cNvSpPr>
          <p:nvPr/>
        </p:nvSpPr>
        <p:spPr>
          <a:xfrm xmlns:a="http://schemas.openxmlformats.org/drawingml/2006/main">
            <a:off x="905256" y="448056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2">
            <a:extLst xmlns:a="http://schemas.openxmlformats.org/drawingml/2006/main">
              <a:ext uri="{FF2B5EF4-FFF2-40B4-BE49-F238E27FC236}">
                <a16:creationId xmlns:a16="http://schemas.microsoft.com/office/drawing/2014/main" id="{4C0DB4A3-55E2-4CC1-A478-9CD0600A60FB}"/>
              </a:ext>
            </a:extLst>
          </p:cNvPr>
          <p:cNvSpPr>
            <a:spLocks xmlns:a="http://schemas.openxmlformats.org/drawingml/2006/main" noGrp="1"/>
          </p:cNvSpPr>
          <p:nvPr/>
        </p:nvSpPr>
        <p:spPr>
          <a:xfrm xmlns:a="http://schemas.openxmlformats.org/drawingml/2006/main">
            <a:off x="1097280"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Reporting + review cadence</a:t>
            </a:r>
            <a:endParaRPr sz="890"/>
          </a:p>
        </p:txBody>
      </p:sp>
      <p:sp>
        <p:nvSpPr>
          <p:cNvPr id="15" name="Shape 13">
            <a:extLst xmlns:a="http://schemas.openxmlformats.org/drawingml/2006/main">
              <a:ext uri="{FF2B5EF4-FFF2-40B4-BE49-F238E27FC236}">
                <a16:creationId xmlns:a16="http://schemas.microsoft.com/office/drawing/2014/main" id="{618F2251-6C87-4C1A-961C-2BB71AC2A8FA}"/>
              </a:ext>
            </a:extLst>
          </p:cNvPr>
          <p:cNvSpPr>
            <a:spLocks xmlns:a="http://schemas.openxmlformats.org/drawingml/2006/main" noGrp="1"/>
          </p:cNvSpPr>
          <p:nvPr/>
        </p:nvSpPr>
        <p:spPr>
          <a:xfrm xmlns:a="http://schemas.openxmlformats.org/drawingml/2006/main">
            <a:off x="905256" y="498348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10FF4FBB-D2F2-4B98-987B-C3B4743D3033}"/>
              </a:ext>
            </a:extLst>
          </p:cNvPr>
          <p:cNvSpPr>
            <a:spLocks xmlns:a="http://schemas.openxmlformats.org/drawingml/2006/main" noGrp="1"/>
          </p:cNvSpPr>
          <p:nvPr/>
        </p:nvSpPr>
        <p:spPr>
          <a:xfrm xmlns:a="http://schemas.openxmlformats.org/drawingml/2006/main">
            <a:off x="1097280"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Launch support + product updates</a:t>
            </a:r>
            <a:endParaRPr sz="890"/>
          </a:p>
        </p:txBody>
      </p:sp>
      <p:sp>
        <p:nvSpPr>
          <p:cNvPr id="17" name="Shape 15">
            <a:extLst xmlns:a="http://schemas.openxmlformats.org/drawingml/2006/main">
              <a:ext uri="{FF2B5EF4-FFF2-40B4-BE49-F238E27FC236}">
                <a16:creationId xmlns:a16="http://schemas.microsoft.com/office/drawing/2014/main" id="{E349D07D-F993-4A26-BC21-94B0EB4DA2F2}"/>
              </a:ext>
            </a:extLst>
          </p:cNvPr>
          <p:cNvSpPr>
            <a:spLocks xmlns:a="http://schemas.openxmlformats.org/drawingml/2006/main" noGrp="1"/>
          </p:cNvSpPr>
          <p:nvPr/>
        </p:nvSpPr>
        <p:spPr>
          <a:xfrm xmlns:a="http://schemas.openxmlformats.org/drawingml/2006/main">
            <a:off x="4123944" y="2331720"/>
            <a:ext cx="3218688" cy="3566160"/>
          </a:xfrm>
          <a:prstGeom xmlns:a="http://schemas.openxmlformats.org/drawingml/2006/main" prst="roundRect">
            <a:avLst>
              <a:gd name="adj" fmla="val 2273"/>
            </a:avLst>
          </a:prstGeom>
          <a:solidFill xmlns:a="http://schemas.openxmlformats.org/drawingml/2006/main">
            <a:srgbClr val="0E1211"/>
          </a:solidFill>
          <a:ln xmlns:a="http://schemas.openxmlformats.org/drawingml/2006/main" w="10160">
            <a:solidFill>
              <a:srgbClr val="2148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Shape 16">
            <a:extLst xmlns:a="http://schemas.openxmlformats.org/drawingml/2006/main">
              <a:ext uri="{FF2B5EF4-FFF2-40B4-BE49-F238E27FC236}">
                <a16:creationId xmlns:a16="http://schemas.microsoft.com/office/drawing/2014/main" id="{457B89C2-6EB5-438B-A3FB-322F478ABC23}"/>
              </a:ext>
            </a:extLst>
          </p:cNvPr>
          <p:cNvSpPr>
            <a:spLocks xmlns:a="http://schemas.openxmlformats.org/drawingml/2006/main" noGrp="1"/>
          </p:cNvSpPr>
          <p:nvPr/>
        </p:nvSpPr>
        <p:spPr>
          <a:xfrm xmlns:a="http://schemas.openxmlformats.org/drawingml/2006/main">
            <a:off x="4123944" y="2331720"/>
            <a:ext cx="3218688" cy="54864"/>
          </a:xfrm>
          <a:prstGeom xmlns:a="http://schemas.openxmlformats.org/drawingml/2006/main" prst="rect">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90FB8934-EAFA-4047-AB82-2EDC6B88FB29}"/>
              </a:ext>
            </a:extLst>
          </p:cNvPr>
          <p:cNvSpPr>
            <a:spLocks xmlns:a="http://schemas.openxmlformats.org/drawingml/2006/main" noGrp="1"/>
          </p:cNvSpPr>
          <p:nvPr/>
        </p:nvSpPr>
        <p:spPr>
          <a:xfrm xmlns:a="http://schemas.openxmlformats.org/drawingml/2006/main">
            <a:off x="4352544"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YOUR CLUB</a:t>
            </a:r>
            <a:endParaRPr sz="1300"/>
          </a:p>
        </p:txBody>
      </p:sp>
      <p:sp>
        <p:nvSpPr>
          <p:cNvPr id="20" name="Text 18">
            <a:extLst xmlns:a="http://schemas.openxmlformats.org/drawingml/2006/main">
              <a:ext uri="{FF2B5EF4-FFF2-40B4-BE49-F238E27FC236}">
                <a16:creationId xmlns:a16="http://schemas.microsoft.com/office/drawing/2014/main" id="{2C3D4EDA-6230-40FF-9877-1B7694333D46}"/>
              </a:ext>
            </a:extLst>
          </p:cNvPr>
          <p:cNvSpPr>
            <a:spLocks xmlns:a="http://schemas.openxmlformats.org/drawingml/2006/main" noGrp="1"/>
          </p:cNvSpPr>
          <p:nvPr/>
        </p:nvSpPr>
        <p:spPr>
          <a:xfrm xmlns:a="http://schemas.openxmlformats.org/drawingml/2006/main">
            <a:off x="4352544"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1ED59B"/>
                </a:solidFill>
                <a:latin typeface="Inter"/>
                <a:ea typeface="Inter"/>
                <a:cs typeface="Inter"/>
              </a:rPr>
              <a:t>Local control</a:t>
            </a:r>
            <a:endParaRPr sz="870"/>
          </a:p>
        </p:txBody>
      </p:sp>
      <p:sp>
        <p:nvSpPr>
          <p:cNvPr id="21" name="Shape 19">
            <a:extLst xmlns:a="http://schemas.openxmlformats.org/drawingml/2006/main">
              <a:ext uri="{FF2B5EF4-FFF2-40B4-BE49-F238E27FC236}">
                <a16:creationId xmlns:a16="http://schemas.microsoft.com/office/drawing/2014/main" id="{AE9AC57D-0976-4FF1-B184-D6BEA7267678}"/>
              </a:ext>
            </a:extLst>
          </p:cNvPr>
          <p:cNvSpPr>
            <a:spLocks xmlns:a="http://schemas.openxmlformats.org/drawingml/2006/main" noGrp="1"/>
          </p:cNvSpPr>
          <p:nvPr/>
        </p:nvSpPr>
        <p:spPr>
          <a:xfrm xmlns:a="http://schemas.openxmlformats.org/drawingml/2006/main">
            <a:off x="4370832" y="347472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20">
            <a:extLst xmlns:a="http://schemas.openxmlformats.org/drawingml/2006/main">
              <a:ext uri="{FF2B5EF4-FFF2-40B4-BE49-F238E27FC236}">
                <a16:creationId xmlns:a16="http://schemas.microsoft.com/office/drawing/2014/main" id="{40958643-100D-4598-8D31-BCC3DAE203D7}"/>
              </a:ext>
            </a:extLst>
          </p:cNvPr>
          <p:cNvSpPr>
            <a:spLocks xmlns:a="http://schemas.openxmlformats.org/drawingml/2006/main" noGrp="1"/>
          </p:cNvSpPr>
          <p:nvPr/>
        </p:nvSpPr>
        <p:spPr>
          <a:xfrm xmlns:a="http://schemas.openxmlformats.org/drawingml/2006/main">
            <a:off x="4562856"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Approve the exact venue page</a:t>
            </a:r>
            <a:endParaRPr sz="890"/>
          </a:p>
        </p:txBody>
      </p:sp>
      <p:sp>
        <p:nvSpPr>
          <p:cNvPr id="23" name="Shape 21">
            <a:extLst xmlns:a="http://schemas.openxmlformats.org/drawingml/2006/main">
              <a:ext uri="{FF2B5EF4-FFF2-40B4-BE49-F238E27FC236}">
                <a16:creationId xmlns:a16="http://schemas.microsoft.com/office/drawing/2014/main" id="{A8B0B124-AC8E-49C7-86FD-4999C277BB9A}"/>
              </a:ext>
            </a:extLst>
          </p:cNvPr>
          <p:cNvSpPr>
            <a:spLocks xmlns:a="http://schemas.openxmlformats.org/drawingml/2006/main" noGrp="1"/>
          </p:cNvSpPr>
          <p:nvPr/>
        </p:nvSpPr>
        <p:spPr>
          <a:xfrm xmlns:a="http://schemas.openxmlformats.org/drawingml/2006/main">
            <a:off x="4370832" y="397764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2">
            <a:extLst xmlns:a="http://schemas.openxmlformats.org/drawingml/2006/main">
              <a:ext uri="{FF2B5EF4-FFF2-40B4-BE49-F238E27FC236}">
                <a16:creationId xmlns:a16="http://schemas.microsoft.com/office/drawing/2014/main" id="{922A3D2F-E035-4D2B-AA14-E48FFA2962E3}"/>
              </a:ext>
            </a:extLst>
          </p:cNvPr>
          <p:cNvSpPr>
            <a:spLocks xmlns:a="http://schemas.openxmlformats.org/drawingml/2006/main" noGrp="1"/>
          </p:cNvSpPr>
          <p:nvPr/>
        </p:nvSpPr>
        <p:spPr>
          <a:xfrm xmlns:a="http://schemas.openxmlformats.org/drawingml/2006/main">
            <a:off x="4562856"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Set local offer + operating rules</a:t>
            </a:r>
            <a:endParaRPr sz="890"/>
          </a:p>
        </p:txBody>
      </p:sp>
      <p:sp>
        <p:nvSpPr>
          <p:cNvPr id="25" name="Shape 23">
            <a:extLst xmlns:a="http://schemas.openxmlformats.org/drawingml/2006/main">
              <a:ext uri="{FF2B5EF4-FFF2-40B4-BE49-F238E27FC236}">
                <a16:creationId xmlns:a16="http://schemas.microsoft.com/office/drawing/2014/main" id="{88060472-1C55-4796-A259-7CCED1A4B939}"/>
              </a:ext>
            </a:extLst>
          </p:cNvPr>
          <p:cNvSpPr>
            <a:spLocks xmlns:a="http://schemas.openxmlformats.org/drawingml/2006/main" noGrp="1"/>
          </p:cNvSpPr>
          <p:nvPr/>
        </p:nvSpPr>
        <p:spPr>
          <a:xfrm xmlns:a="http://schemas.openxmlformats.org/drawingml/2006/main">
            <a:off x="4370832" y="448056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8FF3A33E-66D2-4696-A202-A28F716CEB53}"/>
              </a:ext>
            </a:extLst>
          </p:cNvPr>
          <p:cNvSpPr>
            <a:spLocks xmlns:a="http://schemas.openxmlformats.org/drawingml/2006/main" noGrp="1"/>
          </p:cNvSpPr>
          <p:nvPr/>
        </p:nvSpPr>
        <p:spPr>
          <a:xfrm xmlns:a="http://schemas.openxmlformats.org/drawingml/2006/main">
            <a:off x="4562856"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authorized staff access</a:t>
            </a:r>
            <a:endParaRPr sz="890"/>
          </a:p>
        </p:txBody>
      </p:sp>
      <p:sp>
        <p:nvSpPr>
          <p:cNvPr id="27" name="Shape 25">
            <a:extLst xmlns:a="http://schemas.openxmlformats.org/drawingml/2006/main">
              <a:ext uri="{FF2B5EF4-FFF2-40B4-BE49-F238E27FC236}">
                <a16:creationId xmlns:a16="http://schemas.microsoft.com/office/drawing/2014/main" id="{E2B4A14B-BBF1-4E69-8D90-F40E9C1CBC52}"/>
              </a:ext>
            </a:extLst>
          </p:cNvPr>
          <p:cNvSpPr>
            <a:spLocks xmlns:a="http://schemas.openxmlformats.org/drawingml/2006/main" noGrp="1"/>
          </p:cNvSpPr>
          <p:nvPr/>
        </p:nvSpPr>
        <p:spPr>
          <a:xfrm xmlns:a="http://schemas.openxmlformats.org/drawingml/2006/main">
            <a:off x="4370832" y="498348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6">
            <a:extLst xmlns:a="http://schemas.openxmlformats.org/drawingml/2006/main">
              <a:ext uri="{FF2B5EF4-FFF2-40B4-BE49-F238E27FC236}">
                <a16:creationId xmlns:a16="http://schemas.microsoft.com/office/drawing/2014/main" id="{0C28C422-3FC5-46E8-8347-002CD2CF8C06}"/>
              </a:ext>
            </a:extLst>
          </p:cNvPr>
          <p:cNvSpPr>
            <a:spLocks xmlns:a="http://schemas.openxmlformats.org/drawingml/2006/main" noGrp="1"/>
          </p:cNvSpPr>
          <p:nvPr/>
        </p:nvSpPr>
        <p:spPr>
          <a:xfrm xmlns:a="http://schemas.openxmlformats.org/drawingml/2006/main">
            <a:off x="4562856"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Handle pickups, redemptions + table requests</a:t>
            </a:r>
            <a:endParaRPr sz="890"/>
          </a:p>
        </p:txBody>
      </p:sp>
      <p:sp>
        <p:nvSpPr>
          <p:cNvPr id="29" name="Shape 27">
            <a:extLst xmlns:a="http://schemas.openxmlformats.org/drawingml/2006/main">
              <a:ext uri="{FF2B5EF4-FFF2-40B4-BE49-F238E27FC236}">
                <a16:creationId xmlns:a16="http://schemas.microsoft.com/office/drawing/2014/main" id="{EA87A4D8-5837-47AD-8FD3-4C1723E7F0F2}"/>
              </a:ext>
            </a:extLst>
          </p:cNvPr>
          <p:cNvSpPr>
            <a:spLocks xmlns:a="http://schemas.openxmlformats.org/drawingml/2006/main" noGrp="1"/>
          </p:cNvSpPr>
          <p:nvPr/>
        </p:nvSpPr>
        <p:spPr>
          <a:xfrm xmlns:a="http://schemas.openxmlformats.org/drawingml/2006/main">
            <a:off x="7589520"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Shape 28">
            <a:extLst xmlns:a="http://schemas.openxmlformats.org/drawingml/2006/main">
              <a:ext uri="{FF2B5EF4-FFF2-40B4-BE49-F238E27FC236}">
                <a16:creationId xmlns:a16="http://schemas.microsoft.com/office/drawing/2014/main" id="{A71AEE9A-1312-42CC-B06B-42B0949D33D3}"/>
              </a:ext>
            </a:extLst>
          </p:cNvPr>
          <p:cNvSpPr>
            <a:spLocks xmlns:a="http://schemas.openxmlformats.org/drawingml/2006/main" noGrp="1"/>
          </p:cNvSpPr>
          <p:nvPr/>
        </p:nvSpPr>
        <p:spPr>
          <a:xfrm xmlns:a="http://schemas.openxmlformats.org/drawingml/2006/main">
            <a:off x="7589520" y="2331720"/>
            <a:ext cx="3218688" cy="54864"/>
          </a:xfrm>
          <a:prstGeom xmlns:a="http://schemas.openxmlformats.org/drawingml/2006/main" prst="rect">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68D64F89-ABBF-4B4E-91C3-A27564BCF84C}"/>
              </a:ext>
            </a:extLst>
          </p:cNvPr>
          <p:cNvSpPr>
            <a:spLocks xmlns:a="http://schemas.openxmlformats.org/drawingml/2006/main" noGrp="1"/>
          </p:cNvSpPr>
          <p:nvPr/>
        </p:nvSpPr>
        <p:spPr>
          <a:xfrm xmlns:a="http://schemas.openxmlformats.org/drawingml/2006/main">
            <a:off x="7818120"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DANCERS</a:t>
            </a:r>
            <a:endParaRPr sz="1300"/>
          </a:p>
        </p:txBody>
      </p:sp>
      <p:sp>
        <p:nvSpPr>
          <p:cNvPr id="32" name="Text 30">
            <a:extLst xmlns:a="http://schemas.openxmlformats.org/drawingml/2006/main">
              <a:ext uri="{FF2B5EF4-FFF2-40B4-BE49-F238E27FC236}">
                <a16:creationId xmlns:a16="http://schemas.microsoft.com/office/drawing/2014/main" id="{21499DE6-748E-4060-877D-9C2FB29D1FCD}"/>
              </a:ext>
            </a:extLst>
          </p:cNvPr>
          <p:cNvSpPr>
            <a:spLocks xmlns:a="http://schemas.openxmlformats.org/drawingml/2006/main" noGrp="1"/>
          </p:cNvSpPr>
          <p:nvPr/>
        </p:nvSpPr>
        <p:spPr>
          <a:xfrm xmlns:a="http://schemas.openxmlformats.org/drawingml/2006/main">
            <a:off x="7818120"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B48BFF"/>
                </a:solidFill>
                <a:latin typeface="Inter"/>
                <a:ea typeface="Inter"/>
                <a:cs typeface="Inter"/>
              </a:rPr>
              <a:t>Profile ownership</a:t>
            </a:r>
            <a:endParaRPr sz="870"/>
          </a:p>
        </p:txBody>
      </p:sp>
      <p:sp>
        <p:nvSpPr>
          <p:cNvPr id="33" name="Shape 31">
            <a:extLst xmlns:a="http://schemas.openxmlformats.org/drawingml/2006/main">
              <a:ext uri="{FF2B5EF4-FFF2-40B4-BE49-F238E27FC236}">
                <a16:creationId xmlns:a16="http://schemas.microsoft.com/office/drawing/2014/main" id="{E1AD777D-ADBE-43A0-80D1-98E912FA1F84}"/>
              </a:ext>
            </a:extLst>
          </p:cNvPr>
          <p:cNvSpPr>
            <a:spLocks xmlns:a="http://schemas.openxmlformats.org/drawingml/2006/main" noGrp="1"/>
          </p:cNvSpPr>
          <p:nvPr/>
        </p:nvSpPr>
        <p:spPr>
          <a:xfrm xmlns:a="http://schemas.openxmlformats.org/drawingml/2006/main">
            <a:off x="7836408" y="347472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4" name="Text 32">
            <a:extLst xmlns:a="http://schemas.openxmlformats.org/drawingml/2006/main">
              <a:ext uri="{FF2B5EF4-FFF2-40B4-BE49-F238E27FC236}">
                <a16:creationId xmlns:a16="http://schemas.microsoft.com/office/drawing/2014/main" id="{7A448EF7-38E7-4761-B665-07DC442E943C}"/>
              </a:ext>
            </a:extLst>
          </p:cNvPr>
          <p:cNvSpPr>
            <a:spLocks xmlns:a="http://schemas.openxmlformats.org/drawingml/2006/main" noGrp="1"/>
          </p:cNvSpPr>
          <p:nvPr/>
        </p:nvSpPr>
        <p:spPr>
          <a:xfrm xmlns:a="http://schemas.openxmlformats.org/drawingml/2006/main">
            <a:off x="8028432"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Own their profile + approved media</a:t>
            </a:r>
            <a:endParaRPr sz="890"/>
          </a:p>
        </p:txBody>
      </p:sp>
      <p:sp>
        <p:nvSpPr>
          <p:cNvPr id="35" name="Shape 33">
            <a:extLst xmlns:a="http://schemas.openxmlformats.org/drawingml/2006/main">
              <a:ext uri="{FF2B5EF4-FFF2-40B4-BE49-F238E27FC236}">
                <a16:creationId xmlns:a16="http://schemas.microsoft.com/office/drawing/2014/main" id="{02654947-3A3F-4759-BDDE-4B299505B70D}"/>
              </a:ext>
            </a:extLst>
          </p:cNvPr>
          <p:cNvSpPr>
            <a:spLocks xmlns:a="http://schemas.openxmlformats.org/drawingml/2006/main" noGrp="1"/>
          </p:cNvSpPr>
          <p:nvPr/>
        </p:nvSpPr>
        <p:spPr>
          <a:xfrm xmlns:a="http://schemas.openxmlformats.org/drawingml/2006/main">
            <a:off x="7836408" y="397764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6" name="Text 34">
            <a:extLst xmlns:a="http://schemas.openxmlformats.org/drawingml/2006/main">
              <a:ext uri="{FF2B5EF4-FFF2-40B4-BE49-F238E27FC236}">
                <a16:creationId xmlns:a16="http://schemas.microsoft.com/office/drawing/2014/main" id="{DE554BD4-466B-4BCB-A497-C629815D24D5}"/>
              </a:ext>
            </a:extLst>
          </p:cNvPr>
          <p:cNvSpPr>
            <a:spLocks xmlns:a="http://schemas.openxmlformats.org/drawingml/2006/main" noGrp="1"/>
          </p:cNvSpPr>
          <p:nvPr/>
        </p:nvSpPr>
        <p:spPr>
          <a:xfrm xmlns:a="http://schemas.openxmlformats.org/drawingml/2006/main">
            <a:off x="8028432"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Choose Internal, External or Both</a:t>
            </a:r>
            <a:endParaRPr sz="890"/>
          </a:p>
        </p:txBody>
      </p:sp>
      <p:sp>
        <p:nvSpPr>
          <p:cNvPr id="37" name="Shape 35">
            <a:extLst xmlns:a="http://schemas.openxmlformats.org/drawingml/2006/main">
              <a:ext uri="{FF2B5EF4-FFF2-40B4-BE49-F238E27FC236}">
                <a16:creationId xmlns:a16="http://schemas.microsoft.com/office/drawing/2014/main" id="{A766CC77-86B6-4D58-BDAB-498A0D3001BB}"/>
              </a:ext>
            </a:extLst>
          </p:cNvPr>
          <p:cNvSpPr>
            <a:spLocks xmlns:a="http://schemas.openxmlformats.org/drawingml/2006/main" noGrp="1"/>
          </p:cNvSpPr>
          <p:nvPr/>
        </p:nvSpPr>
        <p:spPr>
          <a:xfrm xmlns:a="http://schemas.openxmlformats.org/drawingml/2006/main">
            <a:off x="7836408" y="448056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8" name="Text 36">
            <a:extLst xmlns:a="http://schemas.openxmlformats.org/drawingml/2006/main">
              <a:ext uri="{FF2B5EF4-FFF2-40B4-BE49-F238E27FC236}">
                <a16:creationId xmlns:a16="http://schemas.microsoft.com/office/drawing/2014/main" id="{99ED570A-B4DB-48DD-9826-F33E53500EE0}"/>
              </a:ext>
            </a:extLst>
          </p:cNvPr>
          <p:cNvSpPr>
            <a:spLocks xmlns:a="http://schemas.openxmlformats.org/drawingml/2006/main" noGrp="1"/>
          </p:cNvSpPr>
          <p:nvPr/>
        </p:nvSpPr>
        <p:spPr>
          <a:xfrm xmlns:a="http://schemas.openxmlformats.org/drawingml/2006/main">
            <a:off x="8028432"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eligible check-in status</a:t>
            </a:r>
            <a:endParaRPr sz="890"/>
          </a:p>
        </p:txBody>
      </p:sp>
      <p:sp>
        <p:nvSpPr>
          <p:cNvPr id="39" name="Shape 37">
            <a:extLst xmlns:a="http://schemas.openxmlformats.org/drawingml/2006/main">
              <a:ext uri="{FF2B5EF4-FFF2-40B4-BE49-F238E27FC236}">
                <a16:creationId xmlns:a16="http://schemas.microsoft.com/office/drawing/2014/main" id="{DD011CBC-4199-43C2-884A-B06120704388}"/>
              </a:ext>
            </a:extLst>
          </p:cNvPr>
          <p:cNvSpPr>
            <a:spLocks xmlns:a="http://schemas.openxmlformats.org/drawingml/2006/main" noGrp="1"/>
          </p:cNvSpPr>
          <p:nvPr/>
        </p:nvSpPr>
        <p:spPr>
          <a:xfrm xmlns:a="http://schemas.openxmlformats.org/drawingml/2006/main">
            <a:off x="7836408" y="498348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0" name="Text 38">
            <a:extLst xmlns:a="http://schemas.openxmlformats.org/drawingml/2006/main">
              <a:ext uri="{FF2B5EF4-FFF2-40B4-BE49-F238E27FC236}">
                <a16:creationId xmlns:a16="http://schemas.microsoft.com/office/drawing/2014/main" id="{7210A2EC-D4F5-4BF0-94B4-8341FFB98355}"/>
              </a:ext>
            </a:extLst>
          </p:cNvPr>
          <p:cNvSpPr>
            <a:spLocks xmlns:a="http://schemas.openxmlformats.org/drawingml/2006/main" noGrp="1"/>
          </p:cNvSpPr>
          <p:nvPr/>
        </p:nvSpPr>
        <p:spPr>
          <a:xfrm xmlns:a="http://schemas.openxmlformats.org/drawingml/2006/main">
            <a:off x="8028432"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their follow/share activity</a:t>
            </a:r>
            <a:endParaRPr sz="890"/>
          </a:p>
        </p:txBody>
      </p:sp>
      <p:sp>
        <p:nvSpPr>
          <p:cNvPr id="41" name="Text 39">
            <a:extLst xmlns:a="http://schemas.openxmlformats.org/drawingml/2006/main">
              <a:ext uri="{FF2B5EF4-FFF2-40B4-BE49-F238E27FC236}">
                <a16:creationId xmlns:a16="http://schemas.microsoft.com/office/drawing/2014/main" id="{F0F1E213-60F8-42FE-8528-86A17E26F2F1}"/>
              </a:ext>
            </a:extLst>
          </p:cNvPr>
          <p:cNvSpPr>
            <a:spLocks xmlns:a="http://schemas.openxmlformats.org/drawingml/2006/main" noGrp="1"/>
          </p:cNvSpPr>
          <p:nvPr/>
        </p:nvSpPr>
        <p:spPr>
          <a:xfrm xmlns:a="http://schemas.openxmlformats.org/drawingml/2006/main">
            <a:off x="676656" y="6199632"/>
            <a:ext cx="91440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90">
                <a:solidFill>
                  <a:srgbClr val="8A8494"/>
                </a:solidFill>
                <a:latin typeface="Inter"/>
                <a:ea typeface="Inter"/>
                <a:cs typeface="Inter"/>
              </a:rPr>
              <a:t>THE RESULT</a:t>
            </a:r>
            <a:endParaRPr sz="820"/>
          </a:p>
        </p:txBody>
      </p:sp>
      <p:sp>
        <p:nvSpPr>
          <p:cNvPr id="42" name="Text 40">
            <a:extLst xmlns:a="http://schemas.openxmlformats.org/drawingml/2006/main">
              <a:ext uri="{FF2B5EF4-FFF2-40B4-BE49-F238E27FC236}">
                <a16:creationId xmlns:a16="http://schemas.microsoft.com/office/drawing/2014/main" id="{FD5922F8-00D7-40AA-B326-1955BEE95D3D}"/>
              </a:ext>
            </a:extLst>
          </p:cNvPr>
          <p:cNvSpPr>
            <a:spLocks xmlns:a="http://schemas.openxmlformats.org/drawingml/2006/main" noGrp="1"/>
          </p:cNvSpPr>
          <p:nvPr/>
        </p:nvSpPr>
        <p:spPr>
          <a:xfrm xmlns:a="http://schemas.openxmlformats.org/drawingml/2006/main">
            <a:off x="1572768" y="6144768"/>
            <a:ext cx="964692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DCD9E1"/>
                </a:solidFill>
                <a:latin typeface="Inter Display"/>
                <a:ea typeface="Inter Display"/>
                <a:cs typeface="Inter Display"/>
              </a:rPr>
              <a:t>A consumer-facing experience with venue operations and approvals still where they belong — with the club.</a:t>
            </a:r>
            <a:endParaRPr sz="1340"/>
          </a:p>
        </p:txBody>
      </p:sp>
      <p:sp>
        <p:nvSpPr>
          <p:cNvPr id="43" name="Slide Number Placeholder 0">
            <a:extLst xmlns:a="http://schemas.openxmlformats.org/drawingml/2006/main">
              <a:ext uri="{FF2B5EF4-FFF2-40B4-BE49-F238E27FC236}">
                <a16:creationId xmlns:a16="http://schemas.microsoft.com/office/drawing/2014/main" id="{EE725938-029D-4C69-B716-80B33FD63F4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6</a:t>
            </a:fld>
            <a:endParaRPr/>
          </a:p>
        </p:txBody>
      </p:sp>
    </p:spTree>
    <p:extLst>
      <p:ext uri="{BB962C8B-B14F-4D97-AF65-F5344CB8AC3E}">
        <p14:creationId xmlns:p14="http://schemas.microsoft.com/office/powerpoint/2010/main" val="18070802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1B3CDE-1A1E-4FD8-97B3-D203B2F0C9B6}"/>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MEASUREMENT</a:t>
            </a:r>
            <a:endParaRPr sz="950"/>
          </a:p>
        </p:txBody>
      </p:sp>
      <p:sp>
        <p:nvSpPr>
          <p:cNvPr id="3" name="Text 1">
            <a:extLst xmlns:a="http://schemas.openxmlformats.org/drawingml/2006/main">
              <a:ext uri="{FF2B5EF4-FFF2-40B4-BE49-F238E27FC236}">
                <a16:creationId xmlns:a16="http://schemas.microsoft.com/office/drawing/2014/main" id="{EE6B21E9-DF0B-492F-917B-FF92F6B6C99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See where attention turns into action.</a:t>
            </a:r>
            <a:endParaRPr sz="2800"/>
          </a:p>
        </p:txBody>
      </p:sp>
      <p:sp>
        <p:nvSpPr>
          <p:cNvPr id="4" name="Text 2">
            <a:extLst xmlns:a="http://schemas.openxmlformats.org/drawingml/2006/main">
              <a:ext uri="{FF2B5EF4-FFF2-40B4-BE49-F238E27FC236}">
                <a16:creationId xmlns:a16="http://schemas.microsoft.com/office/drawing/2014/main" id="{5867EA4F-F9E9-4623-A506-95220658475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Venue reporting separates awareness, intent, verified pass use and in-club engagement instead of treating every click as a visit.</a:t>
            </a:r>
            <a:endParaRPr sz="1220"/>
          </a:p>
        </p:txBody>
      </p:sp>
      <p:sp>
        <p:nvSpPr>
          <p:cNvPr id="5" name="Shape 3">
            <a:extLst xmlns:a="http://schemas.openxmlformats.org/drawingml/2006/main">
              <a:ext uri="{FF2B5EF4-FFF2-40B4-BE49-F238E27FC236}">
                <a16:creationId xmlns:a16="http://schemas.microsoft.com/office/drawing/2014/main" id="{6F64E82C-51E3-4BCC-829A-39CE745C7F4E}"/>
              </a:ext>
            </a:extLst>
          </p:cNvPr>
          <p:cNvSpPr>
            <a:spLocks xmlns:a="http://schemas.openxmlformats.org/drawingml/2006/main" noGrp="1"/>
          </p:cNvSpPr>
          <p:nvPr/>
        </p:nvSpPr>
        <p:spPr>
          <a:xfrm xmlns:a="http://schemas.openxmlformats.org/drawingml/2006/main">
            <a:off x="640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6575266-E40E-4403-BCF3-740C6227534A}"/>
              </a:ext>
            </a:extLst>
          </p:cNvPr>
          <p:cNvSpPr>
            <a:spLocks xmlns:a="http://schemas.openxmlformats.org/drawingml/2006/main" noGrp="1"/>
          </p:cNvSpPr>
          <p:nvPr/>
        </p:nvSpPr>
        <p:spPr>
          <a:xfrm xmlns:a="http://schemas.openxmlformats.org/drawingml/2006/main">
            <a:off x="804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AWARENESS</a:t>
            </a:r>
            <a:endParaRPr sz="850"/>
          </a:p>
        </p:txBody>
      </p:sp>
      <p:sp>
        <p:nvSpPr>
          <p:cNvPr id="7" name="Text 5">
            <a:extLst xmlns:a="http://schemas.openxmlformats.org/drawingml/2006/main">
              <a:ext uri="{FF2B5EF4-FFF2-40B4-BE49-F238E27FC236}">
                <a16:creationId xmlns:a16="http://schemas.microsoft.com/office/drawing/2014/main" id="{AFAB7301-73EB-4B31-A424-97A393BD0139}"/>
              </a:ext>
            </a:extLst>
          </p:cNvPr>
          <p:cNvSpPr>
            <a:spLocks xmlns:a="http://schemas.openxmlformats.org/drawingml/2006/main" noGrp="1"/>
          </p:cNvSpPr>
          <p:nvPr/>
        </p:nvSpPr>
        <p:spPr>
          <a:xfrm xmlns:a="http://schemas.openxmlformats.org/drawingml/2006/main">
            <a:off x="804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Venue-card impressions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 unique browsers</a:t>
            </a:r>
            <a:endParaRPr sz="1170"/>
          </a:p>
        </p:txBody>
      </p:sp>
      <p:sp>
        <p:nvSpPr>
          <p:cNvPr id="8" name="Text 6">
            <a:extLst xmlns:a="http://schemas.openxmlformats.org/drawingml/2006/main">
              <a:ext uri="{FF2B5EF4-FFF2-40B4-BE49-F238E27FC236}">
                <a16:creationId xmlns:a16="http://schemas.microsoft.com/office/drawing/2014/main" id="{1259EDF4-3725-4C0F-B7CF-21491AA2011E}"/>
              </a:ext>
            </a:extLst>
          </p:cNvPr>
          <p:cNvSpPr>
            <a:spLocks xmlns:a="http://schemas.openxmlformats.org/drawingml/2006/main" noGrp="1"/>
          </p:cNvSpPr>
          <p:nvPr/>
        </p:nvSpPr>
        <p:spPr>
          <a:xfrm xmlns:a="http://schemas.openxmlformats.org/drawingml/2006/main">
            <a:off x="804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guests finding the location?</a:t>
            </a:r>
            <a:endParaRPr sz="830"/>
          </a:p>
        </p:txBody>
      </p:sp>
      <p:sp>
        <p:nvSpPr>
          <p:cNvPr id="9" name="Text 7">
            <a:extLst xmlns:a="http://schemas.openxmlformats.org/drawingml/2006/main">
              <a:ext uri="{FF2B5EF4-FFF2-40B4-BE49-F238E27FC236}">
                <a16:creationId xmlns:a16="http://schemas.microsoft.com/office/drawing/2014/main" id="{7037354D-A27D-44D9-99FE-12F5F66D2F06}"/>
              </a:ext>
            </a:extLst>
          </p:cNvPr>
          <p:cNvSpPr>
            <a:spLocks xmlns:a="http://schemas.openxmlformats.org/drawingml/2006/main" noGrp="1"/>
          </p:cNvSpPr>
          <p:nvPr/>
        </p:nvSpPr>
        <p:spPr>
          <a:xfrm xmlns:a="http://schemas.openxmlformats.org/drawingml/2006/main">
            <a:off x="2816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0" name="Shape 8">
            <a:extLst xmlns:a="http://schemas.openxmlformats.org/drawingml/2006/main">
              <a:ext uri="{FF2B5EF4-FFF2-40B4-BE49-F238E27FC236}">
                <a16:creationId xmlns:a16="http://schemas.microsoft.com/office/drawing/2014/main" id="{B998AAA2-C814-4CDB-96A2-22A1199E6C3C}"/>
              </a:ext>
            </a:extLst>
          </p:cNvPr>
          <p:cNvSpPr>
            <a:spLocks xmlns:a="http://schemas.openxmlformats.org/drawingml/2006/main" noGrp="1"/>
          </p:cNvSpPr>
          <p:nvPr/>
        </p:nvSpPr>
        <p:spPr>
          <a:xfrm xmlns:a="http://schemas.openxmlformats.org/drawingml/2006/main">
            <a:off x="2926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E0382D08-1A60-49E2-9ACC-17F1EF372437}"/>
              </a:ext>
            </a:extLst>
          </p:cNvPr>
          <p:cNvSpPr>
            <a:spLocks xmlns:a="http://schemas.openxmlformats.org/drawingml/2006/main" noGrp="1"/>
          </p:cNvSpPr>
          <p:nvPr/>
        </p:nvSpPr>
        <p:spPr>
          <a:xfrm xmlns:a="http://schemas.openxmlformats.org/drawingml/2006/main">
            <a:off x="3090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INTENT</a:t>
            </a:r>
            <a:endParaRPr sz="850"/>
          </a:p>
        </p:txBody>
      </p:sp>
      <p:sp>
        <p:nvSpPr>
          <p:cNvPr id="12" name="Text 10">
            <a:extLst xmlns:a="http://schemas.openxmlformats.org/drawingml/2006/main">
              <a:ext uri="{FF2B5EF4-FFF2-40B4-BE49-F238E27FC236}">
                <a16:creationId xmlns:a16="http://schemas.microsoft.com/office/drawing/2014/main" id="{E3BA10F3-11C0-4290-BB7F-B6F40A66A06C}"/>
              </a:ext>
            </a:extLst>
          </p:cNvPr>
          <p:cNvSpPr>
            <a:spLocks xmlns:a="http://schemas.openxmlformats.org/drawingml/2006/main" noGrp="1"/>
          </p:cNvSpPr>
          <p:nvPr/>
        </p:nvSpPr>
        <p:spPr>
          <a:xfrm xmlns:a="http://schemas.openxmlformats.org/drawingml/2006/main">
            <a:off x="3090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Directions • claims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pickup requests • follows</a:t>
            </a:r>
            <a:endParaRPr sz="1170"/>
          </a:p>
        </p:txBody>
      </p:sp>
      <p:sp>
        <p:nvSpPr>
          <p:cNvPr id="13" name="Text 11">
            <a:extLst xmlns:a="http://schemas.openxmlformats.org/drawingml/2006/main">
              <a:ext uri="{FF2B5EF4-FFF2-40B4-BE49-F238E27FC236}">
                <a16:creationId xmlns:a16="http://schemas.microsoft.com/office/drawing/2014/main" id="{1FBCC01F-D920-4813-95D9-B75DAD93569B}"/>
              </a:ext>
            </a:extLst>
          </p:cNvPr>
          <p:cNvSpPr>
            <a:spLocks xmlns:a="http://schemas.openxmlformats.org/drawingml/2006/main" noGrp="1"/>
          </p:cNvSpPr>
          <p:nvPr/>
        </p:nvSpPr>
        <p:spPr>
          <a:xfrm xmlns:a="http://schemas.openxmlformats.org/drawingml/2006/main">
            <a:off x="3090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they taking a next step?</a:t>
            </a:r>
            <a:endParaRPr sz="830"/>
          </a:p>
        </p:txBody>
      </p:sp>
      <p:sp>
        <p:nvSpPr>
          <p:cNvPr id="14" name="Text 12">
            <a:extLst xmlns:a="http://schemas.openxmlformats.org/drawingml/2006/main">
              <a:ext uri="{FF2B5EF4-FFF2-40B4-BE49-F238E27FC236}">
                <a16:creationId xmlns:a16="http://schemas.microsoft.com/office/drawing/2014/main" id="{B36EC3A6-1211-4E0C-AB24-67CD86C61078}"/>
              </a:ext>
            </a:extLst>
          </p:cNvPr>
          <p:cNvSpPr>
            <a:spLocks xmlns:a="http://schemas.openxmlformats.org/drawingml/2006/main" noGrp="1"/>
          </p:cNvSpPr>
          <p:nvPr/>
        </p:nvSpPr>
        <p:spPr>
          <a:xfrm xmlns:a="http://schemas.openxmlformats.org/drawingml/2006/main">
            <a:off x="5102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5" name="Shape 13">
            <a:extLst xmlns:a="http://schemas.openxmlformats.org/drawingml/2006/main">
              <a:ext uri="{FF2B5EF4-FFF2-40B4-BE49-F238E27FC236}">
                <a16:creationId xmlns:a16="http://schemas.microsoft.com/office/drawing/2014/main" id="{C90C4786-6A5A-434D-A0CD-9981EE9B6625}"/>
              </a:ext>
            </a:extLst>
          </p:cNvPr>
          <p:cNvSpPr>
            <a:spLocks xmlns:a="http://schemas.openxmlformats.org/drawingml/2006/main" noGrp="1"/>
          </p:cNvSpPr>
          <p:nvPr/>
        </p:nvSpPr>
        <p:spPr>
          <a:xfrm xmlns:a="http://schemas.openxmlformats.org/drawingml/2006/main">
            <a:off x="5212080" y="2377440"/>
            <a:ext cx="2176272" cy="2432304"/>
          </a:xfrm>
          <a:prstGeom xmlns:a="http://schemas.openxmlformats.org/drawingml/2006/main" prst="roundRect">
            <a:avLst>
              <a:gd name="adj" fmla="val 3361"/>
            </a:avLst>
          </a:prstGeom>
          <a:solidFill xmlns:a="http://schemas.openxmlformats.org/drawingml/2006/main">
            <a:srgbClr val="101614"/>
          </a:solidFill>
          <a:ln xmlns:a="http://schemas.openxmlformats.org/drawingml/2006/main" w="10160">
            <a:solidFill>
              <a:srgbClr val="245A47"/>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BE035BB2-4482-42EA-AD25-D359F007854A}"/>
              </a:ext>
            </a:extLst>
          </p:cNvPr>
          <p:cNvSpPr>
            <a:spLocks xmlns:a="http://schemas.openxmlformats.org/drawingml/2006/main" noGrp="1"/>
          </p:cNvSpPr>
          <p:nvPr/>
        </p:nvSpPr>
        <p:spPr>
          <a:xfrm xmlns:a="http://schemas.openxmlformats.org/drawingml/2006/main">
            <a:off x="5376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1ED59B"/>
                </a:solidFill>
                <a:latin typeface="Inter"/>
                <a:ea typeface="Inter"/>
                <a:cs typeface="Inter"/>
              </a:rPr>
              <a:t>ARRIVAL</a:t>
            </a:r>
            <a:endParaRPr sz="850"/>
          </a:p>
        </p:txBody>
      </p:sp>
      <p:sp>
        <p:nvSpPr>
          <p:cNvPr id="17" name="Text 15">
            <a:extLst xmlns:a="http://schemas.openxmlformats.org/drawingml/2006/main">
              <a:ext uri="{FF2B5EF4-FFF2-40B4-BE49-F238E27FC236}">
                <a16:creationId xmlns:a16="http://schemas.microsoft.com/office/drawing/2014/main" id="{76E3E33C-4F19-4766-B14D-9098691D6B85}"/>
              </a:ext>
            </a:extLst>
          </p:cNvPr>
          <p:cNvSpPr>
            <a:spLocks xmlns:a="http://schemas.openxmlformats.org/drawingml/2006/main" noGrp="1"/>
          </p:cNvSpPr>
          <p:nvPr/>
        </p:nvSpPr>
        <p:spPr>
          <a:xfrm xmlns:a="http://schemas.openxmlformats.org/drawingml/2006/main">
            <a:off x="5376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Redeemed admission passes</a:t>
            </a:r>
            <a:endParaRPr sz="1170"/>
          </a:p>
        </p:txBody>
      </p:sp>
      <p:sp>
        <p:nvSpPr>
          <p:cNvPr id="18" name="Text 16">
            <a:extLst xmlns:a="http://schemas.openxmlformats.org/drawingml/2006/main">
              <a:ext uri="{FF2B5EF4-FFF2-40B4-BE49-F238E27FC236}">
                <a16:creationId xmlns:a16="http://schemas.microsoft.com/office/drawing/2014/main" id="{C388AA44-3033-47DD-A341-BC9AEF3EA2CA}"/>
              </a:ext>
            </a:extLst>
          </p:cNvPr>
          <p:cNvSpPr>
            <a:spLocks xmlns:a="http://schemas.openxmlformats.org/drawingml/2006/main" noGrp="1"/>
          </p:cNvSpPr>
          <p:nvPr/>
        </p:nvSpPr>
        <p:spPr>
          <a:xfrm xmlns:a="http://schemas.openxmlformats.org/drawingml/2006/main">
            <a:off x="5376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claimed offers being used?</a:t>
            </a:r>
            <a:endParaRPr sz="830"/>
          </a:p>
        </p:txBody>
      </p:sp>
      <p:sp>
        <p:nvSpPr>
          <p:cNvPr id="19" name="Text 17">
            <a:extLst xmlns:a="http://schemas.openxmlformats.org/drawingml/2006/main">
              <a:ext uri="{FF2B5EF4-FFF2-40B4-BE49-F238E27FC236}">
                <a16:creationId xmlns:a16="http://schemas.microsoft.com/office/drawing/2014/main" id="{148B8139-6072-49B0-8F83-295B3BD1A560}"/>
              </a:ext>
            </a:extLst>
          </p:cNvPr>
          <p:cNvSpPr>
            <a:spLocks xmlns:a="http://schemas.openxmlformats.org/drawingml/2006/main" noGrp="1"/>
          </p:cNvSpPr>
          <p:nvPr/>
        </p:nvSpPr>
        <p:spPr>
          <a:xfrm xmlns:a="http://schemas.openxmlformats.org/drawingml/2006/main">
            <a:off x="7388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0" name="Shape 18">
            <a:extLst xmlns:a="http://schemas.openxmlformats.org/drawingml/2006/main">
              <a:ext uri="{FF2B5EF4-FFF2-40B4-BE49-F238E27FC236}">
                <a16:creationId xmlns:a16="http://schemas.microsoft.com/office/drawing/2014/main" id="{0C877B1E-AA24-4439-A2DD-A06A20A46752}"/>
              </a:ext>
            </a:extLst>
          </p:cNvPr>
          <p:cNvSpPr>
            <a:spLocks xmlns:a="http://schemas.openxmlformats.org/drawingml/2006/main" noGrp="1"/>
          </p:cNvSpPr>
          <p:nvPr/>
        </p:nvSpPr>
        <p:spPr>
          <a:xfrm xmlns:a="http://schemas.openxmlformats.org/drawingml/2006/main">
            <a:off x="7498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57EF48E7-EDDE-46C4-812B-28076BC25051}"/>
              </a:ext>
            </a:extLst>
          </p:cNvPr>
          <p:cNvSpPr>
            <a:spLocks xmlns:a="http://schemas.openxmlformats.org/drawingml/2006/main" noGrp="1"/>
          </p:cNvSpPr>
          <p:nvPr/>
        </p:nvSpPr>
        <p:spPr>
          <a:xfrm xmlns:a="http://schemas.openxmlformats.org/drawingml/2006/main">
            <a:off x="7662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IN-CLUB</a:t>
            </a:r>
            <a:endParaRPr sz="850"/>
          </a:p>
        </p:txBody>
      </p:sp>
      <p:sp>
        <p:nvSpPr>
          <p:cNvPr id="22" name="Text 20">
            <a:extLst xmlns:a="http://schemas.openxmlformats.org/drawingml/2006/main">
              <a:ext uri="{FF2B5EF4-FFF2-40B4-BE49-F238E27FC236}">
                <a16:creationId xmlns:a16="http://schemas.microsoft.com/office/drawing/2014/main" id="{7DF19196-D4BF-4086-B3E9-9AF3A3C2AD82}"/>
              </a:ext>
            </a:extLst>
          </p:cNvPr>
          <p:cNvSpPr>
            <a:spLocks xmlns:a="http://schemas.openxmlformats.org/drawingml/2006/main" noGrp="1"/>
          </p:cNvSpPr>
          <p:nvPr/>
        </p:nvSpPr>
        <p:spPr>
          <a:xfrm xmlns:a="http://schemas.openxmlformats.org/drawingml/2006/main">
            <a:off x="7662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Table requests</a:t>
            </a:r>
            <a:endParaRPr sz="1170"/>
          </a:p>
        </p:txBody>
      </p:sp>
      <p:sp>
        <p:nvSpPr>
          <p:cNvPr id="23" name="Text 21">
            <a:extLst xmlns:a="http://schemas.openxmlformats.org/drawingml/2006/main">
              <a:ext uri="{FF2B5EF4-FFF2-40B4-BE49-F238E27FC236}">
                <a16:creationId xmlns:a16="http://schemas.microsoft.com/office/drawing/2014/main" id="{F1A36532-9325-4631-A723-735C42FEBD5C}"/>
              </a:ext>
            </a:extLst>
          </p:cNvPr>
          <p:cNvSpPr>
            <a:spLocks xmlns:a="http://schemas.openxmlformats.org/drawingml/2006/main" noGrp="1"/>
          </p:cNvSpPr>
          <p:nvPr/>
        </p:nvSpPr>
        <p:spPr>
          <a:xfrm xmlns:a="http://schemas.openxmlformats.org/drawingml/2006/main">
            <a:off x="7662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Is the optional on-premise layer being used?</a:t>
            </a:r>
            <a:endParaRPr sz="830"/>
          </a:p>
        </p:txBody>
      </p:sp>
      <p:sp>
        <p:nvSpPr>
          <p:cNvPr id="24" name="Text 22">
            <a:extLst xmlns:a="http://schemas.openxmlformats.org/drawingml/2006/main">
              <a:ext uri="{FF2B5EF4-FFF2-40B4-BE49-F238E27FC236}">
                <a16:creationId xmlns:a16="http://schemas.microsoft.com/office/drawing/2014/main" id="{4912182E-DF4C-4881-9ABD-C9E56725112E}"/>
              </a:ext>
            </a:extLst>
          </p:cNvPr>
          <p:cNvSpPr>
            <a:spLocks xmlns:a="http://schemas.openxmlformats.org/drawingml/2006/main" noGrp="1"/>
          </p:cNvSpPr>
          <p:nvPr/>
        </p:nvSpPr>
        <p:spPr>
          <a:xfrm xmlns:a="http://schemas.openxmlformats.org/drawingml/2006/main">
            <a:off x="9674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5" name="Shape 23">
            <a:extLst xmlns:a="http://schemas.openxmlformats.org/drawingml/2006/main">
              <a:ext uri="{FF2B5EF4-FFF2-40B4-BE49-F238E27FC236}">
                <a16:creationId xmlns:a16="http://schemas.microsoft.com/office/drawing/2014/main" id="{768CC46D-A4C5-4CDB-AECF-C605F76B5403}"/>
              </a:ext>
            </a:extLst>
          </p:cNvPr>
          <p:cNvSpPr>
            <a:spLocks xmlns:a="http://schemas.openxmlformats.org/drawingml/2006/main" noGrp="1"/>
          </p:cNvSpPr>
          <p:nvPr/>
        </p:nvSpPr>
        <p:spPr>
          <a:xfrm xmlns:a="http://schemas.openxmlformats.org/drawingml/2006/main">
            <a:off x="9784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97B96F0E-66CC-4DB2-BD81-E8C866FED711}"/>
              </a:ext>
            </a:extLst>
          </p:cNvPr>
          <p:cNvSpPr>
            <a:spLocks xmlns:a="http://schemas.openxmlformats.org/drawingml/2006/main" noGrp="1"/>
          </p:cNvSpPr>
          <p:nvPr/>
        </p:nvSpPr>
        <p:spPr>
          <a:xfrm xmlns:a="http://schemas.openxmlformats.org/drawingml/2006/main">
            <a:off x="9948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CONTENT</a:t>
            </a:r>
            <a:endParaRPr sz="850"/>
          </a:p>
        </p:txBody>
      </p:sp>
      <p:sp>
        <p:nvSpPr>
          <p:cNvPr id="27" name="Text 25">
            <a:extLst xmlns:a="http://schemas.openxmlformats.org/drawingml/2006/main">
              <a:ext uri="{FF2B5EF4-FFF2-40B4-BE49-F238E27FC236}">
                <a16:creationId xmlns:a16="http://schemas.microsoft.com/office/drawing/2014/main" id="{380D77E2-F1AC-44C7-8912-371397888C3C}"/>
              </a:ext>
            </a:extLst>
          </p:cNvPr>
          <p:cNvSpPr>
            <a:spLocks xmlns:a="http://schemas.openxmlformats.org/drawingml/2006/main" noGrp="1"/>
          </p:cNvSpPr>
          <p:nvPr/>
        </p:nvSpPr>
        <p:spPr>
          <a:xfrm xmlns:a="http://schemas.openxmlformats.org/drawingml/2006/main">
            <a:off x="9948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Button sources + eligible</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MyDancr TV attribution</a:t>
            </a:r>
            <a:endParaRPr sz="1170"/>
          </a:p>
        </p:txBody>
      </p:sp>
      <p:sp>
        <p:nvSpPr>
          <p:cNvPr id="28" name="Text 26">
            <a:extLst xmlns:a="http://schemas.openxmlformats.org/drawingml/2006/main">
              <a:ext uri="{FF2B5EF4-FFF2-40B4-BE49-F238E27FC236}">
                <a16:creationId xmlns:a16="http://schemas.microsoft.com/office/drawing/2014/main" id="{20FB6D7A-BBB4-470A-85DA-8E85DD4378FE}"/>
              </a:ext>
            </a:extLst>
          </p:cNvPr>
          <p:cNvSpPr>
            <a:spLocks xmlns:a="http://schemas.openxmlformats.org/drawingml/2006/main" noGrp="1"/>
          </p:cNvSpPr>
          <p:nvPr/>
        </p:nvSpPr>
        <p:spPr>
          <a:xfrm xmlns:a="http://schemas.openxmlformats.org/drawingml/2006/main">
            <a:off x="9948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What surfaces are associated with action?</a:t>
            </a:r>
            <a:endParaRPr sz="830"/>
          </a:p>
        </p:txBody>
      </p:sp>
      <p:sp>
        <p:nvSpPr>
          <p:cNvPr id="29" name="Shape 27">
            <a:extLst xmlns:a="http://schemas.openxmlformats.org/drawingml/2006/main">
              <a:ext uri="{FF2B5EF4-FFF2-40B4-BE49-F238E27FC236}">
                <a16:creationId xmlns:a16="http://schemas.microsoft.com/office/drawing/2014/main" id="{A32CBFC4-F736-4409-981D-D742F270DD0C}"/>
              </a:ext>
            </a:extLst>
          </p:cNvPr>
          <p:cNvSpPr>
            <a:spLocks xmlns:a="http://schemas.openxmlformats.org/drawingml/2006/main" noGrp="1"/>
          </p:cNvSpPr>
          <p:nvPr/>
        </p:nvSpPr>
        <p:spPr>
          <a:xfrm xmlns:a="http://schemas.openxmlformats.org/drawingml/2006/main">
            <a:off x="658368" y="5157216"/>
            <a:ext cx="10881360" cy="1042416"/>
          </a:xfrm>
          <a:prstGeom xmlns:a="http://schemas.openxmlformats.org/drawingml/2006/main" prst="roundRect">
            <a:avLst>
              <a:gd name="adj" fmla="val 7018"/>
            </a:avLst>
          </a:prstGeom>
          <a:solidFill xmlns:a="http://schemas.openxmlformats.org/drawingml/2006/main">
            <a:srgbClr val="0B0B0F"/>
          </a:solidFill>
          <a:ln xmlns:a="http://schemas.openxmlformats.org/drawingml/2006/main" w="10160">
            <a:solidFill>
              <a:srgbClr val="27232E"/>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80E76AEE-1D62-4247-9E0C-73E81459885D}"/>
              </a:ext>
            </a:extLst>
          </p:cNvPr>
          <p:cNvSpPr>
            <a:spLocks xmlns:a="http://schemas.openxmlformats.org/drawingml/2006/main" noGrp="1"/>
          </p:cNvSpPr>
          <p:nvPr/>
        </p:nvSpPr>
        <p:spPr>
          <a:xfrm xmlns:a="http://schemas.openxmlformats.org/drawingml/2006/main">
            <a:off x="914400" y="5413248"/>
            <a:ext cx="233172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A855F7"/>
                </a:solidFill>
                <a:latin typeface="Inter"/>
                <a:ea typeface="Inter"/>
                <a:cs typeface="Inter"/>
              </a:rPr>
              <a:t>WHAT MYDANCR CAN VERIFY</a:t>
            </a:r>
            <a:endParaRPr sz="840"/>
          </a:p>
        </p:txBody>
      </p:sp>
      <p:sp>
        <p:nvSpPr>
          <p:cNvPr id="31" name="Text 29">
            <a:extLst xmlns:a="http://schemas.openxmlformats.org/drawingml/2006/main">
              <a:ext uri="{FF2B5EF4-FFF2-40B4-BE49-F238E27FC236}">
                <a16:creationId xmlns:a16="http://schemas.microsoft.com/office/drawing/2014/main" id="{A265C915-E9AB-4DC3-9C1E-D6A5A7320532}"/>
              </a:ext>
            </a:extLst>
          </p:cNvPr>
          <p:cNvSpPr>
            <a:spLocks xmlns:a="http://schemas.openxmlformats.org/drawingml/2006/main" noGrp="1"/>
          </p:cNvSpPr>
          <p:nvPr/>
        </p:nvSpPr>
        <p:spPr>
          <a:xfrm xmlns:a="http://schemas.openxmlformats.org/drawingml/2006/main">
            <a:off x="3063240" y="5358384"/>
            <a:ext cx="2880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Product actions + redeemed passes</a:t>
            </a:r>
            <a:endParaRPr sz="1260"/>
          </a:p>
        </p:txBody>
      </p:sp>
      <p:sp>
        <p:nvSpPr>
          <p:cNvPr id="32" name="Shape 30">
            <a:extLst xmlns:a="http://schemas.openxmlformats.org/drawingml/2006/main">
              <a:ext uri="{FF2B5EF4-FFF2-40B4-BE49-F238E27FC236}">
                <a16:creationId xmlns:a16="http://schemas.microsoft.com/office/drawing/2014/main" id="{D8559853-4E8D-4D9D-8B00-D1013CBB4F2A}"/>
              </a:ext>
            </a:extLst>
          </p:cNvPr>
          <p:cNvSpPr>
            <a:spLocks xmlns:a="http://schemas.openxmlformats.org/drawingml/2006/main" noGrp="1"/>
          </p:cNvSpPr>
          <p:nvPr/>
        </p:nvSpPr>
        <p:spPr>
          <a:xfrm xmlns:a="http://schemas.openxmlformats.org/drawingml/2006/main">
            <a:off x="6016752" y="5358384"/>
            <a:ext cx="0" cy="484632"/>
          </a:xfrm>
          <a:prstGeom xmlns:a="http://schemas.openxmlformats.org/drawingml/2006/main" prst="line">
            <a:avLst/>
          </a:prstGeom>
          <a:noFill xmlns:a="http://schemas.openxmlformats.org/drawingml/2006/main"/>
          <a:ln xmlns:a="http://schemas.openxmlformats.org/drawingml/2006/main" w="10160">
            <a:solidFill>
              <a:srgbClr val="2F2A3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79C267C2-5D59-469F-ACEA-D4BA4A0C12F9}"/>
              </a:ext>
            </a:extLst>
          </p:cNvPr>
          <p:cNvSpPr>
            <a:spLocks xmlns:a="http://schemas.openxmlformats.org/drawingml/2006/main" noGrp="1"/>
          </p:cNvSpPr>
          <p:nvPr/>
        </p:nvSpPr>
        <p:spPr>
          <a:xfrm xmlns:a="http://schemas.openxmlformats.org/drawingml/2006/main">
            <a:off x="6281928" y="5413248"/>
            <a:ext cx="214884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1ED59B"/>
                </a:solidFill>
                <a:latin typeface="Inter"/>
                <a:ea typeface="Inter"/>
                <a:cs typeface="Inter"/>
              </a:rPr>
              <a:t>WHAT NEEDS CLUB DATA</a:t>
            </a:r>
            <a:endParaRPr sz="840"/>
          </a:p>
        </p:txBody>
      </p:sp>
      <p:sp>
        <p:nvSpPr>
          <p:cNvPr id="34" name="Text 32">
            <a:extLst xmlns:a="http://schemas.openxmlformats.org/drawingml/2006/main">
              <a:ext uri="{FF2B5EF4-FFF2-40B4-BE49-F238E27FC236}">
                <a16:creationId xmlns:a16="http://schemas.microsoft.com/office/drawing/2014/main" id="{D83EA4E4-E964-4A68-AFAF-3685205971A8}"/>
              </a:ext>
            </a:extLst>
          </p:cNvPr>
          <p:cNvSpPr>
            <a:spLocks xmlns:a="http://schemas.openxmlformats.org/drawingml/2006/main" noGrp="1"/>
          </p:cNvSpPr>
          <p:nvPr/>
        </p:nvSpPr>
        <p:spPr>
          <a:xfrm xmlns:a="http://schemas.openxmlformats.org/drawingml/2006/main">
            <a:off x="8156448" y="5358384"/>
            <a:ext cx="3072384"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Total visits • VIP spend • revenue • incremental value</a:t>
            </a:r>
            <a:endParaRPr sz="1170"/>
          </a:p>
        </p:txBody>
      </p:sp>
      <p:sp>
        <p:nvSpPr>
          <p:cNvPr id="35" name="Text 33">
            <a:extLst xmlns:a="http://schemas.openxmlformats.org/drawingml/2006/main">
              <a:ext uri="{FF2B5EF4-FFF2-40B4-BE49-F238E27FC236}">
                <a16:creationId xmlns:a16="http://schemas.microsoft.com/office/drawing/2014/main" id="{4BABC2CE-6066-4C36-8654-C971E2155B31}"/>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Verified admissions count redeemed passes. Product analytics alone do not establish incremental revenue; pilot review should reconcile with club records.</a:t>
            </a:r>
            <a:endParaRPr sz="670"/>
          </a:p>
        </p:txBody>
      </p:sp>
      <p:sp>
        <p:nvSpPr>
          <p:cNvPr id="36" name="Slide Number Placeholder 0">
            <a:extLst xmlns:a="http://schemas.openxmlformats.org/drawingml/2006/main">
              <a:ext uri="{FF2B5EF4-FFF2-40B4-BE49-F238E27FC236}">
                <a16:creationId xmlns:a16="http://schemas.microsoft.com/office/drawing/2014/main" id="{940D6388-E13B-4A35-8370-CFE7F6C18FC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7</a:t>
            </a:fld>
            <a:endParaRPr/>
          </a:p>
        </p:txBody>
      </p:sp>
    </p:spTree>
    <p:extLst>
      <p:ext uri="{BB962C8B-B14F-4D97-AF65-F5344CB8AC3E}">
        <p14:creationId xmlns:p14="http://schemas.microsoft.com/office/powerpoint/2010/main" val="17868682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171373-6361-44DF-BB02-DF82D2B0C027}"/>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MULTI-LOCATION VALUE</a:t>
            </a:r>
            <a:endParaRPr sz="950"/>
          </a:p>
        </p:txBody>
      </p:sp>
      <p:sp>
        <p:nvSpPr>
          <p:cNvPr id="3" name="Text 1">
            <a:extLst xmlns:a="http://schemas.openxmlformats.org/drawingml/2006/main">
              <a:ext uri="{FF2B5EF4-FFF2-40B4-BE49-F238E27FC236}">
                <a16:creationId xmlns:a16="http://schemas.microsoft.com/office/drawing/2014/main" id="{BF2BDA0D-AC71-498C-97B5-F7AF281F22E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Built for one club. Repeatable across the group.</a:t>
            </a:r>
            <a:endParaRPr sz="2800"/>
          </a:p>
        </p:txBody>
      </p:sp>
      <p:sp>
        <p:nvSpPr>
          <p:cNvPr id="4" name="Text 2">
            <a:extLst xmlns:a="http://schemas.openxmlformats.org/drawingml/2006/main">
              <a:ext uri="{FF2B5EF4-FFF2-40B4-BE49-F238E27FC236}">
                <a16:creationId xmlns:a16="http://schemas.microsoft.com/office/drawing/2014/main" id="{BCF35FFB-0B50-40B2-80E6-08B198A89B01}"/>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Use the same core playbook and KPI language while preserving each location’s identity and operating needs.</a:t>
            </a:r>
            <a:endParaRPr sz="1220"/>
          </a:p>
        </p:txBody>
      </p:sp>
      <p:sp>
        <p:nvSpPr>
          <p:cNvPr id="5" name="Shape 3">
            <a:extLst xmlns:a="http://schemas.openxmlformats.org/drawingml/2006/main">
              <a:ext uri="{FF2B5EF4-FFF2-40B4-BE49-F238E27FC236}">
                <a16:creationId xmlns:a16="http://schemas.microsoft.com/office/drawing/2014/main" id="{9F49E74E-5719-446E-B8B7-C46346714839}"/>
              </a:ext>
            </a:extLst>
          </p:cNvPr>
          <p:cNvSpPr>
            <a:spLocks xmlns:a="http://schemas.openxmlformats.org/drawingml/2006/main" noGrp="1"/>
          </p:cNvSpPr>
          <p:nvPr/>
        </p:nvSpPr>
        <p:spPr>
          <a:xfrm xmlns:a="http://schemas.openxmlformats.org/drawingml/2006/main">
            <a:off x="676656"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850BF8AA-CC1C-4582-8EB3-FBB551586D4A}"/>
              </a:ext>
            </a:extLst>
          </p:cNvPr>
          <p:cNvSpPr>
            <a:spLocks xmlns:a="http://schemas.openxmlformats.org/drawingml/2006/main" noGrp="1"/>
          </p:cNvSpPr>
          <p:nvPr/>
        </p:nvSpPr>
        <p:spPr>
          <a:xfrm xmlns:a="http://schemas.openxmlformats.org/drawingml/2006/main">
            <a:off x="4416552"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Shape 5">
            <a:extLst xmlns:a="http://schemas.openxmlformats.org/drawingml/2006/main">
              <a:ext uri="{FF2B5EF4-FFF2-40B4-BE49-F238E27FC236}">
                <a16:creationId xmlns:a16="http://schemas.microsoft.com/office/drawing/2014/main" id="{AF18810E-BD71-4FAF-8B3F-C9C66B67ECD5}"/>
              </a:ext>
            </a:extLst>
          </p:cNvPr>
          <p:cNvSpPr>
            <a:spLocks xmlns:a="http://schemas.openxmlformats.org/drawingml/2006/main" noGrp="1"/>
          </p:cNvSpPr>
          <p:nvPr/>
        </p:nvSpPr>
        <p:spPr>
          <a:xfrm xmlns:a="http://schemas.openxmlformats.org/drawingml/2006/main">
            <a:off x="8156448"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6">
            <a:extLst xmlns:a="http://schemas.openxmlformats.org/drawingml/2006/main">
              <a:ext uri="{FF2B5EF4-FFF2-40B4-BE49-F238E27FC236}">
                <a16:creationId xmlns:a16="http://schemas.microsoft.com/office/drawing/2014/main" id="{E1F26631-B4DA-4620-8ECC-50C3650AD434}"/>
              </a:ext>
            </a:extLst>
          </p:cNvPr>
          <p:cNvSpPr>
            <a:spLocks xmlns:a="http://schemas.openxmlformats.org/drawingml/2006/main" noGrp="1"/>
          </p:cNvSpPr>
          <p:nvPr/>
        </p:nvSpPr>
        <p:spPr>
          <a:xfrm xmlns:a="http://schemas.openxmlformats.org/drawingml/2006/main">
            <a:off x="932688"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01</a:t>
            </a:r>
            <a:endParaRPr sz="1400"/>
          </a:p>
        </p:txBody>
      </p:sp>
      <p:sp>
        <p:nvSpPr>
          <p:cNvPr id="9" name="Text 7">
            <a:extLst xmlns:a="http://schemas.openxmlformats.org/drawingml/2006/main">
              <a:ext uri="{FF2B5EF4-FFF2-40B4-BE49-F238E27FC236}">
                <a16:creationId xmlns:a16="http://schemas.microsoft.com/office/drawing/2014/main" id="{C421EF0C-E511-4843-A4AB-F96EC3DB0134}"/>
              </a:ext>
            </a:extLst>
          </p:cNvPr>
          <p:cNvSpPr>
            <a:spLocks xmlns:a="http://schemas.openxmlformats.org/drawingml/2006/main" noGrp="1"/>
          </p:cNvSpPr>
          <p:nvPr/>
        </p:nvSpPr>
        <p:spPr>
          <a:xfrm xmlns:a="http://schemas.openxmlformats.org/drawingml/2006/main">
            <a:off x="932688"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COMMON KPI LANGUAGE</a:t>
            </a:r>
            <a:endParaRPr sz="1250"/>
          </a:p>
        </p:txBody>
      </p:sp>
      <p:sp>
        <p:nvSpPr>
          <p:cNvPr id="10" name="Shape 8">
            <a:extLst xmlns:a="http://schemas.openxmlformats.org/drawingml/2006/main">
              <a:ext uri="{FF2B5EF4-FFF2-40B4-BE49-F238E27FC236}">
                <a16:creationId xmlns:a16="http://schemas.microsoft.com/office/drawing/2014/main" id="{56025737-9FAB-4C6A-868D-CFDCAE4861C5}"/>
              </a:ext>
            </a:extLst>
          </p:cNvPr>
          <p:cNvSpPr>
            <a:spLocks xmlns:a="http://schemas.openxmlformats.org/drawingml/2006/main" noGrp="1"/>
          </p:cNvSpPr>
          <p:nvPr/>
        </p:nvSpPr>
        <p:spPr>
          <a:xfrm xmlns:a="http://schemas.openxmlformats.org/drawingml/2006/main">
            <a:off x="960120"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4CE3AD8A-B4F8-4433-88F2-BBD09436B369}"/>
              </a:ext>
            </a:extLst>
          </p:cNvPr>
          <p:cNvSpPr>
            <a:spLocks xmlns:a="http://schemas.openxmlformats.org/drawingml/2006/main" noGrp="1"/>
          </p:cNvSpPr>
          <p:nvPr/>
        </p:nvSpPr>
        <p:spPr>
          <a:xfrm xmlns:a="http://schemas.openxmlformats.org/drawingml/2006/main">
            <a:off x="1152144"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Equivalent time periods</a:t>
            </a:r>
            <a:endParaRPr sz="900"/>
          </a:p>
        </p:txBody>
      </p:sp>
      <p:sp>
        <p:nvSpPr>
          <p:cNvPr id="12" name="Shape 10">
            <a:extLst xmlns:a="http://schemas.openxmlformats.org/drawingml/2006/main">
              <a:ext uri="{FF2B5EF4-FFF2-40B4-BE49-F238E27FC236}">
                <a16:creationId xmlns:a16="http://schemas.microsoft.com/office/drawing/2014/main" id="{498A6F96-0DF7-420C-906F-5CCC715F542A}"/>
              </a:ext>
            </a:extLst>
          </p:cNvPr>
          <p:cNvSpPr>
            <a:spLocks xmlns:a="http://schemas.openxmlformats.org/drawingml/2006/main" noGrp="1"/>
          </p:cNvSpPr>
          <p:nvPr/>
        </p:nvSpPr>
        <p:spPr>
          <a:xfrm xmlns:a="http://schemas.openxmlformats.org/drawingml/2006/main">
            <a:off x="960120"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3" name="Text 11">
            <a:extLst xmlns:a="http://schemas.openxmlformats.org/drawingml/2006/main">
              <a:ext uri="{FF2B5EF4-FFF2-40B4-BE49-F238E27FC236}">
                <a16:creationId xmlns:a16="http://schemas.microsoft.com/office/drawing/2014/main" id="{26757682-87A0-42F9-A1E1-D4A54EA827C7}"/>
              </a:ext>
            </a:extLst>
          </p:cNvPr>
          <p:cNvSpPr>
            <a:spLocks xmlns:a="http://schemas.openxmlformats.org/drawingml/2006/main" noGrp="1"/>
          </p:cNvSpPr>
          <p:nvPr/>
        </p:nvSpPr>
        <p:spPr>
          <a:xfrm xmlns:a="http://schemas.openxmlformats.org/drawingml/2006/main">
            <a:off x="1152144"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Same action categories</a:t>
            </a:r>
            <a:endParaRPr sz="900"/>
          </a:p>
        </p:txBody>
      </p:sp>
      <p:sp>
        <p:nvSpPr>
          <p:cNvPr id="14" name="Shape 12">
            <a:extLst xmlns:a="http://schemas.openxmlformats.org/drawingml/2006/main">
              <a:ext uri="{FF2B5EF4-FFF2-40B4-BE49-F238E27FC236}">
                <a16:creationId xmlns:a16="http://schemas.microsoft.com/office/drawing/2014/main" id="{21909D2B-A481-464F-94DC-F3911B050AC4}"/>
              </a:ext>
            </a:extLst>
          </p:cNvPr>
          <p:cNvSpPr>
            <a:spLocks xmlns:a="http://schemas.openxmlformats.org/drawingml/2006/main" noGrp="1"/>
          </p:cNvSpPr>
          <p:nvPr/>
        </p:nvSpPr>
        <p:spPr>
          <a:xfrm xmlns:a="http://schemas.openxmlformats.org/drawingml/2006/main">
            <a:off x="960120"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Text 13">
            <a:extLst xmlns:a="http://schemas.openxmlformats.org/drawingml/2006/main">
              <a:ext uri="{FF2B5EF4-FFF2-40B4-BE49-F238E27FC236}">
                <a16:creationId xmlns:a16="http://schemas.microsoft.com/office/drawing/2014/main" id="{08BFE1BE-3D8E-4025-B2BE-34792E497158}"/>
              </a:ext>
            </a:extLst>
          </p:cNvPr>
          <p:cNvSpPr>
            <a:spLocks xmlns:a="http://schemas.openxmlformats.org/drawingml/2006/main" noGrp="1"/>
          </p:cNvSpPr>
          <p:nvPr/>
        </p:nvSpPr>
        <p:spPr>
          <a:xfrm xmlns:a="http://schemas.openxmlformats.org/drawingml/2006/main">
            <a:off x="1152144"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Comparable pilot scorecards</a:t>
            </a:r>
            <a:endParaRPr sz="900"/>
          </a:p>
        </p:txBody>
      </p:sp>
      <p:sp>
        <p:nvSpPr>
          <p:cNvPr id="16" name="Text 14">
            <a:extLst xmlns:a="http://schemas.openxmlformats.org/drawingml/2006/main">
              <a:ext uri="{FF2B5EF4-FFF2-40B4-BE49-F238E27FC236}">
                <a16:creationId xmlns:a16="http://schemas.microsoft.com/office/drawing/2014/main" id="{BAB4FAE8-5486-4AA3-892A-7355F2B8A2CE}"/>
              </a:ext>
            </a:extLst>
          </p:cNvPr>
          <p:cNvSpPr>
            <a:spLocks xmlns:a="http://schemas.openxmlformats.org/drawingml/2006/main" noGrp="1"/>
          </p:cNvSpPr>
          <p:nvPr/>
        </p:nvSpPr>
        <p:spPr>
          <a:xfrm xmlns:a="http://schemas.openxmlformats.org/drawingml/2006/main">
            <a:off x="4672584"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1ED59B"/>
                </a:solidFill>
                <a:latin typeface="Inter Display"/>
                <a:ea typeface="Inter Display"/>
                <a:cs typeface="Inter Display"/>
              </a:rPr>
              <a:t>02</a:t>
            </a:r>
            <a:endParaRPr sz="1400"/>
          </a:p>
        </p:txBody>
      </p:sp>
      <p:sp>
        <p:nvSpPr>
          <p:cNvPr id="17" name="Text 15">
            <a:extLst xmlns:a="http://schemas.openxmlformats.org/drawingml/2006/main">
              <a:ext uri="{FF2B5EF4-FFF2-40B4-BE49-F238E27FC236}">
                <a16:creationId xmlns:a16="http://schemas.microsoft.com/office/drawing/2014/main" id="{50DC33BA-B525-401F-B891-29354CD004B4}"/>
              </a:ext>
            </a:extLst>
          </p:cNvPr>
          <p:cNvSpPr>
            <a:spLocks xmlns:a="http://schemas.openxmlformats.org/drawingml/2006/main" noGrp="1"/>
          </p:cNvSpPr>
          <p:nvPr/>
        </p:nvSpPr>
        <p:spPr>
          <a:xfrm xmlns:a="http://schemas.openxmlformats.org/drawingml/2006/main">
            <a:off x="4672584"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LOCAL CONTROL</a:t>
            </a:r>
            <a:endParaRPr sz="1250"/>
          </a:p>
        </p:txBody>
      </p:sp>
      <p:sp>
        <p:nvSpPr>
          <p:cNvPr id="18" name="Shape 16">
            <a:extLst xmlns:a="http://schemas.openxmlformats.org/drawingml/2006/main">
              <a:ext uri="{FF2B5EF4-FFF2-40B4-BE49-F238E27FC236}">
                <a16:creationId xmlns:a16="http://schemas.microsoft.com/office/drawing/2014/main" id="{5725549B-F8C0-4C79-922D-B3BF5839C128}"/>
              </a:ext>
            </a:extLst>
          </p:cNvPr>
          <p:cNvSpPr>
            <a:spLocks xmlns:a="http://schemas.openxmlformats.org/drawingml/2006/main" noGrp="1"/>
          </p:cNvSpPr>
          <p:nvPr/>
        </p:nvSpPr>
        <p:spPr>
          <a:xfrm xmlns:a="http://schemas.openxmlformats.org/drawingml/2006/main">
            <a:off x="4700016" y="394106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122EA3C6-21D6-48C3-A32D-089979A50664}"/>
              </a:ext>
            </a:extLst>
          </p:cNvPr>
          <p:cNvSpPr>
            <a:spLocks xmlns:a="http://schemas.openxmlformats.org/drawingml/2006/main" noGrp="1"/>
          </p:cNvSpPr>
          <p:nvPr/>
        </p:nvSpPr>
        <p:spPr>
          <a:xfrm xmlns:a="http://schemas.openxmlformats.org/drawingml/2006/main">
            <a:off x="4892040"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Each club keeps its page + assets</a:t>
            </a:r>
            <a:endParaRPr sz="900"/>
          </a:p>
        </p:txBody>
      </p:sp>
      <p:sp>
        <p:nvSpPr>
          <p:cNvPr id="20" name="Shape 18">
            <a:extLst xmlns:a="http://schemas.openxmlformats.org/drawingml/2006/main">
              <a:ext uri="{FF2B5EF4-FFF2-40B4-BE49-F238E27FC236}">
                <a16:creationId xmlns:a16="http://schemas.microsoft.com/office/drawing/2014/main" id="{8CF1DD8D-4DA4-4FC3-AAD5-4155DD2601ED}"/>
              </a:ext>
            </a:extLst>
          </p:cNvPr>
          <p:cNvSpPr>
            <a:spLocks xmlns:a="http://schemas.openxmlformats.org/drawingml/2006/main" noGrp="1"/>
          </p:cNvSpPr>
          <p:nvPr/>
        </p:nvSpPr>
        <p:spPr>
          <a:xfrm xmlns:a="http://schemas.openxmlformats.org/drawingml/2006/main">
            <a:off x="4700016" y="444398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A1B53B84-A2B4-4B91-8566-53FD7DBAD5C8}"/>
              </a:ext>
            </a:extLst>
          </p:cNvPr>
          <p:cNvSpPr>
            <a:spLocks xmlns:a="http://schemas.openxmlformats.org/drawingml/2006/main" noGrp="1"/>
          </p:cNvSpPr>
          <p:nvPr/>
        </p:nvSpPr>
        <p:spPr>
          <a:xfrm xmlns:a="http://schemas.openxmlformats.org/drawingml/2006/main">
            <a:off x="4892040"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offers + staff access</a:t>
            </a:r>
            <a:endParaRPr sz="900"/>
          </a:p>
        </p:txBody>
      </p:sp>
      <p:sp>
        <p:nvSpPr>
          <p:cNvPr id="22" name="Shape 20">
            <a:extLst xmlns:a="http://schemas.openxmlformats.org/drawingml/2006/main">
              <a:ext uri="{FF2B5EF4-FFF2-40B4-BE49-F238E27FC236}">
                <a16:creationId xmlns:a16="http://schemas.microsoft.com/office/drawing/2014/main" id="{7B463E8E-2A55-4E57-A1C4-8A1A4E2EC26E}"/>
              </a:ext>
            </a:extLst>
          </p:cNvPr>
          <p:cNvSpPr>
            <a:spLocks xmlns:a="http://schemas.openxmlformats.org/drawingml/2006/main" noGrp="1"/>
          </p:cNvSpPr>
          <p:nvPr/>
        </p:nvSpPr>
        <p:spPr>
          <a:xfrm xmlns:a="http://schemas.openxmlformats.org/drawingml/2006/main">
            <a:off x="4700016" y="494690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3" name="Text 21">
            <a:extLst xmlns:a="http://schemas.openxmlformats.org/drawingml/2006/main">
              <a:ext uri="{FF2B5EF4-FFF2-40B4-BE49-F238E27FC236}">
                <a16:creationId xmlns:a16="http://schemas.microsoft.com/office/drawing/2014/main" id="{81633252-1101-4C13-9E40-73B6B9C36809}"/>
              </a:ext>
            </a:extLst>
          </p:cNvPr>
          <p:cNvSpPr>
            <a:spLocks xmlns:a="http://schemas.openxmlformats.org/drawingml/2006/main" noGrp="1"/>
          </p:cNvSpPr>
          <p:nvPr/>
        </p:nvSpPr>
        <p:spPr>
          <a:xfrm xmlns:a="http://schemas.openxmlformats.org/drawingml/2006/main">
            <a:off x="4892040"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pickups + table requests</a:t>
            </a:r>
            <a:endParaRPr sz="900"/>
          </a:p>
        </p:txBody>
      </p:sp>
      <p:sp>
        <p:nvSpPr>
          <p:cNvPr id="24" name="Text 22">
            <a:extLst xmlns:a="http://schemas.openxmlformats.org/drawingml/2006/main">
              <a:ext uri="{FF2B5EF4-FFF2-40B4-BE49-F238E27FC236}">
                <a16:creationId xmlns:a16="http://schemas.microsoft.com/office/drawing/2014/main" id="{4F47B623-94E5-4E44-BA10-A1963245B401}"/>
              </a:ext>
            </a:extLst>
          </p:cNvPr>
          <p:cNvSpPr>
            <a:spLocks xmlns:a="http://schemas.openxmlformats.org/drawingml/2006/main" noGrp="1"/>
          </p:cNvSpPr>
          <p:nvPr/>
        </p:nvSpPr>
        <p:spPr>
          <a:xfrm xmlns:a="http://schemas.openxmlformats.org/drawingml/2006/main">
            <a:off x="8412480"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03</a:t>
            </a:r>
            <a:endParaRPr sz="1400"/>
          </a:p>
        </p:txBody>
      </p:sp>
      <p:sp>
        <p:nvSpPr>
          <p:cNvPr id="25" name="Text 23">
            <a:extLst xmlns:a="http://schemas.openxmlformats.org/drawingml/2006/main">
              <a:ext uri="{FF2B5EF4-FFF2-40B4-BE49-F238E27FC236}">
                <a16:creationId xmlns:a16="http://schemas.microsoft.com/office/drawing/2014/main" id="{7DB47958-4C77-460A-81E2-577734D0D556}"/>
              </a:ext>
            </a:extLst>
          </p:cNvPr>
          <p:cNvSpPr>
            <a:spLocks xmlns:a="http://schemas.openxmlformats.org/drawingml/2006/main" noGrp="1"/>
          </p:cNvSpPr>
          <p:nvPr/>
        </p:nvSpPr>
        <p:spPr>
          <a:xfrm xmlns:a="http://schemas.openxmlformats.org/drawingml/2006/main">
            <a:off x="8412480"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REPEATABLE ROLLOUT</a:t>
            </a:r>
            <a:endParaRPr sz="1250"/>
          </a:p>
        </p:txBody>
      </p:sp>
      <p:sp>
        <p:nvSpPr>
          <p:cNvPr id="26" name="Shape 24">
            <a:extLst xmlns:a="http://schemas.openxmlformats.org/drawingml/2006/main">
              <a:ext uri="{FF2B5EF4-FFF2-40B4-BE49-F238E27FC236}">
                <a16:creationId xmlns:a16="http://schemas.microsoft.com/office/drawing/2014/main" id="{1F2F169E-1AB6-4D0C-815B-59BEDABC079F}"/>
              </a:ext>
            </a:extLst>
          </p:cNvPr>
          <p:cNvSpPr>
            <a:spLocks xmlns:a="http://schemas.openxmlformats.org/drawingml/2006/main" noGrp="1"/>
          </p:cNvSpPr>
          <p:nvPr/>
        </p:nvSpPr>
        <p:spPr>
          <a:xfrm xmlns:a="http://schemas.openxmlformats.org/drawingml/2006/main">
            <a:off x="8439912"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7" name="Text 25">
            <a:extLst xmlns:a="http://schemas.openxmlformats.org/drawingml/2006/main">
              <a:ext uri="{FF2B5EF4-FFF2-40B4-BE49-F238E27FC236}">
                <a16:creationId xmlns:a16="http://schemas.microsoft.com/office/drawing/2014/main" id="{25DD2B0D-22ED-463A-A760-7B9C35F13C3D}"/>
              </a:ext>
            </a:extLst>
          </p:cNvPr>
          <p:cNvSpPr>
            <a:spLocks xmlns:a="http://schemas.openxmlformats.org/drawingml/2006/main" noGrp="1"/>
          </p:cNvSpPr>
          <p:nvPr/>
        </p:nvSpPr>
        <p:spPr>
          <a:xfrm xmlns:a="http://schemas.openxmlformats.org/drawingml/2006/main">
            <a:off x="8631936"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Shared onboarding playbook</a:t>
            </a:r>
            <a:endParaRPr sz="900"/>
          </a:p>
        </p:txBody>
      </p:sp>
      <p:sp>
        <p:nvSpPr>
          <p:cNvPr id="28" name="Shape 26">
            <a:extLst xmlns:a="http://schemas.openxmlformats.org/drawingml/2006/main">
              <a:ext uri="{FF2B5EF4-FFF2-40B4-BE49-F238E27FC236}">
                <a16:creationId xmlns:a16="http://schemas.microsoft.com/office/drawing/2014/main" id="{A5AD2B34-BF86-47A7-BB4A-79D33EE3347C}"/>
              </a:ext>
            </a:extLst>
          </p:cNvPr>
          <p:cNvSpPr>
            <a:spLocks xmlns:a="http://schemas.openxmlformats.org/drawingml/2006/main" noGrp="1"/>
          </p:cNvSpPr>
          <p:nvPr/>
        </p:nvSpPr>
        <p:spPr>
          <a:xfrm xmlns:a="http://schemas.openxmlformats.org/drawingml/2006/main">
            <a:off x="8439912"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9" name="Text 27">
            <a:extLst xmlns:a="http://schemas.openxmlformats.org/drawingml/2006/main">
              <a:ext uri="{FF2B5EF4-FFF2-40B4-BE49-F238E27FC236}">
                <a16:creationId xmlns:a16="http://schemas.microsoft.com/office/drawing/2014/main" id="{E3AC03A1-9149-4B63-BE21-FE0CCBF3D2BA}"/>
              </a:ext>
            </a:extLst>
          </p:cNvPr>
          <p:cNvSpPr>
            <a:spLocks xmlns:a="http://schemas.openxmlformats.org/drawingml/2006/main" noGrp="1"/>
          </p:cNvSpPr>
          <p:nvPr/>
        </p:nvSpPr>
        <p:spPr>
          <a:xfrm xmlns:a="http://schemas.openxmlformats.org/drawingml/2006/main">
            <a:off x="8631936"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Location-level learning</a:t>
            </a:r>
            <a:endParaRPr sz="900"/>
          </a:p>
        </p:txBody>
      </p:sp>
      <p:sp>
        <p:nvSpPr>
          <p:cNvPr id="30" name="Shape 28">
            <a:extLst xmlns:a="http://schemas.openxmlformats.org/drawingml/2006/main">
              <a:ext uri="{FF2B5EF4-FFF2-40B4-BE49-F238E27FC236}">
                <a16:creationId xmlns:a16="http://schemas.microsoft.com/office/drawing/2014/main" id="{F26BC67D-9645-4001-8359-12E5A63FA441}"/>
              </a:ext>
            </a:extLst>
          </p:cNvPr>
          <p:cNvSpPr>
            <a:spLocks xmlns:a="http://schemas.openxmlformats.org/drawingml/2006/main" noGrp="1"/>
          </p:cNvSpPr>
          <p:nvPr/>
        </p:nvSpPr>
        <p:spPr>
          <a:xfrm xmlns:a="http://schemas.openxmlformats.org/drawingml/2006/main">
            <a:off x="8439912"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3A4D40AB-530D-4AFF-94C7-78991E68B455}"/>
              </a:ext>
            </a:extLst>
          </p:cNvPr>
          <p:cNvSpPr>
            <a:spLocks xmlns:a="http://schemas.openxmlformats.org/drawingml/2006/main" noGrp="1"/>
          </p:cNvSpPr>
          <p:nvPr/>
        </p:nvSpPr>
        <p:spPr>
          <a:xfrm xmlns:a="http://schemas.openxmlformats.org/drawingml/2006/main">
            <a:off x="8631936"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Scale only what evidence supports</a:t>
            </a:r>
            <a:endParaRPr sz="900"/>
          </a:p>
        </p:txBody>
      </p:sp>
      <p:sp>
        <p:nvSpPr>
          <p:cNvPr id="32" name="Shape 30">
            <a:extLst xmlns:a="http://schemas.openxmlformats.org/drawingml/2006/main">
              <a:ext uri="{FF2B5EF4-FFF2-40B4-BE49-F238E27FC236}">
                <a16:creationId xmlns:a16="http://schemas.microsoft.com/office/drawing/2014/main" id="{E568CD0E-A888-4165-BD08-F7CEF00FB084}"/>
              </a:ext>
            </a:extLst>
          </p:cNvPr>
          <p:cNvSpPr>
            <a:spLocks xmlns:a="http://schemas.openxmlformats.org/drawingml/2006/main" noGrp="1"/>
          </p:cNvSpPr>
          <p:nvPr/>
        </p:nvSpPr>
        <p:spPr>
          <a:xfrm xmlns:a="http://schemas.openxmlformats.org/drawingml/2006/main">
            <a:off x="1115568" y="6099048"/>
            <a:ext cx="9966960" cy="384048"/>
          </a:xfrm>
          <a:prstGeom xmlns:a="http://schemas.openxmlformats.org/drawingml/2006/main" prst="roundRect">
            <a:avLst>
              <a:gd name="adj" fmla="val 19048"/>
            </a:avLst>
          </a:prstGeom>
          <a:solidFill xmlns:a="http://schemas.openxmlformats.org/drawingml/2006/main">
            <a:srgbClr val="131018"/>
          </a:solidFill>
          <a:ln xmlns:a="http://schemas.openxmlformats.org/drawingml/2006/main" w="8890">
            <a:solidFill>
              <a:srgbClr val="36264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EBBD9B5D-70AB-4E5E-B3B0-DA47A4B53152}"/>
              </a:ext>
            </a:extLst>
          </p:cNvPr>
          <p:cNvSpPr>
            <a:spLocks xmlns:a="http://schemas.openxmlformats.org/drawingml/2006/main" noGrp="1"/>
          </p:cNvSpPr>
          <p:nvPr/>
        </p:nvSpPr>
        <p:spPr>
          <a:xfrm xmlns:a="http://schemas.openxmlformats.org/drawingml/2006/main">
            <a:off x="1389888" y="6190488"/>
            <a:ext cx="941832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B8AFBF"/>
                </a:solidFill>
                <a:latin typeface="Inter"/>
                <a:ea typeface="Inter"/>
                <a:cs typeface="Inter"/>
              </a:rPr>
              <a:t>Corporate dashboard, POS / CRM integrations or custom workflows can be scoped separately as the rollout grows.</a:t>
            </a:r>
            <a:endParaRPr sz="830"/>
          </a:p>
        </p:txBody>
      </p:sp>
      <p:sp>
        <p:nvSpPr>
          <p:cNvPr id="34" name="Slide Number Placeholder 0">
            <a:extLst xmlns:a="http://schemas.openxmlformats.org/drawingml/2006/main">
              <a:ext uri="{FF2B5EF4-FFF2-40B4-BE49-F238E27FC236}">
                <a16:creationId xmlns:a16="http://schemas.microsoft.com/office/drawing/2014/main" id="{6C01A6A4-BC2F-46B2-9954-4EDF6DCA0B49}"/>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lnSpc>
                <a:spcPct val="100000"/>
              </a:lnSpc>
              <a:buNone/>
            </a:pPr>
            <a:fld id="{F7021451-1387-4CA6-816F-3879F97B5CBC}" type="slidenum">
              <a:rPr b="0"/>
              <a:t>8</a:t>
            </a:fld>
            <a:endParaRPr/>
          </a:p>
        </p:txBody>
      </p:sp>
    </p:spTree>
    <p:extLst>
      <p:ext uri="{BB962C8B-B14F-4D97-AF65-F5344CB8AC3E}">
        <p14:creationId xmlns:p14="http://schemas.microsoft.com/office/powerpoint/2010/main" val="767803481"/>
      </p:ext>
    </p:extLst>
  </p:cSld>
</p:sld>
</file>

<file path=ppt/slides/slide9.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3f4eb8956f1e4b99"/>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2ADFA8B0-6E55-4A42-8C2F-2DBFE90EA6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7">
              <a:alpha val="76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193F26F6-8DFE-49EF-94E1-FBFAF65B4B47}"/>
              </a:ext>
            </a:extLst>
          </p:cNvPr>
          <p:cNvSpPr>
            <a:spLocks xmlns:a="http://schemas.openxmlformats.org/drawingml/2006/main" noGrp="1"/>
          </p:cNvSpPr>
          <p:nvPr/>
        </p:nvSpPr>
        <p:spPr>
          <a:xfrm xmlns:a="http://schemas.openxmlformats.org/drawingml/2006/main">
            <a:off x="0" y="0"/>
            <a:ext cx="740664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322625bbc1504495"/>
          <a:stretch xmlns:a="http://schemas.openxmlformats.org/drawingml/2006/main">
            <a:fillRect l="0" t="0" r="0" b="0"/>
          </a:stretch>
        </p:blipFill>
        <p:spPr>
          <a:xfrm xmlns:a="http://schemas.openxmlformats.org/drawingml/2006/main">
            <a:off x="700981" y="512064"/>
            <a:ext cx="1469254" cy="45720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2C50156D-F1F3-4C49-8FC0-B80D4AC2BC02}"/>
              </a:ext>
            </a:extLst>
          </p:cNvPr>
          <p:cNvSpPr>
            <a:spLocks xmlns:a="http://schemas.openxmlformats.org/drawingml/2006/main" noGrp="1"/>
          </p:cNvSpPr>
          <p:nvPr/>
        </p:nvSpPr>
        <p:spPr>
          <a:xfrm xmlns:a="http://schemas.openxmlformats.org/drawingml/2006/main">
            <a:off x="676656" y="1389888"/>
            <a:ext cx="3840480" cy="2468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40">
                <a:solidFill>
                  <a:srgbClr val="C6A9FF"/>
                </a:solidFill>
                <a:latin typeface="Inter"/>
                <a:ea typeface="Inter"/>
                <a:cs typeface="Inter"/>
              </a:rPr>
              <a:t>START SMALL. MEASURE REAL USAGE.</a:t>
            </a:r>
            <a:endParaRPr sz="950"/>
          </a:p>
        </p:txBody>
      </p:sp>
      <p:sp>
        <p:nvSpPr>
          <p:cNvPr id="7" name="Text 3">
            <a:extLst xmlns:a="http://schemas.openxmlformats.org/drawingml/2006/main">
              <a:ext uri="{FF2B5EF4-FFF2-40B4-BE49-F238E27FC236}">
                <a16:creationId xmlns:a16="http://schemas.microsoft.com/office/drawing/2014/main" id="{4E4AE4C1-15DD-46EE-9446-4D0F67055F89}"/>
              </a:ext>
            </a:extLst>
          </p:cNvPr>
          <p:cNvSpPr>
            <a:spLocks xmlns:a="http://schemas.openxmlformats.org/drawingml/2006/main" noGrp="1"/>
          </p:cNvSpPr>
          <p:nvPr/>
        </p:nvSpPr>
        <p:spPr>
          <a:xfrm xmlns:a="http://schemas.openxmlformats.org/drawingml/2006/main">
            <a:off x="658368" y="1783080"/>
            <a:ext cx="5349240" cy="193852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00" b="1">
                <a:solidFill>
                  <a:srgbClr val="F7F7FA"/>
                </a:solidFill>
                <a:latin typeface="Inter Display"/>
                <a:ea typeface="Inter Display"/>
                <a:cs typeface="Inter Display"/>
              </a:rPr>
              <a:t>Start with one club.</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Prove value.</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Scale what works.</a:t>
            </a:r>
            <a:endParaRPr sz="3100"/>
          </a:p>
        </p:txBody>
      </p:sp>
      <p:sp>
        <p:nvSpPr>
          <p:cNvPr id="8" name="Shape 4">
            <a:extLst xmlns:a="http://schemas.openxmlformats.org/drawingml/2006/main">
              <a:ext uri="{FF2B5EF4-FFF2-40B4-BE49-F238E27FC236}">
                <a16:creationId xmlns:a16="http://schemas.microsoft.com/office/drawing/2014/main" id="{D141079D-3F7D-4A2C-AF12-EEAE864EFA35}"/>
              </a:ext>
            </a:extLst>
          </p:cNvPr>
          <p:cNvSpPr>
            <a:spLocks xmlns:a="http://schemas.openxmlformats.org/drawingml/2006/main" noGrp="1"/>
          </p:cNvSpPr>
          <p:nvPr/>
        </p:nvSpPr>
        <p:spPr>
          <a:xfrm xmlns:a="http://schemas.openxmlformats.org/drawingml/2006/main">
            <a:off x="685800" y="4041648"/>
            <a:ext cx="1627632" cy="310896"/>
          </a:xfrm>
          <a:prstGeom xmlns:a="http://schemas.openxmlformats.org/drawingml/2006/main" prst="roundRect">
            <a:avLst>
              <a:gd name="adj" fmla="val 29412"/>
            </a:avLst>
          </a:prstGeom>
          <a:solidFill xmlns:a="http://schemas.openxmlformats.org/drawingml/2006/main">
            <a:srgbClr val="171120"/>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9" name="Text 5">
            <a:extLst xmlns:a="http://schemas.openxmlformats.org/drawingml/2006/main">
              <a:ext uri="{FF2B5EF4-FFF2-40B4-BE49-F238E27FC236}">
                <a16:creationId xmlns:a16="http://schemas.microsoft.com/office/drawing/2014/main" id="{6A43DCF8-4E49-4C3C-AC32-B959445AF05D}"/>
              </a:ext>
            </a:extLst>
          </p:cNvPr>
          <p:cNvSpPr>
            <a:spLocks xmlns:a="http://schemas.openxmlformats.org/drawingml/2006/main" noGrp="1"/>
          </p:cNvSpPr>
          <p:nvPr/>
        </p:nvSpPr>
        <p:spPr>
          <a:xfrm xmlns:a="http://schemas.openxmlformats.org/drawingml/2006/main">
            <a:off x="795528" y="4096512"/>
            <a:ext cx="1408176"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1 PILOT LOCATION</a:t>
            </a:r>
            <a:endParaRPr sz="840"/>
          </a:p>
        </p:txBody>
      </p:sp>
      <p:sp>
        <p:nvSpPr>
          <p:cNvPr id="10" name="Shape 6">
            <a:extLst xmlns:a="http://schemas.openxmlformats.org/drawingml/2006/main">
              <a:ext uri="{FF2B5EF4-FFF2-40B4-BE49-F238E27FC236}">
                <a16:creationId xmlns:a16="http://schemas.microsoft.com/office/drawing/2014/main" id="{6598DE82-48D6-4B11-BE74-618A571D5E63}"/>
              </a:ext>
            </a:extLst>
          </p:cNvPr>
          <p:cNvSpPr>
            <a:spLocks xmlns:a="http://schemas.openxmlformats.org/drawingml/2006/main" noGrp="1"/>
          </p:cNvSpPr>
          <p:nvPr/>
        </p:nvSpPr>
        <p:spPr>
          <a:xfrm xmlns:a="http://schemas.openxmlformats.org/drawingml/2006/main">
            <a:off x="2441448" y="4041648"/>
            <a:ext cx="1389888" cy="310896"/>
          </a:xfrm>
          <a:prstGeom xmlns:a="http://schemas.openxmlformats.org/drawingml/2006/main" prst="roundRect">
            <a:avLst>
              <a:gd name="adj" fmla="val 29412"/>
            </a:avLst>
          </a:prstGeom>
          <a:solidFill xmlns:a="http://schemas.openxmlformats.org/drawingml/2006/main">
            <a:srgbClr val="101915"/>
          </a:solidFill>
          <a:ln xmlns:a="http://schemas.openxmlformats.org/drawingml/2006/main" w="8890">
            <a:solidFill>
              <a:srgbClr val="24584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7">
            <a:extLst xmlns:a="http://schemas.openxmlformats.org/drawingml/2006/main">
              <a:ext uri="{FF2B5EF4-FFF2-40B4-BE49-F238E27FC236}">
                <a16:creationId xmlns:a16="http://schemas.microsoft.com/office/drawing/2014/main" id="{8D6151BB-E283-429E-AB61-0493E7BC7C9E}"/>
              </a:ext>
            </a:extLst>
          </p:cNvPr>
          <p:cNvSpPr>
            <a:spLocks xmlns:a="http://schemas.openxmlformats.org/drawingml/2006/main" noGrp="1"/>
          </p:cNvSpPr>
          <p:nvPr/>
        </p:nvSpPr>
        <p:spPr>
          <a:xfrm xmlns:a="http://schemas.openxmlformats.org/drawingml/2006/main">
            <a:off x="2551176" y="4096512"/>
            <a:ext cx="117043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BDF1DD"/>
                </a:solidFill>
                <a:latin typeface="Inter"/>
                <a:ea typeface="Inter"/>
                <a:cs typeface="Inter"/>
              </a:rPr>
              <a:t>30 LIVE DAYS</a:t>
            </a:r>
            <a:endParaRPr sz="840"/>
          </a:p>
        </p:txBody>
      </p:sp>
      <p:sp>
        <p:nvSpPr>
          <p:cNvPr id="12" name="Text 8">
            <a:extLst xmlns:a="http://schemas.openxmlformats.org/drawingml/2006/main">
              <a:ext uri="{FF2B5EF4-FFF2-40B4-BE49-F238E27FC236}">
                <a16:creationId xmlns:a16="http://schemas.microsoft.com/office/drawing/2014/main" id="{72D506F2-73E9-4A7A-83A0-435B4B4DDBDE}"/>
              </a:ext>
            </a:extLst>
          </p:cNvPr>
          <p:cNvSpPr>
            <a:spLocks xmlns:a="http://schemas.openxmlformats.org/drawingml/2006/main" noGrp="1"/>
          </p:cNvSpPr>
          <p:nvPr/>
        </p:nvSpPr>
        <p:spPr>
          <a:xfrm xmlns:a="http://schemas.openxmlformats.org/drawingml/2006/main">
            <a:off x="704088" y="4626864"/>
            <a:ext cx="5065776" cy="80467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D0CDD5"/>
                </a:solidFill>
                <a:latin typeface="Inter"/>
                <a:ea typeface="Inter"/>
                <a:cs typeface="Inter"/>
              </a:rPr>
              <a:t>MyDancr handles venue setup, onboarding, training and launch support. The club names a marketing + operations lead and agrees the scorecard before launch.</a:t>
            </a:r>
            <a:endParaRPr sz="1120"/>
          </a:p>
        </p:txBody>
      </p:sp>
      <p:sp>
        <p:nvSpPr>
          <p:cNvPr id="13" name="Text 9">
            <a:extLst xmlns:a="http://schemas.openxmlformats.org/drawingml/2006/main">
              <a:ext uri="{FF2B5EF4-FFF2-40B4-BE49-F238E27FC236}">
                <a16:creationId xmlns:a16="http://schemas.microsoft.com/office/drawing/2014/main" id="{29788888-3336-4E86-8E6A-7C7F0E39D8C0}"/>
              </a:ext>
            </a:extLst>
          </p:cNvPr>
          <p:cNvSpPr>
            <a:spLocks xmlns:a="http://schemas.openxmlformats.org/drawingml/2006/main" noGrp="1"/>
          </p:cNvSpPr>
          <p:nvPr/>
        </p:nvSpPr>
        <p:spPr>
          <a:xfrm xmlns:a="http://schemas.openxmlformats.org/drawingml/2006/main">
            <a:off x="713232" y="5623560"/>
            <a:ext cx="6400800"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defRPr sz="1060" b="1">
                <a:solidFill>
                  <a:srgbClr val="A7A2B2"/>
                </a:solidFill>
              </a:defRPr>
            </a:pPr>
            <a:r>
              <a:t>01  Select location     02  Agree scope + offer     03  Set KPIs</a:t>
            </a:r>
            <a:br/>
            <a:r>
              <a:t>04  Launch     05  Review at day 30</a:t>
            </a:r>
            <a:endParaRPr sz="870"/>
          </a:p>
        </p:txBody>
      </p:sp>
      <p:sp>
        <p:nvSpPr>
          <p:cNvPr id="14" name="Text 10">
            <a:extLst xmlns:a="http://schemas.openxmlformats.org/drawingml/2006/main">
              <a:ext uri="{FF2B5EF4-FFF2-40B4-BE49-F238E27FC236}">
                <a16:creationId xmlns:a16="http://schemas.microsoft.com/office/drawing/2014/main" id="{6AC36051-C635-4D49-B574-2F0F705CACEF}"/>
              </a:ext>
            </a:extLst>
          </p:cNvPr>
          <p:cNvSpPr>
            <a:spLocks xmlns:a="http://schemas.openxmlformats.org/drawingml/2006/main" noGrp="1"/>
          </p:cNvSpPr>
          <p:nvPr/>
        </p:nvSpPr>
        <p:spPr>
          <a:xfrm xmlns:a="http://schemas.openxmlformats.org/drawingml/2006/main">
            <a:off x="7059168" y="5413248"/>
            <a:ext cx="4187952"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r">
              <a:lnSpc>
                <a:spcPct val="100000"/>
              </a:lnSpc>
              <a:buNone/>
            </a:pPr>
            <a:r>
              <a:rPr sz="1700" b="1">
                <a:solidFill>
                  <a:srgbClr val="F7F7FA"/>
                </a:solidFill>
                <a:latin typeface="Inter Display"/>
                <a:ea typeface="Inter Display"/>
                <a:cs typeface="Inter Display"/>
              </a:rPr>
              <a:t>A contained pilot creates the club-specific evidence needed for a wider rollout decision.</a:t>
            </a:r>
            <a:endParaRPr sz="1620"/>
          </a:p>
        </p:txBody>
      </p:sp>
    </p:spTree>
    <p:extLst>
      <p:ext uri="{BB962C8B-B14F-4D97-AF65-F5344CB8AC3E}">
        <p14:creationId xmlns:p14="http://schemas.microsoft.com/office/powerpoint/2010/main" val="33800259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2026-10-02T17:58:40.4020000Z</dcterms:created>
  <dcterms:modified xsi:type="dcterms:W3CDTF">2026-10-02T17:58:40.4020000Z</dcterms:modified>
</coreProperties>
</file>