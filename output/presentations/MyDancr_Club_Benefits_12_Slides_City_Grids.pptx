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CityGrids.xml" ContentType="application/vnd.openxmlformats-officedocument.presentationml.notesSlide+xml"/>
</Types>
</file>

<file path=_rels/.rels><?xml version='1.0' encoding='UTF-8' standalone='yes'?>
<Relationships xmlns="http://schemas.openxmlformats.org/package/2006/relationships"><Relationship Id="R59946d1759fd411f" Type="http://schemas.openxmlformats.org/package/2006/relationships/metadata/core-properties" Target="docProps/core.xml"/><Relationship Id="R7128ded82e22453b" Type="http://schemas.openxmlformats.org/officeDocument/2006/relationships/officeDocument" Target="ppt/presentation.xml"/><Relationship Id="Rd61b34b351e54b25"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36da0b6b488741a0"/>
  </p:sldMasterIdLst>
  <p:notesMasterIdLst>
    <p:notesMasterId xmlns:r="http://schemas.openxmlformats.org/officeDocument/2006/relationships" r:id="Rad727489196e4258"/>
  </p:notesMasterIdLst>
  <p:sldIdLst>
    <p:sldId xmlns:r="http://schemas.openxmlformats.org/officeDocument/2006/relationships" id="256" r:id="R7faabd0e690540bf"/>
    <p:sldId xmlns:r="http://schemas.openxmlformats.org/officeDocument/2006/relationships" id="257" r:id="R90bf5fa0226945af"/>
    <p:sldId xmlns:r="http://schemas.openxmlformats.org/officeDocument/2006/relationships" id="258" r:id="Re841b335581b4bda"/>
    <p:sldId xmlns:r="http://schemas.openxmlformats.org/officeDocument/2006/relationships" id="259" r:id="R354200d9b30143b0"/>
    <p:sldId xmlns:r="http://schemas.openxmlformats.org/officeDocument/2006/relationships" id="260" r:id="R70119db306174de5"/>
    <p:sldId xmlns:r="http://schemas.openxmlformats.org/officeDocument/2006/relationships" id="261" r:id="R827d31f0109149d3"/>
    <p:sldId xmlns:r="http://schemas.openxmlformats.org/officeDocument/2006/relationships" id="262" r:id="Rd6149ba8610640d0"/>
    <p:sldId xmlns:ns0="http://schemas.openxmlformats.org/officeDocument/2006/relationships" id="266" ns0:id="rId17"/>
    <p:sldId xmlns:ns0="http://schemas.openxmlformats.org/officeDocument/2006/relationships" id="267" ns0:id="rId18"/>
    <p:sldId xmlns:r="http://schemas.openxmlformats.org/officeDocument/2006/relationships" id="263" r:id="Rd87189a2aeb54e7d"/>
    <p:sldId xmlns:ns0="http://schemas.openxmlformats.org/officeDocument/2006/relationships" id="265" ns0:id="rId16"/>
    <p:sldId xmlns:r="http://schemas.openxmlformats.org/officeDocument/2006/relationships" id="264" r:id="Rbc29d60a217e43d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354200d9b30143b0" Type="http://schemas.openxmlformats.org/officeDocument/2006/relationships/slide" Target="slides/slide4.xml"/><Relationship Id="R36da0b6b488741a0" Type="http://schemas.openxmlformats.org/officeDocument/2006/relationships/slideMaster" Target="slideMasters/slideMaster1.xml"/><Relationship Id="R5c8f4010357447c6" Type="http://schemas.openxmlformats.org/officeDocument/2006/relationships/theme" Target="theme/theme1.xml"/><Relationship Id="R69101cf151904a91" Type="http://schemas.openxmlformats.org/officeDocument/2006/relationships/presProps" Target="presProps.xml"/><Relationship Id="R70119db306174de5" Type="http://schemas.openxmlformats.org/officeDocument/2006/relationships/slide" Target="slides/slide5.xml"/><Relationship Id="R7faabd0e690540bf" Type="http://schemas.openxmlformats.org/officeDocument/2006/relationships/slide" Target="slides/slide1.xml"/><Relationship Id="R827d31f0109149d3" Type="http://schemas.openxmlformats.org/officeDocument/2006/relationships/slide" Target="slides/slide6.xml"/><Relationship Id="R88cade7586904dc2" Type="http://schemas.openxmlformats.org/officeDocument/2006/relationships/tableStyles" Target="tableStyles.xml"/><Relationship Id="R90bf5fa0226945af" Type="http://schemas.openxmlformats.org/officeDocument/2006/relationships/slide" Target="slides/slide2.xml"/><Relationship Id="Rad727489196e4258" Type="http://schemas.openxmlformats.org/officeDocument/2006/relationships/notesMaster" Target="notesMasters/notesMaster1.xml"/><Relationship Id="Rbc29d60a217e43d2" Type="http://schemas.openxmlformats.org/officeDocument/2006/relationships/slide" Target="slides/slide10.xml"/><Relationship Id="Rd6149ba8610640d0" Type="http://schemas.openxmlformats.org/officeDocument/2006/relationships/slide" Target="slides/slide7.xml"/><Relationship Id="Rd87189a2aeb54e7d" Type="http://schemas.openxmlformats.org/officeDocument/2006/relationships/slide" Target="slides/slide8.xml"/><Relationship Id="Re466a250bf314ce7" Type="http://schemas.openxmlformats.org/officeDocument/2006/relationships/viewProps" Target="viewProps.xml"/><Relationship Id="Re841b335581b4bda" Type="http://schemas.openxmlformats.org/officeDocument/2006/relationships/slide" Target="slides/slide3.xml"/><Relationship Id="rId16" Type="http://schemas.openxmlformats.org/officeDocument/2006/relationships/slide" Target="slides/slide9.xml"/><Relationship Id="rId17" Type="http://schemas.openxmlformats.org/officeDocument/2006/relationships/slide" Target="slides/slide11.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ad7220b9212c4618"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1810f1ccb5df42fc" Type="http://schemas.openxmlformats.org/officeDocument/2006/relationships/slide" Target="../slides/slide1.xml"/><Relationship Id="R2559f253423541ce"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8a3ae54d1e564fdb" Type="http://schemas.openxmlformats.org/officeDocument/2006/relationships/slide" Target="../slides/slide2.xml"/><Relationship Id="Rbb9e193aa00f491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037bfe5e7bf94a2e" Type="http://schemas.openxmlformats.org/officeDocument/2006/relationships/slide" Target="../slides/slide3.xml"/><Relationship Id="R35fda358113948f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1cb458f2ca6a4097" Type="http://schemas.openxmlformats.org/officeDocument/2006/relationships/notesMaster" Target="../notesMasters/notesMaster1.xml"/><Relationship Id="R85732f9f99354eec"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724f1760b5204ce2" Type="http://schemas.openxmlformats.org/officeDocument/2006/relationships/slide" Target="../slides/slide5.xml"/><Relationship Id="Ra18f5c513f7149cc"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363114f8adfb4625" Type="http://schemas.openxmlformats.org/officeDocument/2006/relationships/slide" Target="../slides/slide6.xml"/><Relationship Id="R933e313611b74575"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74ede033d8114098" Type="http://schemas.openxmlformats.org/officeDocument/2006/relationships/notesMaster" Target="../notesMasters/notesMaster1.xml"/><Relationship Id="Rf0b34d5d954b4ec4"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26efe9e870794098" Type="http://schemas.openxmlformats.org/officeDocument/2006/relationships/slide" Target="../slides/slide8.xml"/><Relationship Id="R5b88af1bdb8440a4"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409ba112019540b9" Type="http://schemas.openxmlformats.org/officeDocument/2006/relationships/notesMaster" Target="../notesMasters/notesMaster1.xml"/><Relationship Id="R5bfd0586360540f0" Type="http://schemas.openxmlformats.org/officeDocument/2006/relationships/slide" Target="../slides/slide10.xml"/></Relationships>
</file>

<file path=ppt/notesSlides/_rels/notesSlideCityGrids.xml.rels><?xml version='1.0' encoding='UTF-8' standalone='yes'?>
<Relationships xmlns="http://schemas.openxmlformats.org/package/2006/relationships"><Relationship Id="R037bfe5e7bf94a2e" Type="http://schemas.openxmlformats.org/officeDocument/2006/relationships/slide" Target="../slides/slide9.xml"/><Relationship Id="R35fda358113948f1"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MyDancr TV screenshot source: https://www.mydancr.com/?city=Las+Vegas&amp;view=tv, captured October 2, 2026. This is the actual demo interface with fictional profiles and activity.</a:t>
            </a:r>
            <a:endParaRPr/>
          </a:p>
          <a:p xmlns:a="http://schemas.openxmlformats.org/drawingml/2006/main">
            <a:r>
              <a:t/>
            </a:r>
            <a:endParaRPr/>
          </a:p>
          <a:p xmlns:a="http://schemas.openxmlformats.org/drawingml/2006/main">
            <a:r>
              <a:t>Feature basis: the existing MyDancr TV interface supports shareable video links and venue links. Existing reporting attributes eligible TV activity. Viral reach, new traffic, club exposure and subsequent visits are potential outcomes, not measured results or guarantees.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CityGrids.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Visual sources: MyDancr external demo screenshots from tmp/aesthetic-review/home-mobile.png and tmp/working-now-discovery-production.png, plus the external venue Working Now screenshot supplied on slide 3 of the source deck. Each screenshot is cropped to its actual dancer grid. Las Vegas, Dallas and Los Angeles are illustrative city headings, not assertions about current live rosters. All pictured profiles and venue activity are demo content.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0466a01ff5d7442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21da4a6fa18c4a5d"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DARK">
    <p:bg>
      <p:bgPr>
        <a:solidFill xmlns:a="http://schemas.openxmlformats.org/drawingml/2006/main">
          <a:srgbClr val="07070A"/>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F7100B2-6F01-49A7-A702-67DFEA012D9A}"/>
              </a:ext>
            </a:extLst>
          </p:cNvPr>
          <p:cNvSpPr>
            <a:spLocks xmlns:a="http://schemas.openxmlformats.org/drawingml/2006/main" noGrp="1"/>
          </p:cNvSpPr>
          <p:nvPr/>
        </p:nvSpPr>
        <p:spPr>
          <a:xfrm xmlns:a="http://schemas.openxmlformats.org/drawingml/2006/main">
            <a:off x="0" y="0"/>
            <a:ext cx="12191695" cy="41148"/>
          </a:xfrm>
          <a:prstGeom xmlns:a="http://schemas.openxmlformats.org/drawingml/2006/main" prst="rect">
            <a:avLst/>
          </a:prstGeom>
          <a:solidFill xmlns:a="http://schemas.openxmlformats.org/drawingml/2006/main">
            <a:srgbClr val="7C3AED"/>
          </a:solidFill>
          <a:ln xmlns:a="http://schemas.openxmlformats.org/drawingml/2006/main" w="12700">
            <a:solidFill>
              <a:srgbClr val="7C3AED"/>
            </a:solidFill>
            <a:prstDash val="solid"/>
          </a:ln>
        </p:spPr>
      </p:sp>
      <p:sp>
        <p:nvSpPr>
          <p:cNvPr id="3" name="Text 1">
            <a:extLst xmlns:a="http://schemas.openxmlformats.org/drawingml/2006/main">
              <a:ext uri="{FF2B5EF4-FFF2-40B4-BE49-F238E27FC236}">
                <a16:creationId xmlns:a16="http://schemas.microsoft.com/office/drawing/2014/main" id="{E05F6A1A-E374-402F-8F28-F52BB64D2DC0}"/>
              </a:ext>
            </a:extLst>
          </p:cNvPr>
          <p:cNvSpPr>
            <a:spLocks xmlns:a="http://schemas.openxmlformats.org/drawingml/2006/main" noGrp="1"/>
          </p:cNvSpPr>
          <p:nvPr/>
        </p:nvSpPr>
        <p:spPr>
          <a:xfrm xmlns:a="http://schemas.openxmlformats.org/drawingml/2006/main">
            <a:off x="512064" y="201168"/>
            <a:ext cx="12801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spc="210">
                <a:solidFill>
                  <a:srgbClr val="8E8B98"/>
                </a:solidFill>
                <a:latin typeface="Inter"/>
                <a:ea typeface="Inter"/>
                <a:cs typeface="Inter"/>
              </a:rPr>
              <a:t>MYDANCR</a:t>
            </a:r>
            <a:endParaRPr sz="850"/>
          </a:p>
        </p:txBody>
      </p:sp>
      <p:sp>
        <p:nvSpPr>
          <p:cNvPr id="25" name="Slide Number Placeholder 0">
            <a:extLst xmlns:a="http://schemas.openxmlformats.org/drawingml/2006/main">
              <a:ext uri="{FF2B5EF4-FFF2-40B4-BE49-F238E27FC236}">
                <a16:creationId xmlns:a16="http://schemas.microsoft.com/office/drawing/2014/main" id="{83358AE0-FC4E-43A9-90BC-3DED4ABE5F75}"/>
              </a:ext>
            </a:extLst>
          </p:cNvPr>
          <p:cNvSpPr>
            <a:spLocks xmlns:a="http://schemas.openxmlformats.org/drawingml/2006/main" noGrp="1"/>
          </p:cNvSpPr>
          <p:nvPr>
            <p:ph type="sldNum" idx="4294967295"/>
          </p:nvPr>
        </p:nvSpPr>
        <p:spPr>
          <a:xfrm xmlns:a="http://schemas.openxmlformats.org/drawingml/2006/main">
            <a:off x="11155680" y="164592"/>
            <a:ext cx="502920" cy="228600"/>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850">
                <a:solidFill>
                  <a:srgbClr val="686572"/>
                </a:solidFill>
                <a:latin typeface="Inter"/>
                <a:ea typeface="Inter"/>
                <a:cs typeface="Inter"/>
              </a:defRPr>
            </a:lvl1pPr>
          </a:lstStyle>
          <a:p xmlns:a="http://schemas.openxmlformats.org/drawingml/2006/main">
            <a:pPr algn="r">
              <a:buNone/>
            </a:pPr>
            <a:fld id="{F7021451-1387-4CA6-816F-3879F97B5CBC}" type="slidenum">
              <a:rPr b="0"/>
              <a:t>1002</a:t>
            </a:fld>
            <a:endParaRPr/>
          </a:p>
        </p:txBody>
      </p:sp>
    </p:spTree>
  </p:cSld>
</p:sldLayout>
</file>

<file path=ppt/slideMasters/_rels/slideMaster1.xml.rels><?xml version='1.0' encoding='UTF-8' standalone='yes'?>
<Relationships xmlns="http://schemas.openxmlformats.org/package/2006/relationships"><Relationship Id="R362e3954255f4cbb" Type="http://schemas.openxmlformats.org/officeDocument/2006/relationships/slideLayout" Target="../slideLayouts/slideLayout1.xml"/><Relationship Id="R55c49a4763b743c3" Type="http://schemas.openxmlformats.org/officeDocument/2006/relationships/slideLayout" Target="../slideLayouts/slideLayout2.xml"/><Relationship Id="R582c5239c03c4bee" Type="http://schemas.openxmlformats.org/officeDocument/2006/relationships/theme" Target="theme/theme2.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CF0732C6-0608-4550-AC45-243D4F2F31A0}"/>
              </a:ext>
            </a:extLst>
          </p:cNvPr>
          <p:cNvSpPr>
            <a:spLocks xmlns:a="http://schemas.openxmlformats.org/drawingml/2006/main" noGrp="1"/>
          </p:cNvSpPr>
          <p:nvPr>
            <p:ph type="sldNum" idx="4294967295"/>
          </p:nvPr>
        </p:nvSpPr>
        <p:spPr>
          <a:xfrm xmlns:a="http://schemas.openxmlformats.org/drawingml/2006/main">
            <a:off x="11155680" y="164592"/>
            <a:ext cx="502920" cy="228600"/>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850">
                <a:solidFill>
                  <a:srgbClr val="686572"/>
                </a:solidFill>
                <a:latin typeface="Inter"/>
                <a:ea typeface="Inter"/>
                <a:cs typeface="Inter"/>
              </a:defRPr>
            </a:lvl1pPr>
          </a:lstStyle>
          <a:p xmlns:a="http://schemas.openxmlformats.org/drawingml/2006/main">
            <a:pPr algn="r">
              <a:buNone/>
            </a:pPr>
            <a:fld id="{F7021451-1387-4CA6-816F-3879F97B5CBC}" type="slidenum">
              <a:rPr b="0"/>
              <a:t>null</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2e3954255f4cbb"/>
    <p:sldLayoutId xmlns:r="http://schemas.openxmlformats.org/officeDocument/2006/relationships" id="2147483650" r:id="R55c49a4763b743c3"/>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4b1466a37eab4dd7" Type="http://schemas.openxmlformats.org/officeDocument/2006/relationships/notesSlide" Target="../notesSlides/notesSlide1.xml"/><Relationship Id="R78d230cd87da4255" Type="http://schemas.openxmlformats.org/officeDocument/2006/relationships/slideLayout" Target="../slideLayouts/slideLayout1.xml"/><Relationship Id="R9c38a342798e40bb" Type="http://schemas.openxmlformats.org/officeDocument/2006/relationships/image" Target="../media/image2.png"/><Relationship Id="Rdd390005f13843f4" Type="http://schemas.openxmlformats.org/officeDocument/2006/relationships/image" Target="../media/image.png"/></Relationships>
</file>

<file path=ppt/slides/_rels/slide2.xml.rels><?xml version='1.0' encoding='UTF-8' standalone='yes'?>
<Relationships xmlns="http://schemas.openxmlformats.org/package/2006/relationships"><Relationship Id="R531ff1fc748549db" Type="http://schemas.openxmlformats.org/officeDocument/2006/relationships/notesSlide" Target="../notesSlides/notesSlide2.xml"/><Relationship Id="R6471bbc73b134f5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158ac0e877354f46" Type="http://schemas.openxmlformats.org/officeDocument/2006/relationships/image" Target="../media/image.jpeg"/><Relationship Id="R25b207150a0d493d" Type="http://schemas.openxmlformats.org/officeDocument/2006/relationships/slideLayout" Target="../slideLayouts/slideLayout2.xml"/><Relationship Id="R2f6b56bd9e534505" Type="http://schemas.openxmlformats.org/officeDocument/2006/relationships/image" Target="../media/image2.jpeg"/><Relationship Id="R4e18061a0ccd46b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9006aaac017c4636" Type="http://schemas.openxmlformats.org/officeDocument/2006/relationships/slideLayout" Target="../slideLayouts/slideLayout2.xml"/><Relationship Id="Rb6e04e3159454c5b" Type="http://schemas.openxmlformats.org/officeDocument/2006/relationships/image" Target="../media/image3.jpeg"/><Relationship Id="Rc35cae97d61d4f4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7ba7603a63154aca" Type="http://schemas.openxmlformats.org/officeDocument/2006/relationships/slideLayout" Target="../slideLayouts/slideLayout2.xml"/><Relationship Id="Raf70860ad81b447f" Type="http://schemas.openxmlformats.org/officeDocument/2006/relationships/notesSlide" Target="../notesSlides/notesSlide5.xml"/><Relationship Id="Rf8a17a7503c34e1d" Type="http://schemas.openxmlformats.org/officeDocument/2006/relationships/image" Target="../media/image3.png"/></Relationships>
</file>

<file path=ppt/slides/_rels/slide6.xml.rels><?xml version='1.0' encoding='UTF-8' standalone='yes'?>
<Relationships xmlns="http://schemas.openxmlformats.org/package/2006/relationships"><Relationship Id="R6206e24333234dcd" Type="http://schemas.openxmlformats.org/officeDocument/2006/relationships/slideLayout" Target="../slideLayouts/slideLayout2.xml"/><Relationship Id="Rdfa53ab475c94ea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3838f8f783364f63" Type="http://schemas.openxmlformats.org/officeDocument/2006/relationships/slideLayout" Target="../slideLayouts/slideLayout2.xml"/><Relationship Id="R73eb3d85475046a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072dc3bd70f64c67" Type="http://schemas.openxmlformats.org/officeDocument/2006/relationships/notesSlide" Target="../notesSlides/notesSlide8.xml"/><Relationship Id="R80d9ef9fcc744040"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CityGrid2" Type="http://schemas.openxmlformats.org/officeDocument/2006/relationships/image" Target="../media/iframe-city-grid-2.png"/><Relationship Id="rIdCityGrid4" Type="http://schemas.openxmlformats.org/officeDocument/2006/relationships/image" Target="../media/iframe-city-grid-4.png"/><Relationship Id="rIdCityGrid6" Type="http://schemas.openxmlformats.org/officeDocument/2006/relationships/image" Target="../media/iframe-city-grid-6.jpeg"/><Relationship Id="rIdCityGridNotes" Type="http://schemas.openxmlformats.org/officeDocument/2006/relationships/notesSlide" Target="../notesSlides/notesSlideCityGrids.xml"/></Relationships>
</file>

<file path=ppt/slides/_rels/slide10.xml.rels><?xml version='1.0' encoding='UTF-8' standalone='yes'?>
<Relationships xmlns="http://schemas.openxmlformats.org/package/2006/relationships"><Relationship Id="R322625bbc1504495" Type="http://schemas.openxmlformats.org/officeDocument/2006/relationships/image" Target="../media/image5.png"/><Relationship Id="R3f4eb8956f1e4b99" Type="http://schemas.openxmlformats.org/officeDocument/2006/relationships/image" Target="../media/image4.png"/><Relationship Id="R79d94d8288304533" Type="http://schemas.openxmlformats.org/officeDocument/2006/relationships/slideLayout" Target="../slideLayouts/slideLayout1.xml"/><Relationship Id="R8251b3853bff47b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p="http://schemas.openxmlformats.org/presentationml/2006/main">
  <p:cSld>
    <p:bg>
      <p:bgPr>
        <a:solidFill xmlns:a="http://schemas.openxmlformats.org/drawingml/2006/main">
          <a:srgbClr val="07070A"/>
        </a:solidFill>
      </p:bgPr>
    </p:bg>
    <p:spTree>
      <p:nvGrpSpPr>
        <p:cNvPr id="1" name=""/>
        <p:cNvGrpSpPr/>
        <p:nvPr/>
      </p:nvGrpSpPr>
      <p:grpSpPr>
        <a:xfrm xmlns:a="http://schemas.openxmlformats.org/drawingml/2006/main"/>
      </p:grpSpPr>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dd390005f13843f4"/>
          <a:srcRect xmlns:a="http://schemas.openxmlformats.org/drawingml/2006/main" l="0" t="25" r="0" b="25"/>
          <a:stretch xmlns:a="http://schemas.openxmlformats.org/drawingml/2006/main"/>
        </p:blipFill>
        <p:spPr>
          <a:xfrm xmlns:a="http://schemas.openxmlformats.org/drawingml/2006/main">
            <a:off x="0" y="0"/>
            <a:ext cx="12191695" cy="6858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608091D1-3B8C-4CD2-9954-F187D06D1060}"/>
              </a:ext>
            </a:extLst>
          </p:cNvPr>
          <p:cNvSpPr>
            <a:spLocks xmlns:a="http://schemas.openxmlformats.org/drawingml/2006/main" noGrp="1"/>
          </p:cNvSpPr>
          <p:nvPr/>
        </p:nvSpPr>
        <p:spPr>
          <a:xfrm xmlns:a="http://schemas.openxmlformats.org/drawingml/2006/main">
            <a:off x="0" y="0"/>
            <a:ext cx="6629400" cy="6858000"/>
          </a:xfrm>
          <a:prstGeom xmlns:a="http://schemas.openxmlformats.org/drawingml/2006/main" prst="rect">
            <a:avLst/>
          </a:prstGeom>
          <a:solidFill xmlns:a="http://schemas.openxmlformats.org/drawingml/2006/main">
            <a:srgbClr val="050507">
              <a:alpha val="94000"/>
            </a:srgbClr>
          </a:solidFill>
          <a:ln xmlns:a="http://schemas.openxmlformats.org/drawingml/2006/main" w="12700">
            <a:solidFill>
              <a:srgbClr val="050507">
                <a:alpha val="0"/>
              </a:srgbClr>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4" name="Shape 1">
            <a:extLst xmlns:a="http://schemas.openxmlformats.org/drawingml/2006/main">
              <a:ext uri="{FF2B5EF4-FFF2-40B4-BE49-F238E27FC236}">
                <a16:creationId xmlns:a16="http://schemas.microsoft.com/office/drawing/2014/main" id="{E31D546E-D110-4FA2-AF5D-2EA0ED7365A4}"/>
              </a:ext>
            </a:extLst>
          </p:cNvPr>
          <p:cNvSpPr>
            <a:spLocks xmlns:a="http://schemas.openxmlformats.org/drawingml/2006/main" noGrp="1"/>
          </p:cNvSpPr>
          <p:nvPr/>
        </p:nvSpPr>
        <p:spPr>
          <a:xfrm xmlns:a="http://schemas.openxmlformats.org/drawingml/2006/main">
            <a:off x="0" y="0"/>
            <a:ext cx="8229600" cy="6858000"/>
          </a:xfrm>
          <a:prstGeom xmlns:a="http://schemas.openxmlformats.org/drawingml/2006/main" prst="rect">
            <a:avLst/>
          </a:prstGeom>
          <a:solidFill xmlns:a="http://schemas.openxmlformats.org/drawingml/2006/main">
            <a:srgbClr val="050507">
              <a:alpha val="52000"/>
            </a:srgbClr>
          </a:solidFill>
          <a:ln xmlns:a="http://schemas.openxmlformats.org/drawingml/2006/main" w="12700">
            <a:solidFill>
              <a:srgbClr val="050507">
                <a:alpha val="0"/>
              </a:srgbClr>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pic>
        <p:nvPicPr>
          <p:cNvPr id="23" name="Image 1"/>
          <p:cNvPicPr>
            <a:picLocks xmlns:a="http://schemas.openxmlformats.org/drawingml/2006/main" noChangeAspect="1"/>
          </p:cNvPicPr>
          <p:nvPr/>
        </p:nvPicPr>
        <p:blipFill>
          <a:blip xmlns:r="http://schemas.openxmlformats.org/officeDocument/2006/relationships" xmlns:a="http://schemas.openxmlformats.org/drawingml/2006/main" r:embed="R9c38a342798e40bb"/>
          <a:stretch xmlns:a="http://schemas.openxmlformats.org/drawingml/2006/main">
            <a:fillRect l="0" t="0" r="0" b="0"/>
          </a:stretch>
        </p:blipFill>
        <p:spPr>
          <a:xfrm xmlns:a="http://schemas.openxmlformats.org/drawingml/2006/main">
            <a:off x="714075" y="603504"/>
            <a:ext cx="1763105" cy="548640"/>
          </a:xfrm>
          <a:prstGeom xmlns:a="http://schemas.openxmlformats.org/drawingml/2006/main" prst="rect">
            <a:avLst/>
          </a:prstGeom>
        </p:spPr>
      </p:pic>
      <p:sp>
        <p:nvSpPr>
          <p:cNvPr id="6" name="Text 2">
            <a:extLst xmlns:a="http://schemas.openxmlformats.org/drawingml/2006/main">
              <a:ext uri="{FF2B5EF4-FFF2-40B4-BE49-F238E27FC236}">
                <a16:creationId xmlns:a16="http://schemas.microsoft.com/office/drawing/2014/main" id="{35CD6E35-7D9F-4457-B5EE-7198407BCAAD}"/>
              </a:ext>
            </a:extLst>
          </p:cNvPr>
          <p:cNvSpPr>
            <a:spLocks xmlns:a="http://schemas.openxmlformats.org/drawingml/2006/main" noGrp="1"/>
          </p:cNvSpPr>
          <p:nvPr/>
        </p:nvSpPr>
        <p:spPr>
          <a:xfrm xmlns:a="http://schemas.openxmlformats.org/drawingml/2006/main">
            <a:off x="676656" y="1435608"/>
            <a:ext cx="2926080" cy="25603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b="1" spc="190">
                <a:solidFill>
                  <a:srgbClr val="C6A9FF"/>
                </a:solidFill>
                <a:latin typeface="Inter"/>
                <a:ea typeface="Inter"/>
                <a:cs typeface="Inter"/>
              </a:rPr>
              <a:t>FOR YOUR CLUB GROUP</a:t>
            </a:r>
            <a:endParaRPr sz="1000"/>
          </a:p>
        </p:txBody>
      </p:sp>
      <p:sp>
        <p:nvSpPr>
          <p:cNvPr id="7" name="Text 3">
            <a:extLst xmlns:a="http://schemas.openxmlformats.org/drawingml/2006/main">
              <a:ext uri="{FF2B5EF4-FFF2-40B4-BE49-F238E27FC236}">
                <a16:creationId xmlns:a16="http://schemas.microsoft.com/office/drawing/2014/main" id="{515E2D1F-20AE-42CB-A136-4196E405DCA8}"/>
              </a:ext>
            </a:extLst>
          </p:cNvPr>
          <p:cNvSpPr>
            <a:spLocks xmlns:a="http://schemas.openxmlformats.org/drawingml/2006/main" noGrp="1"/>
          </p:cNvSpPr>
          <p:nvPr/>
        </p:nvSpPr>
        <p:spPr>
          <a:xfrm xmlns:a="http://schemas.openxmlformats.org/drawingml/2006/main">
            <a:off x="658368" y="1828800"/>
            <a:ext cx="5303520" cy="142646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3250" b="1">
                <a:solidFill>
                  <a:srgbClr val="F7F7FA"/>
                </a:solidFill>
                <a:latin typeface="Inter Display"/>
                <a:ea typeface="Inter Display"/>
                <a:cs typeface="Inter Display"/>
              </a:rPr>
              <a:t>Turn guest interest</a:t>
            </a:r>
            <a:endParaRPr sz="3150"/>
          </a:p>
          <a:p xmlns:a="http://schemas.openxmlformats.org/drawingml/2006/main">
            <a:pPr marL="0" indent="0">
              <a:lnSpc>
                <a:spcPct val="100000"/>
              </a:lnSpc>
              <a:buNone/>
            </a:pPr>
            <a:r>
              <a:rPr sz="3250" b="1">
                <a:solidFill>
                  <a:srgbClr val="F7F7FA"/>
                </a:solidFill>
                <a:latin typeface="Inter Display"/>
                <a:ea typeface="Inter Display"/>
                <a:cs typeface="Inter Display"/>
              </a:rPr>
              <a:t>into measurable action.</a:t>
            </a:r>
            <a:endParaRPr sz="3150"/>
          </a:p>
        </p:txBody>
      </p:sp>
      <p:sp>
        <p:nvSpPr>
          <p:cNvPr id="8" name="Text 4">
            <a:extLst xmlns:a="http://schemas.openxmlformats.org/drawingml/2006/main">
              <a:ext uri="{FF2B5EF4-FFF2-40B4-BE49-F238E27FC236}">
                <a16:creationId xmlns:a16="http://schemas.microsoft.com/office/drawing/2014/main" id="{856756D1-1A53-4D99-938B-2322EB2E184A}"/>
              </a:ext>
            </a:extLst>
          </p:cNvPr>
          <p:cNvSpPr>
            <a:spLocks xmlns:a="http://schemas.openxmlformats.org/drawingml/2006/main" noGrp="1"/>
          </p:cNvSpPr>
          <p:nvPr/>
        </p:nvSpPr>
        <p:spPr>
          <a:xfrm xmlns:a="http://schemas.openxmlformats.org/drawingml/2006/main">
            <a:off x="694944" y="3456432"/>
            <a:ext cx="4526280" cy="82296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550">
                <a:solidFill>
                  <a:srgbClr val="D0CDD5"/>
                </a:solidFill>
                <a:latin typeface="Inter"/>
                <a:ea typeface="Inter"/>
                <a:cs typeface="Inter"/>
              </a:rPr>
              <a:t>A connected discovery and in-club experience designed around the venue — before, during and between visits.</a:t>
            </a:r>
            <a:endParaRPr sz="1320"/>
          </a:p>
        </p:txBody>
      </p:sp>
      <p:sp>
        <p:nvSpPr>
          <p:cNvPr id="9" name="Shape 5">
            <a:extLst xmlns:a="http://schemas.openxmlformats.org/drawingml/2006/main">
              <a:ext uri="{FF2B5EF4-FFF2-40B4-BE49-F238E27FC236}">
                <a16:creationId xmlns:a16="http://schemas.microsoft.com/office/drawing/2014/main" id="{1D50AC9C-DDC6-4F5B-8AEA-51D74D15916B}"/>
              </a:ext>
            </a:extLst>
          </p:cNvPr>
          <p:cNvSpPr>
            <a:spLocks xmlns:a="http://schemas.openxmlformats.org/drawingml/2006/main" noGrp="1"/>
          </p:cNvSpPr>
          <p:nvPr/>
        </p:nvSpPr>
        <p:spPr>
          <a:xfrm xmlns:a="http://schemas.openxmlformats.org/drawingml/2006/main">
            <a:off x="694944" y="4663440"/>
            <a:ext cx="1143000" cy="310896"/>
          </a:xfrm>
          <a:prstGeom xmlns:a="http://schemas.openxmlformats.org/drawingml/2006/main" prst="roundRect">
            <a:avLst>
              <a:gd name="adj" fmla="val 29412"/>
            </a:avLst>
          </a:prstGeom>
          <a:solidFill xmlns:a="http://schemas.openxmlformats.org/drawingml/2006/main">
            <a:srgbClr val="17131F"/>
          </a:solidFill>
          <a:ln xmlns:a="http://schemas.openxmlformats.org/drawingml/2006/main" w="8890">
            <a:solidFill>
              <a:srgbClr val="3B2C5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0" name="Text 6">
            <a:extLst xmlns:a="http://schemas.openxmlformats.org/drawingml/2006/main">
              <a:ext uri="{FF2B5EF4-FFF2-40B4-BE49-F238E27FC236}">
                <a16:creationId xmlns:a16="http://schemas.microsoft.com/office/drawing/2014/main" id="{FB0F1E82-8459-49B4-9608-E73D49987A8D}"/>
              </a:ext>
            </a:extLst>
          </p:cNvPr>
          <p:cNvSpPr>
            <a:spLocks xmlns:a="http://schemas.openxmlformats.org/drawingml/2006/main" noGrp="1"/>
          </p:cNvSpPr>
          <p:nvPr/>
        </p:nvSpPr>
        <p:spPr>
          <a:xfrm xmlns:a="http://schemas.openxmlformats.org/drawingml/2006/main">
            <a:off x="804672" y="4718304"/>
            <a:ext cx="923544" cy="1828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b="1">
                <a:solidFill>
                  <a:srgbClr val="D7C7FF"/>
                </a:solidFill>
                <a:latin typeface="Inter"/>
                <a:ea typeface="Inter"/>
                <a:cs typeface="Inter"/>
              </a:rPr>
              <a:t>DISCOVERY</a:t>
            </a:r>
            <a:endParaRPr sz="840"/>
          </a:p>
        </p:txBody>
      </p:sp>
      <p:sp>
        <p:nvSpPr>
          <p:cNvPr id="11" name="Shape 7">
            <a:extLst xmlns:a="http://schemas.openxmlformats.org/drawingml/2006/main">
              <a:ext uri="{FF2B5EF4-FFF2-40B4-BE49-F238E27FC236}">
                <a16:creationId xmlns:a16="http://schemas.microsoft.com/office/drawing/2014/main" id="{3A1F610D-95AB-48ED-9844-B3CB831F270F}"/>
              </a:ext>
            </a:extLst>
          </p:cNvPr>
          <p:cNvSpPr>
            <a:spLocks xmlns:a="http://schemas.openxmlformats.org/drawingml/2006/main" noGrp="1"/>
          </p:cNvSpPr>
          <p:nvPr/>
        </p:nvSpPr>
        <p:spPr>
          <a:xfrm xmlns:a="http://schemas.openxmlformats.org/drawingml/2006/main">
            <a:off x="1920240" y="4663440"/>
            <a:ext cx="1207008" cy="310896"/>
          </a:xfrm>
          <a:prstGeom xmlns:a="http://schemas.openxmlformats.org/drawingml/2006/main" prst="roundRect">
            <a:avLst>
              <a:gd name="adj" fmla="val 29412"/>
            </a:avLst>
          </a:prstGeom>
          <a:solidFill xmlns:a="http://schemas.openxmlformats.org/drawingml/2006/main">
            <a:srgbClr val="17131F"/>
          </a:solidFill>
          <a:ln xmlns:a="http://schemas.openxmlformats.org/drawingml/2006/main" w="8890">
            <a:solidFill>
              <a:srgbClr val="3B2C5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2" name="Text 8">
            <a:extLst xmlns:a="http://schemas.openxmlformats.org/drawingml/2006/main">
              <a:ext uri="{FF2B5EF4-FFF2-40B4-BE49-F238E27FC236}">
                <a16:creationId xmlns:a16="http://schemas.microsoft.com/office/drawing/2014/main" id="{21FE268A-E7A3-4EF9-A4F8-3378E5B19A06}"/>
              </a:ext>
            </a:extLst>
          </p:cNvPr>
          <p:cNvSpPr>
            <a:spLocks xmlns:a="http://schemas.openxmlformats.org/drawingml/2006/main" noGrp="1"/>
          </p:cNvSpPr>
          <p:nvPr/>
        </p:nvSpPr>
        <p:spPr>
          <a:xfrm xmlns:a="http://schemas.openxmlformats.org/drawingml/2006/main">
            <a:off x="2029968" y="4718304"/>
            <a:ext cx="987552" cy="1828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b="1">
                <a:solidFill>
                  <a:srgbClr val="D7C7FF"/>
                </a:solidFill>
                <a:latin typeface="Inter"/>
                <a:ea typeface="Inter"/>
                <a:cs typeface="Inter"/>
              </a:rPr>
              <a:t>CONVERSION</a:t>
            </a:r>
            <a:endParaRPr sz="840"/>
          </a:p>
        </p:txBody>
      </p:sp>
      <p:sp>
        <p:nvSpPr>
          <p:cNvPr id="13" name="Shape 9">
            <a:extLst xmlns:a="http://schemas.openxmlformats.org/drawingml/2006/main">
              <a:ext uri="{FF2B5EF4-FFF2-40B4-BE49-F238E27FC236}">
                <a16:creationId xmlns:a16="http://schemas.microsoft.com/office/drawing/2014/main" id="{A6B1BF05-E488-44CF-A931-44B04F310A58}"/>
              </a:ext>
            </a:extLst>
          </p:cNvPr>
          <p:cNvSpPr>
            <a:spLocks xmlns:a="http://schemas.openxmlformats.org/drawingml/2006/main" noGrp="1"/>
          </p:cNvSpPr>
          <p:nvPr/>
        </p:nvSpPr>
        <p:spPr>
          <a:xfrm xmlns:a="http://schemas.openxmlformats.org/drawingml/2006/main">
            <a:off x="3200400" y="4663440"/>
            <a:ext cx="1024128" cy="310896"/>
          </a:xfrm>
          <a:prstGeom xmlns:a="http://schemas.openxmlformats.org/drawingml/2006/main" prst="roundRect">
            <a:avLst>
              <a:gd name="adj" fmla="val 29412"/>
            </a:avLst>
          </a:prstGeom>
          <a:solidFill xmlns:a="http://schemas.openxmlformats.org/drawingml/2006/main">
            <a:srgbClr val="17131F"/>
          </a:solidFill>
          <a:ln xmlns:a="http://schemas.openxmlformats.org/drawingml/2006/main" w="8890">
            <a:solidFill>
              <a:srgbClr val="3B2C5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4" name="Text 10">
            <a:extLst xmlns:a="http://schemas.openxmlformats.org/drawingml/2006/main">
              <a:ext uri="{FF2B5EF4-FFF2-40B4-BE49-F238E27FC236}">
                <a16:creationId xmlns:a16="http://schemas.microsoft.com/office/drawing/2014/main" id="{3F5C8C9F-663C-482C-AA34-8378BD6CB8B3}"/>
              </a:ext>
            </a:extLst>
          </p:cNvPr>
          <p:cNvSpPr>
            <a:spLocks xmlns:a="http://schemas.openxmlformats.org/drawingml/2006/main" noGrp="1"/>
          </p:cNvSpPr>
          <p:nvPr/>
        </p:nvSpPr>
        <p:spPr>
          <a:xfrm xmlns:a="http://schemas.openxmlformats.org/drawingml/2006/main">
            <a:off x="3310128" y="4718304"/>
            <a:ext cx="804672" cy="1828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b="1">
                <a:solidFill>
                  <a:srgbClr val="D7C7FF"/>
                </a:solidFill>
                <a:latin typeface="Inter"/>
                <a:ea typeface="Inter"/>
                <a:cs typeface="Inter"/>
              </a:rPr>
              <a:t>IN-CLUB</a:t>
            </a:r>
            <a:endParaRPr sz="840"/>
          </a:p>
        </p:txBody>
      </p:sp>
      <p:sp>
        <p:nvSpPr>
          <p:cNvPr id="15" name="Shape 11">
            <a:extLst xmlns:a="http://schemas.openxmlformats.org/drawingml/2006/main">
              <a:ext uri="{FF2B5EF4-FFF2-40B4-BE49-F238E27FC236}">
                <a16:creationId xmlns:a16="http://schemas.microsoft.com/office/drawing/2014/main" id="{18F9888D-3C00-420D-A575-8EE5D5C0441C}"/>
              </a:ext>
            </a:extLst>
          </p:cNvPr>
          <p:cNvSpPr>
            <a:spLocks xmlns:a="http://schemas.openxmlformats.org/drawingml/2006/main" noGrp="1"/>
          </p:cNvSpPr>
          <p:nvPr/>
        </p:nvSpPr>
        <p:spPr>
          <a:xfrm xmlns:a="http://schemas.openxmlformats.org/drawingml/2006/main">
            <a:off x="4297680" y="4663440"/>
            <a:ext cx="1335024" cy="310896"/>
          </a:xfrm>
          <a:prstGeom xmlns:a="http://schemas.openxmlformats.org/drawingml/2006/main" prst="roundRect">
            <a:avLst>
              <a:gd name="adj" fmla="val 29412"/>
            </a:avLst>
          </a:prstGeom>
          <a:solidFill xmlns:a="http://schemas.openxmlformats.org/drawingml/2006/main">
            <a:srgbClr val="17131F"/>
          </a:solidFill>
          <a:ln xmlns:a="http://schemas.openxmlformats.org/drawingml/2006/main" w="8890">
            <a:solidFill>
              <a:srgbClr val="3B2C5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6" name="Text 12">
            <a:extLst xmlns:a="http://schemas.openxmlformats.org/drawingml/2006/main">
              <a:ext uri="{FF2B5EF4-FFF2-40B4-BE49-F238E27FC236}">
                <a16:creationId xmlns:a16="http://schemas.microsoft.com/office/drawing/2014/main" id="{26C15A0F-645A-4EFA-9B67-D14637975D9E}"/>
              </a:ext>
            </a:extLst>
          </p:cNvPr>
          <p:cNvSpPr>
            <a:spLocks xmlns:a="http://schemas.openxmlformats.org/drawingml/2006/main" noGrp="1"/>
          </p:cNvSpPr>
          <p:nvPr/>
        </p:nvSpPr>
        <p:spPr>
          <a:xfrm xmlns:a="http://schemas.openxmlformats.org/drawingml/2006/main">
            <a:off x="4407408" y="4718304"/>
            <a:ext cx="1115568" cy="1828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b="1">
                <a:solidFill>
                  <a:srgbClr val="D7C7FF"/>
                </a:solidFill>
                <a:latin typeface="Inter"/>
                <a:ea typeface="Inter"/>
                <a:cs typeface="Inter"/>
              </a:rPr>
              <a:t>MEASUREMENT</a:t>
            </a:r>
            <a:endParaRPr sz="840"/>
          </a:p>
        </p:txBody>
      </p:sp>
      <p:sp>
        <p:nvSpPr>
          <p:cNvPr id="17" name="Text 13">
            <a:extLst xmlns:a="http://schemas.openxmlformats.org/drawingml/2006/main">
              <a:ext uri="{FF2B5EF4-FFF2-40B4-BE49-F238E27FC236}">
                <a16:creationId xmlns:a16="http://schemas.microsoft.com/office/drawing/2014/main" id="{A1F9F8B1-5DC8-4904-89D2-E8BEB896F900}"/>
              </a:ext>
            </a:extLst>
          </p:cNvPr>
          <p:cNvSpPr>
            <a:spLocks xmlns:a="http://schemas.openxmlformats.org/drawingml/2006/main" noGrp="1"/>
          </p:cNvSpPr>
          <p:nvPr/>
        </p:nvSpPr>
        <p:spPr>
          <a:xfrm xmlns:a="http://schemas.openxmlformats.org/drawingml/2006/main">
            <a:off x="694944" y="6089904"/>
            <a:ext cx="4526280" cy="25603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a:solidFill>
                  <a:srgbClr val="9A96A1"/>
                </a:solidFill>
                <a:latin typeface="Inter"/>
                <a:ea typeface="Inter"/>
                <a:cs typeface="Inter"/>
              </a:rPr>
              <a:t>Marketing partnership + one-location pilot proposal</a:t>
            </a:r>
            <a:endParaRPr sz="940"/>
          </a:p>
        </p:txBody>
      </p:sp>
    </p:spTree>
    <p:extLst>
      <p:ext uri="{BB962C8B-B14F-4D97-AF65-F5344CB8AC3E}">
        <p14:creationId xmlns:p14="http://schemas.microsoft.com/office/powerpoint/2010/main" val="77906953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1D5B874-B0F0-4A76-AB6A-C34B1DF2A7B0}"/>
              </a:ext>
            </a:extLst>
          </p:cNvPr>
          <p:cNvSpPr>
            <a:spLocks xmlns:a="http://schemas.openxmlformats.org/drawingml/2006/main" noGrp="1"/>
          </p:cNvSpPr>
          <p:nvPr/>
        </p:nvSpPr>
        <p:spPr>
          <a:xfrm xmlns:a="http://schemas.openxmlformats.org/drawingml/2006/main">
            <a:off x="566928" y="576072"/>
            <a:ext cx="2377440"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b="1" spc="160">
                <a:solidFill>
                  <a:srgbClr val="A855F7"/>
                </a:solidFill>
                <a:latin typeface="Inter"/>
                <a:ea typeface="Inter"/>
                <a:cs typeface="Inter"/>
              </a:rPr>
              <a:t>THE VALUE</a:t>
            </a:r>
            <a:endParaRPr sz="950"/>
          </a:p>
        </p:txBody>
      </p:sp>
      <p:sp>
        <p:nvSpPr>
          <p:cNvPr id="3" name="Text 1">
            <a:extLst xmlns:a="http://schemas.openxmlformats.org/drawingml/2006/main">
              <a:ext uri="{FF2B5EF4-FFF2-40B4-BE49-F238E27FC236}">
                <a16:creationId xmlns:a16="http://schemas.microsoft.com/office/drawing/2014/main" id="{0511F944-F2F7-4077-88D7-9D5792279E61}"/>
              </a:ext>
            </a:extLst>
          </p:cNvPr>
          <p:cNvSpPr>
            <a:spLocks xmlns:a="http://schemas.openxmlformats.org/drawingml/2006/main" noGrp="1"/>
          </p:cNvSpPr>
          <p:nvPr/>
        </p:nvSpPr>
        <p:spPr>
          <a:xfrm xmlns:a="http://schemas.openxmlformats.org/drawingml/2006/main">
            <a:off x="566928" y="850392"/>
            <a:ext cx="10744200" cy="6400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3000" b="1">
                <a:solidFill>
                  <a:srgbClr val="F7F7FA"/>
                </a:solidFill>
                <a:latin typeface="Inter Display"/>
                <a:ea typeface="Inter Display"/>
                <a:cs typeface="Inter Display"/>
              </a:rPr>
              <a:t>One connected guest journey. Five clear benefits.</a:t>
            </a:r>
            <a:endParaRPr sz="2800"/>
          </a:p>
        </p:txBody>
      </p:sp>
      <p:sp>
        <p:nvSpPr>
          <p:cNvPr id="4" name="Text 2">
            <a:extLst xmlns:a="http://schemas.openxmlformats.org/drawingml/2006/main">
              <a:ext uri="{FF2B5EF4-FFF2-40B4-BE49-F238E27FC236}">
                <a16:creationId xmlns:a16="http://schemas.microsoft.com/office/drawing/2014/main" id="{3CE8B1A4-9C83-4A32-AE5B-92B060A07F15}"/>
              </a:ext>
            </a:extLst>
          </p:cNvPr>
          <p:cNvSpPr>
            <a:spLocks xmlns:a="http://schemas.openxmlformats.org/drawingml/2006/main" noGrp="1"/>
          </p:cNvSpPr>
          <p:nvPr/>
        </p:nvSpPr>
        <p:spPr>
          <a:xfrm xmlns:a="http://schemas.openxmlformats.org/drawingml/2006/main">
            <a:off x="566928" y="1517904"/>
            <a:ext cx="10561320" cy="49377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a:solidFill>
                  <a:srgbClr val="A09CAA"/>
                </a:solidFill>
                <a:latin typeface="Inter"/>
                <a:ea typeface="Inter"/>
                <a:cs typeface="Inter"/>
              </a:rPr>
              <a:t>MyDancr connects discovery, action, in-club engagement and measurable follow-through in one venue-centered experience.</a:t>
            </a:r>
            <a:endParaRPr sz="1220"/>
          </a:p>
        </p:txBody>
      </p:sp>
      <p:sp>
        <p:nvSpPr>
          <p:cNvPr id="5" name="Shape 3">
            <a:extLst xmlns:a="http://schemas.openxmlformats.org/drawingml/2006/main">
              <a:ext uri="{FF2B5EF4-FFF2-40B4-BE49-F238E27FC236}">
                <a16:creationId xmlns:a16="http://schemas.microsoft.com/office/drawing/2014/main" id="{58D53EF3-3367-44DE-B33E-6B220E499418}"/>
              </a:ext>
            </a:extLst>
          </p:cNvPr>
          <p:cNvSpPr>
            <a:spLocks xmlns:a="http://schemas.openxmlformats.org/drawingml/2006/main" noGrp="1"/>
          </p:cNvSpPr>
          <p:nvPr/>
        </p:nvSpPr>
        <p:spPr>
          <a:xfrm xmlns:a="http://schemas.openxmlformats.org/drawingml/2006/main">
            <a:off x="566928" y="2331720"/>
            <a:ext cx="2157984" cy="3182112"/>
          </a:xfrm>
          <a:prstGeom xmlns:a="http://schemas.openxmlformats.org/drawingml/2006/main" prst="roundRect">
            <a:avLst>
              <a:gd name="adj" fmla="val 3390"/>
            </a:avLst>
          </a:prstGeom>
          <a:solidFill xmlns:a="http://schemas.openxmlformats.org/drawingml/2006/main">
            <a:srgbClr val="0E0E13"/>
          </a:solidFill>
          <a:ln xmlns:a="http://schemas.openxmlformats.org/drawingml/2006/main" w="10160">
            <a:solidFill>
              <a:srgbClr val="282530"/>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6" name="Text 4">
            <a:extLst xmlns:a="http://schemas.openxmlformats.org/drawingml/2006/main">
              <a:ext uri="{FF2B5EF4-FFF2-40B4-BE49-F238E27FC236}">
                <a16:creationId xmlns:a16="http://schemas.microsoft.com/office/drawing/2014/main" id="{998CD3E5-7737-4FFA-B910-1097EBBB7B9F}"/>
              </a:ext>
            </a:extLst>
          </p:cNvPr>
          <p:cNvSpPr>
            <a:spLocks xmlns:a="http://schemas.openxmlformats.org/drawingml/2006/main" noGrp="1"/>
          </p:cNvSpPr>
          <p:nvPr/>
        </p:nvSpPr>
        <p:spPr>
          <a:xfrm xmlns:a="http://schemas.openxmlformats.org/drawingml/2006/main">
            <a:off x="731520" y="2542032"/>
            <a:ext cx="566928" cy="38404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700" b="1">
                <a:solidFill>
                  <a:srgbClr val="A855F7"/>
                </a:solidFill>
                <a:latin typeface="Inter Display"/>
                <a:ea typeface="Inter Display"/>
                <a:cs typeface="Inter Display"/>
              </a:rPr>
              <a:t>01</a:t>
            </a:r>
            <a:endParaRPr sz="1500"/>
          </a:p>
        </p:txBody>
      </p:sp>
      <p:sp>
        <p:nvSpPr>
          <p:cNvPr id="7" name="Text 5">
            <a:extLst xmlns:a="http://schemas.openxmlformats.org/drawingml/2006/main">
              <a:ext uri="{FF2B5EF4-FFF2-40B4-BE49-F238E27FC236}">
                <a16:creationId xmlns:a16="http://schemas.microsoft.com/office/drawing/2014/main" id="{AF2299A5-DCBA-4BD7-90F6-93891A6C4BC7}"/>
              </a:ext>
            </a:extLst>
          </p:cNvPr>
          <p:cNvSpPr>
            <a:spLocks xmlns:a="http://schemas.openxmlformats.org/drawingml/2006/main" noGrp="1"/>
          </p:cNvSpPr>
          <p:nvPr/>
        </p:nvSpPr>
        <p:spPr>
          <a:xfrm xmlns:a="http://schemas.openxmlformats.org/drawingml/2006/main">
            <a:off x="731520" y="3145536"/>
            <a:ext cx="1810512" cy="47548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DISCOVERABILITY</a:t>
            </a:r>
            <a:endParaRPr sz="1020"/>
          </a:p>
        </p:txBody>
      </p:sp>
      <p:sp>
        <p:nvSpPr>
          <p:cNvPr id="8" name="Text 6">
            <a:extLst xmlns:a="http://schemas.openxmlformats.org/drawingml/2006/main">
              <a:ext uri="{FF2B5EF4-FFF2-40B4-BE49-F238E27FC236}">
                <a16:creationId xmlns:a16="http://schemas.microsoft.com/office/drawing/2014/main" id="{9DDBD24B-53BE-4314-AC39-FDC1E0B728EB}"/>
              </a:ext>
            </a:extLst>
          </p:cNvPr>
          <p:cNvSpPr>
            <a:spLocks xmlns:a="http://schemas.openxmlformats.org/drawingml/2006/main" noGrp="1"/>
          </p:cNvSpPr>
          <p:nvPr/>
        </p:nvSpPr>
        <p:spPr>
          <a:xfrm xmlns:a="http://schemas.openxmlformats.org/drawingml/2006/main">
            <a:off x="731520" y="3813048"/>
            <a:ext cx="1792224" cy="11338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Current club + dancer activity gives guests more context when choosing where to go.</a:t>
            </a:r>
            <a:endParaRPr sz="910"/>
          </a:p>
        </p:txBody>
      </p:sp>
      <p:sp>
        <p:nvSpPr>
          <p:cNvPr id="9" name="Shape 7">
            <a:extLst xmlns:a="http://schemas.openxmlformats.org/drawingml/2006/main">
              <a:ext uri="{FF2B5EF4-FFF2-40B4-BE49-F238E27FC236}">
                <a16:creationId xmlns:a16="http://schemas.microsoft.com/office/drawing/2014/main" id="{CBCD2E69-0815-420C-9BCE-A5B1C3CF09ED}"/>
              </a:ext>
            </a:extLst>
          </p:cNvPr>
          <p:cNvSpPr>
            <a:spLocks xmlns:a="http://schemas.openxmlformats.org/drawingml/2006/main" noGrp="1"/>
          </p:cNvSpPr>
          <p:nvPr/>
        </p:nvSpPr>
        <p:spPr>
          <a:xfrm xmlns:a="http://schemas.openxmlformats.org/drawingml/2006/main">
            <a:off x="731520" y="5138928"/>
            <a:ext cx="621792" cy="0"/>
          </a:xfrm>
          <a:prstGeom xmlns:a="http://schemas.openxmlformats.org/drawingml/2006/main" prst="line">
            <a:avLst/>
          </a:prstGeom>
          <a:noFill xmlns:a="http://schemas.openxmlformats.org/drawingml/2006/main"/>
          <a:ln xmlns:a="http://schemas.openxmlformats.org/drawingml/2006/main" w="27940">
            <a:solidFill>
              <a:srgbClr val="4A4452"/>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0" name="Shape 8">
            <a:extLst xmlns:a="http://schemas.openxmlformats.org/drawingml/2006/main">
              <a:ext uri="{FF2B5EF4-FFF2-40B4-BE49-F238E27FC236}">
                <a16:creationId xmlns:a16="http://schemas.microsoft.com/office/drawing/2014/main" id="{B3773C3C-5C01-4D88-BC63-AC1E2470B271}"/>
              </a:ext>
            </a:extLst>
          </p:cNvPr>
          <p:cNvSpPr>
            <a:spLocks xmlns:a="http://schemas.openxmlformats.org/drawingml/2006/main" noGrp="1"/>
          </p:cNvSpPr>
          <p:nvPr/>
        </p:nvSpPr>
        <p:spPr>
          <a:xfrm xmlns:a="http://schemas.openxmlformats.org/drawingml/2006/main">
            <a:off x="2825496" y="2331720"/>
            <a:ext cx="2157984" cy="3182112"/>
          </a:xfrm>
          <a:prstGeom xmlns:a="http://schemas.openxmlformats.org/drawingml/2006/main" prst="roundRect">
            <a:avLst>
              <a:gd name="adj" fmla="val 3390"/>
            </a:avLst>
          </a:prstGeom>
          <a:solidFill xmlns:a="http://schemas.openxmlformats.org/drawingml/2006/main">
            <a:srgbClr val="0E0E13"/>
          </a:solidFill>
          <a:ln xmlns:a="http://schemas.openxmlformats.org/drawingml/2006/main" w="10160">
            <a:solidFill>
              <a:srgbClr val="282530"/>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1" name="Text 9">
            <a:extLst xmlns:a="http://schemas.openxmlformats.org/drawingml/2006/main">
              <a:ext uri="{FF2B5EF4-FFF2-40B4-BE49-F238E27FC236}">
                <a16:creationId xmlns:a16="http://schemas.microsoft.com/office/drawing/2014/main" id="{29EE3CAE-9AFE-49E5-A314-146C831A3EF1}"/>
              </a:ext>
            </a:extLst>
          </p:cNvPr>
          <p:cNvSpPr>
            <a:spLocks xmlns:a="http://schemas.openxmlformats.org/drawingml/2006/main" noGrp="1"/>
          </p:cNvSpPr>
          <p:nvPr/>
        </p:nvSpPr>
        <p:spPr>
          <a:xfrm xmlns:a="http://schemas.openxmlformats.org/drawingml/2006/main">
            <a:off x="2990088" y="2542032"/>
            <a:ext cx="566928" cy="38404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700" b="1">
                <a:solidFill>
                  <a:srgbClr val="A855F7"/>
                </a:solidFill>
                <a:latin typeface="Inter Display"/>
                <a:ea typeface="Inter Display"/>
                <a:cs typeface="Inter Display"/>
              </a:rPr>
              <a:t>02</a:t>
            </a:r>
            <a:endParaRPr sz="1500"/>
          </a:p>
        </p:txBody>
      </p:sp>
      <p:sp>
        <p:nvSpPr>
          <p:cNvPr id="12" name="Text 10">
            <a:extLst xmlns:a="http://schemas.openxmlformats.org/drawingml/2006/main">
              <a:ext uri="{FF2B5EF4-FFF2-40B4-BE49-F238E27FC236}">
                <a16:creationId xmlns:a16="http://schemas.microsoft.com/office/drawing/2014/main" id="{138F59B9-07EA-4553-931C-A99B6D6095E3}"/>
              </a:ext>
            </a:extLst>
          </p:cNvPr>
          <p:cNvSpPr>
            <a:spLocks xmlns:a="http://schemas.openxmlformats.org/drawingml/2006/main" noGrp="1"/>
          </p:cNvSpPr>
          <p:nvPr/>
        </p:nvSpPr>
        <p:spPr>
          <a:xfrm xmlns:a="http://schemas.openxmlformats.org/drawingml/2006/main">
            <a:off x="2990088" y="3145536"/>
            <a:ext cx="1810512" cy="47548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CONVERSION</a:t>
            </a:r>
            <a:endParaRPr sz="1020"/>
          </a:p>
        </p:txBody>
      </p:sp>
      <p:sp>
        <p:nvSpPr>
          <p:cNvPr id="13" name="Text 11">
            <a:extLst xmlns:a="http://schemas.openxmlformats.org/drawingml/2006/main">
              <a:ext uri="{FF2B5EF4-FFF2-40B4-BE49-F238E27FC236}">
                <a16:creationId xmlns:a16="http://schemas.microsoft.com/office/drawing/2014/main" id="{7A345100-B7C9-409E-8250-628745A9F036}"/>
              </a:ext>
            </a:extLst>
          </p:cNvPr>
          <p:cNvSpPr>
            <a:spLocks xmlns:a="http://schemas.openxmlformats.org/drawingml/2006/main" noGrp="1"/>
          </p:cNvSpPr>
          <p:nvPr/>
        </p:nvSpPr>
        <p:spPr>
          <a:xfrm xmlns:a="http://schemas.openxmlformats.org/drawingml/2006/main">
            <a:off x="2990088" y="3813048"/>
            <a:ext cx="1792224" cy="11338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Directions, venue offers and pickup requests give interest a clear next step.</a:t>
            </a:r>
            <a:endParaRPr sz="910"/>
          </a:p>
        </p:txBody>
      </p:sp>
      <p:sp>
        <p:nvSpPr>
          <p:cNvPr id="14" name="Shape 12">
            <a:extLst xmlns:a="http://schemas.openxmlformats.org/drawingml/2006/main">
              <a:ext uri="{FF2B5EF4-FFF2-40B4-BE49-F238E27FC236}">
                <a16:creationId xmlns:a16="http://schemas.microsoft.com/office/drawing/2014/main" id="{0F94B794-0083-4863-AB02-5E4A06E80535}"/>
              </a:ext>
            </a:extLst>
          </p:cNvPr>
          <p:cNvSpPr>
            <a:spLocks xmlns:a="http://schemas.openxmlformats.org/drawingml/2006/main" noGrp="1"/>
          </p:cNvSpPr>
          <p:nvPr/>
        </p:nvSpPr>
        <p:spPr>
          <a:xfrm xmlns:a="http://schemas.openxmlformats.org/drawingml/2006/main">
            <a:off x="2990088" y="5138928"/>
            <a:ext cx="621792" cy="0"/>
          </a:xfrm>
          <a:prstGeom xmlns:a="http://schemas.openxmlformats.org/drawingml/2006/main" prst="line">
            <a:avLst/>
          </a:prstGeom>
          <a:noFill xmlns:a="http://schemas.openxmlformats.org/drawingml/2006/main"/>
          <a:ln xmlns:a="http://schemas.openxmlformats.org/drawingml/2006/main" w="27940">
            <a:solidFill>
              <a:srgbClr val="4A4452"/>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5" name="Shape 13">
            <a:extLst xmlns:a="http://schemas.openxmlformats.org/drawingml/2006/main">
              <a:ext uri="{FF2B5EF4-FFF2-40B4-BE49-F238E27FC236}">
                <a16:creationId xmlns:a16="http://schemas.microsoft.com/office/drawing/2014/main" id="{E0FBD769-8686-4014-8C40-2FA4487CC72C}"/>
              </a:ext>
            </a:extLst>
          </p:cNvPr>
          <p:cNvSpPr>
            <a:spLocks xmlns:a="http://schemas.openxmlformats.org/drawingml/2006/main" noGrp="1"/>
          </p:cNvSpPr>
          <p:nvPr/>
        </p:nvSpPr>
        <p:spPr>
          <a:xfrm xmlns:a="http://schemas.openxmlformats.org/drawingml/2006/main">
            <a:off x="5084064" y="2331720"/>
            <a:ext cx="2157984" cy="3182112"/>
          </a:xfrm>
          <a:prstGeom xmlns:a="http://schemas.openxmlformats.org/drawingml/2006/main" prst="roundRect">
            <a:avLst>
              <a:gd name="adj" fmla="val 3390"/>
            </a:avLst>
          </a:prstGeom>
          <a:solidFill xmlns:a="http://schemas.openxmlformats.org/drawingml/2006/main">
            <a:srgbClr val="11101A"/>
          </a:solidFill>
          <a:ln xmlns:a="http://schemas.openxmlformats.org/drawingml/2006/main" w="10160">
            <a:solidFill>
              <a:srgbClr val="4B2B7C"/>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6" name="Text 14">
            <a:extLst xmlns:a="http://schemas.openxmlformats.org/drawingml/2006/main">
              <a:ext uri="{FF2B5EF4-FFF2-40B4-BE49-F238E27FC236}">
                <a16:creationId xmlns:a16="http://schemas.microsoft.com/office/drawing/2014/main" id="{989943D8-5C46-44CF-A0BA-C050B0D0DA02}"/>
              </a:ext>
            </a:extLst>
          </p:cNvPr>
          <p:cNvSpPr>
            <a:spLocks xmlns:a="http://schemas.openxmlformats.org/drawingml/2006/main" noGrp="1"/>
          </p:cNvSpPr>
          <p:nvPr/>
        </p:nvSpPr>
        <p:spPr>
          <a:xfrm xmlns:a="http://schemas.openxmlformats.org/drawingml/2006/main">
            <a:off x="5248656" y="2542032"/>
            <a:ext cx="566928" cy="38404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700" b="1">
                <a:solidFill>
                  <a:srgbClr val="C8A7FF"/>
                </a:solidFill>
                <a:latin typeface="Inter Display"/>
                <a:ea typeface="Inter Display"/>
                <a:cs typeface="Inter Display"/>
              </a:rPr>
              <a:t>03</a:t>
            </a:r>
            <a:endParaRPr sz="1500"/>
          </a:p>
        </p:txBody>
      </p:sp>
      <p:sp>
        <p:nvSpPr>
          <p:cNvPr id="17" name="Text 15">
            <a:extLst xmlns:a="http://schemas.openxmlformats.org/drawingml/2006/main">
              <a:ext uri="{FF2B5EF4-FFF2-40B4-BE49-F238E27FC236}">
                <a16:creationId xmlns:a16="http://schemas.microsoft.com/office/drawing/2014/main" id="{43384058-B68A-40EF-9D80-C2C850004225}"/>
              </a:ext>
            </a:extLst>
          </p:cNvPr>
          <p:cNvSpPr>
            <a:spLocks xmlns:a="http://schemas.openxmlformats.org/drawingml/2006/main" noGrp="1"/>
          </p:cNvSpPr>
          <p:nvPr/>
        </p:nvSpPr>
        <p:spPr>
          <a:xfrm xmlns:a="http://schemas.openxmlformats.org/drawingml/2006/main">
            <a:off x="5248656" y="3145536"/>
            <a:ext cx="1810512" cy="47548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IN-CLUB</a:t>
            </a:r>
            <a:endParaRPr sz="1020"/>
          </a:p>
        </p:txBody>
      </p:sp>
      <p:sp>
        <p:nvSpPr>
          <p:cNvPr id="18" name="Text 16">
            <a:extLst xmlns:a="http://schemas.openxmlformats.org/drawingml/2006/main">
              <a:ext uri="{FF2B5EF4-FFF2-40B4-BE49-F238E27FC236}">
                <a16:creationId xmlns:a16="http://schemas.microsoft.com/office/drawing/2014/main" id="{EDCCA91C-D3FB-484F-B596-EE7E8CE7C12F}"/>
              </a:ext>
            </a:extLst>
          </p:cNvPr>
          <p:cNvSpPr>
            <a:spLocks xmlns:a="http://schemas.openxmlformats.org/drawingml/2006/main" noGrp="1"/>
          </p:cNvSpPr>
          <p:nvPr/>
        </p:nvSpPr>
        <p:spPr>
          <a:xfrm xmlns:a="http://schemas.openxmlformats.org/drawingml/2006/main">
            <a:off x="5248656" y="3813048"/>
            <a:ext cx="1792224" cy="11338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Table QR requests create a structured handoff from guest to venue staff.</a:t>
            </a:r>
            <a:endParaRPr sz="910"/>
          </a:p>
        </p:txBody>
      </p:sp>
      <p:sp>
        <p:nvSpPr>
          <p:cNvPr id="19" name="Shape 17">
            <a:extLst xmlns:a="http://schemas.openxmlformats.org/drawingml/2006/main">
              <a:ext uri="{FF2B5EF4-FFF2-40B4-BE49-F238E27FC236}">
                <a16:creationId xmlns:a16="http://schemas.microsoft.com/office/drawing/2014/main" id="{A656939E-1E84-42C1-A4BB-0A47EC2E8B87}"/>
              </a:ext>
            </a:extLst>
          </p:cNvPr>
          <p:cNvSpPr>
            <a:spLocks xmlns:a="http://schemas.openxmlformats.org/drawingml/2006/main" noGrp="1"/>
          </p:cNvSpPr>
          <p:nvPr/>
        </p:nvSpPr>
        <p:spPr>
          <a:xfrm xmlns:a="http://schemas.openxmlformats.org/drawingml/2006/main">
            <a:off x="5248656" y="5138928"/>
            <a:ext cx="621792" cy="0"/>
          </a:xfrm>
          <a:prstGeom xmlns:a="http://schemas.openxmlformats.org/drawingml/2006/main" prst="line">
            <a:avLst/>
          </a:prstGeom>
          <a:noFill xmlns:a="http://schemas.openxmlformats.org/drawingml/2006/main"/>
          <a:ln xmlns:a="http://schemas.openxmlformats.org/drawingml/2006/main" w="2794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0" name="Shape 18">
            <a:extLst xmlns:a="http://schemas.openxmlformats.org/drawingml/2006/main">
              <a:ext uri="{FF2B5EF4-FFF2-40B4-BE49-F238E27FC236}">
                <a16:creationId xmlns:a16="http://schemas.microsoft.com/office/drawing/2014/main" id="{4201C070-269A-4E7D-A504-22D0C486EEEF}"/>
              </a:ext>
            </a:extLst>
          </p:cNvPr>
          <p:cNvSpPr>
            <a:spLocks xmlns:a="http://schemas.openxmlformats.org/drawingml/2006/main" noGrp="1"/>
          </p:cNvSpPr>
          <p:nvPr/>
        </p:nvSpPr>
        <p:spPr>
          <a:xfrm xmlns:a="http://schemas.openxmlformats.org/drawingml/2006/main">
            <a:off x="7342632" y="2331720"/>
            <a:ext cx="2157984" cy="3182112"/>
          </a:xfrm>
          <a:prstGeom xmlns:a="http://schemas.openxmlformats.org/drawingml/2006/main" prst="roundRect">
            <a:avLst>
              <a:gd name="adj" fmla="val 3390"/>
            </a:avLst>
          </a:prstGeom>
          <a:solidFill xmlns:a="http://schemas.openxmlformats.org/drawingml/2006/main">
            <a:srgbClr val="0E0E13"/>
          </a:solidFill>
          <a:ln xmlns:a="http://schemas.openxmlformats.org/drawingml/2006/main" w="10160">
            <a:solidFill>
              <a:srgbClr val="282530"/>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1" name="Text 19">
            <a:extLst xmlns:a="http://schemas.openxmlformats.org/drawingml/2006/main">
              <a:ext uri="{FF2B5EF4-FFF2-40B4-BE49-F238E27FC236}">
                <a16:creationId xmlns:a16="http://schemas.microsoft.com/office/drawing/2014/main" id="{205B81C7-6A52-4087-B5F9-188E35EEB66C}"/>
              </a:ext>
            </a:extLst>
          </p:cNvPr>
          <p:cNvSpPr>
            <a:spLocks xmlns:a="http://schemas.openxmlformats.org/drawingml/2006/main" noGrp="1"/>
          </p:cNvSpPr>
          <p:nvPr/>
        </p:nvSpPr>
        <p:spPr>
          <a:xfrm xmlns:a="http://schemas.openxmlformats.org/drawingml/2006/main">
            <a:off x="7507224" y="2542032"/>
            <a:ext cx="566928" cy="38404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700" b="1">
                <a:solidFill>
                  <a:srgbClr val="A855F7"/>
                </a:solidFill>
                <a:latin typeface="Inter Display"/>
                <a:ea typeface="Inter Display"/>
                <a:cs typeface="Inter Display"/>
              </a:rPr>
              <a:t>04</a:t>
            </a:r>
            <a:endParaRPr sz="1500"/>
          </a:p>
        </p:txBody>
      </p:sp>
      <p:sp>
        <p:nvSpPr>
          <p:cNvPr id="22" name="Text 20">
            <a:extLst xmlns:a="http://schemas.openxmlformats.org/drawingml/2006/main">
              <a:ext uri="{FF2B5EF4-FFF2-40B4-BE49-F238E27FC236}">
                <a16:creationId xmlns:a16="http://schemas.microsoft.com/office/drawing/2014/main" id="{979C32B2-1277-43F5-B8BB-52CB07046D33}"/>
              </a:ext>
            </a:extLst>
          </p:cNvPr>
          <p:cNvSpPr>
            <a:spLocks xmlns:a="http://schemas.openxmlformats.org/drawingml/2006/main" noGrp="1"/>
          </p:cNvSpPr>
          <p:nvPr/>
        </p:nvSpPr>
        <p:spPr>
          <a:xfrm xmlns:a="http://schemas.openxmlformats.org/drawingml/2006/main">
            <a:off x="7507224" y="3145536"/>
            <a:ext cx="1810512" cy="47548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RETENTION</a:t>
            </a:r>
            <a:endParaRPr sz="1020"/>
          </a:p>
        </p:txBody>
      </p:sp>
      <p:sp>
        <p:nvSpPr>
          <p:cNvPr id="23" name="Text 21">
            <a:extLst xmlns:a="http://schemas.openxmlformats.org/drawingml/2006/main">
              <a:ext uri="{FF2B5EF4-FFF2-40B4-BE49-F238E27FC236}">
                <a16:creationId xmlns:a16="http://schemas.microsoft.com/office/drawing/2014/main" id="{98981845-2188-4AE3-B1CF-895018C6614A}"/>
              </a:ext>
            </a:extLst>
          </p:cNvPr>
          <p:cNvSpPr>
            <a:spLocks xmlns:a="http://schemas.openxmlformats.org/drawingml/2006/main" noGrp="1"/>
          </p:cNvSpPr>
          <p:nvPr/>
        </p:nvSpPr>
        <p:spPr>
          <a:xfrm xmlns:a="http://schemas.openxmlformats.org/drawingml/2006/main">
            <a:off x="7507224" y="3813048"/>
            <a:ext cx="1792224" cy="11338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Follows, alerts and shareable content create reasons to revisit the experience.</a:t>
            </a:r>
            <a:endParaRPr sz="910"/>
          </a:p>
        </p:txBody>
      </p:sp>
      <p:sp>
        <p:nvSpPr>
          <p:cNvPr id="24" name="Shape 22">
            <a:extLst xmlns:a="http://schemas.openxmlformats.org/drawingml/2006/main">
              <a:ext uri="{FF2B5EF4-FFF2-40B4-BE49-F238E27FC236}">
                <a16:creationId xmlns:a16="http://schemas.microsoft.com/office/drawing/2014/main" id="{2CA9E8D8-45FE-43DE-B5EF-708EDBD4A2F2}"/>
              </a:ext>
            </a:extLst>
          </p:cNvPr>
          <p:cNvSpPr>
            <a:spLocks xmlns:a="http://schemas.openxmlformats.org/drawingml/2006/main" noGrp="1"/>
          </p:cNvSpPr>
          <p:nvPr/>
        </p:nvSpPr>
        <p:spPr>
          <a:xfrm xmlns:a="http://schemas.openxmlformats.org/drawingml/2006/main">
            <a:off x="7507224" y="5138928"/>
            <a:ext cx="621792" cy="0"/>
          </a:xfrm>
          <a:prstGeom xmlns:a="http://schemas.openxmlformats.org/drawingml/2006/main" prst="line">
            <a:avLst/>
          </a:prstGeom>
          <a:noFill xmlns:a="http://schemas.openxmlformats.org/drawingml/2006/main"/>
          <a:ln xmlns:a="http://schemas.openxmlformats.org/drawingml/2006/main" w="27940">
            <a:solidFill>
              <a:srgbClr val="4A4452"/>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5" name="Shape 23">
            <a:extLst xmlns:a="http://schemas.openxmlformats.org/drawingml/2006/main">
              <a:ext uri="{FF2B5EF4-FFF2-40B4-BE49-F238E27FC236}">
                <a16:creationId xmlns:a16="http://schemas.microsoft.com/office/drawing/2014/main" id="{9DA6F3ED-2B74-4982-862A-B19737F3326A}"/>
              </a:ext>
            </a:extLst>
          </p:cNvPr>
          <p:cNvSpPr>
            <a:spLocks xmlns:a="http://schemas.openxmlformats.org/drawingml/2006/main" noGrp="1"/>
          </p:cNvSpPr>
          <p:nvPr/>
        </p:nvSpPr>
        <p:spPr>
          <a:xfrm xmlns:a="http://schemas.openxmlformats.org/drawingml/2006/main">
            <a:off x="9601200" y="2331720"/>
            <a:ext cx="2157984" cy="3182112"/>
          </a:xfrm>
          <a:prstGeom xmlns:a="http://schemas.openxmlformats.org/drawingml/2006/main" prst="roundRect">
            <a:avLst>
              <a:gd name="adj" fmla="val 3390"/>
            </a:avLst>
          </a:prstGeom>
          <a:solidFill xmlns:a="http://schemas.openxmlformats.org/drawingml/2006/main">
            <a:srgbClr val="0E0E13"/>
          </a:solidFill>
          <a:ln xmlns:a="http://schemas.openxmlformats.org/drawingml/2006/main" w="10160">
            <a:solidFill>
              <a:srgbClr val="282530"/>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6" name="Text 24">
            <a:extLst xmlns:a="http://schemas.openxmlformats.org/drawingml/2006/main">
              <a:ext uri="{FF2B5EF4-FFF2-40B4-BE49-F238E27FC236}">
                <a16:creationId xmlns:a16="http://schemas.microsoft.com/office/drawing/2014/main" id="{C36316A2-A40E-40B9-942B-D262FD3E34CE}"/>
              </a:ext>
            </a:extLst>
          </p:cNvPr>
          <p:cNvSpPr>
            <a:spLocks xmlns:a="http://schemas.openxmlformats.org/drawingml/2006/main" noGrp="1"/>
          </p:cNvSpPr>
          <p:nvPr/>
        </p:nvSpPr>
        <p:spPr>
          <a:xfrm xmlns:a="http://schemas.openxmlformats.org/drawingml/2006/main">
            <a:off x="9765792" y="2542032"/>
            <a:ext cx="566928" cy="38404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700" b="1">
                <a:solidFill>
                  <a:srgbClr val="A855F7"/>
                </a:solidFill>
                <a:latin typeface="Inter Display"/>
                <a:ea typeface="Inter Display"/>
                <a:cs typeface="Inter Display"/>
              </a:rPr>
              <a:t>05</a:t>
            </a:r>
            <a:endParaRPr sz="1500"/>
          </a:p>
        </p:txBody>
      </p:sp>
      <p:sp>
        <p:nvSpPr>
          <p:cNvPr id="27" name="Text 25">
            <a:extLst xmlns:a="http://schemas.openxmlformats.org/drawingml/2006/main">
              <a:ext uri="{FF2B5EF4-FFF2-40B4-BE49-F238E27FC236}">
                <a16:creationId xmlns:a16="http://schemas.microsoft.com/office/drawing/2014/main" id="{5D743C9B-37EB-44EE-B177-C5739B4A151E}"/>
              </a:ext>
            </a:extLst>
          </p:cNvPr>
          <p:cNvSpPr>
            <a:spLocks xmlns:a="http://schemas.openxmlformats.org/drawingml/2006/main" noGrp="1"/>
          </p:cNvSpPr>
          <p:nvPr/>
        </p:nvSpPr>
        <p:spPr>
          <a:xfrm xmlns:a="http://schemas.openxmlformats.org/drawingml/2006/main">
            <a:off x="9765792" y="3145536"/>
            <a:ext cx="1810512" cy="47548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MEASUREMENT</a:t>
            </a:r>
            <a:endParaRPr sz="1020"/>
          </a:p>
        </p:txBody>
      </p:sp>
      <p:sp>
        <p:nvSpPr>
          <p:cNvPr id="28" name="Text 26">
            <a:extLst xmlns:a="http://schemas.openxmlformats.org/drawingml/2006/main">
              <a:ext uri="{FF2B5EF4-FFF2-40B4-BE49-F238E27FC236}">
                <a16:creationId xmlns:a16="http://schemas.microsoft.com/office/drawing/2014/main" id="{380D7C63-887D-4175-8009-3A7AD044ED4E}"/>
              </a:ext>
            </a:extLst>
          </p:cNvPr>
          <p:cNvSpPr>
            <a:spLocks xmlns:a="http://schemas.openxmlformats.org/drawingml/2006/main" noGrp="1"/>
          </p:cNvSpPr>
          <p:nvPr/>
        </p:nvSpPr>
        <p:spPr>
          <a:xfrm xmlns:a="http://schemas.openxmlformats.org/drawingml/2006/main">
            <a:off x="9765792" y="3813048"/>
            <a:ext cx="1792224" cy="11338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Venue reporting separates awareness, intent and verified pass use.</a:t>
            </a:r>
            <a:endParaRPr sz="910"/>
          </a:p>
        </p:txBody>
      </p:sp>
      <p:sp>
        <p:nvSpPr>
          <p:cNvPr id="29" name="Shape 27">
            <a:extLst xmlns:a="http://schemas.openxmlformats.org/drawingml/2006/main">
              <a:ext uri="{FF2B5EF4-FFF2-40B4-BE49-F238E27FC236}">
                <a16:creationId xmlns:a16="http://schemas.microsoft.com/office/drawing/2014/main" id="{716D47F6-D0BA-4D8E-91FE-4CD0A19519D5}"/>
              </a:ext>
            </a:extLst>
          </p:cNvPr>
          <p:cNvSpPr>
            <a:spLocks xmlns:a="http://schemas.openxmlformats.org/drawingml/2006/main" noGrp="1"/>
          </p:cNvSpPr>
          <p:nvPr/>
        </p:nvSpPr>
        <p:spPr>
          <a:xfrm xmlns:a="http://schemas.openxmlformats.org/drawingml/2006/main">
            <a:off x="9765792" y="5138928"/>
            <a:ext cx="621792" cy="0"/>
          </a:xfrm>
          <a:prstGeom xmlns:a="http://schemas.openxmlformats.org/drawingml/2006/main" prst="line">
            <a:avLst/>
          </a:prstGeom>
          <a:noFill xmlns:a="http://schemas.openxmlformats.org/drawingml/2006/main"/>
          <a:ln xmlns:a="http://schemas.openxmlformats.org/drawingml/2006/main" w="27940">
            <a:solidFill>
              <a:srgbClr val="4A4452"/>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0" name="Text 28">
            <a:extLst xmlns:a="http://schemas.openxmlformats.org/drawingml/2006/main">
              <a:ext uri="{FF2B5EF4-FFF2-40B4-BE49-F238E27FC236}">
                <a16:creationId xmlns:a16="http://schemas.microsoft.com/office/drawing/2014/main" id="{CD9E2A55-734B-44AF-9C9A-BA98F341A25F}"/>
              </a:ext>
            </a:extLst>
          </p:cNvPr>
          <p:cNvSpPr>
            <a:spLocks xmlns:a="http://schemas.openxmlformats.org/drawingml/2006/main" noGrp="1"/>
          </p:cNvSpPr>
          <p:nvPr/>
        </p:nvSpPr>
        <p:spPr>
          <a:xfrm xmlns:a="http://schemas.openxmlformats.org/drawingml/2006/main">
            <a:off x="585216" y="5888736"/>
            <a:ext cx="5852160" cy="2011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980" b="1" spc="100">
                <a:solidFill>
                  <a:srgbClr val="8A8494"/>
                </a:solidFill>
                <a:latin typeface="Inter"/>
                <a:ea typeface="Inter"/>
                <a:cs typeface="Inter"/>
              </a:rPr>
              <a:t>MYDANCR KEEPS THE CLUB ATTACHED TO THE JOURNEY</a:t>
            </a:r>
            <a:endParaRPr sz="850"/>
          </a:p>
        </p:txBody>
      </p:sp>
      <p:sp>
        <p:nvSpPr>
          <p:cNvPr id="31" name="Text 29">
            <a:extLst xmlns:a="http://schemas.openxmlformats.org/drawingml/2006/main">
              <a:ext uri="{FF2B5EF4-FFF2-40B4-BE49-F238E27FC236}">
                <a16:creationId xmlns:a16="http://schemas.microsoft.com/office/drawing/2014/main" id="{71BD051A-35E2-40C5-A5FA-14E33C28E13D}"/>
              </a:ext>
            </a:extLst>
          </p:cNvPr>
          <p:cNvSpPr>
            <a:spLocks xmlns:a="http://schemas.openxmlformats.org/drawingml/2006/main" noGrp="1"/>
          </p:cNvSpPr>
          <p:nvPr/>
        </p:nvSpPr>
        <p:spPr>
          <a:xfrm xmlns:a="http://schemas.openxmlformats.org/drawingml/2006/main">
            <a:off x="585216" y="6163056"/>
            <a:ext cx="10881360" cy="29260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700" b="1">
                <a:solidFill>
                  <a:srgbClr val="DAD7E0"/>
                </a:solidFill>
                <a:latin typeface="Inter Display"/>
                <a:ea typeface="Inter Display"/>
                <a:cs typeface="Inter Display"/>
              </a:rPr>
              <a:t>Discover  →  Choose  →  Take action  →  Engage inside  →  Stay connected</a:t>
            </a:r>
            <a:endParaRPr sz="1550"/>
          </a:p>
        </p:txBody>
      </p:sp>
      <p:sp>
        <p:nvSpPr>
          <p:cNvPr id="32" name="Slide Number Placeholder 0">
            <a:extLst xmlns:a="http://schemas.openxmlformats.org/drawingml/2006/main">
              <a:ext uri="{FF2B5EF4-FFF2-40B4-BE49-F238E27FC236}">
                <a16:creationId xmlns:a16="http://schemas.microsoft.com/office/drawing/2014/main" id="{279B6C74-B93D-4ED2-AC49-78DAEAC54FF4}"/>
              </a:ext>
            </a:extLst>
          </p:cNvPr>
          <p:cNvSpPr>
            <a:spLocks xmlns:a="http://schemas.openxmlformats.org/drawingml/2006/main" noGrp="1"/>
          </p:cNvSpPr>
          <p:nvPr>
            <p:ph type="sldNum" idx="4294967295"/>
          </p:nvPr>
        </p:nvSpPr>
        <p:spPr>
          <a:xfrm xmlns:a="http://schemas.openxmlformats.org/drawingml/2006/main">
            <a:off x="11155680" y="164592"/>
            <a:ext cx="502920" cy="228600"/>
          </a:xfrm>
          <a:prstGeom xmlns:a="http://schemas.openxmlformats.org/drawingml/2006/main" prst="rect">
            <a:avLst/>
          </a:prstGeom>
        </p:spPr>
        <p:txBody>
          <a:bodyPr xmlns:a="http://schemas.openxmlformats.org/drawingml/2006/main" wrap="square" lIns="27432" tIns="13716" rIns="27432" bIns="13716"/>
          <a:lstStyle xmlns:a="http://schemas.openxmlformats.org/drawingml/2006/main">
            <a:lvl1pPr>
              <a:buNone/>
              <a:defRPr sz="850">
                <a:solidFill>
                  <a:srgbClr val="686572"/>
                </a:solidFill>
                <a:latin typeface="Inter"/>
                <a:ea typeface="Inter"/>
                <a:cs typeface="Inter"/>
              </a:defRPr>
            </a:lvl1pPr>
          </a:lstStyle>
          <a:p xmlns:a="http://schemas.openxmlformats.org/drawingml/2006/main">
            <a:r>
              <a:rPr sz="900">
                <a:solidFill>
                  <a:srgbClr val="6D6875"/>
                </a:solidFill>
                <a:latin typeface="Inter"/>
              </a:rPr>
              <a:t>2</a:t>
            </a:r>
          </a:p>
        </p:txBody>
      </p:sp>
    </p:spTree>
    <p:extLst>
      <p:ext uri="{BB962C8B-B14F-4D97-AF65-F5344CB8AC3E}">
        <p14:creationId xmlns:p14="http://schemas.microsoft.com/office/powerpoint/2010/main" val="2769568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3F667F7-E43D-42B8-ACB9-742DCCBF7230}"/>
              </a:ext>
            </a:extLst>
          </p:cNvPr>
          <p:cNvSpPr>
            <a:spLocks xmlns:a="http://schemas.openxmlformats.org/drawingml/2006/main" noGrp="1"/>
          </p:cNvSpPr>
          <p:nvPr/>
        </p:nvSpPr>
        <p:spPr>
          <a:xfrm xmlns:a="http://schemas.openxmlformats.org/drawingml/2006/main">
            <a:off x="566928" y="576072"/>
            <a:ext cx="2377440"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b="1" spc="160">
                <a:solidFill>
                  <a:srgbClr val="A855F7"/>
                </a:solidFill>
                <a:latin typeface="Inter"/>
                <a:ea typeface="Inter"/>
                <a:cs typeface="Inter"/>
              </a:rPr>
              <a:t>BEFORE THE VISIT</a:t>
            </a:r>
            <a:endParaRPr sz="950"/>
          </a:p>
        </p:txBody>
      </p:sp>
      <p:sp>
        <p:nvSpPr>
          <p:cNvPr id="3" name="Text 1">
            <a:extLst xmlns:a="http://schemas.openxmlformats.org/drawingml/2006/main">
              <a:ext uri="{FF2B5EF4-FFF2-40B4-BE49-F238E27FC236}">
                <a16:creationId xmlns:a16="http://schemas.microsoft.com/office/drawing/2014/main" id="{081A1D8D-9CF7-4EC2-90B3-84130CD3DE10}"/>
              </a:ext>
            </a:extLst>
          </p:cNvPr>
          <p:cNvSpPr>
            <a:spLocks xmlns:a="http://schemas.openxmlformats.org/drawingml/2006/main" noGrp="1"/>
          </p:cNvSpPr>
          <p:nvPr/>
        </p:nvSpPr>
        <p:spPr>
          <a:xfrm xmlns:a="http://schemas.openxmlformats.org/drawingml/2006/main">
            <a:off x="566928" y="850392"/>
            <a:ext cx="10744200" cy="6400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3000" b="1">
                <a:solidFill>
                  <a:srgbClr val="F7F7FA"/>
                </a:solidFill>
                <a:latin typeface="Inter Display"/>
                <a:ea typeface="Inter Display"/>
                <a:cs typeface="Inter Display"/>
              </a:rPr>
              <a:t>Help guests choose your club — then give them a next step.</a:t>
            </a:r>
            <a:endParaRPr sz="2800"/>
          </a:p>
        </p:txBody>
      </p:sp>
      <p:sp>
        <p:nvSpPr>
          <p:cNvPr id="4" name="Text 2">
            <a:extLst xmlns:a="http://schemas.openxmlformats.org/drawingml/2006/main">
              <a:ext uri="{FF2B5EF4-FFF2-40B4-BE49-F238E27FC236}">
                <a16:creationId xmlns:a16="http://schemas.microsoft.com/office/drawing/2014/main" id="{1DA3891B-1C52-42FA-A383-1715675B948E}"/>
              </a:ext>
            </a:extLst>
          </p:cNvPr>
          <p:cNvSpPr>
            <a:spLocks xmlns:a="http://schemas.openxmlformats.org/drawingml/2006/main" noGrp="1"/>
          </p:cNvSpPr>
          <p:nvPr/>
        </p:nvSpPr>
        <p:spPr>
          <a:xfrm xmlns:a="http://schemas.openxmlformats.org/drawingml/2006/main">
            <a:off x="566928" y="1517904"/>
            <a:ext cx="10561320" cy="49377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a:solidFill>
                  <a:srgbClr val="A09CAA"/>
                </a:solidFill>
                <a:latin typeface="Inter"/>
                <a:ea typeface="Inter"/>
                <a:cs typeface="Inter"/>
              </a:rPr>
              <a:t>Turn a static listing or social post into a venue-connected experience with current context and clear actions.</a:t>
            </a:r>
            <a:endParaRPr sz="1220"/>
          </a:p>
        </p:txBody>
      </p:sp>
      <p:sp>
        <p:nvSpPr>
          <p:cNvPr id="5" name="Shape 3">
            <a:extLst xmlns:a="http://schemas.openxmlformats.org/drawingml/2006/main">
              <a:ext uri="{FF2B5EF4-FFF2-40B4-BE49-F238E27FC236}">
                <a16:creationId xmlns:a16="http://schemas.microsoft.com/office/drawing/2014/main" id="{236F49B0-449B-49C8-B1B3-371A24CDEB84}"/>
              </a:ext>
            </a:extLst>
          </p:cNvPr>
          <p:cNvSpPr>
            <a:spLocks xmlns:a="http://schemas.openxmlformats.org/drawingml/2006/main" noGrp="1"/>
          </p:cNvSpPr>
          <p:nvPr/>
        </p:nvSpPr>
        <p:spPr>
          <a:xfrm xmlns:a="http://schemas.openxmlformats.org/drawingml/2006/main">
            <a:off x="626364" y="2144268"/>
            <a:ext cx="2532888" cy="3968496"/>
          </a:xfrm>
          <a:prstGeom xmlns:a="http://schemas.openxmlformats.org/drawingml/2006/main" prst="roundRect">
            <a:avLst>
              <a:gd name="adj" fmla="val 3610"/>
            </a:avLst>
          </a:prstGeom>
          <a:solidFill xmlns:a="http://schemas.openxmlformats.org/drawingml/2006/main">
            <a:srgbClr val="16141B"/>
          </a:solidFill>
          <a:ln xmlns:a="http://schemas.openxmlformats.org/drawingml/2006/main" w="11430">
            <a:solidFill>
              <a:srgbClr val="45404E"/>
            </a:solidFill>
            <a:prstDash val="solid"/>
          </a:ln>
          <a:effectLst xmlns:a="http://schemas.openxmlformats.org/drawingml/2006/main">
            <a:outerShdw blurRad="25400" dist="50800" dir="2700000" sx="100000" sy="100000" kx="0" ky="0" algn="bl" rotWithShape="0">
              <a:srgbClr val="000000">
                <a:alpha val="33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pic>
        <p:nvPicPr>
          <p:cNvPr id="32" name="Image 0"/>
          <p:cNvPicPr>
            <a:picLocks xmlns:a="http://schemas.openxmlformats.org/drawingml/2006/main" noChangeAspect="1"/>
          </p:cNvPicPr>
          <p:nvPr/>
        </p:nvPicPr>
        <p:blipFill>
          <a:blip xmlns:r="http://schemas.openxmlformats.org/officeDocument/2006/relationships" xmlns:a="http://schemas.openxmlformats.org/drawingml/2006/main" r:embed="R158ac0e877354f46"/>
          <a:srcRect xmlns:a="http://schemas.openxmlformats.org/drawingml/2006/main" l="0" t="13490" r="0" b="13490"/>
          <a:stretch xmlns:a="http://schemas.openxmlformats.org/drawingml/2006/main"/>
        </p:blipFill>
        <p:spPr>
          <a:xfrm xmlns:a="http://schemas.openxmlformats.org/drawingml/2006/main">
            <a:off x="658368" y="2176272"/>
            <a:ext cx="2468880" cy="390448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FFBA3C88-4B35-4C37-9620-A2A8A5D44D92}"/>
              </a:ext>
            </a:extLst>
          </p:cNvPr>
          <p:cNvSpPr>
            <a:spLocks xmlns:a="http://schemas.openxmlformats.org/drawingml/2006/main" noGrp="1"/>
          </p:cNvSpPr>
          <p:nvPr/>
        </p:nvSpPr>
        <p:spPr>
          <a:xfrm xmlns:a="http://schemas.openxmlformats.org/drawingml/2006/main">
            <a:off x="3241548" y="2144268"/>
            <a:ext cx="2532888" cy="3968496"/>
          </a:xfrm>
          <a:prstGeom xmlns:a="http://schemas.openxmlformats.org/drawingml/2006/main" prst="roundRect">
            <a:avLst>
              <a:gd name="adj" fmla="val 3610"/>
            </a:avLst>
          </a:prstGeom>
          <a:solidFill xmlns:a="http://schemas.openxmlformats.org/drawingml/2006/main">
            <a:srgbClr val="16141B"/>
          </a:solidFill>
          <a:ln xmlns:a="http://schemas.openxmlformats.org/drawingml/2006/main" w="11430">
            <a:solidFill>
              <a:srgbClr val="45404E"/>
            </a:solidFill>
            <a:prstDash val="solid"/>
          </a:ln>
          <a:effectLst xmlns:a="http://schemas.openxmlformats.org/drawingml/2006/main">
            <a:outerShdw blurRad="25400" dist="50800" dir="2700000" sx="100000" sy="100000" kx="0" ky="0" algn="bl" rotWithShape="0">
              <a:srgbClr val="000000">
                <a:alpha val="33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pic>
        <p:nvPicPr>
          <p:cNvPr id="34" name="Image 1"/>
          <p:cNvPicPr>
            <a:picLocks xmlns:a="http://schemas.openxmlformats.org/drawingml/2006/main" noChangeAspect="1"/>
          </p:cNvPicPr>
          <p:nvPr/>
        </p:nvPicPr>
        <p:blipFill>
          <a:blip xmlns:r="http://schemas.openxmlformats.org/officeDocument/2006/relationships" xmlns:a="http://schemas.openxmlformats.org/drawingml/2006/main" r:embed="R2f6b56bd9e534505"/>
          <a:srcRect xmlns:a="http://schemas.openxmlformats.org/drawingml/2006/main" l="0" t="13490" r="0" b="13490"/>
          <a:stretch xmlns:a="http://schemas.openxmlformats.org/drawingml/2006/main"/>
        </p:blipFill>
        <p:spPr>
          <a:xfrm xmlns:a="http://schemas.openxmlformats.org/drawingml/2006/main">
            <a:off x="3273552" y="2176272"/>
            <a:ext cx="2468880" cy="3904488"/>
          </a:xfrm>
          <a:prstGeom xmlns:a="http://schemas.openxmlformats.org/drawingml/2006/main" prst="rect">
            <a:avLst/>
          </a:prstGeom>
        </p:spPr>
      </p:pic>
      <p:sp>
        <p:nvSpPr>
          <p:cNvPr id="9" name="Shape 5">
            <a:extLst xmlns:a="http://schemas.openxmlformats.org/drawingml/2006/main">
              <a:ext uri="{FF2B5EF4-FFF2-40B4-BE49-F238E27FC236}">
                <a16:creationId xmlns:a16="http://schemas.microsoft.com/office/drawing/2014/main" id="{732AF551-7662-4BDC-98A1-29F9DCD5A519}"/>
              </a:ext>
            </a:extLst>
          </p:cNvPr>
          <p:cNvSpPr>
            <a:spLocks xmlns:a="http://schemas.openxmlformats.org/drawingml/2006/main" noGrp="1"/>
          </p:cNvSpPr>
          <p:nvPr/>
        </p:nvSpPr>
        <p:spPr>
          <a:xfrm xmlns:a="http://schemas.openxmlformats.org/drawingml/2006/main">
            <a:off x="6126480" y="2176272"/>
            <a:ext cx="5468112" cy="3904488"/>
          </a:xfrm>
          <a:prstGeom xmlns:a="http://schemas.openxmlformats.org/drawingml/2006/main" prst="roundRect">
            <a:avLst>
              <a:gd name="adj" fmla="val 1874"/>
            </a:avLst>
          </a:prstGeom>
          <a:solidFill xmlns:a="http://schemas.openxmlformats.org/drawingml/2006/main">
            <a:srgbClr val="0D0D12"/>
          </a:solidFill>
          <a:ln xmlns:a="http://schemas.openxmlformats.org/drawingml/2006/main" w="10160">
            <a:solidFill>
              <a:srgbClr val="302A3D"/>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0" name="Text 6">
            <a:extLst xmlns:a="http://schemas.openxmlformats.org/drawingml/2006/main">
              <a:ext uri="{FF2B5EF4-FFF2-40B4-BE49-F238E27FC236}">
                <a16:creationId xmlns:a16="http://schemas.microsoft.com/office/drawing/2014/main" id="{553CF768-68F0-43BD-A500-CB20C81BE2C0}"/>
              </a:ext>
            </a:extLst>
          </p:cNvPr>
          <p:cNvSpPr>
            <a:spLocks xmlns:a="http://schemas.openxmlformats.org/drawingml/2006/main" noGrp="1"/>
          </p:cNvSpPr>
          <p:nvPr/>
        </p:nvSpPr>
        <p:spPr>
          <a:xfrm xmlns:a="http://schemas.openxmlformats.org/drawingml/2006/main">
            <a:off x="6419088" y="2542032"/>
            <a:ext cx="384048" cy="31089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360" b="1">
                <a:solidFill>
                  <a:srgbClr val="A855F7"/>
                </a:solidFill>
                <a:latin typeface="Inter Display"/>
                <a:ea typeface="Inter Display"/>
                <a:cs typeface="Inter Display"/>
              </a:rPr>
              <a:t>01</a:t>
            </a:r>
            <a:endParaRPr sz="1200"/>
          </a:p>
        </p:txBody>
      </p:sp>
      <p:sp>
        <p:nvSpPr>
          <p:cNvPr id="11" name="Text 7">
            <a:extLst xmlns:a="http://schemas.openxmlformats.org/drawingml/2006/main">
              <a:ext uri="{FF2B5EF4-FFF2-40B4-BE49-F238E27FC236}">
                <a16:creationId xmlns:a16="http://schemas.microsoft.com/office/drawing/2014/main" id="{8A3EF3A9-F5E3-4BAC-9B27-DCE20F8E2766}"/>
              </a:ext>
            </a:extLst>
          </p:cNvPr>
          <p:cNvSpPr>
            <a:spLocks xmlns:a="http://schemas.openxmlformats.org/drawingml/2006/main" noGrp="1"/>
          </p:cNvSpPr>
          <p:nvPr/>
        </p:nvSpPr>
        <p:spPr>
          <a:xfrm xmlns:a="http://schemas.openxmlformats.org/drawingml/2006/main">
            <a:off x="6858000" y="2532888"/>
            <a:ext cx="4361688" cy="23774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CURRENT CLUB + DANCER CONTEXT</a:t>
            </a:r>
            <a:endParaRPr sz="1050"/>
          </a:p>
        </p:txBody>
      </p:sp>
      <p:sp>
        <p:nvSpPr>
          <p:cNvPr id="12" name="Text 8">
            <a:extLst xmlns:a="http://schemas.openxmlformats.org/drawingml/2006/main">
              <a:ext uri="{FF2B5EF4-FFF2-40B4-BE49-F238E27FC236}">
                <a16:creationId xmlns:a16="http://schemas.microsoft.com/office/drawing/2014/main" id="{C6683804-4503-4FE9-BB50-2C375DE876CC}"/>
              </a:ext>
            </a:extLst>
          </p:cNvPr>
          <p:cNvSpPr>
            <a:spLocks xmlns:a="http://schemas.openxmlformats.org/drawingml/2006/main" noGrp="1"/>
          </p:cNvSpPr>
          <p:nvPr/>
        </p:nvSpPr>
        <p:spPr>
          <a:xfrm xmlns:a="http://schemas.openxmlformats.org/drawingml/2006/main">
            <a:off x="6858000" y="2807208"/>
            <a:ext cx="4361688" cy="53035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Working Now signals, venue details and approved profiles give the guest more information at the moment of decision.</a:t>
            </a:r>
            <a:endParaRPr sz="890"/>
          </a:p>
        </p:txBody>
      </p:sp>
      <p:sp>
        <p:nvSpPr>
          <p:cNvPr id="13" name="Shape 9">
            <a:extLst xmlns:a="http://schemas.openxmlformats.org/drawingml/2006/main">
              <a:ext uri="{FF2B5EF4-FFF2-40B4-BE49-F238E27FC236}">
                <a16:creationId xmlns:a16="http://schemas.microsoft.com/office/drawing/2014/main" id="{6AF229C6-CAE3-4063-AF10-5C03E1CBAAB6}"/>
              </a:ext>
            </a:extLst>
          </p:cNvPr>
          <p:cNvSpPr>
            <a:spLocks xmlns:a="http://schemas.openxmlformats.org/drawingml/2006/main" noGrp="1"/>
          </p:cNvSpPr>
          <p:nvPr/>
        </p:nvSpPr>
        <p:spPr>
          <a:xfrm xmlns:a="http://schemas.openxmlformats.org/drawingml/2006/main">
            <a:off x="6419088" y="3456432"/>
            <a:ext cx="4681728" cy="0"/>
          </a:xfrm>
          <a:prstGeom xmlns:a="http://schemas.openxmlformats.org/drawingml/2006/main" prst="line">
            <a:avLst/>
          </a:prstGeom>
          <a:noFill xmlns:a="http://schemas.openxmlformats.org/drawingml/2006/main"/>
          <a:ln xmlns:a="http://schemas.openxmlformats.org/drawingml/2006/main" w="10160">
            <a:solidFill>
              <a:srgbClr val="2D2934"/>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4" name="Text 10">
            <a:extLst xmlns:a="http://schemas.openxmlformats.org/drawingml/2006/main">
              <a:ext uri="{FF2B5EF4-FFF2-40B4-BE49-F238E27FC236}">
                <a16:creationId xmlns:a16="http://schemas.microsoft.com/office/drawing/2014/main" id="{9A815DCE-F4A3-46E2-A114-C49597BC8633}"/>
              </a:ext>
            </a:extLst>
          </p:cNvPr>
          <p:cNvSpPr>
            <a:spLocks xmlns:a="http://schemas.openxmlformats.org/drawingml/2006/main" noGrp="1"/>
          </p:cNvSpPr>
          <p:nvPr/>
        </p:nvSpPr>
        <p:spPr>
          <a:xfrm xmlns:a="http://schemas.openxmlformats.org/drawingml/2006/main">
            <a:off x="6419088" y="3675888"/>
            <a:ext cx="384048" cy="31089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360" b="1">
                <a:solidFill>
                  <a:srgbClr val="A855F7"/>
                </a:solidFill>
                <a:latin typeface="Inter Display"/>
                <a:ea typeface="Inter Display"/>
                <a:cs typeface="Inter Display"/>
              </a:rPr>
              <a:t>02</a:t>
            </a:r>
            <a:endParaRPr sz="1200"/>
          </a:p>
        </p:txBody>
      </p:sp>
      <p:sp>
        <p:nvSpPr>
          <p:cNvPr id="15" name="Text 11">
            <a:extLst xmlns:a="http://schemas.openxmlformats.org/drawingml/2006/main">
              <a:ext uri="{FF2B5EF4-FFF2-40B4-BE49-F238E27FC236}">
                <a16:creationId xmlns:a16="http://schemas.microsoft.com/office/drawing/2014/main" id="{CD751B1E-2EAF-4F0E-BCC4-A7EBB7FF373E}"/>
              </a:ext>
            </a:extLst>
          </p:cNvPr>
          <p:cNvSpPr>
            <a:spLocks xmlns:a="http://schemas.openxmlformats.org/drawingml/2006/main" noGrp="1"/>
          </p:cNvSpPr>
          <p:nvPr/>
        </p:nvSpPr>
        <p:spPr>
          <a:xfrm xmlns:a="http://schemas.openxmlformats.org/drawingml/2006/main">
            <a:off x="6858000" y="3666744"/>
            <a:ext cx="4361688" cy="23774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A CLEAR ACTION</a:t>
            </a:r>
            <a:endParaRPr sz="1050"/>
          </a:p>
        </p:txBody>
      </p:sp>
      <p:sp>
        <p:nvSpPr>
          <p:cNvPr id="16" name="Text 12">
            <a:extLst xmlns:a="http://schemas.openxmlformats.org/drawingml/2006/main">
              <a:ext uri="{FF2B5EF4-FFF2-40B4-BE49-F238E27FC236}">
                <a16:creationId xmlns:a16="http://schemas.microsoft.com/office/drawing/2014/main" id="{05C76C52-3398-47C4-8B94-811E48B2C9C4}"/>
              </a:ext>
            </a:extLst>
          </p:cNvPr>
          <p:cNvSpPr>
            <a:spLocks xmlns:a="http://schemas.openxmlformats.org/drawingml/2006/main" noGrp="1"/>
          </p:cNvSpPr>
          <p:nvPr/>
        </p:nvSpPr>
        <p:spPr>
          <a:xfrm xmlns:a="http://schemas.openxmlformats.org/drawingml/2006/main">
            <a:off x="6858000" y="3941064"/>
            <a:ext cx="4361688" cy="53035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Directions, a venue-defined offer or a club pickup request can move consideration toward a visit.</a:t>
            </a:r>
            <a:endParaRPr sz="890"/>
          </a:p>
        </p:txBody>
      </p:sp>
      <p:sp>
        <p:nvSpPr>
          <p:cNvPr id="17" name="Shape 13">
            <a:extLst xmlns:a="http://schemas.openxmlformats.org/drawingml/2006/main">
              <a:ext uri="{FF2B5EF4-FFF2-40B4-BE49-F238E27FC236}">
                <a16:creationId xmlns:a16="http://schemas.microsoft.com/office/drawing/2014/main" id="{5E8EF8BF-272B-42F4-9DFD-98B67FA3C9C7}"/>
              </a:ext>
            </a:extLst>
          </p:cNvPr>
          <p:cNvSpPr>
            <a:spLocks xmlns:a="http://schemas.openxmlformats.org/drawingml/2006/main" noGrp="1"/>
          </p:cNvSpPr>
          <p:nvPr/>
        </p:nvSpPr>
        <p:spPr>
          <a:xfrm xmlns:a="http://schemas.openxmlformats.org/drawingml/2006/main">
            <a:off x="6419088" y="4572000"/>
            <a:ext cx="4681728" cy="0"/>
          </a:xfrm>
          <a:prstGeom xmlns:a="http://schemas.openxmlformats.org/drawingml/2006/main" prst="line">
            <a:avLst/>
          </a:prstGeom>
          <a:noFill xmlns:a="http://schemas.openxmlformats.org/drawingml/2006/main"/>
          <a:ln xmlns:a="http://schemas.openxmlformats.org/drawingml/2006/main" w="10160">
            <a:solidFill>
              <a:srgbClr val="2D2934"/>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8" name="Text 14">
            <a:extLst xmlns:a="http://schemas.openxmlformats.org/drawingml/2006/main">
              <a:ext uri="{FF2B5EF4-FFF2-40B4-BE49-F238E27FC236}">
                <a16:creationId xmlns:a16="http://schemas.microsoft.com/office/drawing/2014/main" id="{11F2CA2A-D678-4710-972B-758B4FA966C1}"/>
              </a:ext>
            </a:extLst>
          </p:cNvPr>
          <p:cNvSpPr>
            <a:spLocks xmlns:a="http://schemas.openxmlformats.org/drawingml/2006/main" noGrp="1"/>
          </p:cNvSpPr>
          <p:nvPr/>
        </p:nvSpPr>
        <p:spPr>
          <a:xfrm xmlns:a="http://schemas.openxmlformats.org/drawingml/2006/main">
            <a:off x="6419088" y="4791456"/>
            <a:ext cx="384048" cy="31089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360" b="1">
                <a:solidFill>
                  <a:srgbClr val="A855F7"/>
                </a:solidFill>
                <a:latin typeface="Inter Display"/>
                <a:ea typeface="Inter Display"/>
                <a:cs typeface="Inter Display"/>
              </a:rPr>
              <a:t>03</a:t>
            </a:r>
            <a:endParaRPr sz="1200"/>
          </a:p>
        </p:txBody>
      </p:sp>
      <p:sp>
        <p:nvSpPr>
          <p:cNvPr id="19" name="Text 15">
            <a:extLst xmlns:a="http://schemas.openxmlformats.org/drawingml/2006/main">
              <a:ext uri="{FF2B5EF4-FFF2-40B4-BE49-F238E27FC236}">
                <a16:creationId xmlns:a16="http://schemas.microsoft.com/office/drawing/2014/main" id="{8DE2D537-2D7C-4F4A-B346-E8A635C4CEE0}"/>
              </a:ext>
            </a:extLst>
          </p:cNvPr>
          <p:cNvSpPr>
            <a:spLocks xmlns:a="http://schemas.openxmlformats.org/drawingml/2006/main" noGrp="1"/>
          </p:cNvSpPr>
          <p:nvPr/>
        </p:nvSpPr>
        <p:spPr>
          <a:xfrm xmlns:a="http://schemas.openxmlformats.org/drawingml/2006/main">
            <a:off x="6858000" y="4782312"/>
            <a:ext cx="4361688" cy="23774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THE CLUB STAYS THE DESTINATION</a:t>
            </a:r>
            <a:endParaRPr sz="1050"/>
          </a:p>
        </p:txBody>
      </p:sp>
      <p:sp>
        <p:nvSpPr>
          <p:cNvPr id="20" name="Text 16">
            <a:extLst xmlns:a="http://schemas.openxmlformats.org/drawingml/2006/main">
              <a:ext uri="{FF2B5EF4-FFF2-40B4-BE49-F238E27FC236}">
                <a16:creationId xmlns:a16="http://schemas.microsoft.com/office/drawing/2014/main" id="{312FC325-C173-4AC7-A1A6-B3DC7325F7BA}"/>
              </a:ext>
            </a:extLst>
          </p:cNvPr>
          <p:cNvSpPr>
            <a:spLocks xmlns:a="http://schemas.openxmlformats.org/drawingml/2006/main" noGrp="1"/>
          </p:cNvSpPr>
          <p:nvPr/>
        </p:nvSpPr>
        <p:spPr>
          <a:xfrm xmlns:a="http://schemas.openxmlformats.org/drawingml/2006/main">
            <a:off x="6858000" y="5056632"/>
            <a:ext cx="4361688" cy="53035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Dancer activity is shown in venue context, so attention can lead back to the club page and club actions.</a:t>
            </a:r>
            <a:endParaRPr sz="890"/>
          </a:p>
        </p:txBody>
      </p:sp>
      <p:sp>
        <p:nvSpPr>
          <p:cNvPr id="21" name="Shape 17">
            <a:extLst xmlns:a="http://schemas.openxmlformats.org/drawingml/2006/main">
              <a:ext uri="{FF2B5EF4-FFF2-40B4-BE49-F238E27FC236}">
                <a16:creationId xmlns:a16="http://schemas.microsoft.com/office/drawing/2014/main" id="{90FF5ADA-CB5A-460B-A433-9E3B1D270CE1}"/>
              </a:ext>
            </a:extLst>
          </p:cNvPr>
          <p:cNvSpPr>
            <a:spLocks xmlns:a="http://schemas.openxmlformats.org/drawingml/2006/main" noGrp="1"/>
          </p:cNvSpPr>
          <p:nvPr/>
        </p:nvSpPr>
        <p:spPr>
          <a:xfrm xmlns:a="http://schemas.openxmlformats.org/drawingml/2006/main">
            <a:off x="6437376" y="5650992"/>
            <a:ext cx="4626864" cy="420624"/>
          </a:xfrm>
          <a:prstGeom xmlns:a="http://schemas.openxmlformats.org/drawingml/2006/main" prst="roundRect">
            <a:avLst>
              <a:gd name="adj" fmla="val 17391"/>
            </a:avLst>
          </a:prstGeom>
          <a:solidFill xmlns:a="http://schemas.openxmlformats.org/drawingml/2006/main">
            <a:srgbClr val="171120"/>
          </a:solidFill>
          <a:ln xmlns:a="http://schemas.openxmlformats.org/drawingml/2006/main" w="8890">
            <a:solidFill>
              <a:srgbClr val="4F2A83"/>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2" name="Text 18">
            <a:extLst xmlns:a="http://schemas.openxmlformats.org/drawingml/2006/main">
              <a:ext uri="{FF2B5EF4-FFF2-40B4-BE49-F238E27FC236}">
                <a16:creationId xmlns:a16="http://schemas.microsoft.com/office/drawing/2014/main" id="{087C299E-07AB-4703-9DA2-A230D400BC4A}"/>
              </a:ext>
            </a:extLst>
          </p:cNvPr>
          <p:cNvSpPr>
            <a:spLocks xmlns:a="http://schemas.openxmlformats.org/drawingml/2006/main" noGrp="1"/>
          </p:cNvSpPr>
          <p:nvPr/>
        </p:nvSpPr>
        <p:spPr>
          <a:xfrm xmlns:a="http://schemas.openxmlformats.org/drawingml/2006/main">
            <a:off x="6601968" y="5769864"/>
            <a:ext cx="4297680" cy="1645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b="1">
                <a:solidFill>
                  <a:srgbClr val="D8C9F8"/>
                </a:solidFill>
                <a:latin typeface="Inter"/>
                <a:ea typeface="Inter"/>
                <a:cs typeface="Inter"/>
              </a:rPr>
              <a:t>PILOT QUESTION: does this create more meaningful intent and verified arrivals?</a:t>
            </a:r>
            <a:endParaRPr sz="820"/>
          </a:p>
        </p:txBody>
      </p:sp>
      <p:sp>
        <p:nvSpPr>
          <p:cNvPr id="23" name="Text 19">
            <a:extLst xmlns:a="http://schemas.openxmlformats.org/drawingml/2006/main">
              <a:ext uri="{FF2B5EF4-FFF2-40B4-BE49-F238E27FC236}">
                <a16:creationId xmlns:a16="http://schemas.microsoft.com/office/drawing/2014/main" id="{4A00C708-65C1-4718-B7E7-2EB7FDDD7DE6}"/>
              </a:ext>
            </a:extLst>
          </p:cNvPr>
          <p:cNvSpPr>
            <a:spLocks xmlns:a="http://schemas.openxmlformats.org/drawingml/2006/main" noGrp="1"/>
          </p:cNvSpPr>
          <p:nvPr/>
        </p:nvSpPr>
        <p:spPr>
          <a:xfrm xmlns:a="http://schemas.openxmlformats.org/drawingml/2006/main">
            <a:off x="576072" y="6515100"/>
            <a:ext cx="1092708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869">
                <a:solidFill>
                  <a:srgbClr val="66616E"/>
                </a:solidFill>
                <a:latin typeface="Inter"/>
                <a:ea typeface="Inter"/>
                <a:cs typeface="Inter"/>
              </a:rPr>
              <a:t>Demo interface • fictional club/profile content. Pickup is a request handled by the venue. Offer eligibility remains subject to venue rules.</a:t>
            </a:r>
            <a:endParaRPr sz="670"/>
          </a:p>
        </p:txBody>
      </p:sp>
      <p:sp>
        <p:nvSpPr>
          <p:cNvPr id="25" name="Slide Number Placeholder 0">
            <a:extLst xmlns:a="http://schemas.openxmlformats.org/drawingml/2006/main">
              <a:ext uri="{FF2B5EF4-FFF2-40B4-BE49-F238E27FC236}">
                <a16:creationId xmlns:a16="http://schemas.microsoft.com/office/drawing/2014/main" id="{BE8300D8-FCCF-4028-ACD0-1680D92249CA}"/>
              </a:ext>
            </a:extLst>
          </p:cNvPr>
          <p:cNvSpPr>
            <a:spLocks xmlns:a="http://schemas.openxmlformats.org/drawingml/2006/main" noGrp="1"/>
          </p:cNvSpPr>
          <p:nvPr>
            <p:ph type="sldNum" idx="4294967295"/>
          </p:nvPr>
        </p:nvSpPr>
        <p:spPr>
          <a:xfrm xmlns:a="http://schemas.openxmlformats.org/drawingml/2006/main">
            <a:off x="11155680" y="164592"/>
            <a:ext cx="502920" cy="228600"/>
          </a:xfrm>
          <a:prstGeom xmlns:a="http://schemas.openxmlformats.org/drawingml/2006/main" prst="rect">
            <a:avLst/>
          </a:prstGeom>
        </p:spPr>
        <p:txBody>
          <a:bodyPr xmlns:a="http://schemas.openxmlformats.org/drawingml/2006/main" wrap="square" lIns="27432" tIns="13716" rIns="27432" bIns="13716"/>
          <a:lstStyle xmlns:a="http://schemas.openxmlformats.org/drawingml/2006/main">
            <a:lvl1pPr>
              <a:buNone/>
              <a:defRPr sz="850">
                <a:solidFill>
                  <a:srgbClr val="686572"/>
                </a:solidFill>
                <a:latin typeface="Inter"/>
                <a:ea typeface="Inter"/>
                <a:cs typeface="Inter"/>
              </a:defRPr>
            </a:lvl1pPr>
          </a:lstStyle>
          <a:p xmlns:a="http://schemas.openxmlformats.org/drawingml/2006/main">
            <a:r>
              <a:rPr sz="900">
                <a:solidFill>
                  <a:srgbClr val="6D6875"/>
                </a:solidFill>
                <a:latin typeface="Inter"/>
              </a:rPr>
              <a:t>3</a:t>
            </a:r>
          </a:p>
        </p:txBody>
      </p:sp>
    </p:spTree>
    <p:extLst>
      <p:ext uri="{BB962C8B-B14F-4D97-AF65-F5344CB8AC3E}">
        <p14:creationId xmlns:p14="http://schemas.microsoft.com/office/powerpoint/2010/main" val="161133071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D52DB80-C97A-41F0-8B1E-254B2012A1AB}"/>
              </a:ext>
            </a:extLst>
          </p:cNvPr>
          <p:cNvSpPr>
            <a:spLocks xmlns:a="http://schemas.openxmlformats.org/drawingml/2006/main" noGrp="1"/>
          </p:cNvSpPr>
          <p:nvPr/>
        </p:nvSpPr>
        <p:spPr>
          <a:xfrm xmlns:a="http://schemas.openxmlformats.org/drawingml/2006/main">
            <a:off x="566928" y="576072"/>
            <a:ext cx="2377440"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b="1" spc="160">
                <a:solidFill>
                  <a:srgbClr val="A855F7"/>
                </a:solidFill>
                <a:latin typeface="Inter"/>
                <a:ea typeface="Inter"/>
                <a:cs typeface="Inter"/>
              </a:rPr>
              <a:t>MYDANCR TV</a:t>
            </a:r>
            <a:endParaRPr sz="950"/>
          </a:p>
        </p:txBody>
      </p:sp>
      <p:sp>
        <p:nvSpPr>
          <p:cNvPr id="3" name="Text 1">
            <a:extLst xmlns:a="http://schemas.openxmlformats.org/drawingml/2006/main">
              <a:ext uri="{FF2B5EF4-FFF2-40B4-BE49-F238E27FC236}">
                <a16:creationId xmlns:a16="http://schemas.microsoft.com/office/drawing/2014/main" id="{72B2BD91-CAF2-4C22-9FCC-60EE0E94B768}"/>
              </a:ext>
            </a:extLst>
          </p:cNvPr>
          <p:cNvSpPr>
            <a:spLocks xmlns:a="http://schemas.openxmlformats.org/drawingml/2006/main" noGrp="1"/>
          </p:cNvSpPr>
          <p:nvPr/>
        </p:nvSpPr>
        <p:spPr>
          <a:xfrm xmlns:a="http://schemas.openxmlformats.org/drawingml/2006/main">
            <a:off x="566928" y="850392"/>
            <a:ext cx="10744200" cy="6400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nSpc>
                <a:spcPct val="100000"/>
              </a:lnSpc>
              <a:buNone/>
            </a:pPr>
            <a:r>
              <a:rPr sz="3000" b="1">
                <a:solidFill>
                  <a:srgbClr val="F7F7FA"/>
                </a:solidFill>
                <a:latin typeface="Inter Display"/>
                <a:ea typeface="Inter Display"/>
                <a:cs typeface="Inter Display"/>
              </a:rPr>
              <a:t>Shareable video can bring your club a much wider audience.</a:t>
            </a:r>
            <a:endParaRPr sz="2800"/>
          </a:p>
        </p:txBody>
      </p:sp>
      <p:sp>
        <p:nvSpPr>
          <p:cNvPr id="4" name="Text 2">
            <a:extLst xmlns:a="http://schemas.openxmlformats.org/drawingml/2006/main">
              <a:ext uri="{FF2B5EF4-FFF2-40B4-BE49-F238E27FC236}">
                <a16:creationId xmlns:a16="http://schemas.microsoft.com/office/drawing/2014/main" id="{E76CE412-BF20-420C-B3E5-CF642D206AEB}"/>
              </a:ext>
            </a:extLst>
          </p:cNvPr>
          <p:cNvSpPr>
            <a:spLocks xmlns:a="http://schemas.openxmlformats.org/drawingml/2006/main" noGrp="1"/>
          </p:cNvSpPr>
          <p:nvPr/>
        </p:nvSpPr>
        <p:spPr>
          <a:xfrm xmlns:a="http://schemas.openxmlformats.org/drawingml/2006/main">
            <a:off x="566928" y="1517904"/>
            <a:ext cx="10561320" cy="49377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nSpc>
                <a:spcPct val="100000"/>
              </a:lnSpc>
              <a:buNone/>
            </a:pPr>
            <a:r>
              <a:rPr sz="1360">
                <a:solidFill>
                  <a:srgbClr val="A09CAA"/>
                </a:solidFill>
                <a:latin typeface="Inter"/>
                <a:ea typeface="Inter"/>
                <a:cs typeface="Inter"/>
              </a:rPr>
              <a:t>TV clips can bring new viewers to MyDancr, with venue links that keep your club connected to the attention.</a:t>
            </a:r>
            <a:endParaRPr sz="1220"/>
          </a:p>
        </p:txBody>
      </p:sp>
      <p:sp>
        <p:nvSpPr>
          <p:cNvPr id="5" name="Shape 3">
            <a:extLst xmlns:a="http://schemas.openxmlformats.org/drawingml/2006/main">
              <a:ext uri="{FF2B5EF4-FFF2-40B4-BE49-F238E27FC236}">
                <a16:creationId xmlns:a16="http://schemas.microsoft.com/office/drawing/2014/main" id="{06A846E0-CC58-4C48-8205-E78112BA0444}"/>
              </a:ext>
            </a:extLst>
          </p:cNvPr>
          <p:cNvSpPr>
            <a:spLocks xmlns:a="http://schemas.openxmlformats.org/drawingml/2006/main" noGrp="1"/>
          </p:cNvSpPr>
          <p:nvPr/>
        </p:nvSpPr>
        <p:spPr>
          <a:xfrm xmlns:a="http://schemas.openxmlformats.org/drawingml/2006/main">
            <a:off x="681228" y="2180844"/>
            <a:ext cx="4281678" cy="4105656"/>
          </a:xfrm>
          <a:prstGeom xmlns:a="http://schemas.openxmlformats.org/drawingml/2006/main" prst="roundRect">
            <a:avLst>
              <a:gd name="adj" fmla="val 3205"/>
            </a:avLst>
          </a:prstGeom>
          <a:solidFill xmlns:a="http://schemas.openxmlformats.org/drawingml/2006/main">
            <a:srgbClr val="16141B"/>
          </a:solidFill>
          <a:ln xmlns:a="http://schemas.openxmlformats.org/drawingml/2006/main" w="11430">
            <a:solidFill>
              <a:srgbClr val="45404E"/>
            </a:solidFill>
            <a:prstDash val="solid"/>
          </a:ln>
          <a:effectLst xmlns:a="http://schemas.openxmlformats.org/drawingml/2006/main">
            <a:outerShdw blurRad="25400" dist="50800" dir="2700000" sx="100000" sy="100000" kx="0" ky="0" algn="bl" rotWithShape="0">
              <a:srgbClr val="000000">
                <a:alpha val="33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pic>
        <p:nvPicPr>
          <p:cNvPr id="36" name="Image 0"/>
          <p:cNvPicPr>
            <a:picLocks xmlns:a="http://schemas.openxmlformats.org/drawingml/2006/main" noChangeAspect="1"/>
          </p:cNvPicPr>
          <p:nvPr/>
        </p:nvPicPr>
        <p:blipFill>
          <a:blip xmlns:r="http://schemas.openxmlformats.org/officeDocument/2006/relationships" xmlns:a="http://schemas.openxmlformats.org/drawingml/2006/main" r:embed="Rb6e04e3159454c5b"/>
          <a:stretch xmlns:a="http://schemas.openxmlformats.org/drawingml/2006/main"/>
        </p:blipFill>
        <p:spPr>
          <a:xfrm xmlns:a="http://schemas.openxmlformats.org/drawingml/2006/main">
            <a:off x="713232" y="2359152"/>
            <a:ext cx="4217670" cy="3749040"/>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6064469F-C3BD-4609-8BAF-ABDAA30170FC}"/>
              </a:ext>
            </a:extLst>
          </p:cNvPr>
          <p:cNvSpPr>
            <a:spLocks xmlns:a="http://schemas.openxmlformats.org/drawingml/2006/main" noGrp="1"/>
          </p:cNvSpPr>
          <p:nvPr/>
        </p:nvSpPr>
        <p:spPr>
          <a:xfrm xmlns:a="http://schemas.openxmlformats.org/drawingml/2006/main">
            <a:off x="5269230" y="2212848"/>
            <a:ext cx="6188202" cy="1316736"/>
          </a:xfrm>
          <a:prstGeom xmlns:a="http://schemas.openxmlformats.org/drawingml/2006/main" prst="roundRect">
            <a:avLst>
              <a:gd name="adj" fmla="val 5556"/>
            </a:avLst>
          </a:prstGeom>
          <a:solidFill xmlns:a="http://schemas.openxmlformats.org/drawingml/2006/main">
            <a:srgbClr val="0E0E14"/>
          </a:solidFill>
          <a:ln xmlns:a="http://schemas.openxmlformats.org/drawingml/2006/main" w="10160">
            <a:solidFill>
              <a:srgbClr val="2C2835"/>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8" name="Text 5">
            <a:extLst xmlns:a="http://schemas.openxmlformats.org/drawingml/2006/main">
              <a:ext uri="{FF2B5EF4-FFF2-40B4-BE49-F238E27FC236}">
                <a16:creationId xmlns:a16="http://schemas.microsoft.com/office/drawing/2014/main" id="{EDEFBD8B-C629-4A33-9916-658429565167}"/>
              </a:ext>
            </a:extLst>
          </p:cNvPr>
          <p:cNvSpPr>
            <a:spLocks xmlns:a="http://schemas.openxmlformats.org/drawingml/2006/main" noGrp="1"/>
          </p:cNvSpPr>
          <p:nvPr/>
        </p:nvSpPr>
        <p:spPr>
          <a:xfrm xmlns:a="http://schemas.openxmlformats.org/drawingml/2006/main">
            <a:off x="5462379" y="2468880"/>
            <a:ext cx="1040034" cy="2011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980" b="1" spc="100">
                <a:solidFill>
                  <a:srgbClr val="A855F7"/>
                </a:solidFill>
                <a:latin typeface="Inter"/>
                <a:ea typeface="Inter"/>
                <a:cs typeface="Inter"/>
              </a:rPr>
              <a:t>WATCH</a:t>
            </a:r>
            <a:endParaRPr sz="780"/>
          </a:p>
        </p:txBody>
      </p:sp>
      <p:sp>
        <p:nvSpPr>
          <p:cNvPr id="9" name="Text 6">
            <a:extLst xmlns:a="http://schemas.openxmlformats.org/drawingml/2006/main">
              <a:ext uri="{FF2B5EF4-FFF2-40B4-BE49-F238E27FC236}">
                <a16:creationId xmlns:a16="http://schemas.microsoft.com/office/drawing/2014/main" id="{0DE46F4F-9835-4D95-B935-EB8AF0EEC823}"/>
              </a:ext>
            </a:extLst>
          </p:cNvPr>
          <p:cNvSpPr>
            <a:spLocks xmlns:a="http://schemas.openxmlformats.org/drawingml/2006/main" noGrp="1"/>
          </p:cNvSpPr>
          <p:nvPr/>
        </p:nvSpPr>
        <p:spPr>
          <a:xfrm xmlns:a="http://schemas.openxmlformats.org/drawingml/2006/main">
            <a:off x="5462379" y="2788920"/>
            <a:ext cx="1040034" cy="36576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gn="ctr">
              <a:lnSpc>
                <a:spcPct val="100000"/>
              </a:lnSpc>
              <a:buNone/>
            </a:pPr>
            <a:r>
              <a:rPr sz="1100" b="1">
                <a:solidFill>
                  <a:srgbClr val="F7F7FA"/>
                </a:solidFill>
                <a:latin typeface="Inter"/>
                <a:ea typeface="Inter"/>
                <a:cs typeface="Inter"/>
              </a:rPr>
              <a:t>MyDancr TV</a:t>
            </a:r>
            <a:endParaRPr sz="910"/>
          </a:p>
        </p:txBody>
      </p:sp>
      <p:sp>
        <p:nvSpPr>
          <p:cNvPr id="10" name="Text 7">
            <a:extLst xmlns:a="http://schemas.openxmlformats.org/drawingml/2006/main">
              <a:ext uri="{FF2B5EF4-FFF2-40B4-BE49-F238E27FC236}">
                <a16:creationId xmlns:a16="http://schemas.microsoft.com/office/drawing/2014/main" id="{05822024-C974-4D3E-B094-C90F87700CBF}"/>
              </a:ext>
            </a:extLst>
          </p:cNvPr>
          <p:cNvSpPr>
            <a:spLocks xmlns:a="http://schemas.openxmlformats.org/drawingml/2006/main" noGrp="1"/>
          </p:cNvSpPr>
          <p:nvPr/>
        </p:nvSpPr>
        <p:spPr>
          <a:xfrm xmlns:a="http://schemas.openxmlformats.org/drawingml/2006/main">
            <a:off x="6576701" y="2670048"/>
            <a:ext cx="252580" cy="29260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1800" b="1">
                <a:solidFill>
                  <a:srgbClr val="6F6579"/>
                </a:solidFill>
                <a:latin typeface="Inter Display"/>
                <a:ea typeface="Inter Display"/>
                <a:cs typeface="Inter Display"/>
              </a:rPr>
              <a:t>›</a:t>
            </a:r>
            <a:endParaRPr sz="1800"/>
          </a:p>
        </p:txBody>
      </p:sp>
      <p:sp>
        <p:nvSpPr>
          <p:cNvPr id="11" name="Text 8">
            <a:extLst xmlns:a="http://schemas.openxmlformats.org/drawingml/2006/main">
              <a:ext uri="{FF2B5EF4-FFF2-40B4-BE49-F238E27FC236}">
                <a16:creationId xmlns:a16="http://schemas.microsoft.com/office/drawing/2014/main" id="{8795CA24-FB6E-4D6D-944A-923BCC8CA172}"/>
              </a:ext>
            </a:extLst>
          </p:cNvPr>
          <p:cNvSpPr>
            <a:spLocks xmlns:a="http://schemas.openxmlformats.org/drawingml/2006/main" noGrp="1"/>
          </p:cNvSpPr>
          <p:nvPr/>
        </p:nvSpPr>
        <p:spPr>
          <a:xfrm xmlns:a="http://schemas.openxmlformats.org/drawingml/2006/main">
            <a:off x="6896140" y="2468880"/>
            <a:ext cx="1040034" cy="2011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980" b="1" spc="100">
                <a:solidFill>
                  <a:srgbClr val="A855F7"/>
                </a:solidFill>
                <a:latin typeface="Inter"/>
                <a:ea typeface="Inter"/>
                <a:cs typeface="Inter"/>
              </a:rPr>
              <a:t>SHARE</a:t>
            </a:r>
            <a:endParaRPr sz="780"/>
          </a:p>
        </p:txBody>
      </p:sp>
      <p:sp>
        <p:nvSpPr>
          <p:cNvPr id="12" name="Text 9">
            <a:extLst xmlns:a="http://schemas.openxmlformats.org/drawingml/2006/main">
              <a:ext uri="{FF2B5EF4-FFF2-40B4-BE49-F238E27FC236}">
                <a16:creationId xmlns:a16="http://schemas.microsoft.com/office/drawing/2014/main" id="{E82A2BB6-D2B3-4A19-BD3F-BCE8F753D5B4}"/>
              </a:ext>
            </a:extLst>
          </p:cNvPr>
          <p:cNvSpPr>
            <a:spLocks xmlns:a="http://schemas.openxmlformats.org/drawingml/2006/main" noGrp="1"/>
          </p:cNvSpPr>
          <p:nvPr/>
        </p:nvSpPr>
        <p:spPr>
          <a:xfrm xmlns:a="http://schemas.openxmlformats.org/drawingml/2006/main">
            <a:off x="6896140" y="2788920"/>
            <a:ext cx="1040034" cy="36576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gn="ctr">
              <a:lnSpc>
                <a:spcPct val="100000"/>
              </a:lnSpc>
              <a:buNone/>
            </a:pPr>
            <a:r>
              <a:rPr sz="1100" b="1">
                <a:solidFill>
                  <a:srgbClr val="F7F7FA"/>
                </a:solidFill>
                <a:latin typeface="Inter"/>
                <a:ea typeface="Inter"/>
                <a:cs typeface="Inter"/>
              </a:rPr>
              <a:t>Shared video link</a:t>
            </a:r>
            <a:endParaRPr sz="910"/>
          </a:p>
        </p:txBody>
      </p:sp>
      <p:sp>
        <p:nvSpPr>
          <p:cNvPr id="13" name="Text 10">
            <a:extLst xmlns:a="http://schemas.openxmlformats.org/drawingml/2006/main">
              <a:ext uri="{FF2B5EF4-FFF2-40B4-BE49-F238E27FC236}">
                <a16:creationId xmlns:a16="http://schemas.microsoft.com/office/drawing/2014/main" id="{E2A19BF8-A0E2-4749-BA27-5B912DFEE214}"/>
              </a:ext>
            </a:extLst>
          </p:cNvPr>
          <p:cNvSpPr>
            <a:spLocks xmlns:a="http://schemas.openxmlformats.org/drawingml/2006/main" noGrp="1"/>
          </p:cNvSpPr>
          <p:nvPr/>
        </p:nvSpPr>
        <p:spPr>
          <a:xfrm xmlns:a="http://schemas.openxmlformats.org/drawingml/2006/main">
            <a:off x="8010462" y="2670048"/>
            <a:ext cx="252580" cy="29260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1800" b="1">
                <a:solidFill>
                  <a:srgbClr val="6F6579"/>
                </a:solidFill>
                <a:latin typeface="Inter Display"/>
                <a:ea typeface="Inter Display"/>
                <a:cs typeface="Inter Display"/>
              </a:rPr>
              <a:t>›</a:t>
            </a:r>
            <a:endParaRPr sz="1800"/>
          </a:p>
        </p:txBody>
      </p:sp>
      <p:sp>
        <p:nvSpPr>
          <p:cNvPr id="14" name="Text 11">
            <a:extLst xmlns:a="http://schemas.openxmlformats.org/drawingml/2006/main">
              <a:ext uri="{FF2B5EF4-FFF2-40B4-BE49-F238E27FC236}">
                <a16:creationId xmlns:a16="http://schemas.microsoft.com/office/drawing/2014/main" id="{8A1B1B47-F022-4A23-8CFF-ACECC03764B8}"/>
              </a:ext>
            </a:extLst>
          </p:cNvPr>
          <p:cNvSpPr>
            <a:spLocks xmlns:a="http://schemas.openxmlformats.org/drawingml/2006/main" noGrp="1"/>
          </p:cNvSpPr>
          <p:nvPr/>
        </p:nvSpPr>
        <p:spPr>
          <a:xfrm xmlns:a="http://schemas.openxmlformats.org/drawingml/2006/main">
            <a:off x="8329901" y="2468880"/>
            <a:ext cx="1040034" cy="2011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980" b="1" spc="100">
                <a:solidFill>
                  <a:srgbClr val="A855F7"/>
                </a:solidFill>
                <a:latin typeface="Inter"/>
                <a:ea typeface="Inter"/>
                <a:cs typeface="Inter"/>
              </a:rPr>
              <a:t>DISCOVER</a:t>
            </a:r>
            <a:endParaRPr sz="780"/>
          </a:p>
        </p:txBody>
      </p:sp>
      <p:sp>
        <p:nvSpPr>
          <p:cNvPr id="15" name="Text 12">
            <a:extLst xmlns:a="http://schemas.openxmlformats.org/drawingml/2006/main">
              <a:ext uri="{FF2B5EF4-FFF2-40B4-BE49-F238E27FC236}">
                <a16:creationId xmlns:a16="http://schemas.microsoft.com/office/drawing/2014/main" id="{CE0F0F50-1133-4992-BE0A-45BD5276858B}"/>
              </a:ext>
            </a:extLst>
          </p:cNvPr>
          <p:cNvSpPr>
            <a:spLocks xmlns:a="http://schemas.openxmlformats.org/drawingml/2006/main" noGrp="1"/>
          </p:cNvSpPr>
          <p:nvPr/>
        </p:nvSpPr>
        <p:spPr>
          <a:xfrm xmlns:a="http://schemas.openxmlformats.org/drawingml/2006/main">
            <a:off x="8329901" y="2788920"/>
            <a:ext cx="1040034" cy="36576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gn="ctr">
              <a:lnSpc>
                <a:spcPct val="100000"/>
              </a:lnSpc>
              <a:buNone/>
            </a:pPr>
            <a:r>
              <a:rPr sz="1100" b="1">
                <a:solidFill>
                  <a:srgbClr val="F7F7FA"/>
                </a:solidFill>
                <a:latin typeface="Inter"/>
                <a:ea typeface="Inter"/>
                <a:cs typeface="Inter"/>
              </a:rPr>
              <a:t>Your club</a:t>
            </a:r>
            <a:endParaRPr sz="910"/>
          </a:p>
        </p:txBody>
      </p:sp>
      <p:sp>
        <p:nvSpPr>
          <p:cNvPr id="16" name="Text 13">
            <a:extLst xmlns:a="http://schemas.openxmlformats.org/drawingml/2006/main">
              <a:ext uri="{FF2B5EF4-FFF2-40B4-BE49-F238E27FC236}">
                <a16:creationId xmlns:a16="http://schemas.microsoft.com/office/drawing/2014/main" id="{653561F2-495F-4BEE-8511-45E4190C810F}"/>
              </a:ext>
            </a:extLst>
          </p:cNvPr>
          <p:cNvSpPr>
            <a:spLocks xmlns:a="http://schemas.openxmlformats.org/drawingml/2006/main" noGrp="1"/>
          </p:cNvSpPr>
          <p:nvPr/>
        </p:nvSpPr>
        <p:spPr>
          <a:xfrm xmlns:a="http://schemas.openxmlformats.org/drawingml/2006/main">
            <a:off x="9444223" y="2670048"/>
            <a:ext cx="252580" cy="29260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1800" b="1">
                <a:solidFill>
                  <a:srgbClr val="6F6579"/>
                </a:solidFill>
                <a:latin typeface="Inter Display"/>
                <a:ea typeface="Inter Display"/>
                <a:cs typeface="Inter Display"/>
              </a:rPr>
              <a:t>›</a:t>
            </a:r>
            <a:endParaRPr sz="1800"/>
          </a:p>
        </p:txBody>
      </p:sp>
      <p:sp>
        <p:nvSpPr>
          <p:cNvPr id="17" name="Text 14">
            <a:extLst xmlns:a="http://schemas.openxmlformats.org/drawingml/2006/main">
              <a:ext uri="{FF2B5EF4-FFF2-40B4-BE49-F238E27FC236}">
                <a16:creationId xmlns:a16="http://schemas.microsoft.com/office/drawing/2014/main" id="{425550FD-2FE9-46AE-91B8-712A198B4BA3}"/>
              </a:ext>
            </a:extLst>
          </p:cNvPr>
          <p:cNvSpPr>
            <a:spLocks xmlns:a="http://schemas.openxmlformats.org/drawingml/2006/main" noGrp="1"/>
          </p:cNvSpPr>
          <p:nvPr/>
        </p:nvSpPr>
        <p:spPr>
          <a:xfrm xmlns:a="http://schemas.openxmlformats.org/drawingml/2006/main">
            <a:off x="9763662" y="2468880"/>
            <a:ext cx="1040034" cy="2011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980" b="1" spc="100">
                <a:solidFill>
                  <a:srgbClr val="A855F7"/>
                </a:solidFill>
                <a:latin typeface="Inter"/>
                <a:ea typeface="Inter"/>
                <a:cs typeface="Inter"/>
              </a:rPr>
              <a:t>ACT</a:t>
            </a:r>
            <a:endParaRPr sz="780"/>
          </a:p>
        </p:txBody>
      </p:sp>
      <p:sp>
        <p:nvSpPr>
          <p:cNvPr id="18" name="Text 15">
            <a:extLst xmlns:a="http://schemas.openxmlformats.org/drawingml/2006/main">
              <a:ext uri="{FF2B5EF4-FFF2-40B4-BE49-F238E27FC236}">
                <a16:creationId xmlns:a16="http://schemas.microsoft.com/office/drawing/2014/main" id="{EB34B5A1-BADA-4D2B-B3B1-92704EB6D880}"/>
              </a:ext>
            </a:extLst>
          </p:cNvPr>
          <p:cNvSpPr>
            <a:spLocks xmlns:a="http://schemas.openxmlformats.org/drawingml/2006/main" noGrp="1"/>
          </p:cNvSpPr>
          <p:nvPr/>
        </p:nvSpPr>
        <p:spPr>
          <a:xfrm xmlns:a="http://schemas.openxmlformats.org/drawingml/2006/main">
            <a:off x="9763662" y="2788920"/>
            <a:ext cx="1040034" cy="36576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gn="ctr">
              <a:lnSpc>
                <a:spcPct val="100000"/>
              </a:lnSpc>
              <a:buNone/>
            </a:pPr>
            <a:r>
              <a:rPr sz="1100" b="1">
                <a:solidFill>
                  <a:srgbClr val="F7F7FA"/>
                </a:solidFill>
                <a:latin typeface="Inter"/>
                <a:ea typeface="Inter"/>
                <a:cs typeface="Inter"/>
              </a:rPr>
              <a:t>Venue page + offers</a:t>
            </a:r>
            <a:endParaRPr sz="910"/>
          </a:p>
        </p:txBody>
      </p:sp>
      <p:sp>
        <p:nvSpPr>
          <p:cNvPr id="19" name="Shape 16">
            <a:extLst xmlns:a="http://schemas.openxmlformats.org/drawingml/2006/main">
              <a:ext uri="{FF2B5EF4-FFF2-40B4-BE49-F238E27FC236}">
                <a16:creationId xmlns:a16="http://schemas.microsoft.com/office/drawing/2014/main" id="{E71A80B2-49F0-4A0C-B3D7-FC9A756DC0F0}"/>
              </a:ext>
            </a:extLst>
          </p:cNvPr>
          <p:cNvSpPr>
            <a:spLocks xmlns:a="http://schemas.openxmlformats.org/drawingml/2006/main" noGrp="1"/>
          </p:cNvSpPr>
          <p:nvPr/>
        </p:nvSpPr>
        <p:spPr>
          <a:xfrm xmlns:a="http://schemas.openxmlformats.org/drawingml/2006/main">
            <a:off x="5269230" y="3730752"/>
            <a:ext cx="6188202" cy="2523744"/>
          </a:xfrm>
          <a:prstGeom xmlns:a="http://schemas.openxmlformats.org/drawingml/2006/main" prst="roundRect">
            <a:avLst>
              <a:gd name="adj" fmla="val 2899"/>
            </a:avLst>
          </a:prstGeom>
          <a:solidFill xmlns:a="http://schemas.openxmlformats.org/drawingml/2006/main">
            <a:srgbClr val="0B0B10"/>
          </a:solidFill>
          <a:ln xmlns:a="http://schemas.openxmlformats.org/drawingml/2006/main" w="10160">
            <a:solidFill>
              <a:srgbClr val="2A2632"/>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0" name="Text 17">
            <a:extLst xmlns:a="http://schemas.openxmlformats.org/drawingml/2006/main">
              <a:ext uri="{FF2B5EF4-FFF2-40B4-BE49-F238E27FC236}">
                <a16:creationId xmlns:a16="http://schemas.microsoft.com/office/drawing/2014/main" id="{F792A088-F9A0-4346-B97C-F360E8D4D52E}"/>
              </a:ext>
            </a:extLst>
          </p:cNvPr>
          <p:cNvSpPr>
            <a:spLocks xmlns:a="http://schemas.openxmlformats.org/drawingml/2006/main" noGrp="1"/>
          </p:cNvSpPr>
          <p:nvPr/>
        </p:nvSpPr>
        <p:spPr>
          <a:xfrm xmlns:a="http://schemas.openxmlformats.org/drawingml/2006/main">
            <a:off x="5521810" y="4005072"/>
            <a:ext cx="2674373"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100" b="1" spc="80">
                <a:solidFill>
                  <a:srgbClr val="BFA7EA"/>
                </a:solidFill>
                <a:latin typeface="Inter"/>
                <a:ea typeface="Inter"/>
                <a:cs typeface="Inter"/>
              </a:rPr>
              <a:t>VIRAL REACH POTENTIAL</a:t>
            </a:r>
            <a:endParaRPr sz="900"/>
          </a:p>
        </p:txBody>
      </p:sp>
      <p:sp>
        <p:nvSpPr>
          <p:cNvPr id="21" name="Shape 18">
            <a:extLst xmlns:a="http://schemas.openxmlformats.org/drawingml/2006/main">
              <a:ext uri="{FF2B5EF4-FFF2-40B4-BE49-F238E27FC236}">
                <a16:creationId xmlns:a16="http://schemas.microsoft.com/office/drawing/2014/main" id="{A368E9C9-7535-4E51-A7A1-9246A975A60C}"/>
              </a:ext>
            </a:extLst>
          </p:cNvPr>
          <p:cNvSpPr>
            <a:spLocks xmlns:a="http://schemas.openxmlformats.org/drawingml/2006/main" noGrp="1"/>
          </p:cNvSpPr>
          <p:nvPr/>
        </p:nvSpPr>
        <p:spPr>
          <a:xfrm xmlns:a="http://schemas.openxmlformats.org/drawingml/2006/main">
            <a:off x="5529238" y="4498848"/>
            <a:ext cx="59431" cy="73152"/>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2" name="Text 19">
            <a:extLst xmlns:a="http://schemas.openxmlformats.org/drawingml/2006/main">
              <a:ext uri="{FF2B5EF4-FFF2-40B4-BE49-F238E27FC236}">
                <a16:creationId xmlns:a16="http://schemas.microsoft.com/office/drawing/2014/main" id="{EDB802DB-C2F5-486D-A8ED-DC1C6F249609}"/>
              </a:ext>
            </a:extLst>
          </p:cNvPr>
          <p:cNvSpPr>
            <a:spLocks xmlns:a="http://schemas.openxmlformats.org/drawingml/2006/main" noGrp="1"/>
          </p:cNvSpPr>
          <p:nvPr/>
        </p:nvSpPr>
        <p:spPr>
          <a:xfrm xmlns:a="http://schemas.openxmlformats.org/drawingml/2006/main">
            <a:off x="5685244" y="4443984"/>
            <a:ext cx="5333888"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nSpc>
                <a:spcPct val="100000"/>
              </a:lnSpc>
              <a:buNone/>
            </a:pPr>
            <a:r>
              <a:rPr sz="1100">
                <a:solidFill>
                  <a:srgbClr val="C9C5CF"/>
                </a:solidFill>
                <a:latin typeface="Inter"/>
                <a:ea typeface="Inter"/>
                <a:cs typeface="Inter"/>
              </a:rPr>
              <a:t>Shareable videos can reach beyond your current followers and bring new viewers to MyDancr.</a:t>
            </a:r>
            <a:endParaRPr sz="920"/>
          </a:p>
        </p:txBody>
      </p:sp>
      <p:sp>
        <p:nvSpPr>
          <p:cNvPr id="23" name="Shape 20">
            <a:extLst xmlns:a="http://schemas.openxmlformats.org/drawingml/2006/main">
              <a:ext uri="{FF2B5EF4-FFF2-40B4-BE49-F238E27FC236}">
                <a16:creationId xmlns:a16="http://schemas.microsoft.com/office/drawing/2014/main" id="{53C2BBFA-9F3A-46BC-9D96-CF190B826A97}"/>
              </a:ext>
            </a:extLst>
          </p:cNvPr>
          <p:cNvSpPr>
            <a:spLocks xmlns:a="http://schemas.openxmlformats.org/drawingml/2006/main" noGrp="1"/>
          </p:cNvSpPr>
          <p:nvPr/>
        </p:nvSpPr>
        <p:spPr>
          <a:xfrm xmlns:a="http://schemas.openxmlformats.org/drawingml/2006/main">
            <a:off x="5529238" y="4937760"/>
            <a:ext cx="59431" cy="73152"/>
          </a:xfrm>
          <a:prstGeom xmlns:a="http://schemas.openxmlformats.org/drawingml/2006/main" prst="ellipse">
            <a:avLst/>
          </a:prstGeom>
          <a:solidFill xmlns:a="http://schemas.openxmlformats.org/drawingml/2006/main">
            <a:srgbClr val="1ED59B"/>
          </a:solidFill>
          <a:ln xmlns:a="http://schemas.openxmlformats.org/drawingml/2006/main" w="12700">
            <a:solidFill>
              <a:srgbClr val="1ED59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4" name="Text 21">
            <a:extLst xmlns:a="http://schemas.openxmlformats.org/drawingml/2006/main">
              <a:ext uri="{FF2B5EF4-FFF2-40B4-BE49-F238E27FC236}">
                <a16:creationId xmlns:a16="http://schemas.microsoft.com/office/drawing/2014/main" id="{F674DFA1-3E57-4849-8D79-8F7CBC9423DD}"/>
              </a:ext>
            </a:extLst>
          </p:cNvPr>
          <p:cNvSpPr>
            <a:spLocks xmlns:a="http://schemas.openxmlformats.org/drawingml/2006/main" noGrp="1"/>
          </p:cNvSpPr>
          <p:nvPr/>
        </p:nvSpPr>
        <p:spPr>
          <a:xfrm xmlns:a="http://schemas.openxmlformats.org/drawingml/2006/main">
            <a:off x="5685244" y="4882896"/>
            <a:ext cx="5333888"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nSpc>
                <a:spcPct val="100000"/>
              </a:lnSpc>
              <a:buNone/>
            </a:pPr>
            <a:r>
              <a:rPr sz="1100">
                <a:solidFill>
                  <a:srgbClr val="EDE9F4"/>
                </a:solidFill>
                <a:latin typeface="Inter"/>
                <a:ea typeface="Inter"/>
                <a:cs typeface="Inter"/>
              </a:rPr>
              <a:t>Venue tags connect the video to your club, giving viewers a direct path to your venue page.</a:t>
            </a:r>
            <a:endParaRPr sz="920"/>
          </a:p>
        </p:txBody>
      </p:sp>
      <p:sp>
        <p:nvSpPr>
          <p:cNvPr id="25" name="Shape 22">
            <a:extLst xmlns:a="http://schemas.openxmlformats.org/drawingml/2006/main">
              <a:ext uri="{FF2B5EF4-FFF2-40B4-BE49-F238E27FC236}">
                <a16:creationId xmlns:a16="http://schemas.microsoft.com/office/drawing/2014/main" id="{8BAB79B7-94A1-4085-9EB3-8D074727DA59}"/>
              </a:ext>
            </a:extLst>
          </p:cNvPr>
          <p:cNvSpPr>
            <a:spLocks xmlns:a="http://schemas.openxmlformats.org/drawingml/2006/main" noGrp="1"/>
          </p:cNvSpPr>
          <p:nvPr/>
        </p:nvSpPr>
        <p:spPr>
          <a:xfrm xmlns:a="http://schemas.openxmlformats.org/drawingml/2006/main">
            <a:off x="5529238" y="5376672"/>
            <a:ext cx="59431" cy="73152"/>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6" name="Text 23">
            <a:extLst xmlns:a="http://schemas.openxmlformats.org/drawingml/2006/main">
              <a:ext uri="{FF2B5EF4-FFF2-40B4-BE49-F238E27FC236}">
                <a16:creationId xmlns:a16="http://schemas.microsoft.com/office/drawing/2014/main" id="{C838B6F7-1B2C-4C78-93DB-7B8E4942E896}"/>
              </a:ext>
            </a:extLst>
          </p:cNvPr>
          <p:cNvSpPr>
            <a:spLocks xmlns:a="http://schemas.openxmlformats.org/drawingml/2006/main" noGrp="1"/>
          </p:cNvSpPr>
          <p:nvPr/>
        </p:nvSpPr>
        <p:spPr>
          <a:xfrm xmlns:a="http://schemas.openxmlformats.org/drawingml/2006/main">
            <a:off x="5685244" y="5321808"/>
            <a:ext cx="5333888"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nSpc>
                <a:spcPct val="100000"/>
              </a:lnSpc>
              <a:buNone/>
            </a:pPr>
            <a:r>
              <a:rPr sz="1100">
                <a:solidFill>
                  <a:srgbClr val="C9C5CF"/>
                </a:solidFill>
                <a:latin typeface="Inter"/>
                <a:ea typeface="Inter"/>
                <a:cs typeface="Inter"/>
              </a:rPr>
              <a:t>A widely shared video can give the club substantial exposure and create more opportunities for visits.</a:t>
            </a:r>
            <a:endParaRPr sz="920"/>
          </a:p>
        </p:txBody>
      </p:sp>
      <p:sp>
        <p:nvSpPr>
          <p:cNvPr id="27" name="Shape 24">
            <a:extLst xmlns:a="http://schemas.openxmlformats.org/drawingml/2006/main">
              <a:ext uri="{FF2B5EF4-FFF2-40B4-BE49-F238E27FC236}">
                <a16:creationId xmlns:a16="http://schemas.microsoft.com/office/drawing/2014/main" id="{5C4B548C-FB80-45D2-901A-3024D31EABC9}"/>
              </a:ext>
            </a:extLst>
          </p:cNvPr>
          <p:cNvSpPr>
            <a:spLocks xmlns:a="http://schemas.openxmlformats.org/drawingml/2006/main" noGrp="1"/>
          </p:cNvSpPr>
          <p:nvPr/>
        </p:nvSpPr>
        <p:spPr>
          <a:xfrm xmlns:a="http://schemas.openxmlformats.org/drawingml/2006/main">
            <a:off x="5529238" y="5815584"/>
            <a:ext cx="59431" cy="73152"/>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8" name="Text 25">
            <a:extLst xmlns:a="http://schemas.openxmlformats.org/drawingml/2006/main">
              <a:ext uri="{FF2B5EF4-FFF2-40B4-BE49-F238E27FC236}">
                <a16:creationId xmlns:a16="http://schemas.microsoft.com/office/drawing/2014/main" id="{45A7F149-4608-46C2-9929-B4CD576E014C}"/>
              </a:ext>
            </a:extLst>
          </p:cNvPr>
          <p:cNvSpPr>
            <a:spLocks xmlns:a="http://schemas.openxmlformats.org/drawingml/2006/main" noGrp="1"/>
          </p:cNvSpPr>
          <p:nvPr/>
        </p:nvSpPr>
        <p:spPr>
          <a:xfrm xmlns:a="http://schemas.openxmlformats.org/drawingml/2006/main">
            <a:off x="5685244" y="5760720"/>
            <a:ext cx="5333888"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nSpc>
                <a:spcPct val="100000"/>
              </a:lnSpc>
              <a:buNone/>
            </a:pPr>
            <a:r>
              <a:rPr sz="1100">
                <a:solidFill>
                  <a:srgbClr val="C9C5CF"/>
                </a:solidFill>
                <a:latin typeface="Inter"/>
                <a:ea typeface="Inter"/>
                <a:cs typeface="Inter"/>
              </a:rPr>
              <a:t>Track eligible TV views and club actions to see which content attracts interest.</a:t>
            </a:r>
            <a:endParaRPr sz="920"/>
          </a:p>
        </p:txBody>
      </p:sp>
      <p:sp>
        <p:nvSpPr>
          <p:cNvPr id="29" name="Text 26">
            <a:extLst xmlns:a="http://schemas.openxmlformats.org/drawingml/2006/main">
              <a:ext uri="{FF2B5EF4-FFF2-40B4-BE49-F238E27FC236}">
                <a16:creationId xmlns:a16="http://schemas.microsoft.com/office/drawing/2014/main" id="{20B0C065-F360-4F92-B4E8-611C01FE5098}"/>
              </a:ext>
            </a:extLst>
          </p:cNvPr>
          <p:cNvSpPr>
            <a:spLocks xmlns:a="http://schemas.openxmlformats.org/drawingml/2006/main" noGrp="1"/>
          </p:cNvSpPr>
          <p:nvPr/>
        </p:nvSpPr>
        <p:spPr>
          <a:xfrm xmlns:a="http://schemas.openxmlformats.org/drawingml/2006/main">
            <a:off x="576072" y="6515100"/>
            <a:ext cx="1092708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nSpc>
                <a:spcPct val="100000"/>
              </a:lnSpc>
              <a:buNone/>
            </a:pPr>
            <a:r>
              <a:rPr sz="869">
                <a:solidFill>
                  <a:srgbClr val="66616E"/>
                </a:solidFill>
                <a:latin typeface="Inter"/>
                <a:ea typeface="Inter"/>
                <a:cs typeface="Inter"/>
              </a:rPr>
              <a:t>Demo interface with fictional content. Viral reach and audience size depend on sharing and engagement and are not guaranteed.</a:t>
            </a:r>
            <a:endParaRPr sz="670"/>
          </a:p>
        </p:txBody>
      </p:sp>
      <p:sp>
        <p:nvSpPr>
          <p:cNvPr id="31" name="Slide Number Placeholder 0">
            <a:extLst xmlns:a="http://schemas.openxmlformats.org/drawingml/2006/main">
              <a:ext uri="{FF2B5EF4-FFF2-40B4-BE49-F238E27FC236}">
                <a16:creationId xmlns:a16="http://schemas.microsoft.com/office/drawing/2014/main" id="{DE473514-74FF-4EBD-9793-D52968F80594}"/>
              </a:ext>
            </a:extLst>
          </p:cNvPr>
          <p:cNvSpPr>
            <a:spLocks xmlns:a="http://schemas.openxmlformats.org/drawingml/2006/main" noGrp="1"/>
          </p:cNvSpPr>
          <p:nvPr>
            <p:ph type="sldNum" idx="4294967295"/>
          </p:nvPr>
        </p:nvSpPr>
        <p:spPr>
          <a:xfrm xmlns:a="http://schemas.openxmlformats.org/drawingml/2006/main">
            <a:off x="11155680" y="164592"/>
            <a:ext cx="502920" cy="228600"/>
          </a:xfrm>
          <a:prstGeom xmlns:a="http://schemas.openxmlformats.org/drawingml/2006/main" prst="rect">
            <a:avLst/>
          </a:prstGeom>
        </p:spPr>
        <p:txBody>
          <a:bodyPr xmlns:a="http://schemas.openxmlformats.org/drawingml/2006/main" wrap="square" lIns="27432" tIns="13716" rIns="27432" bIns="13716"/>
          <a:lstStyle xmlns:a="http://schemas.openxmlformats.org/drawingml/2006/main">
            <a:lvl1pPr>
              <a:buNone/>
              <a:defRPr sz="850">
                <a:solidFill>
                  <a:srgbClr val="686572"/>
                </a:solidFill>
                <a:latin typeface="Inter"/>
                <a:ea typeface="Inter"/>
                <a:cs typeface="Inter"/>
              </a:defRPr>
            </a:lvl1pPr>
          </a:lstStyle>
          <a:p xmlns:a="http://schemas.openxmlformats.org/drawingml/2006/main">
            <a:r>
              <a:rPr sz="900">
                <a:solidFill>
                  <a:srgbClr val="6D6875"/>
                </a:solidFill>
                <a:latin typeface="Inter"/>
              </a:rPr>
              <a:t>4</a:t>
            </a:r>
          </a:p>
        </p:txBody>
      </p:sp>
    </p:spTree>
    <p:extLst>
      <p:ext uri="{BB962C8B-B14F-4D97-AF65-F5344CB8AC3E}">
        <p14:creationId xmlns:p14="http://schemas.microsoft.com/office/powerpoint/2010/main" val="19684119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C00E82F-3C2A-408D-97A1-F7CCE60801CE}"/>
              </a:ext>
            </a:extLst>
          </p:cNvPr>
          <p:cNvSpPr>
            <a:spLocks xmlns:a="http://schemas.openxmlformats.org/drawingml/2006/main" noGrp="1"/>
          </p:cNvSpPr>
          <p:nvPr/>
        </p:nvSpPr>
        <p:spPr>
          <a:xfrm xmlns:a="http://schemas.openxmlformats.org/drawingml/2006/main">
            <a:off x="566928" y="576072"/>
            <a:ext cx="2377440"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b="1" spc="160">
                <a:solidFill>
                  <a:srgbClr val="A855F7"/>
                </a:solidFill>
                <a:latin typeface="Inter"/>
                <a:ea typeface="Inter"/>
                <a:cs typeface="Inter"/>
              </a:rPr>
              <a:t>INSIDE THE CLUB</a:t>
            </a:r>
            <a:endParaRPr sz="950"/>
          </a:p>
        </p:txBody>
      </p:sp>
      <p:sp>
        <p:nvSpPr>
          <p:cNvPr id="3" name="Text 1">
            <a:extLst xmlns:a="http://schemas.openxmlformats.org/drawingml/2006/main">
              <a:ext uri="{FF2B5EF4-FFF2-40B4-BE49-F238E27FC236}">
                <a16:creationId xmlns:a16="http://schemas.microsoft.com/office/drawing/2014/main" id="{78504C4B-0F81-41B7-BF1F-D2862EC9DE6C}"/>
              </a:ext>
            </a:extLst>
          </p:cNvPr>
          <p:cNvSpPr>
            <a:spLocks xmlns:a="http://schemas.openxmlformats.org/drawingml/2006/main" noGrp="1"/>
          </p:cNvSpPr>
          <p:nvPr/>
        </p:nvSpPr>
        <p:spPr>
          <a:xfrm xmlns:a="http://schemas.openxmlformats.org/drawingml/2006/main">
            <a:off x="566928" y="850392"/>
            <a:ext cx="10744200" cy="6400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3000" b="1">
                <a:solidFill>
                  <a:srgbClr val="F7F7FA"/>
                </a:solidFill>
                <a:latin typeface="Inter Display"/>
                <a:ea typeface="Inter Display"/>
                <a:cs typeface="Inter Display"/>
              </a:rPr>
              <a:t>Turn “I want to meet her” into a structured staff request.</a:t>
            </a:r>
            <a:endParaRPr sz="2800"/>
          </a:p>
        </p:txBody>
      </p:sp>
      <p:sp>
        <p:nvSpPr>
          <p:cNvPr id="4" name="Text 2">
            <a:extLst xmlns:a="http://schemas.openxmlformats.org/drawingml/2006/main">
              <a:ext uri="{FF2B5EF4-FFF2-40B4-BE49-F238E27FC236}">
                <a16:creationId xmlns:a16="http://schemas.microsoft.com/office/drawing/2014/main" id="{A1F1F1C6-A188-42A9-8419-1D1D77DEB4A9}"/>
              </a:ext>
            </a:extLst>
          </p:cNvPr>
          <p:cNvSpPr>
            <a:spLocks xmlns:a="http://schemas.openxmlformats.org/drawingml/2006/main" noGrp="1"/>
          </p:cNvSpPr>
          <p:nvPr/>
        </p:nvSpPr>
        <p:spPr>
          <a:xfrm xmlns:a="http://schemas.openxmlformats.org/drawingml/2006/main">
            <a:off x="566928" y="1517904"/>
            <a:ext cx="10561320" cy="49377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a:solidFill>
                  <a:srgbClr val="A09CAA"/>
                </a:solidFill>
                <a:latin typeface="Inter"/>
                <a:ea typeface="Inter"/>
                <a:cs typeface="Inter"/>
              </a:rPr>
              <a:t>The optional table experience is designed to reduce friction for the guest while keeping coordination with venue staff.</a:t>
            </a:r>
            <a:endParaRPr sz="1220"/>
          </a:p>
        </p:txBody>
      </p:sp>
      <p:sp>
        <p:nvSpPr>
          <p:cNvPr id="5" name="Shape 3">
            <a:extLst xmlns:a="http://schemas.openxmlformats.org/drawingml/2006/main">
              <a:ext uri="{FF2B5EF4-FFF2-40B4-BE49-F238E27FC236}">
                <a16:creationId xmlns:a16="http://schemas.microsoft.com/office/drawing/2014/main" id="{E20E932A-BD36-4403-B542-E37676973337}"/>
              </a:ext>
            </a:extLst>
          </p:cNvPr>
          <p:cNvSpPr>
            <a:spLocks xmlns:a="http://schemas.openxmlformats.org/drawingml/2006/main" noGrp="1"/>
          </p:cNvSpPr>
          <p:nvPr/>
        </p:nvSpPr>
        <p:spPr>
          <a:xfrm xmlns:a="http://schemas.openxmlformats.org/drawingml/2006/main">
            <a:off x="626364" y="2125980"/>
            <a:ext cx="3035808" cy="4242816"/>
          </a:xfrm>
          <a:prstGeom xmlns:a="http://schemas.openxmlformats.org/drawingml/2006/main" prst="roundRect">
            <a:avLst>
              <a:gd name="adj" fmla="val 3012"/>
            </a:avLst>
          </a:prstGeom>
          <a:solidFill xmlns:a="http://schemas.openxmlformats.org/drawingml/2006/main">
            <a:srgbClr val="16141B"/>
          </a:solidFill>
          <a:ln xmlns:a="http://schemas.openxmlformats.org/drawingml/2006/main" w="11430">
            <a:solidFill>
              <a:srgbClr val="45404E"/>
            </a:solidFill>
            <a:prstDash val="solid"/>
          </a:ln>
          <a:effectLst xmlns:a="http://schemas.openxmlformats.org/drawingml/2006/main">
            <a:outerShdw blurRad="25400" dist="50800" dir="2700000" sx="100000" sy="100000" kx="0" ky="0" algn="bl" rotWithShape="0">
              <a:srgbClr val="000000">
                <a:alpha val="33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f8a17a7503c34e1d"/>
          <a:srcRect xmlns:a="http://schemas.openxmlformats.org/drawingml/2006/main" l="0" t="21944" r="0" b="21944"/>
          <a:stretch xmlns:a="http://schemas.openxmlformats.org/drawingml/2006/main"/>
        </p:blipFill>
        <p:spPr>
          <a:xfrm xmlns:a="http://schemas.openxmlformats.org/drawingml/2006/main">
            <a:off x="658368" y="2157984"/>
            <a:ext cx="2971800" cy="417880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D5CF8DD0-D147-489D-8D40-12411015E63B}"/>
              </a:ext>
            </a:extLst>
          </p:cNvPr>
          <p:cNvSpPr>
            <a:spLocks xmlns:a="http://schemas.openxmlformats.org/drawingml/2006/main" noGrp="1"/>
          </p:cNvSpPr>
          <p:nvPr/>
        </p:nvSpPr>
        <p:spPr>
          <a:xfrm xmlns:a="http://schemas.openxmlformats.org/drawingml/2006/main">
            <a:off x="4005072" y="2157984"/>
            <a:ext cx="7516368" cy="4178808"/>
          </a:xfrm>
          <a:prstGeom xmlns:a="http://schemas.openxmlformats.org/drawingml/2006/main" prst="roundRect">
            <a:avLst>
              <a:gd name="adj" fmla="val 1751"/>
            </a:avLst>
          </a:prstGeom>
          <a:solidFill xmlns:a="http://schemas.openxmlformats.org/drawingml/2006/main">
            <a:srgbClr val="0D0D12"/>
          </a:solidFill>
          <a:ln xmlns:a="http://schemas.openxmlformats.org/drawingml/2006/main" w="10160">
            <a:solidFill>
              <a:srgbClr val="302A3B"/>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8" name="Text 5">
            <a:extLst xmlns:a="http://schemas.openxmlformats.org/drawingml/2006/main">
              <a:ext uri="{FF2B5EF4-FFF2-40B4-BE49-F238E27FC236}">
                <a16:creationId xmlns:a16="http://schemas.microsoft.com/office/drawing/2014/main" id="{A276A023-5097-4F80-95A0-9F015789FD70}"/>
              </a:ext>
            </a:extLst>
          </p:cNvPr>
          <p:cNvSpPr>
            <a:spLocks xmlns:a="http://schemas.openxmlformats.org/drawingml/2006/main" noGrp="1"/>
          </p:cNvSpPr>
          <p:nvPr/>
        </p:nvSpPr>
        <p:spPr>
          <a:xfrm xmlns:a="http://schemas.openxmlformats.org/drawingml/2006/main">
            <a:off x="4370832" y="2551176"/>
            <a:ext cx="384048" cy="31089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360" b="1">
                <a:solidFill>
                  <a:srgbClr val="A855F7"/>
                </a:solidFill>
                <a:latin typeface="Inter Display"/>
                <a:ea typeface="Inter Display"/>
                <a:cs typeface="Inter Display"/>
              </a:rPr>
              <a:t>01</a:t>
            </a:r>
            <a:endParaRPr sz="1200"/>
          </a:p>
        </p:txBody>
      </p:sp>
      <p:sp>
        <p:nvSpPr>
          <p:cNvPr id="9" name="Text 6">
            <a:extLst xmlns:a="http://schemas.openxmlformats.org/drawingml/2006/main">
              <a:ext uri="{FF2B5EF4-FFF2-40B4-BE49-F238E27FC236}">
                <a16:creationId xmlns:a16="http://schemas.microsoft.com/office/drawing/2014/main" id="{456C6388-179D-4035-8F4B-BE8BC305F0E5}"/>
              </a:ext>
            </a:extLst>
          </p:cNvPr>
          <p:cNvSpPr>
            <a:spLocks xmlns:a="http://schemas.openxmlformats.org/drawingml/2006/main" noGrp="1"/>
          </p:cNvSpPr>
          <p:nvPr/>
        </p:nvSpPr>
        <p:spPr>
          <a:xfrm xmlns:a="http://schemas.openxmlformats.org/drawingml/2006/main">
            <a:off x="4809744" y="2542032"/>
            <a:ext cx="6190488" cy="23774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SCAN THE TABLE QR</a:t>
            </a:r>
            <a:endParaRPr sz="1050"/>
          </a:p>
        </p:txBody>
      </p:sp>
      <p:sp>
        <p:nvSpPr>
          <p:cNvPr id="10" name="Text 7">
            <a:extLst xmlns:a="http://schemas.openxmlformats.org/drawingml/2006/main">
              <a:ext uri="{FF2B5EF4-FFF2-40B4-BE49-F238E27FC236}">
                <a16:creationId xmlns:a16="http://schemas.microsoft.com/office/drawing/2014/main" id="{21200484-ED0D-4F62-AAA8-249089695DDB}"/>
              </a:ext>
            </a:extLst>
          </p:cNvPr>
          <p:cNvSpPr>
            <a:spLocks xmlns:a="http://schemas.openxmlformats.org/drawingml/2006/main" noGrp="1"/>
          </p:cNvSpPr>
          <p:nvPr/>
        </p:nvSpPr>
        <p:spPr>
          <a:xfrm xmlns:a="http://schemas.openxmlformats.org/drawingml/2006/main">
            <a:off x="4809744" y="2816352"/>
            <a:ext cx="6190488" cy="53035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The guest opens that club’s current eligible roster.</a:t>
            </a:r>
            <a:endParaRPr sz="890"/>
          </a:p>
        </p:txBody>
      </p:sp>
      <p:sp>
        <p:nvSpPr>
          <p:cNvPr id="11" name="Shape 8">
            <a:extLst xmlns:a="http://schemas.openxmlformats.org/drawingml/2006/main">
              <a:ext uri="{FF2B5EF4-FFF2-40B4-BE49-F238E27FC236}">
                <a16:creationId xmlns:a16="http://schemas.microsoft.com/office/drawing/2014/main" id="{EBCAF7A3-0996-4640-8813-95F7199353D2}"/>
              </a:ext>
            </a:extLst>
          </p:cNvPr>
          <p:cNvSpPr>
            <a:spLocks xmlns:a="http://schemas.openxmlformats.org/drawingml/2006/main" noGrp="1"/>
          </p:cNvSpPr>
          <p:nvPr/>
        </p:nvSpPr>
        <p:spPr>
          <a:xfrm xmlns:a="http://schemas.openxmlformats.org/drawingml/2006/main">
            <a:off x="4370832" y="3401568"/>
            <a:ext cx="6583680" cy="0"/>
          </a:xfrm>
          <a:prstGeom xmlns:a="http://schemas.openxmlformats.org/drawingml/2006/main" prst="line">
            <a:avLst/>
          </a:prstGeom>
          <a:noFill xmlns:a="http://schemas.openxmlformats.org/drawingml/2006/main"/>
          <a:ln xmlns:a="http://schemas.openxmlformats.org/drawingml/2006/main" w="10160">
            <a:solidFill>
              <a:srgbClr val="2D2934"/>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2" name="Text 9">
            <a:extLst xmlns:a="http://schemas.openxmlformats.org/drawingml/2006/main">
              <a:ext uri="{FF2B5EF4-FFF2-40B4-BE49-F238E27FC236}">
                <a16:creationId xmlns:a16="http://schemas.microsoft.com/office/drawing/2014/main" id="{5E98BECC-7DF5-4F25-B247-37DB752A5C19}"/>
              </a:ext>
            </a:extLst>
          </p:cNvPr>
          <p:cNvSpPr>
            <a:spLocks xmlns:a="http://schemas.openxmlformats.org/drawingml/2006/main" noGrp="1"/>
          </p:cNvSpPr>
          <p:nvPr/>
        </p:nvSpPr>
        <p:spPr>
          <a:xfrm xmlns:a="http://schemas.openxmlformats.org/drawingml/2006/main">
            <a:off x="4370832" y="3639312"/>
            <a:ext cx="384048" cy="31089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360" b="1">
                <a:solidFill>
                  <a:srgbClr val="A855F7"/>
                </a:solidFill>
                <a:latin typeface="Inter Display"/>
                <a:ea typeface="Inter Display"/>
                <a:cs typeface="Inter Display"/>
              </a:rPr>
              <a:t>02</a:t>
            </a:r>
            <a:endParaRPr sz="1200"/>
          </a:p>
        </p:txBody>
      </p:sp>
      <p:sp>
        <p:nvSpPr>
          <p:cNvPr id="13" name="Text 10">
            <a:extLst xmlns:a="http://schemas.openxmlformats.org/drawingml/2006/main">
              <a:ext uri="{FF2B5EF4-FFF2-40B4-BE49-F238E27FC236}">
                <a16:creationId xmlns:a16="http://schemas.microsoft.com/office/drawing/2014/main" id="{C97C8494-18A7-4531-AD6F-47BA388E8E35}"/>
              </a:ext>
            </a:extLst>
          </p:cNvPr>
          <p:cNvSpPr>
            <a:spLocks xmlns:a="http://schemas.openxmlformats.org/drawingml/2006/main" noGrp="1"/>
          </p:cNvSpPr>
          <p:nvPr/>
        </p:nvSpPr>
        <p:spPr>
          <a:xfrm xmlns:a="http://schemas.openxmlformats.org/drawingml/2006/main">
            <a:off x="4809744" y="3630168"/>
            <a:ext cx="6190488" cy="23774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EXPLORE A FULL PROFILE</a:t>
            </a:r>
            <a:endParaRPr sz="1050"/>
          </a:p>
        </p:txBody>
      </p:sp>
      <p:sp>
        <p:nvSpPr>
          <p:cNvPr id="14" name="Text 11">
            <a:extLst xmlns:a="http://schemas.openxmlformats.org/drawingml/2006/main">
              <a:ext uri="{FF2B5EF4-FFF2-40B4-BE49-F238E27FC236}">
                <a16:creationId xmlns:a16="http://schemas.microsoft.com/office/drawing/2014/main" id="{41A66F55-BB68-4366-BC00-62C124F87ADA}"/>
              </a:ext>
            </a:extLst>
          </p:cNvPr>
          <p:cNvSpPr>
            <a:spLocks xmlns:a="http://schemas.openxmlformats.org/drawingml/2006/main" noGrp="1"/>
          </p:cNvSpPr>
          <p:nvPr/>
        </p:nvSpPr>
        <p:spPr>
          <a:xfrm xmlns:a="http://schemas.openxmlformats.org/drawingml/2006/main">
            <a:off x="4809744" y="3904488"/>
            <a:ext cx="6190488" cy="53035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Approved photos and videos help the guest choose.</a:t>
            </a:r>
            <a:endParaRPr sz="890"/>
          </a:p>
        </p:txBody>
      </p:sp>
      <p:sp>
        <p:nvSpPr>
          <p:cNvPr id="15" name="Shape 12">
            <a:extLst xmlns:a="http://schemas.openxmlformats.org/drawingml/2006/main">
              <a:ext uri="{FF2B5EF4-FFF2-40B4-BE49-F238E27FC236}">
                <a16:creationId xmlns:a16="http://schemas.microsoft.com/office/drawing/2014/main" id="{BDB60B9C-9C53-4ED5-9B17-F2461FF1C512}"/>
              </a:ext>
            </a:extLst>
          </p:cNvPr>
          <p:cNvSpPr>
            <a:spLocks xmlns:a="http://schemas.openxmlformats.org/drawingml/2006/main" noGrp="1"/>
          </p:cNvSpPr>
          <p:nvPr/>
        </p:nvSpPr>
        <p:spPr>
          <a:xfrm xmlns:a="http://schemas.openxmlformats.org/drawingml/2006/main">
            <a:off x="4370832" y="4498848"/>
            <a:ext cx="6583680" cy="0"/>
          </a:xfrm>
          <a:prstGeom xmlns:a="http://schemas.openxmlformats.org/drawingml/2006/main" prst="line">
            <a:avLst/>
          </a:prstGeom>
          <a:noFill xmlns:a="http://schemas.openxmlformats.org/drawingml/2006/main"/>
          <a:ln xmlns:a="http://schemas.openxmlformats.org/drawingml/2006/main" w="10160">
            <a:solidFill>
              <a:srgbClr val="2D2934"/>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6" name="Text 13">
            <a:extLst xmlns:a="http://schemas.openxmlformats.org/drawingml/2006/main">
              <a:ext uri="{FF2B5EF4-FFF2-40B4-BE49-F238E27FC236}">
                <a16:creationId xmlns:a16="http://schemas.microsoft.com/office/drawing/2014/main" id="{282D3080-9A22-43D4-8004-5B6400385762}"/>
              </a:ext>
            </a:extLst>
          </p:cNvPr>
          <p:cNvSpPr>
            <a:spLocks xmlns:a="http://schemas.openxmlformats.org/drawingml/2006/main" noGrp="1"/>
          </p:cNvSpPr>
          <p:nvPr/>
        </p:nvSpPr>
        <p:spPr>
          <a:xfrm xmlns:a="http://schemas.openxmlformats.org/drawingml/2006/main">
            <a:off x="4370832" y="4736592"/>
            <a:ext cx="384048" cy="31089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360" b="1">
                <a:solidFill>
                  <a:srgbClr val="A855F7"/>
                </a:solidFill>
                <a:latin typeface="Inter Display"/>
                <a:ea typeface="Inter Display"/>
                <a:cs typeface="Inter Display"/>
              </a:rPr>
              <a:t>03</a:t>
            </a:r>
            <a:endParaRPr sz="1200"/>
          </a:p>
        </p:txBody>
      </p:sp>
      <p:sp>
        <p:nvSpPr>
          <p:cNvPr id="17" name="Text 14">
            <a:extLst xmlns:a="http://schemas.openxmlformats.org/drawingml/2006/main">
              <a:ext uri="{FF2B5EF4-FFF2-40B4-BE49-F238E27FC236}">
                <a16:creationId xmlns:a16="http://schemas.microsoft.com/office/drawing/2014/main" id="{510B2921-5DBB-42C9-B0F3-94F28015FE85}"/>
              </a:ext>
            </a:extLst>
          </p:cNvPr>
          <p:cNvSpPr>
            <a:spLocks xmlns:a="http://schemas.openxmlformats.org/drawingml/2006/main" noGrp="1"/>
          </p:cNvSpPr>
          <p:nvPr/>
        </p:nvSpPr>
        <p:spPr>
          <a:xfrm xmlns:a="http://schemas.openxmlformats.org/drawingml/2006/main">
            <a:off x="4809744" y="4727448"/>
            <a:ext cx="6190488" cy="23774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SEND A REQUEST TO STAFF</a:t>
            </a:r>
            <a:endParaRPr sz="1050"/>
          </a:p>
        </p:txBody>
      </p:sp>
      <p:sp>
        <p:nvSpPr>
          <p:cNvPr id="18" name="Text 15">
            <a:extLst xmlns:a="http://schemas.openxmlformats.org/drawingml/2006/main">
              <a:ext uri="{FF2B5EF4-FFF2-40B4-BE49-F238E27FC236}">
                <a16:creationId xmlns:a16="http://schemas.microsoft.com/office/drawing/2014/main" id="{3E4B8722-A139-491A-BCF0-674A2EC5C275}"/>
              </a:ext>
            </a:extLst>
          </p:cNvPr>
          <p:cNvSpPr>
            <a:spLocks xmlns:a="http://schemas.openxmlformats.org/drawingml/2006/main" noGrp="1"/>
          </p:cNvSpPr>
          <p:nvPr/>
        </p:nvSpPr>
        <p:spPr>
          <a:xfrm xmlns:a="http://schemas.openxmlformats.org/drawingml/2006/main">
            <a:off x="4809744" y="5001768"/>
            <a:ext cx="6190488" cy="53035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The request identifies the dancer and table so the venue team can coordinate.</a:t>
            </a:r>
            <a:endParaRPr sz="890"/>
          </a:p>
        </p:txBody>
      </p:sp>
      <p:sp>
        <p:nvSpPr>
          <p:cNvPr id="19" name="Shape 16">
            <a:extLst xmlns:a="http://schemas.openxmlformats.org/drawingml/2006/main">
              <a:ext uri="{FF2B5EF4-FFF2-40B4-BE49-F238E27FC236}">
                <a16:creationId xmlns:a16="http://schemas.microsoft.com/office/drawing/2014/main" id="{6589D5D8-472D-417D-A0C3-A75499E2D37B}"/>
              </a:ext>
            </a:extLst>
          </p:cNvPr>
          <p:cNvSpPr>
            <a:spLocks xmlns:a="http://schemas.openxmlformats.org/drawingml/2006/main" noGrp="1"/>
          </p:cNvSpPr>
          <p:nvPr/>
        </p:nvSpPr>
        <p:spPr>
          <a:xfrm xmlns:a="http://schemas.openxmlformats.org/drawingml/2006/main">
            <a:off x="4389120" y="5742432"/>
            <a:ext cx="6565392" cy="420624"/>
          </a:xfrm>
          <a:prstGeom xmlns:a="http://schemas.openxmlformats.org/drawingml/2006/main" prst="roundRect">
            <a:avLst>
              <a:gd name="adj" fmla="val 17391"/>
            </a:avLst>
          </a:prstGeom>
          <a:solidFill xmlns:a="http://schemas.openxmlformats.org/drawingml/2006/main">
            <a:srgbClr val="111A16"/>
          </a:solidFill>
          <a:ln xmlns:a="http://schemas.openxmlformats.org/drawingml/2006/main" w="8890">
            <a:solidFill>
              <a:srgbClr val="215E49"/>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0" name="Text 17">
            <a:extLst xmlns:a="http://schemas.openxmlformats.org/drawingml/2006/main">
              <a:ext uri="{FF2B5EF4-FFF2-40B4-BE49-F238E27FC236}">
                <a16:creationId xmlns:a16="http://schemas.microsoft.com/office/drawing/2014/main" id="{1C4FBE2F-4AC4-451B-9984-C260B11AB1DC}"/>
              </a:ext>
            </a:extLst>
          </p:cNvPr>
          <p:cNvSpPr>
            <a:spLocks xmlns:a="http://schemas.openxmlformats.org/drawingml/2006/main" noGrp="1"/>
          </p:cNvSpPr>
          <p:nvPr/>
        </p:nvSpPr>
        <p:spPr>
          <a:xfrm xmlns:a="http://schemas.openxmlformats.org/drawingml/2006/main">
            <a:off x="4599432" y="5852160"/>
            <a:ext cx="6144768" cy="17373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1100" b="1">
                <a:solidFill>
                  <a:srgbClr val="BFF3DE"/>
                </a:solidFill>
                <a:latin typeface="Inter"/>
                <a:ea typeface="Inter"/>
                <a:cs typeface="Inter"/>
              </a:rPr>
              <a:t>CLUB BENEFIT  •  lower-friction guest request + clearer staff handoff</a:t>
            </a:r>
            <a:endParaRPr sz="880"/>
          </a:p>
        </p:txBody>
      </p:sp>
      <p:sp>
        <p:nvSpPr>
          <p:cNvPr id="21" name="Text 18">
            <a:extLst xmlns:a="http://schemas.openxmlformats.org/drawingml/2006/main">
              <a:ext uri="{FF2B5EF4-FFF2-40B4-BE49-F238E27FC236}">
                <a16:creationId xmlns:a16="http://schemas.microsoft.com/office/drawing/2014/main" id="{8EEEFB7E-6EFE-4733-99AF-B7E6B47266CB}"/>
              </a:ext>
            </a:extLst>
          </p:cNvPr>
          <p:cNvSpPr>
            <a:spLocks xmlns:a="http://schemas.openxmlformats.org/drawingml/2006/main" noGrp="1"/>
          </p:cNvSpPr>
          <p:nvPr/>
        </p:nvSpPr>
        <p:spPr>
          <a:xfrm xmlns:a="http://schemas.openxmlformats.org/drawingml/2006/main">
            <a:off x="576072" y="6515100"/>
            <a:ext cx="1092708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869">
                <a:solidFill>
                  <a:srgbClr val="66616E"/>
                </a:solidFill>
                <a:latin typeface="Inter"/>
                <a:ea typeface="Inter"/>
                <a:cs typeface="Inter"/>
              </a:rPr>
              <a:t>No customer-to-dancer messaging, payment, pricing or negotiation in the table-request flow. Requests do not confirm dancer acceptance or a purchase.</a:t>
            </a:r>
            <a:endParaRPr sz="670"/>
          </a:p>
        </p:txBody>
      </p:sp>
      <p:sp>
        <p:nvSpPr>
          <p:cNvPr id="25" name="Slide Number Placeholder 0">
            <a:extLst xmlns:a="http://schemas.openxmlformats.org/drawingml/2006/main">
              <a:ext uri="{FF2B5EF4-FFF2-40B4-BE49-F238E27FC236}">
                <a16:creationId xmlns:a16="http://schemas.microsoft.com/office/drawing/2014/main" id="{4BB47657-E1F2-46AE-8E82-9F8F1FE2951D}"/>
              </a:ext>
            </a:extLst>
          </p:cNvPr>
          <p:cNvSpPr>
            <a:spLocks xmlns:a="http://schemas.openxmlformats.org/drawingml/2006/main" noGrp="1"/>
          </p:cNvSpPr>
          <p:nvPr>
            <p:ph type="sldNum" idx="4294967295"/>
          </p:nvPr>
        </p:nvSpPr>
        <p:spPr>
          <a:xfrm xmlns:a="http://schemas.openxmlformats.org/drawingml/2006/main">
            <a:off x="11155680" y="164592"/>
            <a:ext cx="502920" cy="228600"/>
          </a:xfrm>
          <a:prstGeom xmlns:a="http://schemas.openxmlformats.org/drawingml/2006/main" prst="rect">
            <a:avLst/>
          </a:prstGeom>
        </p:spPr>
        <p:txBody>
          <a:bodyPr xmlns:a="http://schemas.openxmlformats.org/drawingml/2006/main" wrap="square" lIns="27432" tIns="13716" rIns="27432" bIns="13716"/>
          <a:lstStyle xmlns:a="http://schemas.openxmlformats.org/drawingml/2006/main">
            <a:lvl1pPr>
              <a:buNone/>
              <a:defRPr sz="850">
                <a:solidFill>
                  <a:srgbClr val="686572"/>
                </a:solidFill>
                <a:latin typeface="Inter"/>
                <a:ea typeface="Inter"/>
                <a:cs typeface="Inter"/>
              </a:defRPr>
            </a:lvl1pPr>
          </a:lstStyle>
          <a:p xmlns:a="http://schemas.openxmlformats.org/drawingml/2006/main">
            <a:r>
              <a:rPr sz="900">
                <a:solidFill>
                  <a:srgbClr val="6D6875"/>
                </a:solidFill>
                <a:latin typeface="Inter"/>
              </a:rPr>
              <a:t>5</a:t>
            </a:r>
          </a:p>
        </p:txBody>
      </p:sp>
    </p:spTree>
    <p:extLst>
      <p:ext uri="{BB962C8B-B14F-4D97-AF65-F5344CB8AC3E}">
        <p14:creationId xmlns:p14="http://schemas.microsoft.com/office/powerpoint/2010/main" val="41094402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6B732B0-B520-4295-A1AA-03082FFF719B}"/>
              </a:ext>
            </a:extLst>
          </p:cNvPr>
          <p:cNvSpPr>
            <a:spLocks xmlns:a="http://schemas.openxmlformats.org/drawingml/2006/main" noGrp="1"/>
          </p:cNvSpPr>
          <p:nvPr/>
        </p:nvSpPr>
        <p:spPr>
          <a:xfrm xmlns:a="http://schemas.openxmlformats.org/drawingml/2006/main">
            <a:off x="566928" y="576072"/>
            <a:ext cx="2377440"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b="1" spc="160">
                <a:solidFill>
                  <a:srgbClr val="A855F7"/>
                </a:solidFill>
                <a:latin typeface="Inter"/>
                <a:ea typeface="Inter"/>
                <a:cs typeface="Inter"/>
              </a:rPr>
              <a:t>CONTROL</a:t>
            </a:r>
            <a:endParaRPr sz="950"/>
          </a:p>
        </p:txBody>
      </p:sp>
      <p:sp>
        <p:nvSpPr>
          <p:cNvPr id="3" name="Text 1">
            <a:extLst xmlns:a="http://schemas.openxmlformats.org/drawingml/2006/main">
              <a:ext uri="{FF2B5EF4-FFF2-40B4-BE49-F238E27FC236}">
                <a16:creationId xmlns:a16="http://schemas.microsoft.com/office/drawing/2014/main" id="{9055083D-7A1A-4662-8760-16B683D70590}"/>
              </a:ext>
            </a:extLst>
          </p:cNvPr>
          <p:cNvSpPr>
            <a:spLocks xmlns:a="http://schemas.openxmlformats.org/drawingml/2006/main" noGrp="1"/>
          </p:cNvSpPr>
          <p:nvPr/>
        </p:nvSpPr>
        <p:spPr>
          <a:xfrm xmlns:a="http://schemas.openxmlformats.org/drawingml/2006/main">
            <a:off x="566928" y="850392"/>
            <a:ext cx="10744200" cy="6400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3000" b="1">
                <a:solidFill>
                  <a:srgbClr val="F7F7FA"/>
                </a:solidFill>
                <a:latin typeface="Inter Display"/>
                <a:ea typeface="Inter Display"/>
                <a:cs typeface="Inter Display"/>
              </a:rPr>
              <a:t>Add a digital layer without taking operating control away from the club.</a:t>
            </a:r>
            <a:endParaRPr sz="2800"/>
          </a:p>
        </p:txBody>
      </p:sp>
      <p:sp>
        <p:nvSpPr>
          <p:cNvPr id="4" name="Text 2">
            <a:extLst xmlns:a="http://schemas.openxmlformats.org/drawingml/2006/main">
              <a:ext uri="{FF2B5EF4-FFF2-40B4-BE49-F238E27FC236}">
                <a16:creationId xmlns:a16="http://schemas.microsoft.com/office/drawing/2014/main" id="{F55493B6-8ED3-4E2C-9F77-67E0D532F890}"/>
              </a:ext>
            </a:extLst>
          </p:cNvPr>
          <p:cNvSpPr>
            <a:spLocks xmlns:a="http://schemas.openxmlformats.org/drawingml/2006/main" noGrp="1"/>
          </p:cNvSpPr>
          <p:nvPr/>
        </p:nvSpPr>
        <p:spPr>
          <a:xfrm xmlns:a="http://schemas.openxmlformats.org/drawingml/2006/main">
            <a:off x="566928" y="1517904"/>
            <a:ext cx="10561320" cy="49377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a:solidFill>
                  <a:srgbClr val="A09CAA"/>
                </a:solidFill>
                <a:latin typeface="Inter"/>
                <a:ea typeface="Inter"/>
                <a:cs typeface="Inter"/>
              </a:rPr>
              <a:t>MyDancr provides the platform and support; the venue keeps control of local rules, staff and guest handling.</a:t>
            </a:r>
            <a:endParaRPr sz="1220"/>
          </a:p>
        </p:txBody>
      </p:sp>
      <p:sp>
        <p:nvSpPr>
          <p:cNvPr id="5" name="Shape 3">
            <a:extLst xmlns:a="http://schemas.openxmlformats.org/drawingml/2006/main">
              <a:ext uri="{FF2B5EF4-FFF2-40B4-BE49-F238E27FC236}">
                <a16:creationId xmlns:a16="http://schemas.microsoft.com/office/drawing/2014/main" id="{1CDCE3FC-7243-4454-9538-407B5E4EF9BD}"/>
              </a:ext>
            </a:extLst>
          </p:cNvPr>
          <p:cNvSpPr>
            <a:spLocks xmlns:a="http://schemas.openxmlformats.org/drawingml/2006/main" noGrp="1"/>
          </p:cNvSpPr>
          <p:nvPr/>
        </p:nvSpPr>
        <p:spPr>
          <a:xfrm xmlns:a="http://schemas.openxmlformats.org/drawingml/2006/main">
            <a:off x="658368" y="2331720"/>
            <a:ext cx="3218688" cy="3566160"/>
          </a:xfrm>
          <a:prstGeom xmlns:a="http://schemas.openxmlformats.org/drawingml/2006/main" prst="roundRect">
            <a:avLst>
              <a:gd name="adj" fmla="val 2273"/>
            </a:avLst>
          </a:prstGeom>
          <a:solidFill xmlns:a="http://schemas.openxmlformats.org/drawingml/2006/main">
            <a:srgbClr val="0D0D12"/>
          </a:solidFill>
          <a:ln xmlns:a="http://schemas.openxmlformats.org/drawingml/2006/main" w="10160">
            <a:solidFill>
              <a:srgbClr val="302B38"/>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6" name="Shape 4">
            <a:extLst xmlns:a="http://schemas.openxmlformats.org/drawingml/2006/main">
              <a:ext uri="{FF2B5EF4-FFF2-40B4-BE49-F238E27FC236}">
                <a16:creationId xmlns:a16="http://schemas.microsoft.com/office/drawing/2014/main" id="{D856547D-C72E-49F9-85CA-A2960187F208}"/>
              </a:ext>
            </a:extLst>
          </p:cNvPr>
          <p:cNvSpPr>
            <a:spLocks xmlns:a="http://schemas.openxmlformats.org/drawingml/2006/main" noGrp="1"/>
          </p:cNvSpPr>
          <p:nvPr/>
        </p:nvSpPr>
        <p:spPr>
          <a:xfrm xmlns:a="http://schemas.openxmlformats.org/drawingml/2006/main">
            <a:off x="658368" y="2331720"/>
            <a:ext cx="3218688" cy="54864"/>
          </a:xfrm>
          <a:prstGeom xmlns:a="http://schemas.openxmlformats.org/drawingml/2006/main" prst="rect">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7" name="Text 5">
            <a:extLst xmlns:a="http://schemas.openxmlformats.org/drawingml/2006/main">
              <a:ext uri="{FF2B5EF4-FFF2-40B4-BE49-F238E27FC236}">
                <a16:creationId xmlns:a16="http://schemas.microsoft.com/office/drawing/2014/main" id="{BF2218A7-4582-41C5-B434-558307EBF2A2}"/>
              </a:ext>
            </a:extLst>
          </p:cNvPr>
          <p:cNvSpPr>
            <a:spLocks xmlns:a="http://schemas.openxmlformats.org/drawingml/2006/main" noGrp="1"/>
          </p:cNvSpPr>
          <p:nvPr/>
        </p:nvSpPr>
        <p:spPr>
          <a:xfrm xmlns:a="http://schemas.openxmlformats.org/drawingml/2006/main">
            <a:off x="886968" y="2651760"/>
            <a:ext cx="2697480" cy="25603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550" b="1">
                <a:solidFill>
                  <a:srgbClr val="F7F7FA"/>
                </a:solidFill>
                <a:latin typeface="Inter Display"/>
                <a:ea typeface="Inter Display"/>
                <a:cs typeface="Inter Display"/>
              </a:rPr>
              <a:t>MYDANCR</a:t>
            </a:r>
            <a:endParaRPr sz="1300"/>
          </a:p>
        </p:txBody>
      </p:sp>
      <p:sp>
        <p:nvSpPr>
          <p:cNvPr id="8" name="Text 6">
            <a:extLst xmlns:a="http://schemas.openxmlformats.org/drawingml/2006/main">
              <a:ext uri="{FF2B5EF4-FFF2-40B4-BE49-F238E27FC236}">
                <a16:creationId xmlns:a16="http://schemas.microsoft.com/office/drawing/2014/main" id="{5D344054-913F-40DD-A395-7C4545777BC4}"/>
              </a:ext>
            </a:extLst>
          </p:cNvPr>
          <p:cNvSpPr>
            <a:spLocks xmlns:a="http://schemas.openxmlformats.org/drawingml/2006/main" noGrp="1"/>
          </p:cNvSpPr>
          <p:nvPr/>
        </p:nvSpPr>
        <p:spPr>
          <a:xfrm xmlns:a="http://schemas.openxmlformats.org/drawingml/2006/main">
            <a:off x="886968" y="2962656"/>
            <a:ext cx="2697480" cy="21031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100" b="1">
                <a:solidFill>
                  <a:srgbClr val="A855F7"/>
                </a:solidFill>
                <a:latin typeface="Inter"/>
                <a:ea typeface="Inter"/>
                <a:cs typeface="Inter"/>
              </a:rPr>
              <a:t>Platform + enablement</a:t>
            </a:r>
            <a:endParaRPr sz="870"/>
          </a:p>
        </p:txBody>
      </p:sp>
      <p:sp>
        <p:nvSpPr>
          <p:cNvPr id="9" name="Shape 7">
            <a:extLst xmlns:a="http://schemas.openxmlformats.org/drawingml/2006/main">
              <a:ext uri="{FF2B5EF4-FFF2-40B4-BE49-F238E27FC236}">
                <a16:creationId xmlns:a16="http://schemas.microsoft.com/office/drawing/2014/main" id="{90408752-32E6-45F2-952E-DA69599F44C7}"/>
              </a:ext>
            </a:extLst>
          </p:cNvPr>
          <p:cNvSpPr>
            <a:spLocks xmlns:a="http://schemas.openxmlformats.org/drawingml/2006/main" noGrp="1"/>
          </p:cNvSpPr>
          <p:nvPr/>
        </p:nvSpPr>
        <p:spPr>
          <a:xfrm xmlns:a="http://schemas.openxmlformats.org/drawingml/2006/main">
            <a:off x="905256" y="3474720"/>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0" name="Text 8">
            <a:extLst xmlns:a="http://schemas.openxmlformats.org/drawingml/2006/main">
              <a:ext uri="{FF2B5EF4-FFF2-40B4-BE49-F238E27FC236}">
                <a16:creationId xmlns:a16="http://schemas.microsoft.com/office/drawing/2014/main" id="{572C2D55-AFE9-4134-A079-16FFF111DEC5}"/>
              </a:ext>
            </a:extLst>
          </p:cNvPr>
          <p:cNvSpPr>
            <a:spLocks xmlns:a="http://schemas.openxmlformats.org/drawingml/2006/main" noGrp="1"/>
          </p:cNvSpPr>
          <p:nvPr/>
        </p:nvSpPr>
        <p:spPr>
          <a:xfrm xmlns:a="http://schemas.openxmlformats.org/drawingml/2006/main">
            <a:off x="1097280" y="342900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Venue workspace + prepared official page</a:t>
            </a:r>
            <a:endParaRPr sz="890"/>
          </a:p>
        </p:txBody>
      </p:sp>
      <p:sp>
        <p:nvSpPr>
          <p:cNvPr id="11" name="Shape 9">
            <a:extLst xmlns:a="http://schemas.openxmlformats.org/drawingml/2006/main">
              <a:ext uri="{FF2B5EF4-FFF2-40B4-BE49-F238E27FC236}">
                <a16:creationId xmlns:a16="http://schemas.microsoft.com/office/drawing/2014/main" id="{76480135-2C37-4393-825F-9EB9DA6734E5}"/>
              </a:ext>
            </a:extLst>
          </p:cNvPr>
          <p:cNvSpPr>
            <a:spLocks xmlns:a="http://schemas.openxmlformats.org/drawingml/2006/main" noGrp="1"/>
          </p:cNvSpPr>
          <p:nvPr/>
        </p:nvSpPr>
        <p:spPr>
          <a:xfrm xmlns:a="http://schemas.openxmlformats.org/drawingml/2006/main">
            <a:off x="905256" y="3977640"/>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2" name="Text 10">
            <a:extLst xmlns:a="http://schemas.openxmlformats.org/drawingml/2006/main">
              <a:ext uri="{FF2B5EF4-FFF2-40B4-BE49-F238E27FC236}">
                <a16:creationId xmlns:a16="http://schemas.microsoft.com/office/drawing/2014/main" id="{3718E17A-8E85-4BB7-BFE4-ECAF7102475D}"/>
              </a:ext>
            </a:extLst>
          </p:cNvPr>
          <p:cNvSpPr>
            <a:spLocks xmlns:a="http://schemas.openxmlformats.org/drawingml/2006/main" noGrp="1"/>
          </p:cNvSpPr>
          <p:nvPr/>
        </p:nvSpPr>
        <p:spPr>
          <a:xfrm xmlns:a="http://schemas.openxmlformats.org/drawingml/2006/main">
            <a:off x="1097280" y="393192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Onboarding and staff training</a:t>
            </a:r>
            <a:endParaRPr sz="890"/>
          </a:p>
        </p:txBody>
      </p:sp>
      <p:sp>
        <p:nvSpPr>
          <p:cNvPr id="13" name="Shape 11">
            <a:extLst xmlns:a="http://schemas.openxmlformats.org/drawingml/2006/main">
              <a:ext uri="{FF2B5EF4-FFF2-40B4-BE49-F238E27FC236}">
                <a16:creationId xmlns:a16="http://schemas.microsoft.com/office/drawing/2014/main" id="{ACFBEAC3-438B-4FAD-A819-B17B3BDE2D61}"/>
              </a:ext>
            </a:extLst>
          </p:cNvPr>
          <p:cNvSpPr>
            <a:spLocks xmlns:a="http://schemas.openxmlformats.org/drawingml/2006/main" noGrp="1"/>
          </p:cNvSpPr>
          <p:nvPr/>
        </p:nvSpPr>
        <p:spPr>
          <a:xfrm xmlns:a="http://schemas.openxmlformats.org/drawingml/2006/main">
            <a:off x="905256" y="4480560"/>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4" name="Text 12">
            <a:extLst xmlns:a="http://schemas.openxmlformats.org/drawingml/2006/main">
              <a:ext uri="{FF2B5EF4-FFF2-40B4-BE49-F238E27FC236}">
                <a16:creationId xmlns:a16="http://schemas.microsoft.com/office/drawing/2014/main" id="{4C0DB4A3-55E2-4CC1-A478-9CD0600A60FB}"/>
              </a:ext>
            </a:extLst>
          </p:cNvPr>
          <p:cNvSpPr>
            <a:spLocks xmlns:a="http://schemas.openxmlformats.org/drawingml/2006/main" noGrp="1"/>
          </p:cNvSpPr>
          <p:nvPr/>
        </p:nvSpPr>
        <p:spPr>
          <a:xfrm xmlns:a="http://schemas.openxmlformats.org/drawingml/2006/main">
            <a:off x="1097280" y="443484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Reporting + review cadence</a:t>
            </a:r>
            <a:endParaRPr sz="890"/>
          </a:p>
        </p:txBody>
      </p:sp>
      <p:sp>
        <p:nvSpPr>
          <p:cNvPr id="15" name="Shape 13">
            <a:extLst xmlns:a="http://schemas.openxmlformats.org/drawingml/2006/main">
              <a:ext uri="{FF2B5EF4-FFF2-40B4-BE49-F238E27FC236}">
                <a16:creationId xmlns:a16="http://schemas.microsoft.com/office/drawing/2014/main" id="{618F2251-6C87-4C1A-961C-2BB71AC2A8FA}"/>
              </a:ext>
            </a:extLst>
          </p:cNvPr>
          <p:cNvSpPr>
            <a:spLocks xmlns:a="http://schemas.openxmlformats.org/drawingml/2006/main" noGrp="1"/>
          </p:cNvSpPr>
          <p:nvPr/>
        </p:nvSpPr>
        <p:spPr>
          <a:xfrm xmlns:a="http://schemas.openxmlformats.org/drawingml/2006/main">
            <a:off x="905256" y="4983480"/>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6" name="Text 14">
            <a:extLst xmlns:a="http://schemas.openxmlformats.org/drawingml/2006/main">
              <a:ext uri="{FF2B5EF4-FFF2-40B4-BE49-F238E27FC236}">
                <a16:creationId xmlns:a16="http://schemas.microsoft.com/office/drawing/2014/main" id="{10FF4FBB-D2F2-4B98-987B-C3B4743D3033}"/>
              </a:ext>
            </a:extLst>
          </p:cNvPr>
          <p:cNvSpPr>
            <a:spLocks xmlns:a="http://schemas.openxmlformats.org/drawingml/2006/main" noGrp="1"/>
          </p:cNvSpPr>
          <p:nvPr/>
        </p:nvSpPr>
        <p:spPr>
          <a:xfrm xmlns:a="http://schemas.openxmlformats.org/drawingml/2006/main">
            <a:off x="1097280" y="493776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Launch support + product updates</a:t>
            </a:r>
            <a:endParaRPr sz="890"/>
          </a:p>
        </p:txBody>
      </p:sp>
      <p:sp>
        <p:nvSpPr>
          <p:cNvPr id="17" name="Shape 15">
            <a:extLst xmlns:a="http://schemas.openxmlformats.org/drawingml/2006/main">
              <a:ext uri="{FF2B5EF4-FFF2-40B4-BE49-F238E27FC236}">
                <a16:creationId xmlns:a16="http://schemas.microsoft.com/office/drawing/2014/main" id="{E349D07D-F993-4A26-BC21-94B0EB4DA2F2}"/>
              </a:ext>
            </a:extLst>
          </p:cNvPr>
          <p:cNvSpPr>
            <a:spLocks xmlns:a="http://schemas.openxmlformats.org/drawingml/2006/main" noGrp="1"/>
          </p:cNvSpPr>
          <p:nvPr/>
        </p:nvSpPr>
        <p:spPr>
          <a:xfrm xmlns:a="http://schemas.openxmlformats.org/drawingml/2006/main">
            <a:off x="4123944" y="2331720"/>
            <a:ext cx="3218688" cy="3566160"/>
          </a:xfrm>
          <a:prstGeom xmlns:a="http://schemas.openxmlformats.org/drawingml/2006/main" prst="roundRect">
            <a:avLst>
              <a:gd name="adj" fmla="val 2273"/>
            </a:avLst>
          </a:prstGeom>
          <a:solidFill xmlns:a="http://schemas.openxmlformats.org/drawingml/2006/main">
            <a:srgbClr val="0E1211"/>
          </a:solidFill>
          <a:ln xmlns:a="http://schemas.openxmlformats.org/drawingml/2006/main" w="10160">
            <a:solidFill>
              <a:srgbClr val="21483B"/>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8" name="Shape 16">
            <a:extLst xmlns:a="http://schemas.openxmlformats.org/drawingml/2006/main">
              <a:ext uri="{FF2B5EF4-FFF2-40B4-BE49-F238E27FC236}">
                <a16:creationId xmlns:a16="http://schemas.microsoft.com/office/drawing/2014/main" id="{457B89C2-6EB5-438B-A3FB-322F478ABC23}"/>
              </a:ext>
            </a:extLst>
          </p:cNvPr>
          <p:cNvSpPr>
            <a:spLocks xmlns:a="http://schemas.openxmlformats.org/drawingml/2006/main" noGrp="1"/>
          </p:cNvSpPr>
          <p:nvPr/>
        </p:nvSpPr>
        <p:spPr>
          <a:xfrm xmlns:a="http://schemas.openxmlformats.org/drawingml/2006/main">
            <a:off x="4123944" y="2331720"/>
            <a:ext cx="3218688" cy="54864"/>
          </a:xfrm>
          <a:prstGeom xmlns:a="http://schemas.openxmlformats.org/drawingml/2006/main" prst="rect">
            <a:avLst/>
          </a:prstGeom>
          <a:solidFill xmlns:a="http://schemas.openxmlformats.org/drawingml/2006/main">
            <a:srgbClr val="1ED59B"/>
          </a:solidFill>
          <a:ln xmlns:a="http://schemas.openxmlformats.org/drawingml/2006/main" w="12700">
            <a:solidFill>
              <a:srgbClr val="1ED59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9" name="Text 17">
            <a:extLst xmlns:a="http://schemas.openxmlformats.org/drawingml/2006/main">
              <a:ext uri="{FF2B5EF4-FFF2-40B4-BE49-F238E27FC236}">
                <a16:creationId xmlns:a16="http://schemas.microsoft.com/office/drawing/2014/main" id="{90FB8934-EAFA-4047-AB82-2EDC6B88FB29}"/>
              </a:ext>
            </a:extLst>
          </p:cNvPr>
          <p:cNvSpPr>
            <a:spLocks xmlns:a="http://schemas.openxmlformats.org/drawingml/2006/main" noGrp="1"/>
          </p:cNvSpPr>
          <p:nvPr/>
        </p:nvSpPr>
        <p:spPr>
          <a:xfrm xmlns:a="http://schemas.openxmlformats.org/drawingml/2006/main">
            <a:off x="4352544" y="2651760"/>
            <a:ext cx="2697480" cy="25603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550" b="1">
                <a:solidFill>
                  <a:srgbClr val="F7F7FA"/>
                </a:solidFill>
                <a:latin typeface="Inter Display"/>
                <a:ea typeface="Inter Display"/>
                <a:cs typeface="Inter Display"/>
              </a:rPr>
              <a:t>YOUR CLUB</a:t>
            </a:r>
            <a:endParaRPr sz="1300"/>
          </a:p>
        </p:txBody>
      </p:sp>
      <p:sp>
        <p:nvSpPr>
          <p:cNvPr id="20" name="Text 18">
            <a:extLst xmlns:a="http://schemas.openxmlformats.org/drawingml/2006/main">
              <a:ext uri="{FF2B5EF4-FFF2-40B4-BE49-F238E27FC236}">
                <a16:creationId xmlns:a16="http://schemas.microsoft.com/office/drawing/2014/main" id="{2C3D4EDA-6230-40FF-9877-1B7694333D46}"/>
              </a:ext>
            </a:extLst>
          </p:cNvPr>
          <p:cNvSpPr>
            <a:spLocks xmlns:a="http://schemas.openxmlformats.org/drawingml/2006/main" noGrp="1"/>
          </p:cNvSpPr>
          <p:nvPr/>
        </p:nvSpPr>
        <p:spPr>
          <a:xfrm xmlns:a="http://schemas.openxmlformats.org/drawingml/2006/main">
            <a:off x="4352544" y="2962656"/>
            <a:ext cx="2697480" cy="21031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100" b="1">
                <a:solidFill>
                  <a:srgbClr val="1ED59B"/>
                </a:solidFill>
                <a:latin typeface="Inter"/>
                <a:ea typeface="Inter"/>
                <a:cs typeface="Inter"/>
              </a:rPr>
              <a:t>Local control</a:t>
            </a:r>
            <a:endParaRPr sz="870"/>
          </a:p>
        </p:txBody>
      </p:sp>
      <p:sp>
        <p:nvSpPr>
          <p:cNvPr id="21" name="Shape 19">
            <a:extLst xmlns:a="http://schemas.openxmlformats.org/drawingml/2006/main">
              <a:ext uri="{FF2B5EF4-FFF2-40B4-BE49-F238E27FC236}">
                <a16:creationId xmlns:a16="http://schemas.microsoft.com/office/drawing/2014/main" id="{AE9AC57D-0976-4FF1-B184-D6BEA7267678}"/>
              </a:ext>
            </a:extLst>
          </p:cNvPr>
          <p:cNvSpPr>
            <a:spLocks xmlns:a="http://schemas.openxmlformats.org/drawingml/2006/main" noGrp="1"/>
          </p:cNvSpPr>
          <p:nvPr/>
        </p:nvSpPr>
        <p:spPr>
          <a:xfrm xmlns:a="http://schemas.openxmlformats.org/drawingml/2006/main">
            <a:off x="4370832" y="3474720"/>
            <a:ext cx="68580" cy="68580"/>
          </a:xfrm>
          <a:prstGeom xmlns:a="http://schemas.openxmlformats.org/drawingml/2006/main" prst="ellipse">
            <a:avLst/>
          </a:prstGeom>
          <a:solidFill xmlns:a="http://schemas.openxmlformats.org/drawingml/2006/main">
            <a:srgbClr val="1ED59B"/>
          </a:solidFill>
          <a:ln xmlns:a="http://schemas.openxmlformats.org/drawingml/2006/main" w="12700">
            <a:solidFill>
              <a:srgbClr val="1ED59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2" name="Text 20">
            <a:extLst xmlns:a="http://schemas.openxmlformats.org/drawingml/2006/main">
              <a:ext uri="{FF2B5EF4-FFF2-40B4-BE49-F238E27FC236}">
                <a16:creationId xmlns:a16="http://schemas.microsoft.com/office/drawing/2014/main" id="{40958643-100D-4598-8D31-BCC3DAE203D7}"/>
              </a:ext>
            </a:extLst>
          </p:cNvPr>
          <p:cNvSpPr>
            <a:spLocks xmlns:a="http://schemas.openxmlformats.org/drawingml/2006/main" noGrp="1"/>
          </p:cNvSpPr>
          <p:nvPr/>
        </p:nvSpPr>
        <p:spPr>
          <a:xfrm xmlns:a="http://schemas.openxmlformats.org/drawingml/2006/main">
            <a:off x="4562856" y="342900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Approve the exact venue page</a:t>
            </a:r>
            <a:endParaRPr sz="890"/>
          </a:p>
        </p:txBody>
      </p:sp>
      <p:sp>
        <p:nvSpPr>
          <p:cNvPr id="23" name="Shape 21">
            <a:extLst xmlns:a="http://schemas.openxmlformats.org/drawingml/2006/main">
              <a:ext uri="{FF2B5EF4-FFF2-40B4-BE49-F238E27FC236}">
                <a16:creationId xmlns:a16="http://schemas.microsoft.com/office/drawing/2014/main" id="{A8B0B124-AC8E-49C7-86FD-4999C277BB9A}"/>
              </a:ext>
            </a:extLst>
          </p:cNvPr>
          <p:cNvSpPr>
            <a:spLocks xmlns:a="http://schemas.openxmlformats.org/drawingml/2006/main" noGrp="1"/>
          </p:cNvSpPr>
          <p:nvPr/>
        </p:nvSpPr>
        <p:spPr>
          <a:xfrm xmlns:a="http://schemas.openxmlformats.org/drawingml/2006/main">
            <a:off x="4370832" y="3977640"/>
            <a:ext cx="68580" cy="68580"/>
          </a:xfrm>
          <a:prstGeom xmlns:a="http://schemas.openxmlformats.org/drawingml/2006/main" prst="ellipse">
            <a:avLst/>
          </a:prstGeom>
          <a:solidFill xmlns:a="http://schemas.openxmlformats.org/drawingml/2006/main">
            <a:srgbClr val="1ED59B"/>
          </a:solidFill>
          <a:ln xmlns:a="http://schemas.openxmlformats.org/drawingml/2006/main" w="12700">
            <a:solidFill>
              <a:srgbClr val="1ED59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4" name="Text 22">
            <a:extLst xmlns:a="http://schemas.openxmlformats.org/drawingml/2006/main">
              <a:ext uri="{FF2B5EF4-FFF2-40B4-BE49-F238E27FC236}">
                <a16:creationId xmlns:a16="http://schemas.microsoft.com/office/drawing/2014/main" id="{922A3D2F-E035-4D2B-AA14-E48FFA2962E3}"/>
              </a:ext>
            </a:extLst>
          </p:cNvPr>
          <p:cNvSpPr>
            <a:spLocks xmlns:a="http://schemas.openxmlformats.org/drawingml/2006/main" noGrp="1"/>
          </p:cNvSpPr>
          <p:nvPr/>
        </p:nvSpPr>
        <p:spPr>
          <a:xfrm xmlns:a="http://schemas.openxmlformats.org/drawingml/2006/main">
            <a:off x="4562856" y="393192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Set local offer + operating rules</a:t>
            </a:r>
            <a:endParaRPr sz="890"/>
          </a:p>
        </p:txBody>
      </p:sp>
      <p:sp>
        <p:nvSpPr>
          <p:cNvPr id="25" name="Shape 23">
            <a:extLst xmlns:a="http://schemas.openxmlformats.org/drawingml/2006/main">
              <a:ext uri="{FF2B5EF4-FFF2-40B4-BE49-F238E27FC236}">
                <a16:creationId xmlns:a16="http://schemas.microsoft.com/office/drawing/2014/main" id="{88060472-1C55-4796-A259-7CCED1A4B939}"/>
              </a:ext>
            </a:extLst>
          </p:cNvPr>
          <p:cNvSpPr>
            <a:spLocks xmlns:a="http://schemas.openxmlformats.org/drawingml/2006/main" noGrp="1"/>
          </p:cNvSpPr>
          <p:nvPr/>
        </p:nvSpPr>
        <p:spPr>
          <a:xfrm xmlns:a="http://schemas.openxmlformats.org/drawingml/2006/main">
            <a:off x="4370832" y="4480560"/>
            <a:ext cx="68580" cy="68580"/>
          </a:xfrm>
          <a:prstGeom xmlns:a="http://schemas.openxmlformats.org/drawingml/2006/main" prst="ellipse">
            <a:avLst/>
          </a:prstGeom>
          <a:solidFill xmlns:a="http://schemas.openxmlformats.org/drawingml/2006/main">
            <a:srgbClr val="1ED59B"/>
          </a:solidFill>
          <a:ln xmlns:a="http://schemas.openxmlformats.org/drawingml/2006/main" w="12700">
            <a:solidFill>
              <a:srgbClr val="1ED59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6" name="Text 24">
            <a:extLst xmlns:a="http://schemas.openxmlformats.org/drawingml/2006/main">
              <a:ext uri="{FF2B5EF4-FFF2-40B4-BE49-F238E27FC236}">
                <a16:creationId xmlns:a16="http://schemas.microsoft.com/office/drawing/2014/main" id="{8FF3A33E-66D2-4696-A202-A28F716CEB53}"/>
              </a:ext>
            </a:extLst>
          </p:cNvPr>
          <p:cNvSpPr>
            <a:spLocks xmlns:a="http://schemas.openxmlformats.org/drawingml/2006/main" noGrp="1"/>
          </p:cNvSpPr>
          <p:nvPr/>
        </p:nvSpPr>
        <p:spPr>
          <a:xfrm xmlns:a="http://schemas.openxmlformats.org/drawingml/2006/main">
            <a:off x="4562856" y="443484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Control authorized staff access</a:t>
            </a:r>
            <a:endParaRPr sz="890"/>
          </a:p>
        </p:txBody>
      </p:sp>
      <p:sp>
        <p:nvSpPr>
          <p:cNvPr id="27" name="Shape 25">
            <a:extLst xmlns:a="http://schemas.openxmlformats.org/drawingml/2006/main">
              <a:ext uri="{FF2B5EF4-FFF2-40B4-BE49-F238E27FC236}">
                <a16:creationId xmlns:a16="http://schemas.microsoft.com/office/drawing/2014/main" id="{E2B4A14B-BBF1-4E69-8D90-F40E9C1CBC52}"/>
              </a:ext>
            </a:extLst>
          </p:cNvPr>
          <p:cNvSpPr>
            <a:spLocks xmlns:a="http://schemas.openxmlformats.org/drawingml/2006/main" noGrp="1"/>
          </p:cNvSpPr>
          <p:nvPr/>
        </p:nvSpPr>
        <p:spPr>
          <a:xfrm xmlns:a="http://schemas.openxmlformats.org/drawingml/2006/main">
            <a:off x="4370832" y="4983480"/>
            <a:ext cx="68580" cy="68580"/>
          </a:xfrm>
          <a:prstGeom xmlns:a="http://schemas.openxmlformats.org/drawingml/2006/main" prst="ellipse">
            <a:avLst/>
          </a:prstGeom>
          <a:solidFill xmlns:a="http://schemas.openxmlformats.org/drawingml/2006/main">
            <a:srgbClr val="1ED59B"/>
          </a:solidFill>
          <a:ln xmlns:a="http://schemas.openxmlformats.org/drawingml/2006/main" w="12700">
            <a:solidFill>
              <a:srgbClr val="1ED59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8" name="Text 26">
            <a:extLst xmlns:a="http://schemas.openxmlformats.org/drawingml/2006/main">
              <a:ext uri="{FF2B5EF4-FFF2-40B4-BE49-F238E27FC236}">
                <a16:creationId xmlns:a16="http://schemas.microsoft.com/office/drawing/2014/main" id="{0C28C422-3FC5-46E8-8347-002CD2CF8C06}"/>
              </a:ext>
            </a:extLst>
          </p:cNvPr>
          <p:cNvSpPr>
            <a:spLocks xmlns:a="http://schemas.openxmlformats.org/drawingml/2006/main" noGrp="1"/>
          </p:cNvSpPr>
          <p:nvPr/>
        </p:nvSpPr>
        <p:spPr>
          <a:xfrm xmlns:a="http://schemas.openxmlformats.org/drawingml/2006/main">
            <a:off x="4562856" y="493776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Handle pickups, redemptions + table requests</a:t>
            </a:r>
            <a:endParaRPr sz="890"/>
          </a:p>
        </p:txBody>
      </p:sp>
      <p:sp>
        <p:nvSpPr>
          <p:cNvPr id="29" name="Shape 27">
            <a:extLst xmlns:a="http://schemas.openxmlformats.org/drawingml/2006/main">
              <a:ext uri="{FF2B5EF4-FFF2-40B4-BE49-F238E27FC236}">
                <a16:creationId xmlns:a16="http://schemas.microsoft.com/office/drawing/2014/main" id="{EA87A4D8-5837-47AD-8FD3-4C1723E7F0F2}"/>
              </a:ext>
            </a:extLst>
          </p:cNvPr>
          <p:cNvSpPr>
            <a:spLocks xmlns:a="http://schemas.openxmlformats.org/drawingml/2006/main" noGrp="1"/>
          </p:cNvSpPr>
          <p:nvPr/>
        </p:nvSpPr>
        <p:spPr>
          <a:xfrm xmlns:a="http://schemas.openxmlformats.org/drawingml/2006/main">
            <a:off x="7589520" y="2331720"/>
            <a:ext cx="3218688" cy="3566160"/>
          </a:xfrm>
          <a:prstGeom xmlns:a="http://schemas.openxmlformats.org/drawingml/2006/main" prst="roundRect">
            <a:avLst>
              <a:gd name="adj" fmla="val 2273"/>
            </a:avLst>
          </a:prstGeom>
          <a:solidFill xmlns:a="http://schemas.openxmlformats.org/drawingml/2006/main">
            <a:srgbClr val="0D0D12"/>
          </a:solidFill>
          <a:ln xmlns:a="http://schemas.openxmlformats.org/drawingml/2006/main" w="10160">
            <a:solidFill>
              <a:srgbClr val="302B38"/>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0" name="Shape 28">
            <a:extLst xmlns:a="http://schemas.openxmlformats.org/drawingml/2006/main">
              <a:ext uri="{FF2B5EF4-FFF2-40B4-BE49-F238E27FC236}">
                <a16:creationId xmlns:a16="http://schemas.microsoft.com/office/drawing/2014/main" id="{A71AEE9A-1312-42CC-B06B-42B0949D33D3}"/>
              </a:ext>
            </a:extLst>
          </p:cNvPr>
          <p:cNvSpPr>
            <a:spLocks xmlns:a="http://schemas.openxmlformats.org/drawingml/2006/main" noGrp="1"/>
          </p:cNvSpPr>
          <p:nvPr/>
        </p:nvSpPr>
        <p:spPr>
          <a:xfrm xmlns:a="http://schemas.openxmlformats.org/drawingml/2006/main">
            <a:off x="7589520" y="2331720"/>
            <a:ext cx="3218688" cy="54864"/>
          </a:xfrm>
          <a:prstGeom xmlns:a="http://schemas.openxmlformats.org/drawingml/2006/main" prst="rect">
            <a:avLst/>
          </a:prstGeom>
          <a:solidFill xmlns:a="http://schemas.openxmlformats.org/drawingml/2006/main">
            <a:srgbClr val="B48BFF"/>
          </a:solidFill>
          <a:ln xmlns:a="http://schemas.openxmlformats.org/drawingml/2006/main" w="12700">
            <a:solidFill>
              <a:srgbClr val="B48BFF"/>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1" name="Text 29">
            <a:extLst xmlns:a="http://schemas.openxmlformats.org/drawingml/2006/main">
              <a:ext uri="{FF2B5EF4-FFF2-40B4-BE49-F238E27FC236}">
                <a16:creationId xmlns:a16="http://schemas.microsoft.com/office/drawing/2014/main" id="{68D64F89-ABBF-4B4E-91C3-A27564BCF84C}"/>
              </a:ext>
            </a:extLst>
          </p:cNvPr>
          <p:cNvSpPr>
            <a:spLocks xmlns:a="http://schemas.openxmlformats.org/drawingml/2006/main" noGrp="1"/>
          </p:cNvSpPr>
          <p:nvPr/>
        </p:nvSpPr>
        <p:spPr>
          <a:xfrm xmlns:a="http://schemas.openxmlformats.org/drawingml/2006/main">
            <a:off x="7818120" y="2651760"/>
            <a:ext cx="2697480" cy="25603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550" b="1">
                <a:solidFill>
                  <a:srgbClr val="F7F7FA"/>
                </a:solidFill>
                <a:latin typeface="Inter Display"/>
                <a:ea typeface="Inter Display"/>
                <a:cs typeface="Inter Display"/>
              </a:rPr>
              <a:t>DANCERS</a:t>
            </a:r>
            <a:endParaRPr sz="1300"/>
          </a:p>
        </p:txBody>
      </p:sp>
      <p:sp>
        <p:nvSpPr>
          <p:cNvPr id="32" name="Text 30">
            <a:extLst xmlns:a="http://schemas.openxmlformats.org/drawingml/2006/main">
              <a:ext uri="{FF2B5EF4-FFF2-40B4-BE49-F238E27FC236}">
                <a16:creationId xmlns:a16="http://schemas.microsoft.com/office/drawing/2014/main" id="{21499DE6-748E-4060-877D-9C2FB29D1FCD}"/>
              </a:ext>
            </a:extLst>
          </p:cNvPr>
          <p:cNvSpPr>
            <a:spLocks xmlns:a="http://schemas.openxmlformats.org/drawingml/2006/main" noGrp="1"/>
          </p:cNvSpPr>
          <p:nvPr/>
        </p:nvSpPr>
        <p:spPr>
          <a:xfrm xmlns:a="http://schemas.openxmlformats.org/drawingml/2006/main">
            <a:off x="7818120" y="2962656"/>
            <a:ext cx="2697480" cy="21031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100" b="1">
                <a:solidFill>
                  <a:srgbClr val="B48BFF"/>
                </a:solidFill>
                <a:latin typeface="Inter"/>
                <a:ea typeface="Inter"/>
                <a:cs typeface="Inter"/>
              </a:rPr>
              <a:t>Profile ownership</a:t>
            </a:r>
            <a:endParaRPr sz="870"/>
          </a:p>
        </p:txBody>
      </p:sp>
      <p:sp>
        <p:nvSpPr>
          <p:cNvPr id="33" name="Shape 31">
            <a:extLst xmlns:a="http://schemas.openxmlformats.org/drawingml/2006/main">
              <a:ext uri="{FF2B5EF4-FFF2-40B4-BE49-F238E27FC236}">
                <a16:creationId xmlns:a16="http://schemas.microsoft.com/office/drawing/2014/main" id="{E1AD777D-ADBE-43A0-80D1-98E912FA1F84}"/>
              </a:ext>
            </a:extLst>
          </p:cNvPr>
          <p:cNvSpPr>
            <a:spLocks xmlns:a="http://schemas.openxmlformats.org/drawingml/2006/main" noGrp="1"/>
          </p:cNvSpPr>
          <p:nvPr/>
        </p:nvSpPr>
        <p:spPr>
          <a:xfrm xmlns:a="http://schemas.openxmlformats.org/drawingml/2006/main">
            <a:off x="7836408" y="3474720"/>
            <a:ext cx="68580" cy="68580"/>
          </a:xfrm>
          <a:prstGeom xmlns:a="http://schemas.openxmlformats.org/drawingml/2006/main" prst="ellipse">
            <a:avLst/>
          </a:prstGeom>
          <a:solidFill xmlns:a="http://schemas.openxmlformats.org/drawingml/2006/main">
            <a:srgbClr val="B48BFF"/>
          </a:solidFill>
          <a:ln xmlns:a="http://schemas.openxmlformats.org/drawingml/2006/main" w="12700">
            <a:solidFill>
              <a:srgbClr val="B48BFF"/>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4" name="Text 32">
            <a:extLst xmlns:a="http://schemas.openxmlformats.org/drawingml/2006/main">
              <a:ext uri="{FF2B5EF4-FFF2-40B4-BE49-F238E27FC236}">
                <a16:creationId xmlns:a16="http://schemas.microsoft.com/office/drawing/2014/main" id="{7A448EF7-38E7-4761-B665-07DC442E943C}"/>
              </a:ext>
            </a:extLst>
          </p:cNvPr>
          <p:cNvSpPr>
            <a:spLocks xmlns:a="http://schemas.openxmlformats.org/drawingml/2006/main" noGrp="1"/>
          </p:cNvSpPr>
          <p:nvPr/>
        </p:nvSpPr>
        <p:spPr>
          <a:xfrm xmlns:a="http://schemas.openxmlformats.org/drawingml/2006/main">
            <a:off x="8028432" y="342900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Own their profile + approved media</a:t>
            </a:r>
            <a:endParaRPr sz="890"/>
          </a:p>
        </p:txBody>
      </p:sp>
      <p:sp>
        <p:nvSpPr>
          <p:cNvPr id="35" name="Shape 33">
            <a:extLst xmlns:a="http://schemas.openxmlformats.org/drawingml/2006/main">
              <a:ext uri="{FF2B5EF4-FFF2-40B4-BE49-F238E27FC236}">
                <a16:creationId xmlns:a16="http://schemas.microsoft.com/office/drawing/2014/main" id="{02654947-3A3F-4759-BDDE-4B299505B70D}"/>
              </a:ext>
            </a:extLst>
          </p:cNvPr>
          <p:cNvSpPr>
            <a:spLocks xmlns:a="http://schemas.openxmlformats.org/drawingml/2006/main" noGrp="1"/>
          </p:cNvSpPr>
          <p:nvPr/>
        </p:nvSpPr>
        <p:spPr>
          <a:xfrm xmlns:a="http://schemas.openxmlformats.org/drawingml/2006/main">
            <a:off x="7836408" y="3977640"/>
            <a:ext cx="68580" cy="68580"/>
          </a:xfrm>
          <a:prstGeom xmlns:a="http://schemas.openxmlformats.org/drawingml/2006/main" prst="ellipse">
            <a:avLst/>
          </a:prstGeom>
          <a:solidFill xmlns:a="http://schemas.openxmlformats.org/drawingml/2006/main">
            <a:srgbClr val="B48BFF"/>
          </a:solidFill>
          <a:ln xmlns:a="http://schemas.openxmlformats.org/drawingml/2006/main" w="12700">
            <a:solidFill>
              <a:srgbClr val="B48BFF"/>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6" name="Text 34">
            <a:extLst xmlns:a="http://schemas.openxmlformats.org/drawingml/2006/main">
              <a:ext uri="{FF2B5EF4-FFF2-40B4-BE49-F238E27FC236}">
                <a16:creationId xmlns:a16="http://schemas.microsoft.com/office/drawing/2014/main" id="{DE554BD4-466B-4BCB-A497-C629815D24D5}"/>
              </a:ext>
            </a:extLst>
          </p:cNvPr>
          <p:cNvSpPr>
            <a:spLocks xmlns:a="http://schemas.openxmlformats.org/drawingml/2006/main" noGrp="1"/>
          </p:cNvSpPr>
          <p:nvPr/>
        </p:nvSpPr>
        <p:spPr>
          <a:xfrm xmlns:a="http://schemas.openxmlformats.org/drawingml/2006/main">
            <a:off x="8028432" y="393192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Choose Internal, External or Both</a:t>
            </a:r>
            <a:endParaRPr sz="890"/>
          </a:p>
        </p:txBody>
      </p:sp>
      <p:sp>
        <p:nvSpPr>
          <p:cNvPr id="37" name="Shape 35">
            <a:extLst xmlns:a="http://schemas.openxmlformats.org/drawingml/2006/main">
              <a:ext uri="{FF2B5EF4-FFF2-40B4-BE49-F238E27FC236}">
                <a16:creationId xmlns:a16="http://schemas.microsoft.com/office/drawing/2014/main" id="{A766CC77-86B6-4D58-BDAB-498A0D3001BB}"/>
              </a:ext>
            </a:extLst>
          </p:cNvPr>
          <p:cNvSpPr>
            <a:spLocks xmlns:a="http://schemas.openxmlformats.org/drawingml/2006/main" noGrp="1"/>
          </p:cNvSpPr>
          <p:nvPr/>
        </p:nvSpPr>
        <p:spPr>
          <a:xfrm xmlns:a="http://schemas.openxmlformats.org/drawingml/2006/main">
            <a:off x="7836408" y="4480560"/>
            <a:ext cx="68580" cy="68580"/>
          </a:xfrm>
          <a:prstGeom xmlns:a="http://schemas.openxmlformats.org/drawingml/2006/main" prst="ellipse">
            <a:avLst/>
          </a:prstGeom>
          <a:solidFill xmlns:a="http://schemas.openxmlformats.org/drawingml/2006/main">
            <a:srgbClr val="B48BFF"/>
          </a:solidFill>
          <a:ln xmlns:a="http://schemas.openxmlformats.org/drawingml/2006/main" w="12700">
            <a:solidFill>
              <a:srgbClr val="B48BFF"/>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8" name="Text 36">
            <a:extLst xmlns:a="http://schemas.openxmlformats.org/drawingml/2006/main">
              <a:ext uri="{FF2B5EF4-FFF2-40B4-BE49-F238E27FC236}">
                <a16:creationId xmlns:a16="http://schemas.microsoft.com/office/drawing/2014/main" id="{99ED570A-B4DB-48DD-9826-F33E53500EE0}"/>
              </a:ext>
            </a:extLst>
          </p:cNvPr>
          <p:cNvSpPr>
            <a:spLocks xmlns:a="http://schemas.openxmlformats.org/drawingml/2006/main" noGrp="1"/>
          </p:cNvSpPr>
          <p:nvPr/>
        </p:nvSpPr>
        <p:spPr>
          <a:xfrm xmlns:a="http://schemas.openxmlformats.org/drawingml/2006/main">
            <a:off x="8028432" y="443484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Control eligible check-in status</a:t>
            </a:r>
            <a:endParaRPr sz="890"/>
          </a:p>
        </p:txBody>
      </p:sp>
      <p:sp>
        <p:nvSpPr>
          <p:cNvPr id="39" name="Shape 37">
            <a:extLst xmlns:a="http://schemas.openxmlformats.org/drawingml/2006/main">
              <a:ext uri="{FF2B5EF4-FFF2-40B4-BE49-F238E27FC236}">
                <a16:creationId xmlns:a16="http://schemas.microsoft.com/office/drawing/2014/main" id="{DD011CBC-4199-43C2-884A-B06120704388}"/>
              </a:ext>
            </a:extLst>
          </p:cNvPr>
          <p:cNvSpPr>
            <a:spLocks xmlns:a="http://schemas.openxmlformats.org/drawingml/2006/main" noGrp="1"/>
          </p:cNvSpPr>
          <p:nvPr/>
        </p:nvSpPr>
        <p:spPr>
          <a:xfrm xmlns:a="http://schemas.openxmlformats.org/drawingml/2006/main">
            <a:off x="7836408" y="4983480"/>
            <a:ext cx="68580" cy="68580"/>
          </a:xfrm>
          <a:prstGeom xmlns:a="http://schemas.openxmlformats.org/drawingml/2006/main" prst="ellipse">
            <a:avLst/>
          </a:prstGeom>
          <a:solidFill xmlns:a="http://schemas.openxmlformats.org/drawingml/2006/main">
            <a:srgbClr val="B48BFF"/>
          </a:solidFill>
          <a:ln xmlns:a="http://schemas.openxmlformats.org/drawingml/2006/main" w="12700">
            <a:solidFill>
              <a:srgbClr val="B48BFF"/>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40" name="Text 38">
            <a:extLst xmlns:a="http://schemas.openxmlformats.org/drawingml/2006/main">
              <a:ext uri="{FF2B5EF4-FFF2-40B4-BE49-F238E27FC236}">
                <a16:creationId xmlns:a16="http://schemas.microsoft.com/office/drawing/2014/main" id="{7210A2EC-D4F5-4BF0-94B4-8341FFB98355}"/>
              </a:ext>
            </a:extLst>
          </p:cNvPr>
          <p:cNvSpPr>
            <a:spLocks xmlns:a="http://schemas.openxmlformats.org/drawingml/2006/main" noGrp="1"/>
          </p:cNvSpPr>
          <p:nvPr/>
        </p:nvSpPr>
        <p:spPr>
          <a:xfrm xmlns:a="http://schemas.openxmlformats.org/drawingml/2006/main">
            <a:off x="8028432" y="493776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Control their follow/share activity</a:t>
            </a:r>
            <a:endParaRPr sz="890"/>
          </a:p>
        </p:txBody>
      </p:sp>
      <p:sp>
        <p:nvSpPr>
          <p:cNvPr id="41" name="Text 39">
            <a:extLst xmlns:a="http://schemas.openxmlformats.org/drawingml/2006/main">
              <a:ext uri="{FF2B5EF4-FFF2-40B4-BE49-F238E27FC236}">
                <a16:creationId xmlns:a16="http://schemas.microsoft.com/office/drawing/2014/main" id="{F0F1E213-60F8-42FE-8528-86A17E26F2F1}"/>
              </a:ext>
            </a:extLst>
          </p:cNvPr>
          <p:cNvSpPr>
            <a:spLocks xmlns:a="http://schemas.openxmlformats.org/drawingml/2006/main" noGrp="1"/>
          </p:cNvSpPr>
          <p:nvPr/>
        </p:nvSpPr>
        <p:spPr>
          <a:xfrm xmlns:a="http://schemas.openxmlformats.org/drawingml/2006/main">
            <a:off x="676656" y="6199632"/>
            <a:ext cx="914400" cy="2011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980" b="1" spc="90">
                <a:solidFill>
                  <a:srgbClr val="8A8494"/>
                </a:solidFill>
                <a:latin typeface="Inter"/>
                <a:ea typeface="Inter"/>
                <a:cs typeface="Inter"/>
              </a:rPr>
              <a:t>THE RESULT</a:t>
            </a:r>
            <a:endParaRPr sz="820"/>
          </a:p>
        </p:txBody>
      </p:sp>
      <p:sp>
        <p:nvSpPr>
          <p:cNvPr id="42" name="Text 40">
            <a:extLst xmlns:a="http://schemas.openxmlformats.org/drawingml/2006/main">
              <a:ext uri="{FF2B5EF4-FFF2-40B4-BE49-F238E27FC236}">
                <a16:creationId xmlns:a16="http://schemas.microsoft.com/office/drawing/2014/main" id="{FD5922F8-00D7-40AA-B326-1955BEE95D3D}"/>
              </a:ext>
            </a:extLst>
          </p:cNvPr>
          <p:cNvSpPr>
            <a:spLocks xmlns:a="http://schemas.openxmlformats.org/drawingml/2006/main" noGrp="1"/>
          </p:cNvSpPr>
          <p:nvPr/>
        </p:nvSpPr>
        <p:spPr>
          <a:xfrm xmlns:a="http://schemas.openxmlformats.org/drawingml/2006/main">
            <a:off x="1572768" y="6144768"/>
            <a:ext cx="9646920" cy="29260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550" b="1">
                <a:solidFill>
                  <a:srgbClr val="DCD9E1"/>
                </a:solidFill>
                <a:latin typeface="Inter Display"/>
                <a:ea typeface="Inter Display"/>
                <a:cs typeface="Inter Display"/>
              </a:rPr>
              <a:t>A consumer-facing experience with venue operations and approvals still where they belong — with the club.</a:t>
            </a:r>
            <a:endParaRPr sz="1340"/>
          </a:p>
        </p:txBody>
      </p:sp>
      <p:sp>
        <p:nvSpPr>
          <p:cNvPr id="43" name="Slide Number Placeholder 0">
            <a:extLst xmlns:a="http://schemas.openxmlformats.org/drawingml/2006/main">
              <a:ext uri="{FF2B5EF4-FFF2-40B4-BE49-F238E27FC236}">
                <a16:creationId xmlns:a16="http://schemas.microsoft.com/office/drawing/2014/main" id="{EE725938-029D-4C69-B716-80B33FD63F40}"/>
              </a:ext>
            </a:extLst>
          </p:cNvPr>
          <p:cNvSpPr>
            <a:spLocks xmlns:a="http://schemas.openxmlformats.org/drawingml/2006/main" noGrp="1"/>
          </p:cNvSpPr>
          <p:nvPr>
            <p:ph type="sldNum" idx="4294967295"/>
          </p:nvPr>
        </p:nvSpPr>
        <p:spPr>
          <a:xfrm xmlns:a="http://schemas.openxmlformats.org/drawingml/2006/main">
            <a:off x="11155680" y="164592"/>
            <a:ext cx="502920" cy="228600"/>
          </a:xfrm>
          <a:prstGeom xmlns:a="http://schemas.openxmlformats.org/drawingml/2006/main" prst="rect">
            <a:avLst/>
          </a:prstGeom>
        </p:spPr>
        <p:txBody>
          <a:bodyPr xmlns:a="http://schemas.openxmlformats.org/drawingml/2006/main" wrap="square" lIns="27432" tIns="13716" rIns="27432" bIns="13716"/>
          <a:lstStyle xmlns:a="http://schemas.openxmlformats.org/drawingml/2006/main">
            <a:lvl1pPr>
              <a:buNone/>
              <a:defRPr sz="850">
                <a:solidFill>
                  <a:srgbClr val="686572"/>
                </a:solidFill>
                <a:latin typeface="Inter"/>
                <a:ea typeface="Inter"/>
                <a:cs typeface="Inter"/>
              </a:defRPr>
            </a:lvl1pPr>
          </a:lstStyle>
          <a:p xmlns:a="http://schemas.openxmlformats.org/drawingml/2006/main">
            <a:r>
              <a:rPr sz="900">
                <a:solidFill>
                  <a:srgbClr val="6D6875"/>
                </a:solidFill>
                <a:latin typeface="Inter"/>
              </a:rPr>
              <a:t>6</a:t>
            </a:r>
          </a:p>
        </p:txBody>
      </p:sp>
    </p:spTree>
    <p:extLst>
      <p:ext uri="{BB962C8B-B14F-4D97-AF65-F5344CB8AC3E}">
        <p14:creationId xmlns:p14="http://schemas.microsoft.com/office/powerpoint/2010/main" val="180708020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D1B3CDE-1A1E-4FD8-97B3-D203B2F0C9B6}"/>
              </a:ext>
            </a:extLst>
          </p:cNvPr>
          <p:cNvSpPr>
            <a:spLocks xmlns:a="http://schemas.openxmlformats.org/drawingml/2006/main" noGrp="1"/>
          </p:cNvSpPr>
          <p:nvPr/>
        </p:nvSpPr>
        <p:spPr>
          <a:xfrm xmlns:a="http://schemas.openxmlformats.org/drawingml/2006/main">
            <a:off x="566928" y="576072"/>
            <a:ext cx="2377440"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b="1" spc="160">
                <a:solidFill>
                  <a:srgbClr val="A855F7"/>
                </a:solidFill>
                <a:latin typeface="Inter"/>
                <a:ea typeface="Inter"/>
                <a:cs typeface="Inter"/>
              </a:rPr>
              <a:t>MEASUREMENT</a:t>
            </a:r>
            <a:endParaRPr sz="950"/>
          </a:p>
        </p:txBody>
      </p:sp>
      <p:sp>
        <p:nvSpPr>
          <p:cNvPr id="3" name="Text 1">
            <a:extLst xmlns:a="http://schemas.openxmlformats.org/drawingml/2006/main">
              <a:ext uri="{FF2B5EF4-FFF2-40B4-BE49-F238E27FC236}">
                <a16:creationId xmlns:a16="http://schemas.microsoft.com/office/drawing/2014/main" id="{EE6B21E9-DF0B-492F-917B-FF92F6B6C998}"/>
              </a:ext>
            </a:extLst>
          </p:cNvPr>
          <p:cNvSpPr>
            <a:spLocks xmlns:a="http://schemas.openxmlformats.org/drawingml/2006/main" noGrp="1"/>
          </p:cNvSpPr>
          <p:nvPr/>
        </p:nvSpPr>
        <p:spPr>
          <a:xfrm xmlns:a="http://schemas.openxmlformats.org/drawingml/2006/main">
            <a:off x="566928" y="850392"/>
            <a:ext cx="10744200" cy="6400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3000" b="1">
                <a:solidFill>
                  <a:srgbClr val="F7F7FA"/>
                </a:solidFill>
                <a:latin typeface="Inter Display"/>
                <a:ea typeface="Inter Display"/>
                <a:cs typeface="Inter Display"/>
              </a:rPr>
              <a:t>See where attention turns into action.</a:t>
            </a:r>
            <a:endParaRPr sz="2800"/>
          </a:p>
        </p:txBody>
      </p:sp>
      <p:sp>
        <p:nvSpPr>
          <p:cNvPr id="4" name="Text 2">
            <a:extLst xmlns:a="http://schemas.openxmlformats.org/drawingml/2006/main">
              <a:ext uri="{FF2B5EF4-FFF2-40B4-BE49-F238E27FC236}">
                <a16:creationId xmlns:a16="http://schemas.microsoft.com/office/drawing/2014/main" id="{5867EA4F-F9E9-4623-A506-952206584755}"/>
              </a:ext>
            </a:extLst>
          </p:cNvPr>
          <p:cNvSpPr>
            <a:spLocks xmlns:a="http://schemas.openxmlformats.org/drawingml/2006/main" noGrp="1"/>
          </p:cNvSpPr>
          <p:nvPr/>
        </p:nvSpPr>
        <p:spPr>
          <a:xfrm xmlns:a="http://schemas.openxmlformats.org/drawingml/2006/main">
            <a:off x="566928" y="1517904"/>
            <a:ext cx="10561320" cy="49377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a:solidFill>
                  <a:srgbClr val="A09CAA"/>
                </a:solidFill>
                <a:latin typeface="Inter"/>
                <a:ea typeface="Inter"/>
                <a:cs typeface="Inter"/>
              </a:rPr>
              <a:t>Venue reporting separates awareness, intent, verified pass use and in-club engagement instead of treating every click as a visit.</a:t>
            </a:r>
            <a:endParaRPr sz="1220"/>
          </a:p>
        </p:txBody>
      </p:sp>
      <p:sp>
        <p:nvSpPr>
          <p:cNvPr id="5" name="Shape 3">
            <a:extLst xmlns:a="http://schemas.openxmlformats.org/drawingml/2006/main">
              <a:ext uri="{FF2B5EF4-FFF2-40B4-BE49-F238E27FC236}">
                <a16:creationId xmlns:a16="http://schemas.microsoft.com/office/drawing/2014/main" id="{6F64E82C-51E3-4BCC-829A-39CE745C7F4E}"/>
              </a:ext>
            </a:extLst>
          </p:cNvPr>
          <p:cNvSpPr>
            <a:spLocks xmlns:a="http://schemas.openxmlformats.org/drawingml/2006/main" noGrp="1"/>
          </p:cNvSpPr>
          <p:nvPr/>
        </p:nvSpPr>
        <p:spPr>
          <a:xfrm xmlns:a="http://schemas.openxmlformats.org/drawingml/2006/main">
            <a:off x="640080" y="2377440"/>
            <a:ext cx="2176272" cy="2432304"/>
          </a:xfrm>
          <a:prstGeom xmlns:a="http://schemas.openxmlformats.org/drawingml/2006/main" prst="roundRect">
            <a:avLst>
              <a:gd name="adj" fmla="val 3361"/>
            </a:avLst>
          </a:prstGeom>
          <a:solidFill xmlns:a="http://schemas.openxmlformats.org/drawingml/2006/main">
            <a:srgbClr val="0D0D12"/>
          </a:solidFill>
          <a:ln xmlns:a="http://schemas.openxmlformats.org/drawingml/2006/main" w="10160">
            <a:solidFill>
              <a:srgbClr val="2D2935"/>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6" name="Text 4">
            <a:extLst xmlns:a="http://schemas.openxmlformats.org/drawingml/2006/main">
              <a:ext uri="{FF2B5EF4-FFF2-40B4-BE49-F238E27FC236}">
                <a16:creationId xmlns:a16="http://schemas.microsoft.com/office/drawing/2014/main" id="{96575266-E40E-4403-BCF3-740C6227534A}"/>
              </a:ext>
            </a:extLst>
          </p:cNvPr>
          <p:cNvSpPr>
            <a:spLocks xmlns:a="http://schemas.openxmlformats.org/drawingml/2006/main" noGrp="1"/>
          </p:cNvSpPr>
          <p:nvPr/>
        </p:nvSpPr>
        <p:spPr>
          <a:xfrm xmlns:a="http://schemas.openxmlformats.org/drawingml/2006/main">
            <a:off x="804672" y="2642616"/>
            <a:ext cx="1810512"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980" b="1" spc="80">
                <a:solidFill>
                  <a:srgbClr val="A855F7"/>
                </a:solidFill>
                <a:latin typeface="Inter"/>
                <a:ea typeface="Inter"/>
                <a:cs typeface="Inter"/>
              </a:rPr>
              <a:t>AWARENESS</a:t>
            </a:r>
            <a:endParaRPr sz="850"/>
          </a:p>
        </p:txBody>
      </p:sp>
      <p:sp>
        <p:nvSpPr>
          <p:cNvPr id="7" name="Text 5">
            <a:extLst xmlns:a="http://schemas.openxmlformats.org/drawingml/2006/main">
              <a:ext uri="{FF2B5EF4-FFF2-40B4-BE49-F238E27FC236}">
                <a16:creationId xmlns:a16="http://schemas.microsoft.com/office/drawing/2014/main" id="{AFAB7301-73EB-4B31-A424-97A393BD0139}"/>
              </a:ext>
            </a:extLst>
          </p:cNvPr>
          <p:cNvSpPr>
            <a:spLocks xmlns:a="http://schemas.openxmlformats.org/drawingml/2006/main" noGrp="1"/>
          </p:cNvSpPr>
          <p:nvPr/>
        </p:nvSpPr>
        <p:spPr>
          <a:xfrm xmlns:a="http://schemas.openxmlformats.org/drawingml/2006/main">
            <a:off x="804672" y="3127248"/>
            <a:ext cx="1847088" cy="6583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1360" b="1">
                <a:solidFill>
                  <a:srgbClr val="F7F7FA"/>
                </a:solidFill>
                <a:latin typeface="Inter Display"/>
                <a:ea typeface="Inter Display"/>
                <a:cs typeface="Inter Display"/>
              </a:rPr>
              <a:t>Venue-card impressions</a:t>
            </a:r>
            <a:endParaRPr sz="1170"/>
          </a:p>
          <a:p xmlns:a="http://schemas.openxmlformats.org/drawingml/2006/main">
            <a:pPr marL="0" indent="0" algn="ctr">
              <a:lnSpc>
                <a:spcPct val="100000"/>
              </a:lnSpc>
              <a:buNone/>
            </a:pPr>
            <a:r>
              <a:rPr sz="1360" b="1">
                <a:solidFill>
                  <a:srgbClr val="F7F7FA"/>
                </a:solidFill>
                <a:latin typeface="Inter Display"/>
                <a:ea typeface="Inter Display"/>
                <a:cs typeface="Inter Display"/>
              </a:rPr>
              <a:t>+ unique browsers</a:t>
            </a:r>
            <a:endParaRPr sz="1170"/>
          </a:p>
        </p:txBody>
      </p:sp>
      <p:sp>
        <p:nvSpPr>
          <p:cNvPr id="8" name="Text 6">
            <a:extLst xmlns:a="http://schemas.openxmlformats.org/drawingml/2006/main">
              <a:ext uri="{FF2B5EF4-FFF2-40B4-BE49-F238E27FC236}">
                <a16:creationId xmlns:a16="http://schemas.microsoft.com/office/drawing/2014/main" id="{1259EDF4-3725-4C0F-B7CF-21491AA2011E}"/>
              </a:ext>
            </a:extLst>
          </p:cNvPr>
          <p:cNvSpPr>
            <a:spLocks xmlns:a="http://schemas.openxmlformats.org/drawingml/2006/main" noGrp="1"/>
          </p:cNvSpPr>
          <p:nvPr/>
        </p:nvSpPr>
        <p:spPr>
          <a:xfrm xmlns:a="http://schemas.openxmlformats.org/drawingml/2006/main">
            <a:off x="804672" y="4069080"/>
            <a:ext cx="1847088" cy="50292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a:solidFill>
                  <a:srgbClr val="A09CAA"/>
                </a:solidFill>
                <a:latin typeface="Inter"/>
                <a:ea typeface="Inter"/>
                <a:cs typeface="Inter"/>
              </a:rPr>
              <a:t>Are guests finding the location?</a:t>
            </a:r>
            <a:endParaRPr sz="830"/>
          </a:p>
        </p:txBody>
      </p:sp>
      <p:sp>
        <p:nvSpPr>
          <p:cNvPr id="9" name="Text 7">
            <a:extLst xmlns:a="http://schemas.openxmlformats.org/drawingml/2006/main">
              <a:ext uri="{FF2B5EF4-FFF2-40B4-BE49-F238E27FC236}">
                <a16:creationId xmlns:a16="http://schemas.microsoft.com/office/drawing/2014/main" id="{7037354D-A27D-44D9-99FE-12F5F66D2F06}"/>
              </a:ext>
            </a:extLst>
          </p:cNvPr>
          <p:cNvSpPr>
            <a:spLocks xmlns:a="http://schemas.openxmlformats.org/drawingml/2006/main" noGrp="1"/>
          </p:cNvSpPr>
          <p:nvPr/>
        </p:nvSpPr>
        <p:spPr>
          <a:xfrm xmlns:a="http://schemas.openxmlformats.org/drawingml/2006/main">
            <a:off x="2816352" y="3291840"/>
            <a:ext cx="274320" cy="27432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1800" b="1">
                <a:solidFill>
                  <a:srgbClr val="524B59"/>
                </a:solidFill>
                <a:latin typeface="Inter Display"/>
                <a:ea typeface="Inter Display"/>
                <a:cs typeface="Inter Display"/>
              </a:rPr>
              <a:t>›</a:t>
            </a:r>
            <a:endParaRPr sz="1800"/>
          </a:p>
        </p:txBody>
      </p:sp>
      <p:sp>
        <p:nvSpPr>
          <p:cNvPr id="10" name="Shape 8">
            <a:extLst xmlns:a="http://schemas.openxmlformats.org/drawingml/2006/main">
              <a:ext uri="{FF2B5EF4-FFF2-40B4-BE49-F238E27FC236}">
                <a16:creationId xmlns:a16="http://schemas.microsoft.com/office/drawing/2014/main" id="{B998AAA2-C814-4CDB-96A2-22A1199E6C3C}"/>
              </a:ext>
            </a:extLst>
          </p:cNvPr>
          <p:cNvSpPr>
            <a:spLocks xmlns:a="http://schemas.openxmlformats.org/drawingml/2006/main" noGrp="1"/>
          </p:cNvSpPr>
          <p:nvPr/>
        </p:nvSpPr>
        <p:spPr>
          <a:xfrm xmlns:a="http://schemas.openxmlformats.org/drawingml/2006/main">
            <a:off x="2926080" y="2377440"/>
            <a:ext cx="2176272" cy="2432304"/>
          </a:xfrm>
          <a:prstGeom xmlns:a="http://schemas.openxmlformats.org/drawingml/2006/main" prst="roundRect">
            <a:avLst>
              <a:gd name="adj" fmla="val 3361"/>
            </a:avLst>
          </a:prstGeom>
          <a:solidFill xmlns:a="http://schemas.openxmlformats.org/drawingml/2006/main">
            <a:srgbClr val="0D0D12"/>
          </a:solidFill>
          <a:ln xmlns:a="http://schemas.openxmlformats.org/drawingml/2006/main" w="10160">
            <a:solidFill>
              <a:srgbClr val="2D2935"/>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1" name="Text 9">
            <a:extLst xmlns:a="http://schemas.openxmlformats.org/drawingml/2006/main">
              <a:ext uri="{FF2B5EF4-FFF2-40B4-BE49-F238E27FC236}">
                <a16:creationId xmlns:a16="http://schemas.microsoft.com/office/drawing/2014/main" id="{E0382D08-1A60-49E2-9ACC-17F1EF372437}"/>
              </a:ext>
            </a:extLst>
          </p:cNvPr>
          <p:cNvSpPr>
            <a:spLocks xmlns:a="http://schemas.openxmlformats.org/drawingml/2006/main" noGrp="1"/>
          </p:cNvSpPr>
          <p:nvPr/>
        </p:nvSpPr>
        <p:spPr>
          <a:xfrm xmlns:a="http://schemas.openxmlformats.org/drawingml/2006/main">
            <a:off x="3090672" y="2642616"/>
            <a:ext cx="1810512"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980" b="1" spc="80">
                <a:solidFill>
                  <a:srgbClr val="A855F7"/>
                </a:solidFill>
                <a:latin typeface="Inter"/>
                <a:ea typeface="Inter"/>
                <a:cs typeface="Inter"/>
              </a:rPr>
              <a:t>INTENT</a:t>
            </a:r>
            <a:endParaRPr sz="850"/>
          </a:p>
        </p:txBody>
      </p:sp>
      <p:sp>
        <p:nvSpPr>
          <p:cNvPr id="12" name="Text 10">
            <a:extLst xmlns:a="http://schemas.openxmlformats.org/drawingml/2006/main">
              <a:ext uri="{FF2B5EF4-FFF2-40B4-BE49-F238E27FC236}">
                <a16:creationId xmlns:a16="http://schemas.microsoft.com/office/drawing/2014/main" id="{E3BA10F3-11C0-4290-BB7F-B6F40A66A06C}"/>
              </a:ext>
            </a:extLst>
          </p:cNvPr>
          <p:cNvSpPr>
            <a:spLocks xmlns:a="http://schemas.openxmlformats.org/drawingml/2006/main" noGrp="1"/>
          </p:cNvSpPr>
          <p:nvPr/>
        </p:nvSpPr>
        <p:spPr>
          <a:xfrm xmlns:a="http://schemas.openxmlformats.org/drawingml/2006/main">
            <a:off x="3090672" y="3127248"/>
            <a:ext cx="1847088" cy="6583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1360" b="1">
                <a:solidFill>
                  <a:srgbClr val="F7F7FA"/>
                </a:solidFill>
                <a:latin typeface="Inter Display"/>
                <a:ea typeface="Inter Display"/>
                <a:cs typeface="Inter Display"/>
              </a:rPr>
              <a:t>Directions • claims</a:t>
            </a:r>
            <a:endParaRPr sz="1170"/>
          </a:p>
          <a:p xmlns:a="http://schemas.openxmlformats.org/drawingml/2006/main">
            <a:pPr marL="0" indent="0" algn="ctr">
              <a:lnSpc>
                <a:spcPct val="100000"/>
              </a:lnSpc>
              <a:buNone/>
            </a:pPr>
            <a:r>
              <a:rPr sz="1360" b="1">
                <a:solidFill>
                  <a:srgbClr val="F7F7FA"/>
                </a:solidFill>
                <a:latin typeface="Inter Display"/>
                <a:ea typeface="Inter Display"/>
                <a:cs typeface="Inter Display"/>
              </a:rPr>
              <a:t>pickup requests • follows</a:t>
            </a:r>
            <a:endParaRPr sz="1170"/>
          </a:p>
        </p:txBody>
      </p:sp>
      <p:sp>
        <p:nvSpPr>
          <p:cNvPr id="13" name="Text 11">
            <a:extLst xmlns:a="http://schemas.openxmlformats.org/drawingml/2006/main">
              <a:ext uri="{FF2B5EF4-FFF2-40B4-BE49-F238E27FC236}">
                <a16:creationId xmlns:a16="http://schemas.microsoft.com/office/drawing/2014/main" id="{1FBCC01F-D920-4813-95D9-B75DAD93569B}"/>
              </a:ext>
            </a:extLst>
          </p:cNvPr>
          <p:cNvSpPr>
            <a:spLocks xmlns:a="http://schemas.openxmlformats.org/drawingml/2006/main" noGrp="1"/>
          </p:cNvSpPr>
          <p:nvPr/>
        </p:nvSpPr>
        <p:spPr>
          <a:xfrm xmlns:a="http://schemas.openxmlformats.org/drawingml/2006/main">
            <a:off x="3090672" y="4069080"/>
            <a:ext cx="1847088" cy="50292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a:solidFill>
                  <a:srgbClr val="A09CAA"/>
                </a:solidFill>
                <a:latin typeface="Inter"/>
                <a:ea typeface="Inter"/>
                <a:cs typeface="Inter"/>
              </a:rPr>
              <a:t>Are they taking a next step?</a:t>
            </a:r>
            <a:endParaRPr sz="830"/>
          </a:p>
        </p:txBody>
      </p:sp>
      <p:sp>
        <p:nvSpPr>
          <p:cNvPr id="14" name="Text 12">
            <a:extLst xmlns:a="http://schemas.openxmlformats.org/drawingml/2006/main">
              <a:ext uri="{FF2B5EF4-FFF2-40B4-BE49-F238E27FC236}">
                <a16:creationId xmlns:a16="http://schemas.microsoft.com/office/drawing/2014/main" id="{B36EC3A6-1211-4E0C-AB24-67CD86C61078}"/>
              </a:ext>
            </a:extLst>
          </p:cNvPr>
          <p:cNvSpPr>
            <a:spLocks xmlns:a="http://schemas.openxmlformats.org/drawingml/2006/main" noGrp="1"/>
          </p:cNvSpPr>
          <p:nvPr/>
        </p:nvSpPr>
        <p:spPr>
          <a:xfrm xmlns:a="http://schemas.openxmlformats.org/drawingml/2006/main">
            <a:off x="5102352" y="3291840"/>
            <a:ext cx="274320" cy="27432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1800" b="1">
                <a:solidFill>
                  <a:srgbClr val="524B59"/>
                </a:solidFill>
                <a:latin typeface="Inter Display"/>
                <a:ea typeface="Inter Display"/>
                <a:cs typeface="Inter Display"/>
              </a:rPr>
              <a:t>›</a:t>
            </a:r>
            <a:endParaRPr sz="1800"/>
          </a:p>
        </p:txBody>
      </p:sp>
      <p:sp>
        <p:nvSpPr>
          <p:cNvPr id="15" name="Shape 13">
            <a:extLst xmlns:a="http://schemas.openxmlformats.org/drawingml/2006/main">
              <a:ext uri="{FF2B5EF4-FFF2-40B4-BE49-F238E27FC236}">
                <a16:creationId xmlns:a16="http://schemas.microsoft.com/office/drawing/2014/main" id="{C90C4786-6A5A-434D-A0CD-9981EE9B6625}"/>
              </a:ext>
            </a:extLst>
          </p:cNvPr>
          <p:cNvSpPr>
            <a:spLocks xmlns:a="http://schemas.openxmlformats.org/drawingml/2006/main" noGrp="1"/>
          </p:cNvSpPr>
          <p:nvPr/>
        </p:nvSpPr>
        <p:spPr>
          <a:xfrm xmlns:a="http://schemas.openxmlformats.org/drawingml/2006/main">
            <a:off x="5212080" y="2377440"/>
            <a:ext cx="2176272" cy="2432304"/>
          </a:xfrm>
          <a:prstGeom xmlns:a="http://schemas.openxmlformats.org/drawingml/2006/main" prst="roundRect">
            <a:avLst>
              <a:gd name="adj" fmla="val 3361"/>
            </a:avLst>
          </a:prstGeom>
          <a:solidFill xmlns:a="http://schemas.openxmlformats.org/drawingml/2006/main">
            <a:srgbClr val="101614"/>
          </a:solidFill>
          <a:ln xmlns:a="http://schemas.openxmlformats.org/drawingml/2006/main" w="10160">
            <a:solidFill>
              <a:srgbClr val="245A47"/>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6" name="Text 14">
            <a:extLst xmlns:a="http://schemas.openxmlformats.org/drawingml/2006/main">
              <a:ext uri="{FF2B5EF4-FFF2-40B4-BE49-F238E27FC236}">
                <a16:creationId xmlns:a16="http://schemas.microsoft.com/office/drawing/2014/main" id="{BE035BB2-4482-42EA-AD25-D359F007854A}"/>
              </a:ext>
            </a:extLst>
          </p:cNvPr>
          <p:cNvSpPr>
            <a:spLocks xmlns:a="http://schemas.openxmlformats.org/drawingml/2006/main" noGrp="1"/>
          </p:cNvSpPr>
          <p:nvPr/>
        </p:nvSpPr>
        <p:spPr>
          <a:xfrm xmlns:a="http://schemas.openxmlformats.org/drawingml/2006/main">
            <a:off x="5376672" y="2642616"/>
            <a:ext cx="1810512"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980" b="1" spc="80">
                <a:solidFill>
                  <a:srgbClr val="1ED59B"/>
                </a:solidFill>
                <a:latin typeface="Inter"/>
                <a:ea typeface="Inter"/>
                <a:cs typeface="Inter"/>
              </a:rPr>
              <a:t>ARRIVAL</a:t>
            </a:r>
            <a:endParaRPr sz="850"/>
          </a:p>
        </p:txBody>
      </p:sp>
      <p:sp>
        <p:nvSpPr>
          <p:cNvPr id="17" name="Text 15">
            <a:extLst xmlns:a="http://schemas.openxmlformats.org/drawingml/2006/main">
              <a:ext uri="{FF2B5EF4-FFF2-40B4-BE49-F238E27FC236}">
                <a16:creationId xmlns:a16="http://schemas.microsoft.com/office/drawing/2014/main" id="{76E3E33C-4F19-4766-B14D-9098691D6B85}"/>
              </a:ext>
            </a:extLst>
          </p:cNvPr>
          <p:cNvSpPr>
            <a:spLocks xmlns:a="http://schemas.openxmlformats.org/drawingml/2006/main" noGrp="1"/>
          </p:cNvSpPr>
          <p:nvPr/>
        </p:nvSpPr>
        <p:spPr>
          <a:xfrm xmlns:a="http://schemas.openxmlformats.org/drawingml/2006/main">
            <a:off x="5376672" y="3127248"/>
            <a:ext cx="1847088" cy="6583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1360" b="1">
                <a:solidFill>
                  <a:srgbClr val="F7F7FA"/>
                </a:solidFill>
                <a:latin typeface="Inter Display"/>
                <a:ea typeface="Inter Display"/>
                <a:cs typeface="Inter Display"/>
              </a:rPr>
              <a:t>Redeemed admission passes</a:t>
            </a:r>
            <a:endParaRPr sz="1170"/>
          </a:p>
        </p:txBody>
      </p:sp>
      <p:sp>
        <p:nvSpPr>
          <p:cNvPr id="18" name="Text 16">
            <a:extLst xmlns:a="http://schemas.openxmlformats.org/drawingml/2006/main">
              <a:ext uri="{FF2B5EF4-FFF2-40B4-BE49-F238E27FC236}">
                <a16:creationId xmlns:a16="http://schemas.microsoft.com/office/drawing/2014/main" id="{C388AA44-3033-47DD-A341-BC9AEF3EA2CA}"/>
              </a:ext>
            </a:extLst>
          </p:cNvPr>
          <p:cNvSpPr>
            <a:spLocks xmlns:a="http://schemas.openxmlformats.org/drawingml/2006/main" noGrp="1"/>
          </p:cNvSpPr>
          <p:nvPr/>
        </p:nvSpPr>
        <p:spPr>
          <a:xfrm xmlns:a="http://schemas.openxmlformats.org/drawingml/2006/main">
            <a:off x="5376672" y="4069080"/>
            <a:ext cx="1847088" cy="50292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a:solidFill>
                  <a:srgbClr val="A09CAA"/>
                </a:solidFill>
                <a:latin typeface="Inter"/>
                <a:ea typeface="Inter"/>
                <a:cs typeface="Inter"/>
              </a:rPr>
              <a:t>Are claimed offers being used?</a:t>
            </a:r>
            <a:endParaRPr sz="830"/>
          </a:p>
        </p:txBody>
      </p:sp>
      <p:sp>
        <p:nvSpPr>
          <p:cNvPr id="19" name="Text 17">
            <a:extLst xmlns:a="http://schemas.openxmlformats.org/drawingml/2006/main">
              <a:ext uri="{FF2B5EF4-FFF2-40B4-BE49-F238E27FC236}">
                <a16:creationId xmlns:a16="http://schemas.microsoft.com/office/drawing/2014/main" id="{148B8139-6072-49B0-8F83-295B3BD1A560}"/>
              </a:ext>
            </a:extLst>
          </p:cNvPr>
          <p:cNvSpPr>
            <a:spLocks xmlns:a="http://schemas.openxmlformats.org/drawingml/2006/main" noGrp="1"/>
          </p:cNvSpPr>
          <p:nvPr/>
        </p:nvSpPr>
        <p:spPr>
          <a:xfrm xmlns:a="http://schemas.openxmlformats.org/drawingml/2006/main">
            <a:off x="7388352" y="3291840"/>
            <a:ext cx="274320" cy="27432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1800" b="1">
                <a:solidFill>
                  <a:srgbClr val="524B59"/>
                </a:solidFill>
                <a:latin typeface="Inter Display"/>
                <a:ea typeface="Inter Display"/>
                <a:cs typeface="Inter Display"/>
              </a:rPr>
              <a:t>›</a:t>
            </a:r>
            <a:endParaRPr sz="1800"/>
          </a:p>
        </p:txBody>
      </p:sp>
      <p:sp>
        <p:nvSpPr>
          <p:cNvPr id="20" name="Shape 18">
            <a:extLst xmlns:a="http://schemas.openxmlformats.org/drawingml/2006/main">
              <a:ext uri="{FF2B5EF4-FFF2-40B4-BE49-F238E27FC236}">
                <a16:creationId xmlns:a16="http://schemas.microsoft.com/office/drawing/2014/main" id="{0C877B1E-AA24-4439-A2DD-A06A20A46752}"/>
              </a:ext>
            </a:extLst>
          </p:cNvPr>
          <p:cNvSpPr>
            <a:spLocks xmlns:a="http://schemas.openxmlformats.org/drawingml/2006/main" noGrp="1"/>
          </p:cNvSpPr>
          <p:nvPr/>
        </p:nvSpPr>
        <p:spPr>
          <a:xfrm xmlns:a="http://schemas.openxmlformats.org/drawingml/2006/main">
            <a:off x="7498080" y="2377440"/>
            <a:ext cx="2176272" cy="2432304"/>
          </a:xfrm>
          <a:prstGeom xmlns:a="http://schemas.openxmlformats.org/drawingml/2006/main" prst="roundRect">
            <a:avLst>
              <a:gd name="adj" fmla="val 3361"/>
            </a:avLst>
          </a:prstGeom>
          <a:solidFill xmlns:a="http://schemas.openxmlformats.org/drawingml/2006/main">
            <a:srgbClr val="0D0D12"/>
          </a:solidFill>
          <a:ln xmlns:a="http://schemas.openxmlformats.org/drawingml/2006/main" w="10160">
            <a:solidFill>
              <a:srgbClr val="2D2935"/>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1" name="Text 19">
            <a:extLst xmlns:a="http://schemas.openxmlformats.org/drawingml/2006/main">
              <a:ext uri="{FF2B5EF4-FFF2-40B4-BE49-F238E27FC236}">
                <a16:creationId xmlns:a16="http://schemas.microsoft.com/office/drawing/2014/main" id="{57EF48E7-EDDE-46C4-812B-28076BC25051}"/>
              </a:ext>
            </a:extLst>
          </p:cNvPr>
          <p:cNvSpPr>
            <a:spLocks xmlns:a="http://schemas.openxmlformats.org/drawingml/2006/main" noGrp="1"/>
          </p:cNvSpPr>
          <p:nvPr/>
        </p:nvSpPr>
        <p:spPr>
          <a:xfrm xmlns:a="http://schemas.openxmlformats.org/drawingml/2006/main">
            <a:off x="7662672" y="2642616"/>
            <a:ext cx="1810512"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980" b="1" spc="80">
                <a:solidFill>
                  <a:srgbClr val="A855F7"/>
                </a:solidFill>
                <a:latin typeface="Inter"/>
                <a:ea typeface="Inter"/>
                <a:cs typeface="Inter"/>
              </a:rPr>
              <a:t>IN-CLUB</a:t>
            </a:r>
            <a:endParaRPr sz="850"/>
          </a:p>
        </p:txBody>
      </p:sp>
      <p:sp>
        <p:nvSpPr>
          <p:cNvPr id="22" name="Text 20">
            <a:extLst xmlns:a="http://schemas.openxmlformats.org/drawingml/2006/main">
              <a:ext uri="{FF2B5EF4-FFF2-40B4-BE49-F238E27FC236}">
                <a16:creationId xmlns:a16="http://schemas.microsoft.com/office/drawing/2014/main" id="{7DF19196-D4BF-4086-B3E9-9AF3A3C2AD82}"/>
              </a:ext>
            </a:extLst>
          </p:cNvPr>
          <p:cNvSpPr>
            <a:spLocks xmlns:a="http://schemas.openxmlformats.org/drawingml/2006/main" noGrp="1"/>
          </p:cNvSpPr>
          <p:nvPr/>
        </p:nvSpPr>
        <p:spPr>
          <a:xfrm xmlns:a="http://schemas.openxmlformats.org/drawingml/2006/main">
            <a:off x="7662672" y="3127248"/>
            <a:ext cx="1847088" cy="6583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1360" b="1">
                <a:solidFill>
                  <a:srgbClr val="F7F7FA"/>
                </a:solidFill>
                <a:latin typeface="Inter Display"/>
                <a:ea typeface="Inter Display"/>
                <a:cs typeface="Inter Display"/>
              </a:rPr>
              <a:t>Table requests</a:t>
            </a:r>
            <a:endParaRPr sz="1170"/>
          </a:p>
        </p:txBody>
      </p:sp>
      <p:sp>
        <p:nvSpPr>
          <p:cNvPr id="23" name="Text 21">
            <a:extLst xmlns:a="http://schemas.openxmlformats.org/drawingml/2006/main">
              <a:ext uri="{FF2B5EF4-FFF2-40B4-BE49-F238E27FC236}">
                <a16:creationId xmlns:a16="http://schemas.microsoft.com/office/drawing/2014/main" id="{F1A36532-9325-4631-A723-735C42FEBD5C}"/>
              </a:ext>
            </a:extLst>
          </p:cNvPr>
          <p:cNvSpPr>
            <a:spLocks xmlns:a="http://schemas.openxmlformats.org/drawingml/2006/main" noGrp="1"/>
          </p:cNvSpPr>
          <p:nvPr/>
        </p:nvSpPr>
        <p:spPr>
          <a:xfrm xmlns:a="http://schemas.openxmlformats.org/drawingml/2006/main">
            <a:off x="7662672" y="4069080"/>
            <a:ext cx="1847088" cy="50292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a:solidFill>
                  <a:srgbClr val="A09CAA"/>
                </a:solidFill>
                <a:latin typeface="Inter"/>
                <a:ea typeface="Inter"/>
                <a:cs typeface="Inter"/>
              </a:rPr>
              <a:t>Is the optional on-premise layer being used?</a:t>
            </a:r>
            <a:endParaRPr sz="830"/>
          </a:p>
        </p:txBody>
      </p:sp>
      <p:sp>
        <p:nvSpPr>
          <p:cNvPr id="24" name="Text 22">
            <a:extLst xmlns:a="http://schemas.openxmlformats.org/drawingml/2006/main">
              <a:ext uri="{FF2B5EF4-FFF2-40B4-BE49-F238E27FC236}">
                <a16:creationId xmlns:a16="http://schemas.microsoft.com/office/drawing/2014/main" id="{4912182E-DF4C-4881-9ABD-C9E56725112E}"/>
              </a:ext>
            </a:extLst>
          </p:cNvPr>
          <p:cNvSpPr>
            <a:spLocks xmlns:a="http://schemas.openxmlformats.org/drawingml/2006/main" noGrp="1"/>
          </p:cNvSpPr>
          <p:nvPr/>
        </p:nvSpPr>
        <p:spPr>
          <a:xfrm xmlns:a="http://schemas.openxmlformats.org/drawingml/2006/main">
            <a:off x="9674352" y="3291840"/>
            <a:ext cx="274320" cy="27432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1800" b="1">
                <a:solidFill>
                  <a:srgbClr val="524B59"/>
                </a:solidFill>
                <a:latin typeface="Inter Display"/>
                <a:ea typeface="Inter Display"/>
                <a:cs typeface="Inter Display"/>
              </a:rPr>
              <a:t>›</a:t>
            </a:r>
            <a:endParaRPr sz="1800"/>
          </a:p>
        </p:txBody>
      </p:sp>
      <p:sp>
        <p:nvSpPr>
          <p:cNvPr id="25" name="Shape 23">
            <a:extLst xmlns:a="http://schemas.openxmlformats.org/drawingml/2006/main">
              <a:ext uri="{FF2B5EF4-FFF2-40B4-BE49-F238E27FC236}">
                <a16:creationId xmlns:a16="http://schemas.microsoft.com/office/drawing/2014/main" id="{768CC46D-A4C5-4CDB-AECF-C605F76B5403}"/>
              </a:ext>
            </a:extLst>
          </p:cNvPr>
          <p:cNvSpPr>
            <a:spLocks xmlns:a="http://schemas.openxmlformats.org/drawingml/2006/main" noGrp="1"/>
          </p:cNvSpPr>
          <p:nvPr/>
        </p:nvSpPr>
        <p:spPr>
          <a:xfrm xmlns:a="http://schemas.openxmlformats.org/drawingml/2006/main">
            <a:off x="9784080" y="2377440"/>
            <a:ext cx="2176272" cy="2432304"/>
          </a:xfrm>
          <a:prstGeom xmlns:a="http://schemas.openxmlformats.org/drawingml/2006/main" prst="roundRect">
            <a:avLst>
              <a:gd name="adj" fmla="val 3361"/>
            </a:avLst>
          </a:prstGeom>
          <a:solidFill xmlns:a="http://schemas.openxmlformats.org/drawingml/2006/main">
            <a:srgbClr val="0D0D12"/>
          </a:solidFill>
          <a:ln xmlns:a="http://schemas.openxmlformats.org/drawingml/2006/main" w="10160">
            <a:solidFill>
              <a:srgbClr val="2D2935"/>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6" name="Text 24">
            <a:extLst xmlns:a="http://schemas.openxmlformats.org/drawingml/2006/main">
              <a:ext uri="{FF2B5EF4-FFF2-40B4-BE49-F238E27FC236}">
                <a16:creationId xmlns:a16="http://schemas.microsoft.com/office/drawing/2014/main" id="{97B96F0E-66CC-4DB2-BD81-E8C866FED711}"/>
              </a:ext>
            </a:extLst>
          </p:cNvPr>
          <p:cNvSpPr>
            <a:spLocks xmlns:a="http://schemas.openxmlformats.org/drawingml/2006/main" noGrp="1"/>
          </p:cNvSpPr>
          <p:nvPr/>
        </p:nvSpPr>
        <p:spPr>
          <a:xfrm xmlns:a="http://schemas.openxmlformats.org/drawingml/2006/main">
            <a:off x="9948672" y="2642616"/>
            <a:ext cx="1810512"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980" b="1" spc="80">
                <a:solidFill>
                  <a:srgbClr val="A855F7"/>
                </a:solidFill>
                <a:latin typeface="Inter"/>
                <a:ea typeface="Inter"/>
                <a:cs typeface="Inter"/>
              </a:rPr>
              <a:t>CONTENT</a:t>
            </a:r>
            <a:endParaRPr sz="850"/>
          </a:p>
        </p:txBody>
      </p:sp>
      <p:sp>
        <p:nvSpPr>
          <p:cNvPr id="27" name="Text 25">
            <a:extLst xmlns:a="http://schemas.openxmlformats.org/drawingml/2006/main">
              <a:ext uri="{FF2B5EF4-FFF2-40B4-BE49-F238E27FC236}">
                <a16:creationId xmlns:a16="http://schemas.microsoft.com/office/drawing/2014/main" id="{380D77E2-F1AC-44C7-8912-371397888C3C}"/>
              </a:ext>
            </a:extLst>
          </p:cNvPr>
          <p:cNvSpPr>
            <a:spLocks xmlns:a="http://schemas.openxmlformats.org/drawingml/2006/main" noGrp="1"/>
          </p:cNvSpPr>
          <p:nvPr/>
        </p:nvSpPr>
        <p:spPr>
          <a:xfrm xmlns:a="http://schemas.openxmlformats.org/drawingml/2006/main">
            <a:off x="9948672" y="3127248"/>
            <a:ext cx="1847088" cy="6583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1360" b="1">
                <a:solidFill>
                  <a:srgbClr val="F7F7FA"/>
                </a:solidFill>
                <a:latin typeface="Inter Display"/>
                <a:ea typeface="Inter Display"/>
                <a:cs typeface="Inter Display"/>
              </a:rPr>
              <a:t>Button sources + eligible</a:t>
            </a:r>
            <a:endParaRPr sz="1170"/>
          </a:p>
          <a:p xmlns:a="http://schemas.openxmlformats.org/drawingml/2006/main">
            <a:pPr marL="0" indent="0" algn="ctr">
              <a:lnSpc>
                <a:spcPct val="100000"/>
              </a:lnSpc>
              <a:buNone/>
            </a:pPr>
            <a:r>
              <a:rPr sz="1360" b="1">
                <a:solidFill>
                  <a:srgbClr val="F7F7FA"/>
                </a:solidFill>
                <a:latin typeface="Inter Display"/>
                <a:ea typeface="Inter Display"/>
                <a:cs typeface="Inter Display"/>
              </a:rPr>
              <a:t>MyDancr TV attribution</a:t>
            </a:r>
            <a:endParaRPr sz="1170"/>
          </a:p>
        </p:txBody>
      </p:sp>
      <p:sp>
        <p:nvSpPr>
          <p:cNvPr id="28" name="Text 26">
            <a:extLst xmlns:a="http://schemas.openxmlformats.org/drawingml/2006/main">
              <a:ext uri="{FF2B5EF4-FFF2-40B4-BE49-F238E27FC236}">
                <a16:creationId xmlns:a16="http://schemas.microsoft.com/office/drawing/2014/main" id="{20FB6D7A-BBB4-470A-85DA-8E85DD4378FE}"/>
              </a:ext>
            </a:extLst>
          </p:cNvPr>
          <p:cNvSpPr>
            <a:spLocks xmlns:a="http://schemas.openxmlformats.org/drawingml/2006/main" noGrp="1"/>
          </p:cNvSpPr>
          <p:nvPr/>
        </p:nvSpPr>
        <p:spPr>
          <a:xfrm xmlns:a="http://schemas.openxmlformats.org/drawingml/2006/main">
            <a:off x="9948672" y="4069080"/>
            <a:ext cx="1847088" cy="50292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a:solidFill>
                  <a:srgbClr val="A09CAA"/>
                </a:solidFill>
                <a:latin typeface="Inter"/>
                <a:ea typeface="Inter"/>
                <a:cs typeface="Inter"/>
              </a:rPr>
              <a:t>What surfaces are associated with action?</a:t>
            </a:r>
            <a:endParaRPr sz="830"/>
          </a:p>
        </p:txBody>
      </p:sp>
      <p:sp>
        <p:nvSpPr>
          <p:cNvPr id="29" name="Shape 27">
            <a:extLst xmlns:a="http://schemas.openxmlformats.org/drawingml/2006/main">
              <a:ext uri="{FF2B5EF4-FFF2-40B4-BE49-F238E27FC236}">
                <a16:creationId xmlns:a16="http://schemas.microsoft.com/office/drawing/2014/main" id="{A32CBFC4-F736-4409-981D-D742F270DD0C}"/>
              </a:ext>
            </a:extLst>
          </p:cNvPr>
          <p:cNvSpPr>
            <a:spLocks xmlns:a="http://schemas.openxmlformats.org/drawingml/2006/main" noGrp="1"/>
          </p:cNvSpPr>
          <p:nvPr/>
        </p:nvSpPr>
        <p:spPr>
          <a:xfrm xmlns:a="http://schemas.openxmlformats.org/drawingml/2006/main">
            <a:off x="658368" y="5157216"/>
            <a:ext cx="10881360" cy="1042416"/>
          </a:xfrm>
          <a:prstGeom xmlns:a="http://schemas.openxmlformats.org/drawingml/2006/main" prst="roundRect">
            <a:avLst>
              <a:gd name="adj" fmla="val 7018"/>
            </a:avLst>
          </a:prstGeom>
          <a:solidFill xmlns:a="http://schemas.openxmlformats.org/drawingml/2006/main">
            <a:srgbClr val="0B0B0F"/>
          </a:solidFill>
          <a:ln xmlns:a="http://schemas.openxmlformats.org/drawingml/2006/main" w="10160">
            <a:solidFill>
              <a:srgbClr val="27232E"/>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0" name="Text 28">
            <a:extLst xmlns:a="http://schemas.openxmlformats.org/drawingml/2006/main">
              <a:ext uri="{FF2B5EF4-FFF2-40B4-BE49-F238E27FC236}">
                <a16:creationId xmlns:a16="http://schemas.microsoft.com/office/drawing/2014/main" id="{80E76AEE-1D62-4247-9E0C-73E81459885D}"/>
              </a:ext>
            </a:extLst>
          </p:cNvPr>
          <p:cNvSpPr>
            <a:spLocks xmlns:a="http://schemas.openxmlformats.org/drawingml/2006/main" noGrp="1"/>
          </p:cNvSpPr>
          <p:nvPr/>
        </p:nvSpPr>
        <p:spPr>
          <a:xfrm xmlns:a="http://schemas.openxmlformats.org/drawingml/2006/main">
            <a:off x="914400" y="5413248"/>
            <a:ext cx="2331720" cy="2011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980" b="1" spc="80">
                <a:solidFill>
                  <a:srgbClr val="A855F7"/>
                </a:solidFill>
                <a:latin typeface="Inter"/>
                <a:ea typeface="Inter"/>
                <a:cs typeface="Inter"/>
              </a:rPr>
              <a:t>WHAT MYDANCR CAN VERIFY</a:t>
            </a:r>
            <a:endParaRPr sz="840"/>
          </a:p>
        </p:txBody>
      </p:sp>
      <p:sp>
        <p:nvSpPr>
          <p:cNvPr id="31" name="Text 29">
            <a:extLst xmlns:a="http://schemas.openxmlformats.org/drawingml/2006/main">
              <a:ext uri="{FF2B5EF4-FFF2-40B4-BE49-F238E27FC236}">
                <a16:creationId xmlns:a16="http://schemas.microsoft.com/office/drawing/2014/main" id="{A265C915-E9AB-4DC3-9C1E-D6A5A7320532}"/>
              </a:ext>
            </a:extLst>
          </p:cNvPr>
          <p:cNvSpPr>
            <a:spLocks xmlns:a="http://schemas.openxmlformats.org/drawingml/2006/main" noGrp="1"/>
          </p:cNvSpPr>
          <p:nvPr/>
        </p:nvSpPr>
        <p:spPr>
          <a:xfrm xmlns:a="http://schemas.openxmlformats.org/drawingml/2006/main">
            <a:off x="3063240" y="5358384"/>
            <a:ext cx="2880360" cy="29260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550" b="1">
                <a:solidFill>
                  <a:srgbClr val="F7F7FA"/>
                </a:solidFill>
                <a:latin typeface="Inter Display"/>
                <a:ea typeface="Inter Display"/>
                <a:cs typeface="Inter Display"/>
              </a:rPr>
              <a:t>Product actions + redeemed passes</a:t>
            </a:r>
            <a:endParaRPr sz="1260"/>
          </a:p>
        </p:txBody>
      </p:sp>
      <p:sp>
        <p:nvSpPr>
          <p:cNvPr id="32" name="Shape 30">
            <a:extLst xmlns:a="http://schemas.openxmlformats.org/drawingml/2006/main">
              <a:ext uri="{FF2B5EF4-FFF2-40B4-BE49-F238E27FC236}">
                <a16:creationId xmlns:a16="http://schemas.microsoft.com/office/drawing/2014/main" id="{D8559853-4E8D-4D9D-8B00-D1013CBB4F2A}"/>
              </a:ext>
            </a:extLst>
          </p:cNvPr>
          <p:cNvSpPr>
            <a:spLocks xmlns:a="http://schemas.openxmlformats.org/drawingml/2006/main" noGrp="1"/>
          </p:cNvSpPr>
          <p:nvPr/>
        </p:nvSpPr>
        <p:spPr>
          <a:xfrm xmlns:a="http://schemas.openxmlformats.org/drawingml/2006/main">
            <a:off x="6016752" y="5358384"/>
            <a:ext cx="0" cy="484632"/>
          </a:xfrm>
          <a:prstGeom xmlns:a="http://schemas.openxmlformats.org/drawingml/2006/main" prst="line">
            <a:avLst/>
          </a:prstGeom>
          <a:noFill xmlns:a="http://schemas.openxmlformats.org/drawingml/2006/main"/>
          <a:ln xmlns:a="http://schemas.openxmlformats.org/drawingml/2006/main" w="10160">
            <a:solidFill>
              <a:srgbClr val="2F2A3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3" name="Text 31">
            <a:extLst xmlns:a="http://schemas.openxmlformats.org/drawingml/2006/main">
              <a:ext uri="{FF2B5EF4-FFF2-40B4-BE49-F238E27FC236}">
                <a16:creationId xmlns:a16="http://schemas.microsoft.com/office/drawing/2014/main" id="{79C267C2-5D59-469F-ACEA-D4BA4A0C12F9}"/>
              </a:ext>
            </a:extLst>
          </p:cNvPr>
          <p:cNvSpPr>
            <a:spLocks xmlns:a="http://schemas.openxmlformats.org/drawingml/2006/main" noGrp="1"/>
          </p:cNvSpPr>
          <p:nvPr/>
        </p:nvSpPr>
        <p:spPr>
          <a:xfrm xmlns:a="http://schemas.openxmlformats.org/drawingml/2006/main">
            <a:off x="6281928" y="5413248"/>
            <a:ext cx="2148840" cy="2011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980" b="1" spc="80">
                <a:solidFill>
                  <a:srgbClr val="1ED59B"/>
                </a:solidFill>
                <a:latin typeface="Inter"/>
                <a:ea typeface="Inter"/>
                <a:cs typeface="Inter"/>
              </a:rPr>
              <a:t>WHAT NEEDS CLUB DATA</a:t>
            </a:r>
            <a:endParaRPr sz="840"/>
          </a:p>
        </p:txBody>
      </p:sp>
      <p:sp>
        <p:nvSpPr>
          <p:cNvPr id="34" name="Text 32">
            <a:extLst xmlns:a="http://schemas.openxmlformats.org/drawingml/2006/main">
              <a:ext uri="{FF2B5EF4-FFF2-40B4-BE49-F238E27FC236}">
                <a16:creationId xmlns:a16="http://schemas.microsoft.com/office/drawing/2014/main" id="{D83EA4E4-E964-4A68-AFAF-3685205971A8}"/>
              </a:ext>
            </a:extLst>
          </p:cNvPr>
          <p:cNvSpPr>
            <a:spLocks xmlns:a="http://schemas.openxmlformats.org/drawingml/2006/main" noGrp="1"/>
          </p:cNvSpPr>
          <p:nvPr/>
        </p:nvSpPr>
        <p:spPr>
          <a:xfrm xmlns:a="http://schemas.openxmlformats.org/drawingml/2006/main">
            <a:off x="8156448" y="5358384"/>
            <a:ext cx="3072384" cy="29260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b="1">
                <a:solidFill>
                  <a:srgbClr val="F7F7FA"/>
                </a:solidFill>
                <a:latin typeface="Inter Display"/>
                <a:ea typeface="Inter Display"/>
                <a:cs typeface="Inter Display"/>
              </a:rPr>
              <a:t>Total visits • VIP spend • revenue • incremental value</a:t>
            </a:r>
            <a:endParaRPr sz="1170"/>
          </a:p>
        </p:txBody>
      </p:sp>
      <p:sp>
        <p:nvSpPr>
          <p:cNvPr id="35" name="Text 33">
            <a:extLst xmlns:a="http://schemas.openxmlformats.org/drawingml/2006/main">
              <a:ext uri="{FF2B5EF4-FFF2-40B4-BE49-F238E27FC236}">
                <a16:creationId xmlns:a16="http://schemas.microsoft.com/office/drawing/2014/main" id="{4BABC2CE-6066-4C36-8654-C971E2155B31}"/>
              </a:ext>
            </a:extLst>
          </p:cNvPr>
          <p:cNvSpPr>
            <a:spLocks xmlns:a="http://schemas.openxmlformats.org/drawingml/2006/main" noGrp="1"/>
          </p:cNvSpPr>
          <p:nvPr/>
        </p:nvSpPr>
        <p:spPr>
          <a:xfrm xmlns:a="http://schemas.openxmlformats.org/drawingml/2006/main">
            <a:off x="576072" y="6515100"/>
            <a:ext cx="1092708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869">
                <a:solidFill>
                  <a:srgbClr val="66616E"/>
                </a:solidFill>
                <a:latin typeface="Inter"/>
                <a:ea typeface="Inter"/>
                <a:cs typeface="Inter"/>
              </a:rPr>
              <a:t>Verified admissions count redeemed passes. Product analytics alone do not establish incremental revenue; pilot review should reconcile with club records.</a:t>
            </a:r>
            <a:endParaRPr sz="670"/>
          </a:p>
        </p:txBody>
      </p:sp>
      <p:sp>
        <p:nvSpPr>
          <p:cNvPr id="36" name="Slide Number Placeholder 0">
            <a:extLst xmlns:a="http://schemas.openxmlformats.org/drawingml/2006/main">
              <a:ext uri="{FF2B5EF4-FFF2-40B4-BE49-F238E27FC236}">
                <a16:creationId xmlns:a16="http://schemas.microsoft.com/office/drawing/2014/main" id="{940D6388-E13B-4A35-8370-CFE7F6C18FC4}"/>
              </a:ext>
            </a:extLst>
          </p:cNvPr>
          <p:cNvSpPr>
            <a:spLocks xmlns:a="http://schemas.openxmlformats.org/drawingml/2006/main" noGrp="1"/>
          </p:cNvSpPr>
          <p:nvPr>
            <p:ph type="sldNum" idx="4294967295"/>
          </p:nvPr>
        </p:nvSpPr>
        <p:spPr>
          <a:xfrm xmlns:a="http://schemas.openxmlformats.org/drawingml/2006/main">
            <a:off x="11155680" y="164592"/>
            <a:ext cx="502920" cy="228600"/>
          </a:xfrm>
          <a:prstGeom xmlns:a="http://schemas.openxmlformats.org/drawingml/2006/main" prst="rect">
            <a:avLst/>
          </a:prstGeom>
        </p:spPr>
        <p:txBody>
          <a:bodyPr xmlns:a="http://schemas.openxmlformats.org/drawingml/2006/main" wrap="square" lIns="27432" tIns="13716" rIns="27432" bIns="13716"/>
          <a:lstStyle xmlns:a="http://schemas.openxmlformats.org/drawingml/2006/main">
            <a:lvl1pPr>
              <a:buNone/>
              <a:defRPr sz="850">
                <a:solidFill>
                  <a:srgbClr val="686572"/>
                </a:solidFill>
                <a:latin typeface="Inter"/>
                <a:ea typeface="Inter"/>
                <a:cs typeface="Inter"/>
              </a:defRPr>
            </a:lvl1pPr>
          </a:lstStyle>
          <a:p xmlns:a="http://schemas.openxmlformats.org/drawingml/2006/main">
            <a:r>
              <a:rPr sz="900">
                <a:solidFill>
                  <a:srgbClr val="6D6875"/>
                </a:solidFill>
                <a:latin typeface="Inter"/>
              </a:rPr>
              <a:t>7</a:t>
            </a:r>
          </a:p>
        </p:txBody>
      </p:sp>
    </p:spTree>
    <p:extLst>
      <p:ext uri="{BB962C8B-B14F-4D97-AF65-F5344CB8AC3E}">
        <p14:creationId xmlns:p14="http://schemas.microsoft.com/office/powerpoint/2010/main" val="178686827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6171373-6361-44DF-BB02-DF82D2B0C027}"/>
              </a:ext>
            </a:extLst>
          </p:cNvPr>
          <p:cNvSpPr>
            <a:spLocks xmlns:a="http://schemas.openxmlformats.org/drawingml/2006/main" noGrp="1"/>
          </p:cNvSpPr>
          <p:nvPr/>
        </p:nvSpPr>
        <p:spPr>
          <a:xfrm xmlns:a="http://schemas.openxmlformats.org/drawingml/2006/main">
            <a:off x="566928" y="576072"/>
            <a:ext cx="2377440"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b="1" spc="160">
                <a:solidFill>
                  <a:srgbClr val="A855F7"/>
                </a:solidFill>
                <a:latin typeface="Inter"/>
                <a:ea typeface="Inter"/>
                <a:cs typeface="Inter"/>
              </a:rPr>
              <a:t>MULTI-LOCATION VALUE</a:t>
            </a:r>
            <a:endParaRPr sz="950"/>
          </a:p>
        </p:txBody>
      </p:sp>
      <p:sp>
        <p:nvSpPr>
          <p:cNvPr id="3" name="Text 1">
            <a:extLst xmlns:a="http://schemas.openxmlformats.org/drawingml/2006/main">
              <a:ext uri="{FF2B5EF4-FFF2-40B4-BE49-F238E27FC236}">
                <a16:creationId xmlns:a16="http://schemas.microsoft.com/office/drawing/2014/main" id="{BF2BDA0D-AC71-498C-97B5-F7AF281F22EC}"/>
              </a:ext>
            </a:extLst>
          </p:cNvPr>
          <p:cNvSpPr>
            <a:spLocks xmlns:a="http://schemas.openxmlformats.org/drawingml/2006/main" noGrp="1"/>
          </p:cNvSpPr>
          <p:nvPr/>
        </p:nvSpPr>
        <p:spPr>
          <a:xfrm xmlns:a="http://schemas.openxmlformats.org/drawingml/2006/main">
            <a:off x="566928" y="850392"/>
            <a:ext cx="10744200" cy="6400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3000" b="1">
                <a:solidFill>
                  <a:srgbClr val="F7F7FA"/>
                </a:solidFill>
                <a:latin typeface="Inter Display"/>
                <a:ea typeface="Inter Display"/>
                <a:cs typeface="Inter Display"/>
              </a:rPr>
              <a:t>Built for one club. Repeatable across the group.</a:t>
            </a:r>
            <a:endParaRPr sz="2800"/>
          </a:p>
        </p:txBody>
      </p:sp>
      <p:sp>
        <p:nvSpPr>
          <p:cNvPr id="4" name="Text 2">
            <a:extLst xmlns:a="http://schemas.openxmlformats.org/drawingml/2006/main">
              <a:ext uri="{FF2B5EF4-FFF2-40B4-BE49-F238E27FC236}">
                <a16:creationId xmlns:a16="http://schemas.microsoft.com/office/drawing/2014/main" id="{BCF35FFB-0B50-40B2-80E6-08B198A89B01}"/>
              </a:ext>
            </a:extLst>
          </p:cNvPr>
          <p:cNvSpPr>
            <a:spLocks xmlns:a="http://schemas.openxmlformats.org/drawingml/2006/main" noGrp="1"/>
          </p:cNvSpPr>
          <p:nvPr/>
        </p:nvSpPr>
        <p:spPr>
          <a:xfrm xmlns:a="http://schemas.openxmlformats.org/drawingml/2006/main">
            <a:off x="566928" y="1517904"/>
            <a:ext cx="10561320" cy="49377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a:solidFill>
                  <a:srgbClr val="A09CAA"/>
                </a:solidFill>
                <a:latin typeface="Inter"/>
                <a:ea typeface="Inter"/>
                <a:cs typeface="Inter"/>
              </a:rPr>
              <a:t>Use the same core playbook and KPI language while preserving each location’s identity and operating needs.</a:t>
            </a:r>
            <a:endParaRPr sz="1220"/>
          </a:p>
        </p:txBody>
      </p:sp>
      <p:sp>
        <p:nvSpPr>
          <p:cNvPr id="5" name="Shape 3">
            <a:extLst xmlns:a="http://schemas.openxmlformats.org/drawingml/2006/main">
              <a:ext uri="{FF2B5EF4-FFF2-40B4-BE49-F238E27FC236}">
                <a16:creationId xmlns:a16="http://schemas.microsoft.com/office/drawing/2014/main" id="{9F49E74E-5719-446E-B8B7-C46346714839}"/>
              </a:ext>
            </a:extLst>
          </p:cNvPr>
          <p:cNvSpPr>
            <a:spLocks xmlns:a="http://schemas.openxmlformats.org/drawingml/2006/main" noGrp="1"/>
          </p:cNvSpPr>
          <p:nvPr/>
        </p:nvSpPr>
        <p:spPr>
          <a:xfrm xmlns:a="http://schemas.openxmlformats.org/drawingml/2006/main">
            <a:off x="676656" y="2304288"/>
            <a:ext cx="3364992" cy="3566160"/>
          </a:xfrm>
          <a:prstGeom xmlns:a="http://schemas.openxmlformats.org/drawingml/2006/main" prst="roundRect">
            <a:avLst>
              <a:gd name="adj" fmla="val 2174"/>
            </a:avLst>
          </a:prstGeom>
          <a:solidFill xmlns:a="http://schemas.openxmlformats.org/drawingml/2006/main">
            <a:srgbClr val="0D0D12"/>
          </a:solidFill>
          <a:ln xmlns:a="http://schemas.openxmlformats.org/drawingml/2006/main" w="10160">
            <a:solidFill>
              <a:srgbClr val="2D2935"/>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6" name="Shape 4">
            <a:extLst xmlns:a="http://schemas.openxmlformats.org/drawingml/2006/main">
              <a:ext uri="{FF2B5EF4-FFF2-40B4-BE49-F238E27FC236}">
                <a16:creationId xmlns:a16="http://schemas.microsoft.com/office/drawing/2014/main" id="{850BF8AA-CC1C-4582-8EB3-FBB551586D4A}"/>
              </a:ext>
            </a:extLst>
          </p:cNvPr>
          <p:cNvSpPr>
            <a:spLocks xmlns:a="http://schemas.openxmlformats.org/drawingml/2006/main" noGrp="1"/>
          </p:cNvSpPr>
          <p:nvPr/>
        </p:nvSpPr>
        <p:spPr>
          <a:xfrm xmlns:a="http://schemas.openxmlformats.org/drawingml/2006/main">
            <a:off x="4416552" y="2304288"/>
            <a:ext cx="3364992" cy="3566160"/>
          </a:xfrm>
          <a:prstGeom xmlns:a="http://schemas.openxmlformats.org/drawingml/2006/main" prst="roundRect">
            <a:avLst>
              <a:gd name="adj" fmla="val 2174"/>
            </a:avLst>
          </a:prstGeom>
          <a:solidFill xmlns:a="http://schemas.openxmlformats.org/drawingml/2006/main">
            <a:srgbClr val="0D0D12"/>
          </a:solidFill>
          <a:ln xmlns:a="http://schemas.openxmlformats.org/drawingml/2006/main" w="10160">
            <a:solidFill>
              <a:srgbClr val="2D2935"/>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7" name="Shape 5">
            <a:extLst xmlns:a="http://schemas.openxmlformats.org/drawingml/2006/main">
              <a:ext uri="{FF2B5EF4-FFF2-40B4-BE49-F238E27FC236}">
                <a16:creationId xmlns:a16="http://schemas.microsoft.com/office/drawing/2014/main" id="{AF18810E-BD71-4FAF-8B3F-C9C66B67ECD5}"/>
              </a:ext>
            </a:extLst>
          </p:cNvPr>
          <p:cNvSpPr>
            <a:spLocks xmlns:a="http://schemas.openxmlformats.org/drawingml/2006/main" noGrp="1"/>
          </p:cNvSpPr>
          <p:nvPr/>
        </p:nvSpPr>
        <p:spPr>
          <a:xfrm xmlns:a="http://schemas.openxmlformats.org/drawingml/2006/main">
            <a:off x="8156448" y="2304288"/>
            <a:ext cx="3364992" cy="3566160"/>
          </a:xfrm>
          <a:prstGeom xmlns:a="http://schemas.openxmlformats.org/drawingml/2006/main" prst="roundRect">
            <a:avLst>
              <a:gd name="adj" fmla="val 2174"/>
            </a:avLst>
          </a:prstGeom>
          <a:solidFill xmlns:a="http://schemas.openxmlformats.org/drawingml/2006/main">
            <a:srgbClr val="0D0D12"/>
          </a:solidFill>
          <a:ln xmlns:a="http://schemas.openxmlformats.org/drawingml/2006/main" w="10160">
            <a:solidFill>
              <a:srgbClr val="2D2935"/>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8" name="Text 6">
            <a:extLst xmlns:a="http://schemas.openxmlformats.org/drawingml/2006/main">
              <a:ext uri="{FF2B5EF4-FFF2-40B4-BE49-F238E27FC236}">
                <a16:creationId xmlns:a16="http://schemas.microsoft.com/office/drawing/2014/main" id="{E1F26631-B4DA-4620-8ECC-50C3650AD434}"/>
              </a:ext>
            </a:extLst>
          </p:cNvPr>
          <p:cNvSpPr>
            <a:spLocks xmlns:a="http://schemas.openxmlformats.org/drawingml/2006/main" noGrp="1"/>
          </p:cNvSpPr>
          <p:nvPr/>
        </p:nvSpPr>
        <p:spPr>
          <a:xfrm xmlns:a="http://schemas.openxmlformats.org/drawingml/2006/main">
            <a:off x="932688" y="2633472"/>
            <a:ext cx="566928" cy="32918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550" b="1">
                <a:solidFill>
                  <a:srgbClr val="A855F7"/>
                </a:solidFill>
                <a:latin typeface="Inter Display"/>
                <a:ea typeface="Inter Display"/>
                <a:cs typeface="Inter Display"/>
              </a:rPr>
              <a:t>01</a:t>
            </a:r>
            <a:endParaRPr sz="1400"/>
          </a:p>
        </p:txBody>
      </p:sp>
      <p:sp>
        <p:nvSpPr>
          <p:cNvPr id="9" name="Text 7">
            <a:extLst xmlns:a="http://schemas.openxmlformats.org/drawingml/2006/main">
              <a:ext uri="{FF2B5EF4-FFF2-40B4-BE49-F238E27FC236}">
                <a16:creationId xmlns:a16="http://schemas.microsoft.com/office/drawing/2014/main" id="{C421EF0C-E511-4843-A4AB-F96EC3DB0134}"/>
              </a:ext>
            </a:extLst>
          </p:cNvPr>
          <p:cNvSpPr>
            <a:spLocks xmlns:a="http://schemas.openxmlformats.org/drawingml/2006/main" noGrp="1"/>
          </p:cNvSpPr>
          <p:nvPr/>
        </p:nvSpPr>
        <p:spPr>
          <a:xfrm xmlns:a="http://schemas.openxmlformats.org/drawingml/2006/main">
            <a:off x="932688" y="3136392"/>
            <a:ext cx="2743200" cy="4572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b="1">
                <a:solidFill>
                  <a:srgbClr val="F7F7FA"/>
                </a:solidFill>
                <a:latin typeface="Inter Display"/>
                <a:ea typeface="Inter Display"/>
                <a:cs typeface="Inter Display"/>
              </a:rPr>
              <a:t>COMMON KPI LANGUAGE</a:t>
            </a:r>
            <a:endParaRPr sz="1250"/>
          </a:p>
        </p:txBody>
      </p:sp>
      <p:sp>
        <p:nvSpPr>
          <p:cNvPr id="10" name="Shape 8">
            <a:extLst xmlns:a="http://schemas.openxmlformats.org/drawingml/2006/main">
              <a:ext uri="{FF2B5EF4-FFF2-40B4-BE49-F238E27FC236}">
                <a16:creationId xmlns:a16="http://schemas.microsoft.com/office/drawing/2014/main" id="{56025737-9FAB-4C6A-868D-CFDCAE4861C5}"/>
              </a:ext>
            </a:extLst>
          </p:cNvPr>
          <p:cNvSpPr>
            <a:spLocks xmlns:a="http://schemas.openxmlformats.org/drawingml/2006/main" noGrp="1"/>
          </p:cNvSpPr>
          <p:nvPr/>
        </p:nvSpPr>
        <p:spPr>
          <a:xfrm xmlns:a="http://schemas.openxmlformats.org/drawingml/2006/main">
            <a:off x="960120" y="3941064"/>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1" name="Text 9">
            <a:extLst xmlns:a="http://schemas.openxmlformats.org/drawingml/2006/main">
              <a:ext uri="{FF2B5EF4-FFF2-40B4-BE49-F238E27FC236}">
                <a16:creationId xmlns:a16="http://schemas.microsoft.com/office/drawing/2014/main" id="{4CE3AD8A-B4F8-4433-88F2-BBD09436B369}"/>
              </a:ext>
            </a:extLst>
          </p:cNvPr>
          <p:cNvSpPr>
            <a:spLocks xmlns:a="http://schemas.openxmlformats.org/drawingml/2006/main" noGrp="1"/>
          </p:cNvSpPr>
          <p:nvPr/>
        </p:nvSpPr>
        <p:spPr>
          <a:xfrm xmlns:a="http://schemas.openxmlformats.org/drawingml/2006/main">
            <a:off x="1152144" y="3886200"/>
            <a:ext cx="2542032" cy="3931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8C5CD"/>
                </a:solidFill>
                <a:latin typeface="Inter"/>
                <a:ea typeface="Inter"/>
                <a:cs typeface="Inter"/>
              </a:rPr>
              <a:t>Equivalent time periods</a:t>
            </a:r>
            <a:endParaRPr sz="900"/>
          </a:p>
        </p:txBody>
      </p:sp>
      <p:sp>
        <p:nvSpPr>
          <p:cNvPr id="12" name="Shape 10">
            <a:extLst xmlns:a="http://schemas.openxmlformats.org/drawingml/2006/main">
              <a:ext uri="{FF2B5EF4-FFF2-40B4-BE49-F238E27FC236}">
                <a16:creationId xmlns:a16="http://schemas.microsoft.com/office/drawing/2014/main" id="{498A6F96-0DF7-420C-906F-5CCC715F542A}"/>
              </a:ext>
            </a:extLst>
          </p:cNvPr>
          <p:cNvSpPr>
            <a:spLocks xmlns:a="http://schemas.openxmlformats.org/drawingml/2006/main" noGrp="1"/>
          </p:cNvSpPr>
          <p:nvPr/>
        </p:nvSpPr>
        <p:spPr>
          <a:xfrm xmlns:a="http://schemas.openxmlformats.org/drawingml/2006/main">
            <a:off x="960120" y="4443984"/>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3" name="Text 11">
            <a:extLst xmlns:a="http://schemas.openxmlformats.org/drawingml/2006/main">
              <a:ext uri="{FF2B5EF4-FFF2-40B4-BE49-F238E27FC236}">
                <a16:creationId xmlns:a16="http://schemas.microsoft.com/office/drawing/2014/main" id="{26757682-87A0-42F9-A1E1-D4A54EA827C7}"/>
              </a:ext>
            </a:extLst>
          </p:cNvPr>
          <p:cNvSpPr>
            <a:spLocks xmlns:a="http://schemas.openxmlformats.org/drawingml/2006/main" noGrp="1"/>
          </p:cNvSpPr>
          <p:nvPr/>
        </p:nvSpPr>
        <p:spPr>
          <a:xfrm xmlns:a="http://schemas.openxmlformats.org/drawingml/2006/main">
            <a:off x="1152144" y="4389120"/>
            <a:ext cx="2542032" cy="3931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8C5CD"/>
                </a:solidFill>
                <a:latin typeface="Inter"/>
                <a:ea typeface="Inter"/>
                <a:cs typeface="Inter"/>
              </a:rPr>
              <a:t>Same action categories</a:t>
            </a:r>
            <a:endParaRPr sz="900"/>
          </a:p>
        </p:txBody>
      </p:sp>
      <p:sp>
        <p:nvSpPr>
          <p:cNvPr id="14" name="Shape 12">
            <a:extLst xmlns:a="http://schemas.openxmlformats.org/drawingml/2006/main">
              <a:ext uri="{FF2B5EF4-FFF2-40B4-BE49-F238E27FC236}">
                <a16:creationId xmlns:a16="http://schemas.microsoft.com/office/drawing/2014/main" id="{21909D2B-A481-464F-94DC-F3911B050AC4}"/>
              </a:ext>
            </a:extLst>
          </p:cNvPr>
          <p:cNvSpPr>
            <a:spLocks xmlns:a="http://schemas.openxmlformats.org/drawingml/2006/main" noGrp="1"/>
          </p:cNvSpPr>
          <p:nvPr/>
        </p:nvSpPr>
        <p:spPr>
          <a:xfrm xmlns:a="http://schemas.openxmlformats.org/drawingml/2006/main">
            <a:off x="960120" y="4946904"/>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5" name="Text 13">
            <a:extLst xmlns:a="http://schemas.openxmlformats.org/drawingml/2006/main">
              <a:ext uri="{FF2B5EF4-FFF2-40B4-BE49-F238E27FC236}">
                <a16:creationId xmlns:a16="http://schemas.microsoft.com/office/drawing/2014/main" id="{08BFE1BE-3D8E-4025-B2BE-34792E497158}"/>
              </a:ext>
            </a:extLst>
          </p:cNvPr>
          <p:cNvSpPr>
            <a:spLocks xmlns:a="http://schemas.openxmlformats.org/drawingml/2006/main" noGrp="1"/>
          </p:cNvSpPr>
          <p:nvPr/>
        </p:nvSpPr>
        <p:spPr>
          <a:xfrm xmlns:a="http://schemas.openxmlformats.org/drawingml/2006/main">
            <a:off x="1152144" y="4892040"/>
            <a:ext cx="2542032" cy="3931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8C5CD"/>
                </a:solidFill>
                <a:latin typeface="Inter"/>
                <a:ea typeface="Inter"/>
                <a:cs typeface="Inter"/>
              </a:rPr>
              <a:t>Comparable pilot scorecards</a:t>
            </a:r>
            <a:endParaRPr sz="900"/>
          </a:p>
        </p:txBody>
      </p:sp>
      <p:sp>
        <p:nvSpPr>
          <p:cNvPr id="16" name="Text 14">
            <a:extLst xmlns:a="http://schemas.openxmlformats.org/drawingml/2006/main">
              <a:ext uri="{FF2B5EF4-FFF2-40B4-BE49-F238E27FC236}">
                <a16:creationId xmlns:a16="http://schemas.microsoft.com/office/drawing/2014/main" id="{BAB4FAE8-5486-4AA3-892A-7355F2B8A2CE}"/>
              </a:ext>
            </a:extLst>
          </p:cNvPr>
          <p:cNvSpPr>
            <a:spLocks xmlns:a="http://schemas.openxmlformats.org/drawingml/2006/main" noGrp="1"/>
          </p:cNvSpPr>
          <p:nvPr/>
        </p:nvSpPr>
        <p:spPr>
          <a:xfrm xmlns:a="http://schemas.openxmlformats.org/drawingml/2006/main">
            <a:off x="4672584" y="2633472"/>
            <a:ext cx="566928" cy="32918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550" b="1">
                <a:solidFill>
                  <a:srgbClr val="1ED59B"/>
                </a:solidFill>
                <a:latin typeface="Inter Display"/>
                <a:ea typeface="Inter Display"/>
                <a:cs typeface="Inter Display"/>
              </a:rPr>
              <a:t>02</a:t>
            </a:r>
            <a:endParaRPr sz="1400"/>
          </a:p>
        </p:txBody>
      </p:sp>
      <p:sp>
        <p:nvSpPr>
          <p:cNvPr id="17" name="Text 15">
            <a:extLst xmlns:a="http://schemas.openxmlformats.org/drawingml/2006/main">
              <a:ext uri="{FF2B5EF4-FFF2-40B4-BE49-F238E27FC236}">
                <a16:creationId xmlns:a16="http://schemas.microsoft.com/office/drawing/2014/main" id="{50DC33BA-B525-401F-B891-29354CD004B4}"/>
              </a:ext>
            </a:extLst>
          </p:cNvPr>
          <p:cNvSpPr>
            <a:spLocks xmlns:a="http://schemas.openxmlformats.org/drawingml/2006/main" noGrp="1"/>
          </p:cNvSpPr>
          <p:nvPr/>
        </p:nvSpPr>
        <p:spPr>
          <a:xfrm xmlns:a="http://schemas.openxmlformats.org/drawingml/2006/main">
            <a:off x="4672584" y="3136392"/>
            <a:ext cx="2743200" cy="4572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b="1">
                <a:solidFill>
                  <a:srgbClr val="F7F7FA"/>
                </a:solidFill>
                <a:latin typeface="Inter Display"/>
                <a:ea typeface="Inter Display"/>
                <a:cs typeface="Inter Display"/>
              </a:rPr>
              <a:t>LOCAL CONTROL</a:t>
            </a:r>
            <a:endParaRPr sz="1250"/>
          </a:p>
        </p:txBody>
      </p:sp>
      <p:sp>
        <p:nvSpPr>
          <p:cNvPr id="18" name="Shape 16">
            <a:extLst xmlns:a="http://schemas.openxmlformats.org/drawingml/2006/main">
              <a:ext uri="{FF2B5EF4-FFF2-40B4-BE49-F238E27FC236}">
                <a16:creationId xmlns:a16="http://schemas.microsoft.com/office/drawing/2014/main" id="{5725549B-F8C0-4C79-922D-B3BF5839C128}"/>
              </a:ext>
            </a:extLst>
          </p:cNvPr>
          <p:cNvSpPr>
            <a:spLocks xmlns:a="http://schemas.openxmlformats.org/drawingml/2006/main" noGrp="1"/>
          </p:cNvSpPr>
          <p:nvPr/>
        </p:nvSpPr>
        <p:spPr>
          <a:xfrm xmlns:a="http://schemas.openxmlformats.org/drawingml/2006/main">
            <a:off x="4700016" y="3941064"/>
            <a:ext cx="68580" cy="68580"/>
          </a:xfrm>
          <a:prstGeom xmlns:a="http://schemas.openxmlformats.org/drawingml/2006/main" prst="ellipse">
            <a:avLst/>
          </a:prstGeom>
          <a:solidFill xmlns:a="http://schemas.openxmlformats.org/drawingml/2006/main">
            <a:srgbClr val="1ED59B"/>
          </a:solidFill>
          <a:ln xmlns:a="http://schemas.openxmlformats.org/drawingml/2006/main" w="12700">
            <a:solidFill>
              <a:srgbClr val="1ED59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9" name="Text 17">
            <a:extLst xmlns:a="http://schemas.openxmlformats.org/drawingml/2006/main">
              <a:ext uri="{FF2B5EF4-FFF2-40B4-BE49-F238E27FC236}">
                <a16:creationId xmlns:a16="http://schemas.microsoft.com/office/drawing/2014/main" id="{122EA3C6-21D6-48C3-A32D-089979A50664}"/>
              </a:ext>
            </a:extLst>
          </p:cNvPr>
          <p:cNvSpPr>
            <a:spLocks xmlns:a="http://schemas.openxmlformats.org/drawingml/2006/main" noGrp="1"/>
          </p:cNvSpPr>
          <p:nvPr/>
        </p:nvSpPr>
        <p:spPr>
          <a:xfrm xmlns:a="http://schemas.openxmlformats.org/drawingml/2006/main">
            <a:off x="4892040" y="3886200"/>
            <a:ext cx="2542032" cy="3931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8C5CD"/>
                </a:solidFill>
                <a:latin typeface="Inter"/>
                <a:ea typeface="Inter"/>
                <a:cs typeface="Inter"/>
              </a:rPr>
              <a:t>Each club keeps its page + assets</a:t>
            </a:r>
            <a:endParaRPr sz="900"/>
          </a:p>
        </p:txBody>
      </p:sp>
      <p:sp>
        <p:nvSpPr>
          <p:cNvPr id="20" name="Shape 18">
            <a:extLst xmlns:a="http://schemas.openxmlformats.org/drawingml/2006/main">
              <a:ext uri="{FF2B5EF4-FFF2-40B4-BE49-F238E27FC236}">
                <a16:creationId xmlns:a16="http://schemas.microsoft.com/office/drawing/2014/main" id="{8CF1DD8D-4DA4-4FC3-AAD5-4155DD2601ED}"/>
              </a:ext>
            </a:extLst>
          </p:cNvPr>
          <p:cNvSpPr>
            <a:spLocks xmlns:a="http://schemas.openxmlformats.org/drawingml/2006/main" noGrp="1"/>
          </p:cNvSpPr>
          <p:nvPr/>
        </p:nvSpPr>
        <p:spPr>
          <a:xfrm xmlns:a="http://schemas.openxmlformats.org/drawingml/2006/main">
            <a:off x="4700016" y="4443984"/>
            <a:ext cx="68580" cy="68580"/>
          </a:xfrm>
          <a:prstGeom xmlns:a="http://schemas.openxmlformats.org/drawingml/2006/main" prst="ellipse">
            <a:avLst/>
          </a:prstGeom>
          <a:solidFill xmlns:a="http://schemas.openxmlformats.org/drawingml/2006/main">
            <a:srgbClr val="1ED59B"/>
          </a:solidFill>
          <a:ln xmlns:a="http://schemas.openxmlformats.org/drawingml/2006/main" w="12700">
            <a:solidFill>
              <a:srgbClr val="1ED59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1" name="Text 19">
            <a:extLst xmlns:a="http://schemas.openxmlformats.org/drawingml/2006/main">
              <a:ext uri="{FF2B5EF4-FFF2-40B4-BE49-F238E27FC236}">
                <a16:creationId xmlns:a16="http://schemas.microsoft.com/office/drawing/2014/main" id="{A1B53B84-A2B4-4B91-8566-53FD7DBAD5C8}"/>
              </a:ext>
            </a:extLst>
          </p:cNvPr>
          <p:cNvSpPr>
            <a:spLocks xmlns:a="http://schemas.openxmlformats.org/drawingml/2006/main" noGrp="1"/>
          </p:cNvSpPr>
          <p:nvPr/>
        </p:nvSpPr>
        <p:spPr>
          <a:xfrm xmlns:a="http://schemas.openxmlformats.org/drawingml/2006/main">
            <a:off x="4892040" y="4389120"/>
            <a:ext cx="2542032" cy="3931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8C5CD"/>
                </a:solidFill>
                <a:latin typeface="Inter"/>
                <a:ea typeface="Inter"/>
                <a:cs typeface="Inter"/>
              </a:rPr>
              <a:t>Local offers + staff access</a:t>
            </a:r>
            <a:endParaRPr sz="900"/>
          </a:p>
        </p:txBody>
      </p:sp>
      <p:sp>
        <p:nvSpPr>
          <p:cNvPr id="22" name="Shape 20">
            <a:extLst xmlns:a="http://schemas.openxmlformats.org/drawingml/2006/main">
              <a:ext uri="{FF2B5EF4-FFF2-40B4-BE49-F238E27FC236}">
                <a16:creationId xmlns:a16="http://schemas.microsoft.com/office/drawing/2014/main" id="{7B463E8E-2A55-4E57-A1C4-8A1A4E2EC26E}"/>
              </a:ext>
            </a:extLst>
          </p:cNvPr>
          <p:cNvSpPr>
            <a:spLocks xmlns:a="http://schemas.openxmlformats.org/drawingml/2006/main" noGrp="1"/>
          </p:cNvSpPr>
          <p:nvPr/>
        </p:nvSpPr>
        <p:spPr>
          <a:xfrm xmlns:a="http://schemas.openxmlformats.org/drawingml/2006/main">
            <a:off x="4700016" y="4946904"/>
            <a:ext cx="68580" cy="68580"/>
          </a:xfrm>
          <a:prstGeom xmlns:a="http://schemas.openxmlformats.org/drawingml/2006/main" prst="ellipse">
            <a:avLst/>
          </a:prstGeom>
          <a:solidFill xmlns:a="http://schemas.openxmlformats.org/drawingml/2006/main">
            <a:srgbClr val="1ED59B"/>
          </a:solidFill>
          <a:ln xmlns:a="http://schemas.openxmlformats.org/drawingml/2006/main" w="12700">
            <a:solidFill>
              <a:srgbClr val="1ED59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3" name="Text 21">
            <a:extLst xmlns:a="http://schemas.openxmlformats.org/drawingml/2006/main">
              <a:ext uri="{FF2B5EF4-FFF2-40B4-BE49-F238E27FC236}">
                <a16:creationId xmlns:a16="http://schemas.microsoft.com/office/drawing/2014/main" id="{81633252-1101-4C13-9E40-73B6B9C36809}"/>
              </a:ext>
            </a:extLst>
          </p:cNvPr>
          <p:cNvSpPr>
            <a:spLocks xmlns:a="http://schemas.openxmlformats.org/drawingml/2006/main" noGrp="1"/>
          </p:cNvSpPr>
          <p:nvPr/>
        </p:nvSpPr>
        <p:spPr>
          <a:xfrm xmlns:a="http://schemas.openxmlformats.org/drawingml/2006/main">
            <a:off x="4892040" y="4892040"/>
            <a:ext cx="2542032" cy="3931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8C5CD"/>
                </a:solidFill>
                <a:latin typeface="Inter"/>
                <a:ea typeface="Inter"/>
                <a:cs typeface="Inter"/>
              </a:rPr>
              <a:t>Local pickups + table requests</a:t>
            </a:r>
            <a:endParaRPr sz="900"/>
          </a:p>
        </p:txBody>
      </p:sp>
      <p:sp>
        <p:nvSpPr>
          <p:cNvPr id="24" name="Text 22">
            <a:extLst xmlns:a="http://schemas.openxmlformats.org/drawingml/2006/main">
              <a:ext uri="{FF2B5EF4-FFF2-40B4-BE49-F238E27FC236}">
                <a16:creationId xmlns:a16="http://schemas.microsoft.com/office/drawing/2014/main" id="{4F47B623-94E5-4E44-BA10-A1963245B401}"/>
              </a:ext>
            </a:extLst>
          </p:cNvPr>
          <p:cNvSpPr>
            <a:spLocks xmlns:a="http://schemas.openxmlformats.org/drawingml/2006/main" noGrp="1"/>
          </p:cNvSpPr>
          <p:nvPr/>
        </p:nvSpPr>
        <p:spPr>
          <a:xfrm xmlns:a="http://schemas.openxmlformats.org/drawingml/2006/main">
            <a:off x="8412480" y="2633472"/>
            <a:ext cx="566928" cy="32918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550" b="1">
                <a:solidFill>
                  <a:srgbClr val="A855F7"/>
                </a:solidFill>
                <a:latin typeface="Inter Display"/>
                <a:ea typeface="Inter Display"/>
                <a:cs typeface="Inter Display"/>
              </a:rPr>
              <a:t>03</a:t>
            </a:r>
            <a:endParaRPr sz="1400"/>
          </a:p>
        </p:txBody>
      </p:sp>
      <p:sp>
        <p:nvSpPr>
          <p:cNvPr id="25" name="Text 23">
            <a:extLst xmlns:a="http://schemas.openxmlformats.org/drawingml/2006/main">
              <a:ext uri="{FF2B5EF4-FFF2-40B4-BE49-F238E27FC236}">
                <a16:creationId xmlns:a16="http://schemas.microsoft.com/office/drawing/2014/main" id="{7DB47958-4C77-460A-81E2-577734D0D556}"/>
              </a:ext>
            </a:extLst>
          </p:cNvPr>
          <p:cNvSpPr>
            <a:spLocks xmlns:a="http://schemas.openxmlformats.org/drawingml/2006/main" noGrp="1"/>
          </p:cNvSpPr>
          <p:nvPr/>
        </p:nvSpPr>
        <p:spPr>
          <a:xfrm xmlns:a="http://schemas.openxmlformats.org/drawingml/2006/main">
            <a:off x="8412480" y="3136392"/>
            <a:ext cx="2743200" cy="4572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b="1">
                <a:solidFill>
                  <a:srgbClr val="F7F7FA"/>
                </a:solidFill>
                <a:latin typeface="Inter Display"/>
                <a:ea typeface="Inter Display"/>
                <a:cs typeface="Inter Display"/>
              </a:rPr>
              <a:t>REPEATABLE ROLLOUT</a:t>
            </a:r>
            <a:endParaRPr sz="1250"/>
          </a:p>
        </p:txBody>
      </p:sp>
      <p:sp>
        <p:nvSpPr>
          <p:cNvPr id="26" name="Shape 24">
            <a:extLst xmlns:a="http://schemas.openxmlformats.org/drawingml/2006/main">
              <a:ext uri="{FF2B5EF4-FFF2-40B4-BE49-F238E27FC236}">
                <a16:creationId xmlns:a16="http://schemas.microsoft.com/office/drawing/2014/main" id="{1F2F169E-1AB6-4D0C-815B-59BEDABC079F}"/>
              </a:ext>
            </a:extLst>
          </p:cNvPr>
          <p:cNvSpPr>
            <a:spLocks xmlns:a="http://schemas.openxmlformats.org/drawingml/2006/main" noGrp="1"/>
          </p:cNvSpPr>
          <p:nvPr/>
        </p:nvSpPr>
        <p:spPr>
          <a:xfrm xmlns:a="http://schemas.openxmlformats.org/drawingml/2006/main">
            <a:off x="8439912" y="3941064"/>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7" name="Text 25">
            <a:extLst xmlns:a="http://schemas.openxmlformats.org/drawingml/2006/main">
              <a:ext uri="{FF2B5EF4-FFF2-40B4-BE49-F238E27FC236}">
                <a16:creationId xmlns:a16="http://schemas.microsoft.com/office/drawing/2014/main" id="{25DD2B0D-22ED-463A-A760-7B9C35F13C3D}"/>
              </a:ext>
            </a:extLst>
          </p:cNvPr>
          <p:cNvSpPr>
            <a:spLocks xmlns:a="http://schemas.openxmlformats.org/drawingml/2006/main" noGrp="1"/>
          </p:cNvSpPr>
          <p:nvPr/>
        </p:nvSpPr>
        <p:spPr>
          <a:xfrm xmlns:a="http://schemas.openxmlformats.org/drawingml/2006/main">
            <a:off x="8631936" y="3886200"/>
            <a:ext cx="2542032" cy="3931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8C5CD"/>
                </a:solidFill>
                <a:latin typeface="Inter"/>
                <a:ea typeface="Inter"/>
                <a:cs typeface="Inter"/>
              </a:rPr>
              <a:t>Shared onboarding playbook</a:t>
            </a:r>
            <a:endParaRPr sz="900"/>
          </a:p>
        </p:txBody>
      </p:sp>
      <p:sp>
        <p:nvSpPr>
          <p:cNvPr id="28" name="Shape 26">
            <a:extLst xmlns:a="http://schemas.openxmlformats.org/drawingml/2006/main">
              <a:ext uri="{FF2B5EF4-FFF2-40B4-BE49-F238E27FC236}">
                <a16:creationId xmlns:a16="http://schemas.microsoft.com/office/drawing/2014/main" id="{A5AD2B34-BF86-47A7-BB4A-79D33EE3347C}"/>
              </a:ext>
            </a:extLst>
          </p:cNvPr>
          <p:cNvSpPr>
            <a:spLocks xmlns:a="http://schemas.openxmlformats.org/drawingml/2006/main" noGrp="1"/>
          </p:cNvSpPr>
          <p:nvPr/>
        </p:nvSpPr>
        <p:spPr>
          <a:xfrm xmlns:a="http://schemas.openxmlformats.org/drawingml/2006/main">
            <a:off x="8439912" y="4443984"/>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9" name="Text 27">
            <a:extLst xmlns:a="http://schemas.openxmlformats.org/drawingml/2006/main">
              <a:ext uri="{FF2B5EF4-FFF2-40B4-BE49-F238E27FC236}">
                <a16:creationId xmlns:a16="http://schemas.microsoft.com/office/drawing/2014/main" id="{E3AC03A1-9149-4B63-BE21-FE0CCBF3D2BA}"/>
              </a:ext>
            </a:extLst>
          </p:cNvPr>
          <p:cNvSpPr>
            <a:spLocks xmlns:a="http://schemas.openxmlformats.org/drawingml/2006/main" noGrp="1"/>
          </p:cNvSpPr>
          <p:nvPr/>
        </p:nvSpPr>
        <p:spPr>
          <a:xfrm xmlns:a="http://schemas.openxmlformats.org/drawingml/2006/main">
            <a:off x="8631936" y="4389120"/>
            <a:ext cx="2542032" cy="3931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8C5CD"/>
                </a:solidFill>
                <a:latin typeface="Inter"/>
                <a:ea typeface="Inter"/>
                <a:cs typeface="Inter"/>
              </a:rPr>
              <a:t>Location-level learning</a:t>
            </a:r>
            <a:endParaRPr sz="900"/>
          </a:p>
        </p:txBody>
      </p:sp>
      <p:sp>
        <p:nvSpPr>
          <p:cNvPr id="30" name="Shape 28">
            <a:extLst xmlns:a="http://schemas.openxmlformats.org/drawingml/2006/main">
              <a:ext uri="{FF2B5EF4-FFF2-40B4-BE49-F238E27FC236}">
                <a16:creationId xmlns:a16="http://schemas.microsoft.com/office/drawing/2014/main" id="{F26BC67D-9645-4001-8359-12E5A63FA441}"/>
              </a:ext>
            </a:extLst>
          </p:cNvPr>
          <p:cNvSpPr>
            <a:spLocks xmlns:a="http://schemas.openxmlformats.org/drawingml/2006/main" noGrp="1"/>
          </p:cNvSpPr>
          <p:nvPr/>
        </p:nvSpPr>
        <p:spPr>
          <a:xfrm xmlns:a="http://schemas.openxmlformats.org/drawingml/2006/main">
            <a:off x="8439912" y="4946904"/>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1" name="Text 29">
            <a:extLst xmlns:a="http://schemas.openxmlformats.org/drawingml/2006/main">
              <a:ext uri="{FF2B5EF4-FFF2-40B4-BE49-F238E27FC236}">
                <a16:creationId xmlns:a16="http://schemas.microsoft.com/office/drawing/2014/main" id="{3A4D40AB-530D-4AFF-94C7-78991E68B455}"/>
              </a:ext>
            </a:extLst>
          </p:cNvPr>
          <p:cNvSpPr>
            <a:spLocks xmlns:a="http://schemas.openxmlformats.org/drawingml/2006/main" noGrp="1"/>
          </p:cNvSpPr>
          <p:nvPr/>
        </p:nvSpPr>
        <p:spPr>
          <a:xfrm xmlns:a="http://schemas.openxmlformats.org/drawingml/2006/main">
            <a:off x="8631936" y="4892040"/>
            <a:ext cx="2542032" cy="3931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8C5CD"/>
                </a:solidFill>
                <a:latin typeface="Inter"/>
                <a:ea typeface="Inter"/>
                <a:cs typeface="Inter"/>
              </a:rPr>
              <a:t>Scale only what evidence supports</a:t>
            </a:r>
            <a:endParaRPr sz="900"/>
          </a:p>
        </p:txBody>
      </p:sp>
      <p:sp>
        <p:nvSpPr>
          <p:cNvPr id="32" name="Shape 30">
            <a:extLst xmlns:a="http://schemas.openxmlformats.org/drawingml/2006/main">
              <a:ext uri="{FF2B5EF4-FFF2-40B4-BE49-F238E27FC236}">
                <a16:creationId xmlns:a16="http://schemas.microsoft.com/office/drawing/2014/main" id="{E568CD0E-A888-4165-BD08-F7CEF00FB084}"/>
              </a:ext>
            </a:extLst>
          </p:cNvPr>
          <p:cNvSpPr>
            <a:spLocks xmlns:a="http://schemas.openxmlformats.org/drawingml/2006/main" noGrp="1"/>
          </p:cNvSpPr>
          <p:nvPr/>
        </p:nvSpPr>
        <p:spPr>
          <a:xfrm xmlns:a="http://schemas.openxmlformats.org/drawingml/2006/main">
            <a:off x="1115568" y="6099048"/>
            <a:ext cx="9966960" cy="384048"/>
          </a:xfrm>
          <a:prstGeom xmlns:a="http://schemas.openxmlformats.org/drawingml/2006/main" prst="roundRect">
            <a:avLst>
              <a:gd name="adj" fmla="val 19048"/>
            </a:avLst>
          </a:prstGeom>
          <a:solidFill xmlns:a="http://schemas.openxmlformats.org/drawingml/2006/main">
            <a:srgbClr val="131018"/>
          </a:solidFill>
          <a:ln xmlns:a="http://schemas.openxmlformats.org/drawingml/2006/main" w="8890">
            <a:solidFill>
              <a:srgbClr val="362642"/>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3" name="Text 31">
            <a:extLst xmlns:a="http://schemas.openxmlformats.org/drawingml/2006/main">
              <a:ext uri="{FF2B5EF4-FFF2-40B4-BE49-F238E27FC236}">
                <a16:creationId xmlns:a16="http://schemas.microsoft.com/office/drawing/2014/main" id="{EBBD9B5D-70AB-4E5E-B3B0-DA47A4B53152}"/>
              </a:ext>
            </a:extLst>
          </p:cNvPr>
          <p:cNvSpPr>
            <a:spLocks xmlns:a="http://schemas.openxmlformats.org/drawingml/2006/main" noGrp="1"/>
          </p:cNvSpPr>
          <p:nvPr/>
        </p:nvSpPr>
        <p:spPr>
          <a:xfrm xmlns:a="http://schemas.openxmlformats.org/drawingml/2006/main">
            <a:off x="1389888" y="6190488"/>
            <a:ext cx="9418320"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a:solidFill>
                  <a:srgbClr val="B8AFBF"/>
                </a:solidFill>
                <a:latin typeface="Inter"/>
                <a:ea typeface="Inter"/>
                <a:cs typeface="Inter"/>
              </a:rPr>
              <a:t>Corporate dashboard, POS / CRM integrations or custom workflows can be scoped separately as the rollout grows.</a:t>
            </a:r>
            <a:endParaRPr sz="830"/>
          </a:p>
        </p:txBody>
      </p:sp>
      <p:sp>
        <p:nvSpPr>
          <p:cNvPr id="34" name="Slide Number Placeholder 0">
            <a:extLst xmlns:a="http://schemas.openxmlformats.org/drawingml/2006/main">
              <a:ext uri="{FF2B5EF4-FFF2-40B4-BE49-F238E27FC236}">
                <a16:creationId xmlns:a16="http://schemas.microsoft.com/office/drawing/2014/main" id="{6C01A6A4-BC2F-46B2-9954-4EDF6DCA0B49}"/>
              </a:ext>
            </a:extLst>
          </p:cNvPr>
          <p:cNvSpPr>
            <a:spLocks xmlns:a="http://schemas.openxmlformats.org/drawingml/2006/main" noGrp="1"/>
          </p:cNvSpPr>
          <p:nvPr>
            <p:ph type="sldNum" idx="4294967295"/>
          </p:nvPr>
        </p:nvSpPr>
        <p:spPr>
          <a:xfrm xmlns:a="http://schemas.openxmlformats.org/drawingml/2006/main">
            <a:off x="11155680" y="164592"/>
            <a:ext cx="502920" cy="228600"/>
          </a:xfrm>
          <a:prstGeom xmlns:a="http://schemas.openxmlformats.org/drawingml/2006/main" prst="rect">
            <a:avLst/>
          </a:prstGeom>
        </p:spPr>
        <p:txBody>
          <a:bodyPr xmlns:a="http://schemas.openxmlformats.org/drawingml/2006/main" wrap="square" lIns="27432" tIns="13716" rIns="27432" bIns="13716"/>
          <a:lstStyle xmlns:a="http://schemas.openxmlformats.org/drawingml/2006/main">
            <a:lvl1pPr>
              <a:buNone/>
              <a:defRPr sz="850">
                <a:solidFill>
                  <a:srgbClr val="686572"/>
                </a:solidFill>
                <a:latin typeface="Inter"/>
                <a:ea typeface="Inter"/>
                <a:cs typeface="Inter"/>
              </a:defRPr>
            </a:lvl1pPr>
          </a:lstStyle>
          <a:p xmlns:a="http://schemas.openxmlformats.org/drawingml/2006/main">
            <a:r>
              <a:rPr sz="900">
                <a:solidFill>
                  <a:srgbClr val="6D6875"/>
                </a:solidFill>
                <a:latin typeface="Inter"/>
              </a:rPr>
              <a:t>10</a:t>
            </a:r>
          </a:p>
        </p:txBody>
      </p:sp>
    </p:spTree>
    <p:extLst>
      <p:ext uri="{BB962C8B-B14F-4D97-AF65-F5344CB8AC3E}">
        <p14:creationId xmlns:p14="http://schemas.microsoft.com/office/powerpoint/2010/main" val="767803481"/>
      </p:ext>
    </p:extLst>
  </p:cSld>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76072"/>
            <a:ext cx="2743200" cy="219456"/>
          </a:xfrm>
          <a:prstGeom prst="rect">
            <a:avLst/>
          </a:prstGeom>
          <a:noFill/>
        </p:spPr>
        <p:txBody>
          <a:bodyPr wrap="none" lIns="0" rIns="0" tIns="0" bIns="0" anchor="t">
            <a:spAutoFit/>
          </a:bodyPr>
          <a:lstStyle/>
          <a:p>
            <a:pPr algn="l"/>
            <a:r>
              <a:rPr sz="1200" b="1">
                <a:solidFill>
                  <a:srgbClr val="A855F7"/>
                </a:solidFill>
                <a:latin typeface="Inter"/>
              </a:rPr>
              <a:t>WEBSITE INTEGRATION</a:t>
            </a:r>
          </a:p>
        </p:txBody>
      </p:sp>
      <p:sp>
        <p:nvSpPr>
          <p:cNvPr id="3" name="TextBox 2"/>
          <p:cNvSpPr txBox="1"/>
          <p:nvPr/>
        </p:nvSpPr>
        <p:spPr>
          <a:xfrm>
            <a:off x="566928" y="850392"/>
            <a:ext cx="10881360" cy="640080"/>
          </a:xfrm>
          <a:prstGeom prst="rect">
            <a:avLst/>
          </a:prstGeom>
          <a:noFill/>
        </p:spPr>
        <p:txBody>
          <a:bodyPr wrap="none" lIns="0" rIns="0" tIns="0" bIns="0" anchor="t">
            <a:spAutoFit/>
          </a:bodyPr>
          <a:lstStyle/>
          <a:p>
            <a:pPr algn="l"/>
            <a:r>
              <a:rPr sz="2950" b="1">
                <a:solidFill>
                  <a:srgbClr val="F7F7FA"/>
                </a:solidFill>
                <a:latin typeface="Inter Display"/>
              </a:rPr>
              <a:t>Put a filtered MyDancr experience directly inside your website.</a:t>
            </a:r>
          </a:p>
        </p:txBody>
      </p:sp>
      <p:sp>
        <p:nvSpPr>
          <p:cNvPr id="4" name="TextBox 3"/>
          <p:cNvSpPr txBox="1"/>
          <p:nvPr/>
        </p:nvSpPr>
        <p:spPr>
          <a:xfrm>
            <a:off x="566928" y="1517904"/>
            <a:ext cx="10652760" cy="502920"/>
          </a:xfrm>
          <a:prstGeom prst="rect">
            <a:avLst/>
          </a:prstGeom>
          <a:noFill/>
        </p:spPr>
        <p:txBody>
          <a:bodyPr wrap="none" lIns="0" rIns="0" tIns="0" bIns="0" anchor="t">
            <a:spAutoFit/>
          </a:bodyPr>
          <a:lstStyle/>
          <a:p>
            <a:pPr algn="l"/>
            <a:r>
              <a:rPr sz="1360" b="0">
                <a:solidFill>
                  <a:srgbClr val="A09CAA"/>
                </a:solidFill>
                <a:latin typeface="Inter"/>
              </a:rPr>
              <a:t>Use an iframe to show only your participating clubs — keeping the guest on your site while MyDancr powers the live experience.</a:t>
            </a:r>
          </a:p>
        </p:txBody>
      </p:sp>
      <p:sp>
        <p:nvSpPr>
          <p:cNvPr id="5" name="Rounded Rectangle 4"/>
          <p:cNvSpPr/>
          <p:nvPr/>
        </p:nvSpPr>
        <p:spPr>
          <a:xfrm>
            <a:off x="566928" y="2240280"/>
            <a:ext cx="6675120" cy="3794760"/>
          </a:xfrm>
          <a:prstGeom prst="roundRect">
            <a:avLst/>
          </a:prstGeom>
          <a:solidFill>
            <a:srgbClr val="0D0D12"/>
          </a:solidFill>
          <a:ln w="13970">
            <a:solidFill>
              <a:srgbClr val="2D2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85216" y="2258568"/>
            <a:ext cx="6638544" cy="438912"/>
          </a:xfrm>
          <a:prstGeom prst="rect">
            <a:avLst/>
          </a:prstGeom>
          <a:solidFill>
            <a:srgbClr val="101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404872"/>
            <a:ext cx="77724" cy="77724"/>
          </a:xfrm>
          <a:prstGeom prst="ellipse">
            <a:avLst/>
          </a:prstGeom>
          <a:solidFill>
            <a:srgbClr val="764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23544" y="2404872"/>
            <a:ext cx="77724" cy="77724"/>
          </a:xfrm>
          <a:prstGeom prst="ellipse">
            <a:avLst/>
          </a:prstGeom>
          <a:solidFill>
            <a:srgbClr val="6A6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2404872"/>
            <a:ext cx="77724" cy="77724"/>
          </a:xfrm>
          <a:prstGeom prst="ellipse">
            <a:avLst/>
          </a:prstGeom>
          <a:solidFill>
            <a:srgbClr val="1ED5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353312" y="2350008"/>
            <a:ext cx="4873752" cy="237744"/>
          </a:xfrm>
          <a:prstGeom prst="roundRect">
            <a:avLst/>
          </a:prstGeom>
          <a:solidFill>
            <a:srgbClr val="17171F"/>
          </a:solidFill>
          <a:ln w="7620">
            <a:solidFill>
              <a:srgbClr val="25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17904" y="2400300"/>
            <a:ext cx="4160520" cy="128016"/>
          </a:xfrm>
          <a:prstGeom prst="rect">
            <a:avLst/>
          </a:prstGeom>
          <a:noFill/>
        </p:spPr>
        <p:txBody>
          <a:bodyPr wrap="none" lIns="0" rIns="0" tIns="0" bIns="0" anchor="t">
            <a:spAutoFit/>
          </a:bodyPr>
          <a:lstStyle/>
          <a:p>
            <a:pPr algn="l"/>
            <a:r>
              <a:rPr sz="869" b="0">
                <a:solidFill>
                  <a:srgbClr val="C8C5CD"/>
                </a:solidFill>
                <a:latin typeface="Inter"/>
              </a:rPr>
              <a:t>yourclubgroup.com/tonight</a:t>
            </a:r>
          </a:p>
        </p:txBody>
      </p:sp>
      <p:sp>
        <p:nvSpPr>
          <p:cNvPr id="12" name="Rounded Rectangle 11"/>
          <p:cNvSpPr/>
          <p:nvPr/>
        </p:nvSpPr>
        <p:spPr>
          <a:xfrm>
            <a:off x="6327648" y="2345436"/>
            <a:ext cx="658368" cy="246888"/>
          </a:xfrm>
          <a:prstGeom prst="roundRect">
            <a:avLst/>
          </a:prstGeom>
          <a:solidFill>
            <a:srgbClr val="122D25"/>
          </a:solidFill>
          <a:ln w="10160">
            <a:solidFill>
              <a:srgbClr val="1D5D48"/>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30" b="1">
                <a:solidFill>
                  <a:srgbClr val="BDF1DD"/>
                </a:solidFill>
                <a:latin typeface="Inter"/>
              </a:rPr>
              <a:t>LIVE</a:t>
            </a:r>
          </a:p>
        </p:txBody>
      </p:sp>
      <p:sp>
        <p:nvSpPr>
          <p:cNvPr id="13" name="Rectangle 12"/>
          <p:cNvSpPr/>
          <p:nvPr/>
        </p:nvSpPr>
        <p:spPr>
          <a:xfrm>
            <a:off x="585216" y="2697480"/>
            <a:ext cx="6638544" cy="548640"/>
          </a:xfrm>
          <a:prstGeom prst="rect">
            <a:avLst/>
          </a:prstGeom>
          <a:solidFill>
            <a:srgbClr val="080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2852928"/>
            <a:ext cx="2011680" cy="210312"/>
          </a:xfrm>
          <a:prstGeom prst="rect">
            <a:avLst/>
          </a:prstGeom>
          <a:noFill/>
        </p:spPr>
        <p:txBody>
          <a:bodyPr wrap="none" lIns="0" rIns="0" tIns="0" bIns="0" anchor="t">
            <a:spAutoFit/>
          </a:bodyPr>
          <a:lstStyle/>
          <a:p>
            <a:pPr algn="l"/>
            <a:r>
              <a:rPr sz="1100" b="1">
                <a:solidFill>
                  <a:srgbClr val="F7F7FA"/>
                </a:solidFill>
                <a:latin typeface="Inter Display"/>
              </a:rPr>
              <a:t>YOUR CLUB GROUP</a:t>
            </a:r>
          </a:p>
        </p:txBody>
      </p:sp>
      <p:sp>
        <p:nvSpPr>
          <p:cNvPr id="15" name="TextBox 14"/>
          <p:cNvSpPr txBox="1"/>
          <p:nvPr/>
        </p:nvSpPr>
        <p:spPr>
          <a:xfrm>
            <a:off x="4535424" y="2862072"/>
            <a:ext cx="2286000" cy="182880"/>
          </a:xfrm>
          <a:prstGeom prst="rect">
            <a:avLst/>
          </a:prstGeom>
          <a:noFill/>
        </p:spPr>
        <p:txBody>
          <a:bodyPr wrap="none" lIns="0" rIns="0" tIns="0" bIns="0" anchor="t">
            <a:spAutoFit/>
          </a:bodyPr>
          <a:lstStyle/>
          <a:p>
            <a:pPr algn="r"/>
            <a:r>
              <a:rPr sz="880" b="1">
                <a:solidFill>
                  <a:srgbClr val="C8C5CD"/>
                </a:solidFill>
                <a:latin typeface="Inter"/>
              </a:rPr>
              <a:t>LOCATIONS     EVENTS     VISIT</a:t>
            </a:r>
          </a:p>
        </p:txBody>
      </p:sp>
      <p:sp>
        <p:nvSpPr>
          <p:cNvPr id="16" name="Rounded Rectangle 15"/>
          <p:cNvSpPr/>
          <p:nvPr/>
        </p:nvSpPr>
        <p:spPr>
          <a:xfrm>
            <a:off x="768096" y="3410712"/>
            <a:ext cx="6272783" cy="2578608"/>
          </a:xfrm>
          <a:prstGeom prst="roundRect">
            <a:avLst/>
          </a:prstGeom>
          <a:solidFill>
            <a:srgbClr val="09090E"/>
          </a:solidFill>
          <a:ln w="15240">
            <a:solidFill>
              <a:srgbClr val="4627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32688" y="3557016"/>
            <a:ext cx="2514600" cy="274320"/>
          </a:xfrm>
          <a:prstGeom prst="roundRect">
            <a:avLst/>
          </a:prstGeom>
          <a:solidFill>
            <a:srgbClr val="1B1028"/>
          </a:solidFill>
          <a:ln w="10160">
            <a:solidFill>
              <a:srgbClr val="3E2459"/>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C8A7FF"/>
                </a:solidFill>
                <a:latin typeface="Inter"/>
              </a:rPr>
              <a:t>MYDANCR IFRAME  •  YOUR CLUBS ONLY</a:t>
            </a:r>
          </a:p>
        </p:txBody>
      </p:sp>
      <p:sp>
        <p:nvSpPr>
          <p:cNvPr id="18" name="TextBox 17"/>
          <p:cNvSpPr txBox="1"/>
          <p:nvPr/>
        </p:nvSpPr>
        <p:spPr>
          <a:xfrm>
            <a:off x="932688" y="3941064"/>
            <a:ext cx="3886200" cy="310896"/>
          </a:xfrm>
          <a:prstGeom prst="rect">
            <a:avLst/>
          </a:prstGeom>
          <a:noFill/>
        </p:spPr>
        <p:txBody>
          <a:bodyPr wrap="none" lIns="0" rIns="0" tIns="0" bIns="0" anchor="t">
            <a:spAutoFit/>
          </a:bodyPr>
          <a:lstStyle/>
          <a:p>
            <a:pPr algn="l"/>
            <a:r>
              <a:rPr sz="1820" b="1">
                <a:solidFill>
                  <a:srgbClr val="F7F7FA"/>
                </a:solidFill>
                <a:latin typeface="Inter Display"/>
              </a:rPr>
              <a:t>Working Now</a:t>
            </a:r>
          </a:p>
        </p:txBody>
      </p:sp>
      <p:sp>
        <p:nvSpPr>
          <p:cNvPr id="19" name="TextBox 18"/>
          <p:cNvSpPr txBox="1"/>
          <p:nvPr/>
        </p:nvSpPr>
        <p:spPr>
          <a:xfrm>
            <a:off x="4809744" y="3977640"/>
            <a:ext cx="1783080" cy="219456"/>
          </a:xfrm>
          <a:prstGeom prst="rect">
            <a:avLst/>
          </a:prstGeom>
          <a:noFill/>
        </p:spPr>
        <p:txBody>
          <a:bodyPr wrap="none" lIns="0" rIns="0" tIns="0" bIns="0" anchor="t">
            <a:spAutoFit/>
          </a:bodyPr>
          <a:lstStyle/>
          <a:p>
            <a:pPr algn="r"/>
            <a:r>
              <a:rPr sz="880" b="0">
                <a:solidFill>
                  <a:srgbClr val="A09CAA"/>
                </a:solidFill>
                <a:latin typeface="Inter"/>
              </a:rPr>
              <a:t>Demo city views</a:t>
            </a:r>
          </a:p>
        </p:txBody>
      </p:sp>
      <p:sp>
        <p:nvSpPr>
          <p:cNvPr id="44" name="Rounded Rectangle 43"/>
          <p:cNvSpPr/>
          <p:nvPr/>
        </p:nvSpPr>
        <p:spPr>
          <a:xfrm>
            <a:off x="1335024" y="5696712"/>
            <a:ext cx="5138928" cy="265176"/>
          </a:xfrm>
          <a:prstGeom prst="roundRect">
            <a:avLst/>
          </a:prstGeom>
          <a:solidFill>
            <a:srgbClr val="131018"/>
          </a:solidFill>
          <a:ln w="10160">
            <a:solidFill>
              <a:srgbClr val="362642"/>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D9CDE6"/>
                </a:solidFill>
                <a:latin typeface="Inter"/>
              </a:rPr>
              <a:t>YOUR WEBSITE   →   FILTERED MYDANCR   →   YOUR LOCATIONS ONLY</a:t>
            </a:r>
          </a:p>
        </p:txBody>
      </p:sp>
      <p:sp>
        <p:nvSpPr>
          <p:cNvPr id="45" name="TextBox 44"/>
          <p:cNvSpPr txBox="1"/>
          <p:nvPr/>
        </p:nvSpPr>
        <p:spPr>
          <a:xfrm>
            <a:off x="7543800" y="2304288"/>
            <a:ext cx="3913632" cy="237744"/>
          </a:xfrm>
          <a:prstGeom prst="rect">
            <a:avLst/>
          </a:prstGeom>
          <a:noFill/>
        </p:spPr>
        <p:txBody>
          <a:bodyPr wrap="none" lIns="0" rIns="0" tIns="0" bIns="0" anchor="t">
            <a:spAutoFit/>
          </a:bodyPr>
          <a:lstStyle/>
          <a:p>
            <a:pPr algn="l"/>
            <a:r>
              <a:rPr sz="1070" b="1">
                <a:solidFill>
                  <a:srgbClr val="A855F7"/>
                </a:solidFill>
                <a:latin typeface="Inter"/>
              </a:rPr>
              <a:t>WHAT THIS GIVES THE CLUB GROUP</a:t>
            </a:r>
          </a:p>
        </p:txBody>
      </p:sp>
      <p:sp>
        <p:nvSpPr>
          <p:cNvPr id="46" name="Rectangle 45"/>
          <p:cNvSpPr/>
          <p:nvPr/>
        </p:nvSpPr>
        <p:spPr>
          <a:xfrm>
            <a:off x="7543800" y="2743200"/>
            <a:ext cx="41148" cy="658368"/>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726679" y="2697480"/>
            <a:ext cx="3749039" cy="256032"/>
          </a:xfrm>
          <a:prstGeom prst="rect">
            <a:avLst/>
          </a:prstGeom>
          <a:noFill/>
        </p:spPr>
        <p:txBody>
          <a:bodyPr wrap="none" lIns="0" rIns="0" tIns="0" bIns="0" anchor="t">
            <a:spAutoFit/>
          </a:bodyPr>
          <a:lstStyle/>
          <a:p>
            <a:pPr algn="l"/>
            <a:r>
              <a:rPr sz="1230" b="1">
                <a:solidFill>
                  <a:srgbClr val="F7F7FA"/>
                </a:solidFill>
                <a:latin typeface="Inter Display"/>
              </a:rPr>
              <a:t>YOUR BRAND. YOUR DOMAIN.</a:t>
            </a:r>
          </a:p>
        </p:txBody>
      </p:sp>
      <p:sp>
        <p:nvSpPr>
          <p:cNvPr id="48" name="TextBox 47"/>
          <p:cNvSpPr txBox="1"/>
          <p:nvPr/>
        </p:nvSpPr>
        <p:spPr>
          <a:xfrm>
            <a:off x="7726679" y="2999232"/>
            <a:ext cx="3749039" cy="502920"/>
          </a:xfrm>
          <a:prstGeom prst="rect">
            <a:avLst/>
          </a:prstGeom>
          <a:noFill/>
        </p:spPr>
        <p:txBody>
          <a:bodyPr wrap="square" lIns="0" rIns="0" tIns="0" bIns="0" anchor="t">
            <a:spAutoFit/>
          </a:bodyPr>
          <a:lstStyle/>
          <a:p>
            <a:pPr algn="l"/>
            <a:r>
              <a:rPr sz="1050" b="0">
                <a:solidFill>
                  <a:srgbClr val="C8C5CD"/>
                </a:solidFill>
                <a:latin typeface="Inter"/>
              </a:rPr>
              <a:t>Guests can browse the experience without leaving your website.</a:t>
            </a:r>
          </a:p>
        </p:txBody>
      </p:sp>
      <p:sp>
        <p:nvSpPr>
          <p:cNvPr id="49" name="Rectangle 48"/>
          <p:cNvSpPr/>
          <p:nvPr/>
        </p:nvSpPr>
        <p:spPr>
          <a:xfrm>
            <a:off x="7543800" y="3593591"/>
            <a:ext cx="41148" cy="658368"/>
          </a:xfrm>
          <a:prstGeom prst="rect">
            <a:avLst/>
          </a:prstGeom>
          <a:solidFill>
            <a:srgbClr val="1ED5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26679" y="3547872"/>
            <a:ext cx="3749039" cy="256032"/>
          </a:xfrm>
          <a:prstGeom prst="rect">
            <a:avLst/>
          </a:prstGeom>
          <a:noFill/>
        </p:spPr>
        <p:txBody>
          <a:bodyPr wrap="none" lIns="0" rIns="0" tIns="0" bIns="0" anchor="t">
            <a:spAutoFit/>
          </a:bodyPr>
          <a:lstStyle/>
          <a:p>
            <a:pPr algn="l"/>
            <a:r>
              <a:rPr sz="1230" b="1">
                <a:solidFill>
                  <a:srgbClr val="F7F7FA"/>
                </a:solidFill>
                <a:latin typeface="Inter Display"/>
              </a:rPr>
              <a:t>YOUR CLUBS ONLY.</a:t>
            </a:r>
          </a:p>
        </p:txBody>
      </p:sp>
      <p:sp>
        <p:nvSpPr>
          <p:cNvPr id="51" name="TextBox 50"/>
          <p:cNvSpPr txBox="1"/>
          <p:nvPr/>
        </p:nvSpPr>
        <p:spPr>
          <a:xfrm>
            <a:off x="7726679" y="3849624"/>
            <a:ext cx="3749039" cy="502920"/>
          </a:xfrm>
          <a:prstGeom prst="rect">
            <a:avLst/>
          </a:prstGeom>
          <a:noFill/>
        </p:spPr>
        <p:txBody>
          <a:bodyPr wrap="square" lIns="0" rIns="0" tIns="0" bIns="0" anchor="t">
            <a:spAutoFit/>
          </a:bodyPr>
          <a:lstStyle/>
          <a:p>
            <a:pPr algn="l"/>
            <a:r>
              <a:rPr sz="1050" b="0">
                <a:solidFill>
                  <a:srgbClr val="C8C5CD"/>
                </a:solidFill>
                <a:latin typeface="Inter"/>
              </a:rPr>
              <a:t>The iframe can be filtered to participating locations from your group — no competitor clubs inside the embed.</a:t>
            </a:r>
          </a:p>
        </p:txBody>
      </p:sp>
      <p:sp>
        <p:nvSpPr>
          <p:cNvPr id="52" name="Rectangle 51"/>
          <p:cNvSpPr/>
          <p:nvPr/>
        </p:nvSpPr>
        <p:spPr>
          <a:xfrm>
            <a:off x="7543800" y="4489704"/>
            <a:ext cx="41148" cy="658368"/>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726679" y="4443984"/>
            <a:ext cx="3749039" cy="256032"/>
          </a:xfrm>
          <a:prstGeom prst="rect">
            <a:avLst/>
          </a:prstGeom>
          <a:noFill/>
        </p:spPr>
        <p:txBody>
          <a:bodyPr wrap="none" lIns="0" rIns="0" tIns="0" bIns="0" anchor="t">
            <a:spAutoFit/>
          </a:bodyPr>
          <a:lstStyle/>
          <a:p>
            <a:pPr algn="l"/>
            <a:r>
              <a:rPr sz="1230" b="1">
                <a:solidFill>
                  <a:srgbClr val="F7F7FA"/>
                </a:solidFill>
                <a:latin typeface="Inter Display"/>
              </a:rPr>
              <a:t>LIVE + MEASURABLE.</a:t>
            </a:r>
          </a:p>
        </p:txBody>
      </p:sp>
      <p:sp>
        <p:nvSpPr>
          <p:cNvPr id="54" name="TextBox 53"/>
          <p:cNvSpPr txBox="1"/>
          <p:nvPr/>
        </p:nvSpPr>
        <p:spPr>
          <a:xfrm>
            <a:off x="7726679" y="4745736"/>
            <a:ext cx="3749039" cy="502920"/>
          </a:xfrm>
          <a:prstGeom prst="rect">
            <a:avLst/>
          </a:prstGeom>
          <a:noFill/>
        </p:spPr>
        <p:txBody>
          <a:bodyPr wrap="square" lIns="0" rIns="0" tIns="0" bIns="0" anchor="t">
            <a:spAutoFit/>
          </a:bodyPr>
          <a:lstStyle/>
          <a:p>
            <a:pPr algn="l"/>
            <a:r>
              <a:rPr sz="1050" b="0">
                <a:solidFill>
                  <a:srgbClr val="C8C5CD"/>
                </a:solidFill>
                <a:latin typeface="Inter"/>
              </a:rPr>
              <a:t>Working Now, venue actions and approved content can flow from MyDancr while eligible actions remain trackable.</a:t>
            </a:r>
          </a:p>
        </p:txBody>
      </p:sp>
      <p:sp>
        <p:nvSpPr>
          <p:cNvPr id="55" name="Rounded Rectangle 54"/>
          <p:cNvSpPr/>
          <p:nvPr/>
        </p:nvSpPr>
        <p:spPr>
          <a:xfrm>
            <a:off x="7543800" y="5413248"/>
            <a:ext cx="3913632" cy="658368"/>
          </a:xfrm>
          <a:prstGeom prst="roundRect">
            <a:avLst/>
          </a:prstGeom>
          <a:solidFill>
            <a:srgbClr val="0D1E19"/>
          </a:solidFill>
          <a:ln w="11430">
            <a:solidFill>
              <a:srgbClr val="1C50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744968" y="5550408"/>
            <a:ext cx="3511296" cy="164592"/>
          </a:xfrm>
          <a:prstGeom prst="rect">
            <a:avLst/>
          </a:prstGeom>
          <a:noFill/>
        </p:spPr>
        <p:txBody>
          <a:bodyPr wrap="none" lIns="0" rIns="0" tIns="0" bIns="0" anchor="t">
            <a:spAutoFit/>
          </a:bodyPr>
          <a:lstStyle/>
          <a:p>
            <a:pPr algn="ctr"/>
            <a:r>
              <a:rPr sz="880" b="1">
                <a:solidFill>
                  <a:srgbClr val="BDF1DD"/>
                </a:solidFill>
                <a:latin typeface="Inter"/>
              </a:rPr>
              <a:t>START WITH THE PILOT CLUB • ADD LOCATIONS AS THE GROUP EXPANDS</a:t>
            </a:r>
          </a:p>
        </p:txBody>
      </p:sp>
      <p:sp>
        <p:nvSpPr>
          <p:cNvPr id="57" name="TextBox 56"/>
          <p:cNvSpPr txBox="1"/>
          <p:nvPr/>
        </p:nvSpPr>
        <p:spPr>
          <a:xfrm>
            <a:off x="713232" y="6291072"/>
            <a:ext cx="10927080" cy="256032"/>
          </a:xfrm>
          <a:prstGeom prst="rect">
            <a:avLst/>
          </a:prstGeom>
          <a:noFill/>
        </p:spPr>
        <p:txBody>
          <a:bodyPr wrap="none" lIns="0" rIns="0" tIns="0" bIns="0" anchor="t">
            <a:spAutoFit/>
          </a:bodyPr>
          <a:lstStyle/>
          <a:p>
            <a:pPr algn="l"/>
            <a:r>
              <a:rPr sz="860" b="0">
                <a:solidFill>
                  <a:srgbClr val="8A8494"/>
                </a:solidFill>
                <a:latin typeface="Inter"/>
              </a:rPr>
              <a:t>Demo screenshots with illustrative city labels. Final embed URL, iframe security settings and website implementation would be scoped with the operator.</a:t>
            </a:r>
          </a:p>
        </p:txBody>
      </p:sp>
      <p:sp>
        <p:nvSpPr>
          <p:cNvPr id="1001" name="City heading Las Vegas">
            <a:extLst>
              <a:ext uri="{FF2B5EF4-FFF2-40B4-BE49-F238E27FC236}">
                <a16:creationId xmlns:a16="http://schemas.microsoft.com/office/drawing/2014/main" id="{41A653FA-75B5-44F3-94E1-D1FAAEFCC2F3}"/>
              </a:ext>
            </a:extLst>
          </p:cNvPr>
          <p:cNvSpPr>
            <a:spLocks noGrp="1"/>
          </p:cNvSpPr>
          <p:nvPr/>
        </p:nvSpPr>
        <p:spPr>
          <a:xfrm>
            <a:off x="932688" y="4305300"/>
            <a:ext cx="1773936" cy="247650"/>
          </a:xfrm>
          <a:prstGeom prst="rect">
            <a:avLst/>
          </a:prstGeom>
          <a:noFill/>
          <a:ln w="0">
            <a:noFill/>
          </a:ln>
        </p:spPr>
        <p:txBody>
          <a:bodyPr lIns="0" tIns="0" rIns="0" bIns="0" anchor="ctr">
            <a:noAutofit/>
          </a:bodyPr>
          <a:lstStyle/>
          <a:p>
            <a:pPr algn="l">
              <a:defRPr sz="1320" b="1">
                <a:solidFill>
                  <a:srgbClr val="F8F7FB"/>
                </a:solidFill>
                <a:latin typeface="Inter"/>
                <a:ea typeface="Inter"/>
                <a:cs typeface="Inter"/>
              </a:defRPr>
            </a:pPr>
            <a:r>
              <a:rPr sz="1320" b="1">
                <a:solidFill>
                  <a:srgbClr val="F8F7FB"/>
                </a:solidFill>
                <a:latin typeface="Inter"/>
                <a:ea typeface="Inter"/>
                <a:cs typeface="Inter"/>
              </a:rPr>
              <a:t>Las Vegas</a:t>
            </a:r>
          </a:p>
        </p:txBody>
      </p:sp>
      <p:pic>
        <p:nvPicPr>
          <p:cNvPr id="1002" name="Working Now Las Vegas" descr="External Working Now dancer grid. Illustrative Las Vegas city view using demo content."/>
          <p:cNvPicPr>
            <a:picLocks noChangeAspect="1"/>
          </p:cNvPicPr>
          <p:nvPr/>
        </p:nvPicPr>
        <p:blipFill>
          <a:blip r:embed="rIdCityGrid2"/>
          <a:srcRect l="3053" t="60446" r="3053" b="14202"/>
          <a:stretch/>
        </p:blipFill>
        <p:spPr>
          <a:xfrm>
            <a:off x="932688" y="4572000"/>
            <a:ext cx="1773936" cy="1041082"/>
          </a:xfrm>
          <a:prstGeom prst="rect">
            <a:avLst/>
          </a:prstGeom>
        </p:spPr>
      </p:pic>
      <p:sp>
        <p:nvSpPr>
          <p:cNvPr id="1003" name="City heading Dallas">
            <a:extLst>
              <a:ext uri="{FF2B5EF4-FFF2-40B4-BE49-F238E27FC236}">
                <a16:creationId xmlns:a16="http://schemas.microsoft.com/office/drawing/2014/main" id="{FFEA2F70-684C-430D-A44B-B42B750C00C4}"/>
              </a:ext>
            </a:extLst>
          </p:cNvPr>
          <p:cNvSpPr>
            <a:spLocks noGrp="1"/>
          </p:cNvSpPr>
          <p:nvPr/>
        </p:nvSpPr>
        <p:spPr>
          <a:xfrm>
            <a:off x="2889504" y="4305300"/>
            <a:ext cx="1773936" cy="247650"/>
          </a:xfrm>
          <a:prstGeom prst="rect">
            <a:avLst/>
          </a:prstGeom>
          <a:noFill/>
          <a:ln w="0">
            <a:noFill/>
          </a:ln>
        </p:spPr>
        <p:txBody>
          <a:bodyPr lIns="0" tIns="0" rIns="0" bIns="0" anchor="ctr">
            <a:noAutofit/>
          </a:bodyPr>
          <a:lstStyle/>
          <a:p>
            <a:pPr algn="l">
              <a:defRPr sz="1320" b="1">
                <a:solidFill>
                  <a:srgbClr val="F8F7FB"/>
                </a:solidFill>
                <a:latin typeface="Inter"/>
                <a:ea typeface="Inter"/>
                <a:cs typeface="Inter"/>
              </a:defRPr>
            </a:pPr>
            <a:r>
              <a:rPr sz="1320" b="1">
                <a:solidFill>
                  <a:srgbClr val="F8F7FB"/>
                </a:solidFill>
                <a:latin typeface="Inter"/>
                <a:ea typeface="Inter"/>
                <a:cs typeface="Inter"/>
              </a:rPr>
              <a:t>Dallas</a:t>
            </a:r>
          </a:p>
        </p:txBody>
      </p:sp>
      <p:pic>
        <p:nvPicPr>
          <p:cNvPr id="1004" name="Working Now Dallas" descr="External Working Now dancer grid. Illustrative Dallas city view using demo content."/>
          <p:cNvPicPr>
            <a:picLocks noChangeAspect="1"/>
          </p:cNvPicPr>
          <p:nvPr/>
        </p:nvPicPr>
        <p:blipFill>
          <a:blip r:embed="rIdCityGrid4"/>
          <a:srcRect l="2926" t="37744" r="2926" b="52100"/>
          <a:stretch/>
        </p:blipFill>
        <p:spPr>
          <a:xfrm>
            <a:off x="2889504" y="4572000"/>
            <a:ext cx="1773936" cy="1041082"/>
          </a:xfrm>
          <a:prstGeom prst="rect">
            <a:avLst/>
          </a:prstGeom>
        </p:spPr>
      </p:pic>
      <p:sp>
        <p:nvSpPr>
          <p:cNvPr id="1005" name="City heading Los Angeles">
            <a:extLst>
              <a:ext uri="{FF2B5EF4-FFF2-40B4-BE49-F238E27FC236}">
                <a16:creationId xmlns:a16="http://schemas.microsoft.com/office/drawing/2014/main" id="{A9529C7C-74EE-4244-86FB-90104F5E9D8F}"/>
              </a:ext>
            </a:extLst>
          </p:cNvPr>
          <p:cNvSpPr>
            <a:spLocks noGrp="1"/>
          </p:cNvSpPr>
          <p:nvPr/>
        </p:nvSpPr>
        <p:spPr>
          <a:xfrm>
            <a:off x="4846320" y="4305300"/>
            <a:ext cx="1773936" cy="247650"/>
          </a:xfrm>
          <a:prstGeom prst="rect">
            <a:avLst/>
          </a:prstGeom>
          <a:noFill/>
          <a:ln w="0">
            <a:noFill/>
          </a:ln>
        </p:spPr>
        <p:txBody>
          <a:bodyPr lIns="0" tIns="0" rIns="0" bIns="0" anchor="ctr">
            <a:noAutofit/>
          </a:bodyPr>
          <a:lstStyle/>
          <a:p>
            <a:pPr algn="l">
              <a:defRPr sz="1320" b="1">
                <a:solidFill>
                  <a:srgbClr val="F8F7FB"/>
                </a:solidFill>
                <a:latin typeface="Inter"/>
                <a:ea typeface="Inter"/>
                <a:cs typeface="Inter"/>
              </a:defRPr>
            </a:pPr>
            <a:r>
              <a:rPr sz="1320" b="1">
                <a:solidFill>
                  <a:srgbClr val="F8F7FB"/>
                </a:solidFill>
                <a:latin typeface="Inter"/>
                <a:ea typeface="Inter"/>
                <a:cs typeface="Inter"/>
              </a:rPr>
              <a:t>Los Angeles</a:t>
            </a:r>
          </a:p>
        </p:txBody>
      </p:sp>
      <p:pic>
        <p:nvPicPr>
          <p:cNvPr id="1006" name="Working Now Los Angeles" descr="External Working Now dancer grid. Illustrative Los Angeles city view using demo content."/>
          <p:cNvPicPr>
            <a:picLocks noChangeAspect="1"/>
          </p:cNvPicPr>
          <p:nvPr/>
        </p:nvPicPr>
        <p:blipFill>
          <a:blip r:embed="rIdCityGrid6"/>
          <a:srcRect l="4738" t="59766" r="7953" b="16719"/>
          <a:stretch/>
        </p:blipFill>
        <p:spPr>
          <a:xfrm>
            <a:off x="4846320" y="4572000"/>
            <a:ext cx="1773936" cy="1041082"/>
          </a:xfrm>
          <a:prstGeom prst="rect">
            <a:avLst/>
          </a:prstGeom>
        </p:spPr>
      </p:pic>
    </p:spTree>
  </p:cSld>
  <p:clrMapOvr>
    <a:masterClrMapping/>
  </p:clrMapOvr>
</p:sld>
</file>

<file path=ppt/slides/slide10.xml><?xml version="1.0" encoding="utf-8"?>
<p:sld xmlns:p="http://schemas.openxmlformats.org/presentationml/2006/main">
  <p:cSld>
    <p:bg>
      <p:bgPr>
        <a:solidFill xmlns:a="http://schemas.openxmlformats.org/drawingml/2006/main">
          <a:srgbClr val="07070A"/>
        </a:solidFill>
      </p:bgPr>
    </p:bg>
    <p:spTree>
      <p:nvGrpSpPr>
        <p:cNvPr id="1" name=""/>
        <p:cNvGrpSpPr/>
        <p:nvPr/>
      </p:nvGrpSpPr>
      <p:grpSpPr>
        <a:xfrm xmlns:a="http://schemas.openxmlformats.org/drawingml/2006/main"/>
      </p:grpSpPr>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3f4eb8956f1e4b99"/>
          <a:srcRect xmlns:a="http://schemas.openxmlformats.org/drawingml/2006/main" l="0" t="25" r="0" b="25"/>
          <a:stretch xmlns:a="http://schemas.openxmlformats.org/drawingml/2006/main"/>
        </p:blipFill>
        <p:spPr>
          <a:xfrm xmlns:a="http://schemas.openxmlformats.org/drawingml/2006/main">
            <a:off x="0" y="0"/>
            <a:ext cx="12191695" cy="6858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2ADFA8B0-6E55-4A42-8C2F-2DBFE90EA65E}"/>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7">
              <a:alpha val="76000"/>
            </a:srgbClr>
          </a:solidFill>
          <a:ln xmlns:a="http://schemas.openxmlformats.org/drawingml/2006/main" w="12700">
            <a:solidFill>
              <a:srgbClr val="050507">
                <a:alpha val="0"/>
              </a:srgbClr>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4" name="Shape 1">
            <a:extLst xmlns:a="http://schemas.openxmlformats.org/drawingml/2006/main">
              <a:ext uri="{FF2B5EF4-FFF2-40B4-BE49-F238E27FC236}">
                <a16:creationId xmlns:a16="http://schemas.microsoft.com/office/drawing/2014/main" id="{193F26F6-8DFE-49EF-94E1-FBFAF65B4B47}"/>
              </a:ext>
            </a:extLst>
          </p:cNvPr>
          <p:cNvSpPr>
            <a:spLocks xmlns:a="http://schemas.openxmlformats.org/drawingml/2006/main" noGrp="1"/>
          </p:cNvSpPr>
          <p:nvPr/>
        </p:nvSpPr>
        <p:spPr>
          <a:xfrm xmlns:a="http://schemas.openxmlformats.org/drawingml/2006/main">
            <a:off x="0" y="0"/>
            <a:ext cx="7406640" cy="6858000"/>
          </a:xfrm>
          <a:prstGeom xmlns:a="http://schemas.openxmlformats.org/drawingml/2006/main" prst="rect">
            <a:avLst/>
          </a:prstGeom>
          <a:solidFill xmlns:a="http://schemas.openxmlformats.org/drawingml/2006/main">
            <a:srgbClr val="050507">
              <a:alpha val="94000"/>
            </a:srgbClr>
          </a:solidFill>
          <a:ln xmlns:a="http://schemas.openxmlformats.org/drawingml/2006/main" w="12700">
            <a:solidFill>
              <a:srgbClr val="050507">
                <a:alpha val="0"/>
              </a:srgbClr>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pic>
        <p:nvPicPr>
          <p:cNvPr id="20" name="Image 1"/>
          <p:cNvPicPr>
            <a:picLocks xmlns:a="http://schemas.openxmlformats.org/drawingml/2006/main" noChangeAspect="1"/>
          </p:cNvPicPr>
          <p:nvPr/>
        </p:nvPicPr>
        <p:blipFill>
          <a:blip xmlns:r="http://schemas.openxmlformats.org/officeDocument/2006/relationships" xmlns:a="http://schemas.openxmlformats.org/drawingml/2006/main" r:embed="R322625bbc1504495"/>
          <a:stretch xmlns:a="http://schemas.openxmlformats.org/drawingml/2006/main">
            <a:fillRect l="0" t="0" r="0" b="0"/>
          </a:stretch>
        </p:blipFill>
        <p:spPr>
          <a:xfrm xmlns:a="http://schemas.openxmlformats.org/drawingml/2006/main">
            <a:off x="700981" y="512064"/>
            <a:ext cx="1469254" cy="457200"/>
          </a:xfrm>
          <a:prstGeom xmlns:a="http://schemas.openxmlformats.org/drawingml/2006/main" prst="rect">
            <a:avLst/>
          </a:prstGeom>
        </p:spPr>
      </p:pic>
      <p:sp>
        <p:nvSpPr>
          <p:cNvPr id="6" name="Text 2">
            <a:extLst xmlns:a="http://schemas.openxmlformats.org/drawingml/2006/main">
              <a:ext uri="{FF2B5EF4-FFF2-40B4-BE49-F238E27FC236}">
                <a16:creationId xmlns:a16="http://schemas.microsoft.com/office/drawing/2014/main" id="{2C50156D-F1F3-4C49-8FC0-B80D4AC2BC02}"/>
              </a:ext>
            </a:extLst>
          </p:cNvPr>
          <p:cNvSpPr>
            <a:spLocks xmlns:a="http://schemas.openxmlformats.org/drawingml/2006/main" noGrp="1"/>
          </p:cNvSpPr>
          <p:nvPr/>
        </p:nvSpPr>
        <p:spPr>
          <a:xfrm xmlns:a="http://schemas.openxmlformats.org/drawingml/2006/main">
            <a:off x="676656" y="1389888"/>
            <a:ext cx="3840480" cy="24688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b="1" spc="140">
                <a:solidFill>
                  <a:srgbClr val="C6A9FF"/>
                </a:solidFill>
                <a:latin typeface="Inter"/>
                <a:ea typeface="Inter"/>
                <a:cs typeface="Inter"/>
              </a:rPr>
              <a:t>START SMALL. MEASURE REAL USAGE.</a:t>
            </a:r>
            <a:endParaRPr sz="950"/>
          </a:p>
        </p:txBody>
      </p:sp>
      <p:sp>
        <p:nvSpPr>
          <p:cNvPr id="7" name="Text 3">
            <a:extLst xmlns:a="http://schemas.openxmlformats.org/drawingml/2006/main">
              <a:ext uri="{FF2B5EF4-FFF2-40B4-BE49-F238E27FC236}">
                <a16:creationId xmlns:a16="http://schemas.microsoft.com/office/drawing/2014/main" id="{4E4AE4C1-15DD-46EE-9446-4D0F67055F89}"/>
              </a:ext>
            </a:extLst>
          </p:cNvPr>
          <p:cNvSpPr>
            <a:spLocks xmlns:a="http://schemas.openxmlformats.org/drawingml/2006/main" noGrp="1"/>
          </p:cNvSpPr>
          <p:nvPr/>
        </p:nvSpPr>
        <p:spPr>
          <a:xfrm xmlns:a="http://schemas.openxmlformats.org/drawingml/2006/main">
            <a:off x="658368" y="1783080"/>
            <a:ext cx="5349240" cy="193852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3200" b="1">
                <a:solidFill>
                  <a:srgbClr val="F7F7FA"/>
                </a:solidFill>
                <a:latin typeface="Inter Display"/>
                <a:ea typeface="Inter Display"/>
                <a:cs typeface="Inter Display"/>
              </a:rPr>
              <a:t>Start with one club.</a:t>
            </a:r>
            <a:endParaRPr sz="3100"/>
          </a:p>
          <a:p xmlns:a="http://schemas.openxmlformats.org/drawingml/2006/main">
            <a:pPr marL="0" indent="0">
              <a:lnSpc>
                <a:spcPct val="100000"/>
              </a:lnSpc>
              <a:buNone/>
            </a:pPr>
            <a:r>
              <a:rPr sz="3200" b="1">
                <a:solidFill>
                  <a:srgbClr val="F7F7FA"/>
                </a:solidFill>
                <a:latin typeface="Inter Display"/>
                <a:ea typeface="Inter Display"/>
                <a:cs typeface="Inter Display"/>
              </a:rPr>
              <a:t>Prove value.</a:t>
            </a:r>
            <a:endParaRPr sz="3100"/>
          </a:p>
          <a:p xmlns:a="http://schemas.openxmlformats.org/drawingml/2006/main">
            <a:pPr marL="0" indent="0">
              <a:lnSpc>
                <a:spcPct val="100000"/>
              </a:lnSpc>
              <a:buNone/>
            </a:pPr>
            <a:r>
              <a:rPr sz="3200" b="1">
                <a:solidFill>
                  <a:srgbClr val="F7F7FA"/>
                </a:solidFill>
                <a:latin typeface="Inter Display"/>
                <a:ea typeface="Inter Display"/>
                <a:cs typeface="Inter Display"/>
              </a:rPr>
              <a:t>Scale what works.</a:t>
            </a:r>
            <a:endParaRPr sz="3100"/>
          </a:p>
        </p:txBody>
      </p:sp>
      <p:sp>
        <p:nvSpPr>
          <p:cNvPr id="8" name="Shape 4">
            <a:extLst xmlns:a="http://schemas.openxmlformats.org/drawingml/2006/main">
              <a:ext uri="{FF2B5EF4-FFF2-40B4-BE49-F238E27FC236}">
                <a16:creationId xmlns:a16="http://schemas.microsoft.com/office/drawing/2014/main" id="{D141079D-3F7D-4A2C-AF12-EEAE864EFA35}"/>
              </a:ext>
            </a:extLst>
          </p:cNvPr>
          <p:cNvSpPr>
            <a:spLocks xmlns:a="http://schemas.openxmlformats.org/drawingml/2006/main" noGrp="1"/>
          </p:cNvSpPr>
          <p:nvPr/>
        </p:nvSpPr>
        <p:spPr>
          <a:xfrm xmlns:a="http://schemas.openxmlformats.org/drawingml/2006/main">
            <a:off x="685800" y="4041648"/>
            <a:ext cx="1627632" cy="310896"/>
          </a:xfrm>
          <a:prstGeom xmlns:a="http://schemas.openxmlformats.org/drawingml/2006/main" prst="roundRect">
            <a:avLst>
              <a:gd name="adj" fmla="val 29412"/>
            </a:avLst>
          </a:prstGeom>
          <a:solidFill xmlns:a="http://schemas.openxmlformats.org/drawingml/2006/main">
            <a:srgbClr val="171120"/>
          </a:solidFill>
          <a:ln xmlns:a="http://schemas.openxmlformats.org/drawingml/2006/main" w="8890">
            <a:solidFill>
              <a:srgbClr val="3B2C5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9" name="Text 5">
            <a:extLst xmlns:a="http://schemas.openxmlformats.org/drawingml/2006/main">
              <a:ext uri="{FF2B5EF4-FFF2-40B4-BE49-F238E27FC236}">
                <a16:creationId xmlns:a16="http://schemas.microsoft.com/office/drawing/2014/main" id="{6A43DCF8-4E49-4C3C-AC32-B959445AF05D}"/>
              </a:ext>
            </a:extLst>
          </p:cNvPr>
          <p:cNvSpPr>
            <a:spLocks xmlns:a="http://schemas.openxmlformats.org/drawingml/2006/main" noGrp="1"/>
          </p:cNvSpPr>
          <p:nvPr/>
        </p:nvSpPr>
        <p:spPr>
          <a:xfrm xmlns:a="http://schemas.openxmlformats.org/drawingml/2006/main">
            <a:off x="795528" y="4096512"/>
            <a:ext cx="1408176" cy="1828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b="1">
                <a:solidFill>
                  <a:srgbClr val="D7C7FF"/>
                </a:solidFill>
                <a:latin typeface="Inter"/>
                <a:ea typeface="Inter"/>
                <a:cs typeface="Inter"/>
              </a:rPr>
              <a:t>1 PILOT LOCATION</a:t>
            </a:r>
            <a:endParaRPr sz="840"/>
          </a:p>
        </p:txBody>
      </p:sp>
      <p:sp>
        <p:nvSpPr>
          <p:cNvPr id="10" name="Shape 6">
            <a:extLst xmlns:a="http://schemas.openxmlformats.org/drawingml/2006/main">
              <a:ext uri="{FF2B5EF4-FFF2-40B4-BE49-F238E27FC236}">
                <a16:creationId xmlns:a16="http://schemas.microsoft.com/office/drawing/2014/main" id="{6598DE82-48D6-4B11-BE74-618A571D5E63}"/>
              </a:ext>
            </a:extLst>
          </p:cNvPr>
          <p:cNvSpPr>
            <a:spLocks xmlns:a="http://schemas.openxmlformats.org/drawingml/2006/main" noGrp="1"/>
          </p:cNvSpPr>
          <p:nvPr/>
        </p:nvSpPr>
        <p:spPr>
          <a:xfrm xmlns:a="http://schemas.openxmlformats.org/drawingml/2006/main">
            <a:off x="2441448" y="4041648"/>
            <a:ext cx="1389888" cy="310896"/>
          </a:xfrm>
          <a:prstGeom xmlns:a="http://schemas.openxmlformats.org/drawingml/2006/main" prst="roundRect">
            <a:avLst>
              <a:gd name="adj" fmla="val 29412"/>
            </a:avLst>
          </a:prstGeom>
          <a:solidFill xmlns:a="http://schemas.openxmlformats.org/drawingml/2006/main">
            <a:srgbClr val="101915"/>
          </a:solidFill>
          <a:ln xmlns:a="http://schemas.openxmlformats.org/drawingml/2006/main" w="8890">
            <a:solidFill>
              <a:srgbClr val="245843"/>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1" name="Text 7">
            <a:extLst xmlns:a="http://schemas.openxmlformats.org/drawingml/2006/main">
              <a:ext uri="{FF2B5EF4-FFF2-40B4-BE49-F238E27FC236}">
                <a16:creationId xmlns:a16="http://schemas.microsoft.com/office/drawing/2014/main" id="{8D6151BB-E283-429E-AB61-0493E7BC7C9E}"/>
              </a:ext>
            </a:extLst>
          </p:cNvPr>
          <p:cNvSpPr>
            <a:spLocks xmlns:a="http://schemas.openxmlformats.org/drawingml/2006/main" noGrp="1"/>
          </p:cNvSpPr>
          <p:nvPr/>
        </p:nvSpPr>
        <p:spPr>
          <a:xfrm xmlns:a="http://schemas.openxmlformats.org/drawingml/2006/main">
            <a:off x="2551176" y="4096512"/>
            <a:ext cx="1170432" cy="1828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b="1">
                <a:solidFill>
                  <a:srgbClr val="BDF1DD"/>
                </a:solidFill>
                <a:latin typeface="Inter"/>
                <a:ea typeface="Inter"/>
                <a:cs typeface="Inter"/>
              </a:rPr>
              <a:t>30 LIVE DAYS</a:t>
            </a:r>
            <a:endParaRPr sz="840"/>
          </a:p>
        </p:txBody>
      </p:sp>
      <p:sp>
        <p:nvSpPr>
          <p:cNvPr id="12" name="Text 8">
            <a:extLst xmlns:a="http://schemas.openxmlformats.org/drawingml/2006/main">
              <a:ext uri="{FF2B5EF4-FFF2-40B4-BE49-F238E27FC236}">
                <a16:creationId xmlns:a16="http://schemas.microsoft.com/office/drawing/2014/main" id="{72D506F2-73E9-4A7A-83A0-435B4B4DDBDE}"/>
              </a:ext>
            </a:extLst>
          </p:cNvPr>
          <p:cNvSpPr>
            <a:spLocks xmlns:a="http://schemas.openxmlformats.org/drawingml/2006/main" noGrp="1"/>
          </p:cNvSpPr>
          <p:nvPr/>
        </p:nvSpPr>
        <p:spPr>
          <a:xfrm xmlns:a="http://schemas.openxmlformats.org/drawingml/2006/main">
            <a:off x="704088" y="4626864"/>
            <a:ext cx="5065776" cy="80467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a:solidFill>
                  <a:srgbClr val="D0CDD5"/>
                </a:solidFill>
                <a:latin typeface="Inter"/>
                <a:ea typeface="Inter"/>
                <a:cs typeface="Inter"/>
              </a:rPr>
              <a:t>MyDancr handles venue setup, onboarding, training and launch support. The club names a marketing + operations lead and agrees the scorecard before launch.</a:t>
            </a:r>
            <a:endParaRPr sz="1120"/>
          </a:p>
        </p:txBody>
      </p:sp>
      <p:sp>
        <p:nvSpPr>
          <p:cNvPr id="13" name="Text 9">
            <a:extLst xmlns:a="http://schemas.openxmlformats.org/drawingml/2006/main">
              <a:ext uri="{FF2B5EF4-FFF2-40B4-BE49-F238E27FC236}">
                <a16:creationId xmlns:a16="http://schemas.microsoft.com/office/drawing/2014/main" id="{29788888-3336-4E86-8E6A-7C7F0E39D8C0}"/>
              </a:ext>
            </a:extLst>
          </p:cNvPr>
          <p:cNvSpPr>
            <a:spLocks xmlns:a="http://schemas.openxmlformats.org/drawingml/2006/main" noGrp="1"/>
          </p:cNvSpPr>
          <p:nvPr/>
        </p:nvSpPr>
        <p:spPr>
          <a:xfrm xmlns:a="http://schemas.openxmlformats.org/drawingml/2006/main">
            <a:off x="713232" y="5623560"/>
            <a:ext cx="6400800" cy="53035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defRPr sz="1060" b="1">
                <a:solidFill>
                  <a:srgbClr val="A7A2B2"/>
                </a:solidFill>
              </a:defRPr>
            </a:pPr>
            <a:r>
              <a:t>01  Select location     02  Agree scope + offer     03  Set KPIs</a:t>
            </a:r>
            <a:br/>
            <a:r>
              <a:t>04  Launch     05  Review at day 30</a:t>
            </a:r>
            <a:endParaRPr sz="870"/>
          </a:p>
        </p:txBody>
      </p:sp>
      <p:sp>
        <p:nvSpPr>
          <p:cNvPr id="14" name="Text 10">
            <a:extLst xmlns:a="http://schemas.openxmlformats.org/drawingml/2006/main">
              <a:ext uri="{FF2B5EF4-FFF2-40B4-BE49-F238E27FC236}">
                <a16:creationId xmlns:a16="http://schemas.microsoft.com/office/drawing/2014/main" id="{6AC36051-C635-4D49-B574-2F0F705CACEF}"/>
              </a:ext>
            </a:extLst>
          </p:cNvPr>
          <p:cNvSpPr>
            <a:spLocks xmlns:a="http://schemas.openxmlformats.org/drawingml/2006/main" noGrp="1"/>
          </p:cNvSpPr>
          <p:nvPr/>
        </p:nvSpPr>
        <p:spPr>
          <a:xfrm xmlns:a="http://schemas.openxmlformats.org/drawingml/2006/main">
            <a:off x="7059168" y="5413248"/>
            <a:ext cx="4187952" cy="6583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r">
              <a:lnSpc>
                <a:spcPct val="100000"/>
              </a:lnSpc>
              <a:buNone/>
            </a:pPr>
            <a:r>
              <a:rPr sz="1700" b="1">
                <a:solidFill>
                  <a:srgbClr val="F7F7FA"/>
                </a:solidFill>
                <a:latin typeface="Inter Display"/>
                <a:ea typeface="Inter Display"/>
                <a:cs typeface="Inter Display"/>
              </a:rPr>
              <a:t>A contained pilot creates the club-specific evidence needed for a wider rollout decision.</a:t>
            </a:r>
            <a:endParaRPr sz="1620"/>
          </a:p>
        </p:txBody>
      </p:sp>
    </p:spTree>
    <p:extLst>
      <p:ext uri="{BB962C8B-B14F-4D97-AF65-F5344CB8AC3E}">
        <p14:creationId xmlns:p14="http://schemas.microsoft.com/office/powerpoint/2010/main" val="338002598"/>
      </p:ext>
    </p:extLst>
  </p:cSld>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76072"/>
            <a:ext cx="3291840" cy="219456"/>
          </a:xfrm>
          <a:prstGeom prst="rect">
            <a:avLst/>
          </a:prstGeom>
          <a:noFill/>
        </p:spPr>
        <p:txBody>
          <a:bodyPr wrap="none" lIns="0" rIns="0" tIns="0" bIns="0" anchor="t">
            <a:spAutoFit/>
          </a:bodyPr>
          <a:lstStyle/>
          <a:p>
            <a:pPr algn="l"/>
            <a:r>
              <a:rPr sz="1200" b="1">
                <a:solidFill>
                  <a:srgbClr val="A855F7"/>
                </a:solidFill>
                <a:latin typeface="Inter"/>
              </a:rPr>
              <a:t>CUSTOMER DATA + RE-ENGAGEMENT</a:t>
            </a:r>
          </a:p>
        </p:txBody>
      </p:sp>
      <p:sp>
        <p:nvSpPr>
          <p:cNvPr id="3" name="TextBox 2"/>
          <p:cNvSpPr txBox="1"/>
          <p:nvPr/>
        </p:nvSpPr>
        <p:spPr>
          <a:xfrm>
            <a:off x="566928" y="850392"/>
            <a:ext cx="10789920" cy="640080"/>
          </a:xfrm>
          <a:prstGeom prst="rect">
            <a:avLst/>
          </a:prstGeom>
          <a:noFill/>
        </p:spPr>
        <p:txBody>
          <a:bodyPr wrap="none" lIns="0" rIns="0" tIns="0" bIns="0" anchor="t">
            <a:spAutoFit/>
          </a:bodyPr>
          <a:lstStyle/>
          <a:p>
            <a:pPr algn="l"/>
            <a:r>
              <a:rPr sz="2800" b="1">
                <a:solidFill>
                  <a:srgbClr val="F7F7FA"/>
                </a:solidFill>
                <a:latin typeface="Inter Display"/>
              </a:rPr>
              <a:t>Turn guest actions into a permission-based audience.</a:t>
            </a:r>
          </a:p>
        </p:txBody>
      </p:sp>
      <p:sp>
        <p:nvSpPr>
          <p:cNvPr id="4" name="TextBox 3"/>
          <p:cNvSpPr txBox="1"/>
          <p:nvPr/>
        </p:nvSpPr>
        <p:spPr>
          <a:xfrm>
            <a:off x="566928" y="1444752"/>
            <a:ext cx="10789920" cy="457200"/>
          </a:xfrm>
          <a:prstGeom prst="rect">
            <a:avLst/>
          </a:prstGeom>
          <a:noFill/>
        </p:spPr>
        <p:txBody>
          <a:bodyPr wrap="none" lIns="0" rIns="0" tIns="0" bIns="0" anchor="t">
            <a:spAutoFit/>
          </a:bodyPr>
          <a:lstStyle/>
          <a:p>
            <a:pPr algn="l"/>
            <a:r>
              <a:rPr sz="1360" b="0">
                <a:solidFill>
                  <a:srgbClr val="A09CAA"/>
                </a:solidFill>
                <a:latin typeface="Inter"/>
              </a:rPr>
              <a:t>Transportation forms, guest-list forms, account sign-ups and club follows create useful customer signals inside MyDancr.</a:t>
            </a:r>
          </a:p>
        </p:txBody>
      </p:sp>
      <p:sp>
        <p:nvSpPr>
          <p:cNvPr id="5" name="Rounded Rectangle 4"/>
          <p:cNvSpPr/>
          <p:nvPr/>
        </p:nvSpPr>
        <p:spPr>
          <a:xfrm>
            <a:off x="566928" y="2148840"/>
            <a:ext cx="4983480" cy="3584448"/>
          </a:xfrm>
          <a:prstGeom prst="roundRect">
            <a:avLst/>
          </a:prstGeom>
          <a:solidFill>
            <a:srgbClr val="0D0D12"/>
          </a:solidFill>
          <a:ln w="12700">
            <a:solidFill>
              <a:srgbClr val="2D2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423160"/>
            <a:ext cx="4389120" cy="219456"/>
          </a:xfrm>
          <a:prstGeom prst="rect">
            <a:avLst/>
          </a:prstGeom>
          <a:noFill/>
        </p:spPr>
        <p:txBody>
          <a:bodyPr wrap="none" lIns="0" rIns="0" tIns="0" bIns="0" anchor="t">
            <a:spAutoFit/>
          </a:bodyPr>
          <a:lstStyle/>
          <a:p>
            <a:pPr algn="l"/>
            <a:r>
              <a:rPr sz="1080" b="1">
                <a:solidFill>
                  <a:srgbClr val="A855F7"/>
                </a:solidFill>
                <a:latin typeface="Inter"/>
              </a:rPr>
              <a:t>WHERE CUSTOMER DATA COMES FROM</a:t>
            </a:r>
          </a:p>
        </p:txBody>
      </p:sp>
      <p:sp>
        <p:nvSpPr>
          <p:cNvPr id="7" name="Oval 6"/>
          <p:cNvSpPr/>
          <p:nvPr/>
        </p:nvSpPr>
        <p:spPr>
          <a:xfrm>
            <a:off x="841248" y="2871216"/>
            <a:ext cx="310896" cy="310896"/>
          </a:xfrm>
          <a:prstGeom prst="ellipse">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08080C"/>
                </a:solidFill>
                <a:latin typeface="Inter"/>
              </a:rPr>
              <a:t>1</a:t>
            </a:r>
          </a:p>
        </p:txBody>
      </p:sp>
      <p:sp>
        <p:nvSpPr>
          <p:cNvPr id="8" name="TextBox 7"/>
          <p:cNvSpPr txBox="1"/>
          <p:nvPr/>
        </p:nvSpPr>
        <p:spPr>
          <a:xfrm>
            <a:off x="1298448" y="2852928"/>
            <a:ext cx="3886200" cy="237744"/>
          </a:xfrm>
          <a:prstGeom prst="rect">
            <a:avLst/>
          </a:prstGeom>
          <a:noFill/>
        </p:spPr>
        <p:txBody>
          <a:bodyPr wrap="none" lIns="0" rIns="0" tIns="0" bIns="0" anchor="t">
            <a:spAutoFit/>
          </a:bodyPr>
          <a:lstStyle/>
          <a:p>
            <a:pPr algn="l"/>
            <a:r>
              <a:rPr sz="1160" b="1">
                <a:solidFill>
                  <a:srgbClr val="F7F7FA"/>
                </a:solidFill>
                <a:latin typeface="Inter Display"/>
              </a:rPr>
              <a:t>TRANSPORTATION FORMS</a:t>
            </a:r>
          </a:p>
        </p:txBody>
      </p:sp>
      <p:sp>
        <p:nvSpPr>
          <p:cNvPr id="9" name="TextBox 8"/>
          <p:cNvSpPr txBox="1"/>
          <p:nvPr/>
        </p:nvSpPr>
        <p:spPr>
          <a:xfrm>
            <a:off x="1298448" y="3136392"/>
            <a:ext cx="3886200" cy="457200"/>
          </a:xfrm>
          <a:prstGeom prst="rect">
            <a:avLst/>
          </a:prstGeom>
          <a:noFill/>
        </p:spPr>
        <p:txBody>
          <a:bodyPr wrap="none" lIns="0" rIns="0" tIns="0" bIns="0" anchor="t">
            <a:spAutoFit/>
          </a:bodyPr>
          <a:lstStyle/>
          <a:p>
            <a:pPr algn="l"/>
            <a:r>
              <a:rPr sz="1070" b="0">
                <a:solidFill>
                  <a:srgbClr val="C8C5CD"/>
                </a:solidFill>
                <a:latin typeface="Inter"/>
              </a:rPr>
              <a:t>Pickup requests can capture guest contact information and visit intent.</a:t>
            </a:r>
          </a:p>
        </p:txBody>
      </p:sp>
      <p:sp>
        <p:nvSpPr>
          <p:cNvPr id="10" name="Oval 9"/>
          <p:cNvSpPr/>
          <p:nvPr/>
        </p:nvSpPr>
        <p:spPr>
          <a:xfrm>
            <a:off x="841248" y="3584448"/>
            <a:ext cx="310896" cy="310896"/>
          </a:xfrm>
          <a:prstGeom prst="ellipse">
            <a:avLst/>
          </a:prstGeom>
          <a:solidFill>
            <a:srgbClr val="1ED59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08080C"/>
                </a:solidFill>
                <a:latin typeface="Inter"/>
              </a:rPr>
              <a:t>2</a:t>
            </a:r>
          </a:p>
        </p:txBody>
      </p:sp>
      <p:sp>
        <p:nvSpPr>
          <p:cNvPr id="11" name="TextBox 10"/>
          <p:cNvSpPr txBox="1"/>
          <p:nvPr/>
        </p:nvSpPr>
        <p:spPr>
          <a:xfrm>
            <a:off x="1298448" y="3566160"/>
            <a:ext cx="3886200" cy="237744"/>
          </a:xfrm>
          <a:prstGeom prst="rect">
            <a:avLst/>
          </a:prstGeom>
          <a:noFill/>
        </p:spPr>
        <p:txBody>
          <a:bodyPr wrap="none" lIns="0" rIns="0" tIns="0" bIns="0" anchor="t">
            <a:spAutoFit/>
          </a:bodyPr>
          <a:lstStyle/>
          <a:p>
            <a:pPr algn="l"/>
            <a:r>
              <a:rPr sz="1160" b="1">
                <a:solidFill>
                  <a:srgbClr val="F7F7FA"/>
                </a:solidFill>
                <a:latin typeface="Inter Display"/>
              </a:rPr>
              <a:t>GUEST-LIST FORMS</a:t>
            </a:r>
          </a:p>
        </p:txBody>
      </p:sp>
      <p:sp>
        <p:nvSpPr>
          <p:cNvPr id="12" name="TextBox 11"/>
          <p:cNvSpPr txBox="1"/>
          <p:nvPr/>
        </p:nvSpPr>
        <p:spPr>
          <a:xfrm>
            <a:off x="1298448" y="3849624"/>
            <a:ext cx="3886200" cy="457200"/>
          </a:xfrm>
          <a:prstGeom prst="rect">
            <a:avLst/>
          </a:prstGeom>
          <a:noFill/>
        </p:spPr>
        <p:txBody>
          <a:bodyPr wrap="none" lIns="0" rIns="0" tIns="0" bIns="0" anchor="t">
            <a:spAutoFit/>
          </a:bodyPr>
          <a:lstStyle/>
          <a:p>
            <a:pPr algn="l"/>
            <a:r>
              <a:rPr sz="1070" b="0">
                <a:solidFill>
                  <a:srgbClr val="C8C5CD"/>
                </a:solidFill>
                <a:latin typeface="Inter"/>
              </a:rPr>
              <a:t>Guest-list submissions create another direct club interaction tied to the customer.</a:t>
            </a:r>
          </a:p>
        </p:txBody>
      </p:sp>
      <p:sp>
        <p:nvSpPr>
          <p:cNvPr id="13" name="Oval 12"/>
          <p:cNvSpPr/>
          <p:nvPr/>
        </p:nvSpPr>
        <p:spPr>
          <a:xfrm>
            <a:off x="841248" y="4297680"/>
            <a:ext cx="310896" cy="310896"/>
          </a:xfrm>
          <a:prstGeom prst="ellipse">
            <a:avLst/>
          </a:prstGeom>
          <a:solidFill>
            <a:srgbClr val="C8A7F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08080C"/>
                </a:solidFill>
                <a:latin typeface="Inter"/>
              </a:rPr>
              <a:t>3</a:t>
            </a:r>
          </a:p>
        </p:txBody>
      </p:sp>
      <p:sp>
        <p:nvSpPr>
          <p:cNvPr id="14" name="TextBox 13"/>
          <p:cNvSpPr txBox="1"/>
          <p:nvPr/>
        </p:nvSpPr>
        <p:spPr>
          <a:xfrm>
            <a:off x="1298448" y="4279392"/>
            <a:ext cx="3886200" cy="237744"/>
          </a:xfrm>
          <a:prstGeom prst="rect">
            <a:avLst/>
          </a:prstGeom>
          <a:noFill/>
        </p:spPr>
        <p:txBody>
          <a:bodyPr wrap="none" lIns="0" rIns="0" tIns="0" bIns="0" anchor="t">
            <a:spAutoFit/>
          </a:bodyPr>
          <a:lstStyle/>
          <a:p>
            <a:pPr algn="l"/>
            <a:r>
              <a:rPr sz="1160" b="1">
                <a:solidFill>
                  <a:srgbClr val="F7F7FA"/>
                </a:solidFill>
                <a:latin typeface="Inter Display"/>
              </a:rPr>
              <a:t>ACCOUNT SIGN-UPS</a:t>
            </a:r>
          </a:p>
        </p:txBody>
      </p:sp>
      <p:sp>
        <p:nvSpPr>
          <p:cNvPr id="15" name="TextBox 14"/>
          <p:cNvSpPr txBox="1"/>
          <p:nvPr/>
        </p:nvSpPr>
        <p:spPr>
          <a:xfrm>
            <a:off x="1298448" y="4562856"/>
            <a:ext cx="3886200" cy="457200"/>
          </a:xfrm>
          <a:prstGeom prst="rect">
            <a:avLst/>
          </a:prstGeom>
          <a:noFill/>
        </p:spPr>
        <p:txBody>
          <a:bodyPr wrap="none" lIns="0" rIns="0" tIns="0" bIns="0" anchor="t">
            <a:spAutoFit/>
          </a:bodyPr>
          <a:lstStyle/>
          <a:p>
            <a:pPr algn="l"/>
            <a:r>
              <a:rPr sz="1070" b="0">
                <a:solidFill>
                  <a:srgbClr val="C8C5CD"/>
                </a:solidFill>
                <a:latin typeface="Inter"/>
              </a:rPr>
              <a:t>A MyDancr account creates a persistent customer identity instead of a one-time anonymous visit.</a:t>
            </a:r>
          </a:p>
        </p:txBody>
      </p:sp>
      <p:sp>
        <p:nvSpPr>
          <p:cNvPr id="16" name="Oval 15"/>
          <p:cNvSpPr/>
          <p:nvPr/>
        </p:nvSpPr>
        <p:spPr>
          <a:xfrm>
            <a:off x="841248" y="5010912"/>
            <a:ext cx="310896" cy="310896"/>
          </a:xfrm>
          <a:prstGeom prst="ellipse">
            <a:avLst/>
          </a:prstGeom>
          <a:solidFill>
            <a:srgbClr val="1ED59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08080C"/>
                </a:solidFill>
                <a:latin typeface="Inter"/>
              </a:rPr>
              <a:t>4</a:t>
            </a:r>
          </a:p>
        </p:txBody>
      </p:sp>
      <p:sp>
        <p:nvSpPr>
          <p:cNvPr id="17" name="TextBox 16"/>
          <p:cNvSpPr txBox="1"/>
          <p:nvPr/>
        </p:nvSpPr>
        <p:spPr>
          <a:xfrm>
            <a:off x="1298448" y="4992624"/>
            <a:ext cx="3886200" cy="237744"/>
          </a:xfrm>
          <a:prstGeom prst="rect">
            <a:avLst/>
          </a:prstGeom>
          <a:noFill/>
        </p:spPr>
        <p:txBody>
          <a:bodyPr wrap="none" lIns="0" rIns="0" tIns="0" bIns="0" anchor="t">
            <a:spAutoFit/>
          </a:bodyPr>
          <a:lstStyle/>
          <a:p>
            <a:pPr algn="l"/>
            <a:r>
              <a:rPr sz="1160" b="1">
                <a:solidFill>
                  <a:srgbClr val="F7F7FA"/>
                </a:solidFill>
                <a:latin typeface="Inter Display"/>
              </a:rPr>
              <a:t>CLUB FOLLOWS</a:t>
            </a:r>
          </a:p>
        </p:txBody>
      </p:sp>
      <p:sp>
        <p:nvSpPr>
          <p:cNvPr id="18" name="TextBox 17"/>
          <p:cNvSpPr txBox="1"/>
          <p:nvPr/>
        </p:nvSpPr>
        <p:spPr>
          <a:xfrm>
            <a:off x="1298448" y="5276088"/>
            <a:ext cx="3886200" cy="457200"/>
          </a:xfrm>
          <a:prstGeom prst="rect">
            <a:avLst/>
          </a:prstGeom>
          <a:noFill/>
        </p:spPr>
        <p:txBody>
          <a:bodyPr wrap="none" lIns="0" rIns="0" tIns="0" bIns="0" anchor="t">
            <a:spAutoFit/>
          </a:bodyPr>
          <a:lstStyle/>
          <a:p>
            <a:pPr algn="l"/>
            <a:r>
              <a:rPr sz="1070" b="0">
                <a:solidFill>
                  <a:srgbClr val="C8C5CD"/>
                </a:solidFill>
                <a:latin typeface="Inter"/>
              </a:rPr>
              <a:t>Following a club is an explicit signal that the guest wants to stay connected to that venue.</a:t>
            </a:r>
          </a:p>
        </p:txBody>
      </p:sp>
      <p:sp>
        <p:nvSpPr>
          <p:cNvPr id="19" name="Rounded Rectangle 18"/>
          <p:cNvSpPr/>
          <p:nvPr/>
        </p:nvSpPr>
        <p:spPr>
          <a:xfrm>
            <a:off x="5806440" y="2148840"/>
            <a:ext cx="5797296" cy="3584448"/>
          </a:xfrm>
          <a:prstGeom prst="roundRect">
            <a:avLst/>
          </a:prstGeom>
          <a:solidFill>
            <a:srgbClr val="131018"/>
          </a:solidFill>
          <a:ln w="12700">
            <a:solidFill>
              <a:srgbClr val="4627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08192" y="2423160"/>
            <a:ext cx="5074920" cy="219456"/>
          </a:xfrm>
          <a:prstGeom prst="rect">
            <a:avLst/>
          </a:prstGeom>
          <a:noFill/>
        </p:spPr>
        <p:txBody>
          <a:bodyPr wrap="none" lIns="0" rIns="0" tIns="0" bIns="0" anchor="t">
            <a:spAutoFit/>
          </a:bodyPr>
          <a:lstStyle/>
          <a:p>
            <a:pPr algn="l"/>
            <a:r>
              <a:rPr sz="1080" b="1">
                <a:solidFill>
                  <a:srgbClr val="A855F7"/>
                </a:solidFill>
                <a:latin typeface="Inter"/>
              </a:rPr>
              <a:t>WHAT THAT CAN GIVE THE CLUB</a:t>
            </a:r>
          </a:p>
        </p:txBody>
      </p:sp>
      <p:sp>
        <p:nvSpPr>
          <p:cNvPr id="21" name="Rounded Rectangle 20"/>
          <p:cNvSpPr/>
          <p:nvPr/>
        </p:nvSpPr>
        <p:spPr>
          <a:xfrm>
            <a:off x="6108192" y="2834640"/>
            <a:ext cx="5166360" cy="694944"/>
          </a:xfrm>
          <a:prstGeom prst="roundRect">
            <a:avLst/>
          </a:prstGeom>
          <a:solidFill>
            <a:srgbClr val="111118"/>
          </a:solidFill>
          <a:ln w="10160">
            <a:solidFill>
              <a:srgbClr val="2D2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08192" y="2834640"/>
            <a:ext cx="45720" cy="694944"/>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953512"/>
            <a:ext cx="2011680" cy="201168"/>
          </a:xfrm>
          <a:prstGeom prst="rect">
            <a:avLst/>
          </a:prstGeom>
          <a:noFill/>
        </p:spPr>
        <p:txBody>
          <a:bodyPr wrap="none" lIns="0" rIns="0" tIns="0" bIns="0" anchor="t">
            <a:spAutoFit/>
          </a:bodyPr>
          <a:lstStyle/>
          <a:p>
            <a:pPr algn="l"/>
            <a:r>
              <a:rPr sz="1140" b="1">
                <a:solidFill>
                  <a:srgbClr val="F7F7FA"/>
                </a:solidFill>
                <a:latin typeface="Inter Display"/>
              </a:rPr>
              <a:t>KNOWN GUESTS</a:t>
            </a:r>
          </a:p>
        </p:txBody>
      </p:sp>
      <p:sp>
        <p:nvSpPr>
          <p:cNvPr id="24" name="TextBox 23"/>
          <p:cNvSpPr txBox="1"/>
          <p:nvPr/>
        </p:nvSpPr>
        <p:spPr>
          <a:xfrm>
            <a:off x="8339327" y="2926080"/>
            <a:ext cx="2679192" cy="438912"/>
          </a:xfrm>
          <a:prstGeom prst="rect">
            <a:avLst/>
          </a:prstGeom>
          <a:noFill/>
        </p:spPr>
        <p:txBody>
          <a:bodyPr wrap="none" lIns="0" rIns="0" tIns="0" bIns="0" anchor="t">
            <a:spAutoFit/>
          </a:bodyPr>
          <a:lstStyle/>
          <a:p>
            <a:pPr algn="l"/>
            <a:r>
              <a:rPr sz="1030" b="0">
                <a:solidFill>
                  <a:srgbClr val="C8C5CD"/>
                </a:solidFill>
                <a:latin typeface="Inter"/>
              </a:rPr>
              <a:t>Build a richer picture of who is interacting with the club through MyDancr.</a:t>
            </a:r>
          </a:p>
        </p:txBody>
      </p:sp>
      <p:sp>
        <p:nvSpPr>
          <p:cNvPr id="25" name="Rounded Rectangle 24"/>
          <p:cNvSpPr/>
          <p:nvPr/>
        </p:nvSpPr>
        <p:spPr>
          <a:xfrm>
            <a:off x="6108192" y="3657600"/>
            <a:ext cx="5166360" cy="694944"/>
          </a:xfrm>
          <a:prstGeom prst="roundRect">
            <a:avLst/>
          </a:prstGeom>
          <a:solidFill>
            <a:srgbClr val="111118"/>
          </a:solidFill>
          <a:ln w="10160">
            <a:solidFill>
              <a:srgbClr val="2D2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08192" y="3657600"/>
            <a:ext cx="45720" cy="694944"/>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27648" y="3776472"/>
            <a:ext cx="2011680" cy="201168"/>
          </a:xfrm>
          <a:prstGeom prst="rect">
            <a:avLst/>
          </a:prstGeom>
          <a:noFill/>
        </p:spPr>
        <p:txBody>
          <a:bodyPr wrap="none" lIns="0" rIns="0" tIns="0" bIns="0" anchor="t">
            <a:spAutoFit/>
          </a:bodyPr>
          <a:lstStyle/>
          <a:p>
            <a:pPr algn="l"/>
            <a:r>
              <a:rPr sz="1140" b="1">
                <a:solidFill>
                  <a:srgbClr val="F7F7FA"/>
                </a:solidFill>
                <a:latin typeface="Inter Display"/>
              </a:rPr>
              <a:t>INTENT SIGNALS</a:t>
            </a:r>
          </a:p>
        </p:txBody>
      </p:sp>
      <p:sp>
        <p:nvSpPr>
          <p:cNvPr id="28" name="TextBox 27"/>
          <p:cNvSpPr txBox="1"/>
          <p:nvPr/>
        </p:nvSpPr>
        <p:spPr>
          <a:xfrm>
            <a:off x="8339327" y="3749039"/>
            <a:ext cx="2679192" cy="438912"/>
          </a:xfrm>
          <a:prstGeom prst="rect">
            <a:avLst/>
          </a:prstGeom>
          <a:noFill/>
        </p:spPr>
        <p:txBody>
          <a:bodyPr wrap="none" lIns="0" rIns="0" tIns="0" bIns="0" anchor="t">
            <a:spAutoFit/>
          </a:bodyPr>
          <a:lstStyle/>
          <a:p>
            <a:pPr algn="l"/>
            <a:r>
              <a:rPr sz="1030" b="0">
                <a:solidFill>
                  <a:srgbClr val="C8C5CD"/>
                </a:solidFill>
                <a:latin typeface="Inter"/>
              </a:rPr>
              <a:t>See actions such as transportation requests, guest-list activity and follows.</a:t>
            </a:r>
          </a:p>
        </p:txBody>
      </p:sp>
      <p:sp>
        <p:nvSpPr>
          <p:cNvPr id="29" name="Rounded Rectangle 28"/>
          <p:cNvSpPr/>
          <p:nvPr/>
        </p:nvSpPr>
        <p:spPr>
          <a:xfrm>
            <a:off x="6108192" y="4480560"/>
            <a:ext cx="5166360" cy="694944"/>
          </a:xfrm>
          <a:prstGeom prst="roundRect">
            <a:avLst/>
          </a:prstGeom>
          <a:solidFill>
            <a:srgbClr val="111118"/>
          </a:solidFill>
          <a:ln w="10160">
            <a:solidFill>
              <a:srgbClr val="2D2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08192" y="4480560"/>
            <a:ext cx="45720" cy="694944"/>
          </a:xfrm>
          <a:prstGeom prst="rect">
            <a:avLst/>
          </a:prstGeom>
          <a:solidFill>
            <a:srgbClr val="1ED5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27648" y="4599432"/>
            <a:ext cx="2011680" cy="201168"/>
          </a:xfrm>
          <a:prstGeom prst="rect">
            <a:avLst/>
          </a:prstGeom>
          <a:noFill/>
        </p:spPr>
        <p:txBody>
          <a:bodyPr wrap="none" lIns="0" rIns="0" tIns="0" bIns="0" anchor="t">
            <a:spAutoFit/>
          </a:bodyPr>
          <a:lstStyle/>
          <a:p>
            <a:pPr algn="l"/>
            <a:r>
              <a:rPr sz="1140" b="1">
                <a:solidFill>
                  <a:srgbClr val="F7F7FA"/>
                </a:solidFill>
                <a:latin typeface="Inter Display"/>
              </a:rPr>
              <a:t>DIRECT RE-ENGAGEMENT</a:t>
            </a:r>
          </a:p>
        </p:txBody>
      </p:sp>
      <p:sp>
        <p:nvSpPr>
          <p:cNvPr id="32" name="TextBox 31"/>
          <p:cNvSpPr txBox="1"/>
          <p:nvPr/>
        </p:nvSpPr>
        <p:spPr>
          <a:xfrm>
            <a:off x="8339327" y="4572000"/>
            <a:ext cx="2679192" cy="438912"/>
          </a:xfrm>
          <a:prstGeom prst="rect">
            <a:avLst/>
          </a:prstGeom>
          <a:noFill/>
        </p:spPr>
        <p:txBody>
          <a:bodyPr wrap="none" lIns="0" rIns="0" tIns="0" bIns="0" anchor="t">
            <a:spAutoFit/>
          </a:bodyPr>
          <a:lstStyle/>
          <a:p>
            <a:pPr algn="l"/>
            <a:r>
              <a:rPr sz="1030" b="0">
                <a:solidFill>
                  <a:srgbClr val="C8C5CD"/>
                </a:solidFill>
                <a:latin typeface="Inter"/>
              </a:rPr>
              <a:t>Guests who follow the club and opt in can receive club notifications through the app.</a:t>
            </a:r>
          </a:p>
        </p:txBody>
      </p:sp>
      <p:sp>
        <p:nvSpPr>
          <p:cNvPr id="33" name="Rounded Rectangle 32"/>
          <p:cNvSpPr/>
          <p:nvPr/>
        </p:nvSpPr>
        <p:spPr>
          <a:xfrm>
            <a:off x="6108192" y="5376672"/>
            <a:ext cx="1463040" cy="265176"/>
          </a:xfrm>
          <a:prstGeom prst="roundRect">
            <a:avLst/>
          </a:prstGeom>
          <a:solidFill>
            <a:srgbClr val="1B1028"/>
          </a:solidFill>
          <a:ln w="10160">
            <a:solidFill>
              <a:srgbClr val="46276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69" b="1">
                <a:solidFill>
                  <a:srgbClr val="C8A7FF"/>
                </a:solidFill>
                <a:latin typeface="Inter"/>
              </a:rPr>
              <a:t>FOLLOW THE CLUB</a:t>
            </a:r>
          </a:p>
        </p:txBody>
      </p:sp>
      <p:sp>
        <p:nvSpPr>
          <p:cNvPr id="34" name="TextBox 33"/>
          <p:cNvSpPr txBox="1"/>
          <p:nvPr/>
        </p:nvSpPr>
        <p:spPr>
          <a:xfrm>
            <a:off x="7671816" y="5394960"/>
            <a:ext cx="292608" cy="219456"/>
          </a:xfrm>
          <a:prstGeom prst="rect">
            <a:avLst/>
          </a:prstGeom>
          <a:noFill/>
        </p:spPr>
        <p:txBody>
          <a:bodyPr wrap="none" lIns="0" rIns="0" tIns="0" bIns="0" anchor="ctr">
            <a:spAutoFit/>
          </a:bodyPr>
          <a:lstStyle/>
          <a:p>
            <a:pPr algn="ctr"/>
            <a:r>
              <a:rPr sz="2000" b="1">
                <a:solidFill>
                  <a:srgbClr val="1ED59B"/>
                </a:solidFill>
                <a:latin typeface="Inter Display"/>
              </a:rPr>
              <a:t>›</a:t>
            </a:r>
          </a:p>
        </p:txBody>
      </p:sp>
      <p:sp>
        <p:nvSpPr>
          <p:cNvPr id="35" name="Rounded Rectangle 34"/>
          <p:cNvSpPr/>
          <p:nvPr/>
        </p:nvSpPr>
        <p:spPr>
          <a:xfrm>
            <a:off x="8028431" y="5376672"/>
            <a:ext cx="1316736" cy="265176"/>
          </a:xfrm>
          <a:prstGeom prst="roundRect">
            <a:avLst/>
          </a:prstGeom>
          <a:solidFill>
            <a:srgbClr val="0D1E19"/>
          </a:solidFill>
          <a:ln w="10160">
            <a:solidFill>
              <a:srgbClr val="1C503E"/>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69" b="1">
                <a:solidFill>
                  <a:srgbClr val="BDF1DD"/>
                </a:solidFill>
                <a:latin typeface="Inter"/>
              </a:rPr>
              <a:t>OPT IN</a:t>
            </a:r>
          </a:p>
        </p:txBody>
      </p:sp>
      <p:sp>
        <p:nvSpPr>
          <p:cNvPr id="36" name="TextBox 35"/>
          <p:cNvSpPr txBox="1"/>
          <p:nvPr/>
        </p:nvSpPr>
        <p:spPr>
          <a:xfrm>
            <a:off x="9436608" y="5394960"/>
            <a:ext cx="292608" cy="219456"/>
          </a:xfrm>
          <a:prstGeom prst="rect">
            <a:avLst/>
          </a:prstGeom>
          <a:noFill/>
        </p:spPr>
        <p:txBody>
          <a:bodyPr wrap="none" lIns="0" rIns="0" tIns="0" bIns="0" anchor="ctr">
            <a:spAutoFit/>
          </a:bodyPr>
          <a:lstStyle/>
          <a:p>
            <a:pPr algn="ctr"/>
            <a:r>
              <a:rPr sz="2000" b="1">
                <a:solidFill>
                  <a:srgbClr val="1ED59B"/>
                </a:solidFill>
                <a:latin typeface="Inter Display"/>
              </a:rPr>
              <a:t>›</a:t>
            </a:r>
          </a:p>
        </p:txBody>
      </p:sp>
      <p:sp>
        <p:nvSpPr>
          <p:cNvPr id="37" name="Rounded Rectangle 36"/>
          <p:cNvSpPr/>
          <p:nvPr/>
        </p:nvSpPr>
        <p:spPr>
          <a:xfrm>
            <a:off x="9784080" y="5376672"/>
            <a:ext cx="1490472" cy="265176"/>
          </a:xfrm>
          <a:prstGeom prst="roundRect">
            <a:avLst/>
          </a:prstGeom>
          <a:solidFill>
            <a:srgbClr val="1B1028"/>
          </a:solidFill>
          <a:ln w="10160">
            <a:solidFill>
              <a:srgbClr val="46276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40" b="1">
                <a:solidFill>
                  <a:srgbClr val="C8A7FF"/>
                </a:solidFill>
                <a:latin typeface="Inter"/>
              </a:rPr>
              <a:t>CLUB NOTIFICATION</a:t>
            </a:r>
          </a:p>
        </p:txBody>
      </p:sp>
      <p:sp>
        <p:nvSpPr>
          <p:cNvPr id="38" name="TextBox 37"/>
          <p:cNvSpPr txBox="1"/>
          <p:nvPr/>
        </p:nvSpPr>
        <p:spPr>
          <a:xfrm>
            <a:off x="713232" y="6144768"/>
            <a:ext cx="10881360" cy="256032"/>
          </a:xfrm>
          <a:prstGeom prst="rect">
            <a:avLst/>
          </a:prstGeom>
          <a:noFill/>
        </p:spPr>
        <p:txBody>
          <a:bodyPr wrap="none" lIns="0" rIns="0" tIns="0" bIns="0" anchor="t">
            <a:spAutoFit/>
          </a:bodyPr>
          <a:lstStyle/>
          <a:p>
            <a:pPr algn="l"/>
            <a:r>
              <a:rPr sz="880" b="0">
                <a:solidFill>
                  <a:srgbClr val="8A8494"/>
                </a:solidFill>
                <a:latin typeface="Inter"/>
              </a:rPr>
              <a:t>Customer data access, retention and notifications should follow user consent, account preferences and the operator’s agreed privacy rules.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76072"/>
            <a:ext cx="3291840" cy="219456"/>
          </a:xfrm>
          <a:prstGeom prst="rect">
            <a:avLst/>
          </a:prstGeom>
          <a:noFill/>
        </p:spPr>
        <p:txBody>
          <a:bodyPr wrap="none" lIns="0" rIns="0" tIns="0" bIns="0" anchor="t">
            <a:spAutoFit/>
          </a:bodyPr>
          <a:lstStyle/>
          <a:p>
            <a:pPr algn="l"/>
            <a:r>
              <a:rPr sz="1200" b="1">
                <a:solidFill>
                  <a:srgbClr val="A855F7"/>
                </a:solidFill>
                <a:latin typeface="Inter"/>
              </a:rPr>
              <a:t>VIP RELATIONSHIP LAYER</a:t>
            </a:r>
          </a:p>
        </p:txBody>
      </p:sp>
      <p:sp>
        <p:nvSpPr>
          <p:cNvPr id="3" name="TextBox 2"/>
          <p:cNvSpPr txBox="1"/>
          <p:nvPr/>
        </p:nvSpPr>
        <p:spPr>
          <a:xfrm>
            <a:off x="566928" y="850392"/>
            <a:ext cx="10789920" cy="640080"/>
          </a:xfrm>
          <a:prstGeom prst="rect">
            <a:avLst/>
          </a:prstGeom>
          <a:noFill/>
        </p:spPr>
        <p:txBody>
          <a:bodyPr wrap="none" lIns="0" rIns="0" tIns="0" bIns="0" anchor="t">
            <a:spAutoFit/>
          </a:bodyPr>
          <a:lstStyle/>
          <a:p>
            <a:pPr algn="l"/>
            <a:r>
              <a:rPr sz="2800" b="1">
                <a:solidFill>
                  <a:srgbClr val="F7F7FA"/>
                </a:solidFill>
                <a:latin typeface="Inter Display"/>
              </a:rPr>
              <a:t>Create an invite-only VIP relationship layer.</a:t>
            </a:r>
          </a:p>
        </p:txBody>
      </p:sp>
      <p:sp>
        <p:nvSpPr>
          <p:cNvPr id="4" name="TextBox 3"/>
          <p:cNvSpPr txBox="1"/>
          <p:nvPr/>
        </p:nvSpPr>
        <p:spPr>
          <a:xfrm>
            <a:off x="566928" y="1444752"/>
            <a:ext cx="10789920" cy="457200"/>
          </a:xfrm>
          <a:prstGeom prst="rect">
            <a:avLst/>
          </a:prstGeom>
          <a:noFill/>
        </p:spPr>
        <p:txBody>
          <a:bodyPr wrap="none" lIns="0" rIns="0" tIns="0" bIns="0" anchor="t">
            <a:spAutoFit/>
          </a:bodyPr>
          <a:lstStyle/>
          <a:p>
            <a:pPr algn="l"/>
            <a:r>
              <a:rPr sz="1360" b="0">
                <a:solidFill>
                  <a:srgbClr val="A09CAA"/>
                </a:solidFill>
                <a:latin typeface="Inter"/>
              </a:rPr>
              <a:t>A club manager can send selected high-value customers a private link to join a MyDancr experience built around existing club relationships.</a:t>
            </a:r>
          </a:p>
        </p:txBody>
      </p:sp>
      <p:sp>
        <p:nvSpPr>
          <p:cNvPr id="5" name="Rounded Rectangle 4"/>
          <p:cNvSpPr/>
          <p:nvPr/>
        </p:nvSpPr>
        <p:spPr>
          <a:xfrm>
            <a:off x="566928" y="2331720"/>
            <a:ext cx="2029968" cy="1947672"/>
          </a:xfrm>
          <a:prstGeom prst="roundRect">
            <a:avLst/>
          </a:prstGeom>
          <a:solidFill>
            <a:srgbClr val="131018"/>
          </a:solidFill>
          <a:ln w="12700">
            <a:solidFill>
              <a:srgbClr val="4627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13232" y="2478024"/>
            <a:ext cx="493776" cy="256032"/>
          </a:xfrm>
          <a:prstGeom prst="roundRect">
            <a:avLst/>
          </a:prstGeom>
          <a:solidFill>
            <a:srgbClr val="1B1028"/>
          </a:solidFill>
          <a:ln w="10160">
            <a:solidFill>
              <a:srgbClr val="46276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C8A7FF"/>
                </a:solidFill>
                <a:latin typeface="Inter"/>
              </a:rPr>
              <a:t>01</a:t>
            </a:r>
          </a:p>
        </p:txBody>
      </p:sp>
      <p:sp>
        <p:nvSpPr>
          <p:cNvPr id="7" name="TextBox 6"/>
          <p:cNvSpPr txBox="1"/>
          <p:nvPr/>
        </p:nvSpPr>
        <p:spPr>
          <a:xfrm>
            <a:off x="713232" y="2862072"/>
            <a:ext cx="1737360" cy="274320"/>
          </a:xfrm>
          <a:prstGeom prst="rect">
            <a:avLst/>
          </a:prstGeom>
          <a:noFill/>
        </p:spPr>
        <p:txBody>
          <a:bodyPr wrap="none" lIns="0" rIns="0" tIns="0" bIns="0" anchor="t">
            <a:spAutoFit/>
          </a:bodyPr>
          <a:lstStyle/>
          <a:p>
            <a:pPr algn="l"/>
            <a:r>
              <a:rPr sz="1140" b="1">
                <a:solidFill>
                  <a:srgbClr val="F7F7FA"/>
                </a:solidFill>
                <a:latin typeface="Inter Display"/>
              </a:rPr>
              <a:t>MANAGER INVITE</a:t>
            </a:r>
          </a:p>
        </p:txBody>
      </p:sp>
      <p:sp>
        <p:nvSpPr>
          <p:cNvPr id="8" name="TextBox 7"/>
          <p:cNvSpPr txBox="1"/>
          <p:nvPr/>
        </p:nvSpPr>
        <p:spPr>
          <a:xfrm>
            <a:off x="713232" y="3227832"/>
            <a:ext cx="1737360" cy="841248"/>
          </a:xfrm>
          <a:prstGeom prst="rect">
            <a:avLst/>
          </a:prstGeom>
          <a:noFill/>
        </p:spPr>
        <p:txBody>
          <a:bodyPr wrap="none" lIns="0" rIns="0" tIns="0" bIns="0" anchor="t">
            <a:spAutoFit/>
          </a:bodyPr>
          <a:lstStyle/>
          <a:p>
            <a:pPr algn="l"/>
            <a:r>
              <a:rPr sz="1060" b="0">
                <a:solidFill>
                  <a:srgbClr val="C8C5CD"/>
                </a:solidFill>
                <a:latin typeface="Inter"/>
              </a:rPr>
              <a:t>Private link sent by the club manager.</a:t>
            </a:r>
          </a:p>
        </p:txBody>
      </p:sp>
      <p:sp>
        <p:nvSpPr>
          <p:cNvPr id="9" name="TextBox 8"/>
          <p:cNvSpPr txBox="1"/>
          <p:nvPr/>
        </p:nvSpPr>
        <p:spPr>
          <a:xfrm>
            <a:off x="2606040" y="3182112"/>
            <a:ext cx="164592" cy="237744"/>
          </a:xfrm>
          <a:prstGeom prst="rect">
            <a:avLst/>
          </a:prstGeom>
          <a:noFill/>
        </p:spPr>
        <p:txBody>
          <a:bodyPr wrap="none" lIns="0" rIns="0" tIns="0" bIns="0" anchor="ctr">
            <a:spAutoFit/>
          </a:bodyPr>
          <a:lstStyle/>
          <a:p>
            <a:pPr algn="ctr"/>
            <a:r>
              <a:rPr sz="2000" b="1">
                <a:solidFill>
                  <a:srgbClr val="C8A7FF"/>
                </a:solidFill>
                <a:latin typeface="Inter Display"/>
              </a:rPr>
              <a:t>›</a:t>
            </a:r>
          </a:p>
        </p:txBody>
      </p:sp>
      <p:sp>
        <p:nvSpPr>
          <p:cNvPr id="10" name="Rounded Rectangle 9"/>
          <p:cNvSpPr/>
          <p:nvPr/>
        </p:nvSpPr>
        <p:spPr>
          <a:xfrm>
            <a:off x="2779776" y="2331720"/>
            <a:ext cx="2029968" cy="1947672"/>
          </a:xfrm>
          <a:prstGeom prst="roundRect">
            <a:avLst/>
          </a:prstGeom>
          <a:solidFill>
            <a:srgbClr val="0D0D12"/>
          </a:solidFill>
          <a:ln w="12700">
            <a:solidFill>
              <a:srgbClr val="2D2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926080" y="2478024"/>
            <a:ext cx="493776" cy="256032"/>
          </a:xfrm>
          <a:prstGeom prst="roundRect">
            <a:avLst/>
          </a:prstGeom>
          <a:solidFill>
            <a:srgbClr val="1B1028"/>
          </a:solidFill>
          <a:ln w="10160">
            <a:solidFill>
              <a:srgbClr val="46276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C8A7FF"/>
                </a:solidFill>
                <a:latin typeface="Inter"/>
              </a:rPr>
              <a:t>02</a:t>
            </a:r>
          </a:p>
        </p:txBody>
      </p:sp>
      <p:sp>
        <p:nvSpPr>
          <p:cNvPr id="12" name="TextBox 11"/>
          <p:cNvSpPr txBox="1"/>
          <p:nvPr/>
        </p:nvSpPr>
        <p:spPr>
          <a:xfrm>
            <a:off x="2926080" y="2862072"/>
            <a:ext cx="1737360" cy="274320"/>
          </a:xfrm>
          <a:prstGeom prst="rect">
            <a:avLst/>
          </a:prstGeom>
          <a:noFill/>
        </p:spPr>
        <p:txBody>
          <a:bodyPr wrap="none" lIns="0" rIns="0" tIns="0" bIns="0" anchor="t">
            <a:spAutoFit/>
          </a:bodyPr>
          <a:lstStyle/>
          <a:p>
            <a:pPr algn="l"/>
            <a:r>
              <a:rPr sz="1140" b="1">
                <a:solidFill>
                  <a:srgbClr val="F7F7FA"/>
                </a:solidFill>
                <a:latin typeface="Inter Display"/>
              </a:rPr>
              <a:t>VIP JOINS</a:t>
            </a:r>
          </a:p>
        </p:txBody>
      </p:sp>
      <p:sp>
        <p:nvSpPr>
          <p:cNvPr id="13" name="TextBox 12"/>
          <p:cNvSpPr txBox="1"/>
          <p:nvPr/>
        </p:nvSpPr>
        <p:spPr>
          <a:xfrm>
            <a:off x="2926080" y="3227832"/>
            <a:ext cx="1737360" cy="841248"/>
          </a:xfrm>
          <a:prstGeom prst="rect">
            <a:avLst/>
          </a:prstGeom>
          <a:noFill/>
        </p:spPr>
        <p:txBody>
          <a:bodyPr wrap="none" lIns="0" rIns="0" tIns="0" bIns="0" anchor="t">
            <a:spAutoFit/>
          </a:bodyPr>
          <a:lstStyle/>
          <a:p>
            <a:pPr algn="l"/>
            <a:r>
              <a:rPr sz="1060" b="0">
                <a:solidFill>
                  <a:srgbClr val="C8C5CD"/>
                </a:solidFill>
                <a:latin typeface="Inter"/>
              </a:rPr>
              <a:t>Customer opens the invite-only experience.</a:t>
            </a:r>
          </a:p>
        </p:txBody>
      </p:sp>
      <p:sp>
        <p:nvSpPr>
          <p:cNvPr id="14" name="TextBox 13"/>
          <p:cNvSpPr txBox="1"/>
          <p:nvPr/>
        </p:nvSpPr>
        <p:spPr>
          <a:xfrm>
            <a:off x="4818888" y="3182112"/>
            <a:ext cx="164592" cy="237744"/>
          </a:xfrm>
          <a:prstGeom prst="rect">
            <a:avLst/>
          </a:prstGeom>
          <a:noFill/>
        </p:spPr>
        <p:txBody>
          <a:bodyPr wrap="none" lIns="0" rIns="0" tIns="0" bIns="0" anchor="ctr">
            <a:spAutoFit/>
          </a:bodyPr>
          <a:lstStyle/>
          <a:p>
            <a:pPr algn="ctr"/>
            <a:r>
              <a:rPr sz="2000" b="1">
                <a:solidFill>
                  <a:srgbClr val="C8A7FF"/>
                </a:solidFill>
                <a:latin typeface="Inter Display"/>
              </a:rPr>
              <a:t>›</a:t>
            </a:r>
          </a:p>
        </p:txBody>
      </p:sp>
      <p:sp>
        <p:nvSpPr>
          <p:cNvPr id="15" name="Rounded Rectangle 14"/>
          <p:cNvSpPr/>
          <p:nvPr/>
        </p:nvSpPr>
        <p:spPr>
          <a:xfrm>
            <a:off x="4992624" y="2331720"/>
            <a:ext cx="2029968" cy="1947672"/>
          </a:xfrm>
          <a:prstGeom prst="roundRect">
            <a:avLst/>
          </a:prstGeom>
          <a:solidFill>
            <a:srgbClr val="0D0D12"/>
          </a:solidFill>
          <a:ln w="12700">
            <a:solidFill>
              <a:srgbClr val="2D2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38928" y="2478024"/>
            <a:ext cx="493776" cy="256032"/>
          </a:xfrm>
          <a:prstGeom prst="roundRect">
            <a:avLst/>
          </a:prstGeom>
          <a:solidFill>
            <a:srgbClr val="1B1028"/>
          </a:solidFill>
          <a:ln w="10160">
            <a:solidFill>
              <a:srgbClr val="46276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C8A7FF"/>
                </a:solidFill>
                <a:latin typeface="Inter"/>
              </a:rPr>
              <a:t>03</a:t>
            </a:r>
          </a:p>
        </p:txBody>
      </p:sp>
      <p:sp>
        <p:nvSpPr>
          <p:cNvPr id="17" name="TextBox 16"/>
          <p:cNvSpPr txBox="1"/>
          <p:nvPr/>
        </p:nvSpPr>
        <p:spPr>
          <a:xfrm>
            <a:off x="5138928" y="2862072"/>
            <a:ext cx="1737360" cy="274320"/>
          </a:xfrm>
          <a:prstGeom prst="rect">
            <a:avLst/>
          </a:prstGeom>
          <a:noFill/>
        </p:spPr>
        <p:txBody>
          <a:bodyPr wrap="none" lIns="0" rIns="0" tIns="0" bIns="0" anchor="t">
            <a:spAutoFit/>
          </a:bodyPr>
          <a:lstStyle/>
          <a:p>
            <a:pPr algn="l"/>
            <a:r>
              <a:rPr sz="1140" b="1">
                <a:solidFill>
                  <a:srgbClr val="F7F7FA"/>
                </a:solidFill>
                <a:latin typeface="Inter Display"/>
              </a:rPr>
              <a:t>PRIOR CONNECTIONS</a:t>
            </a:r>
          </a:p>
        </p:txBody>
      </p:sp>
      <p:sp>
        <p:nvSpPr>
          <p:cNvPr id="18" name="TextBox 17"/>
          <p:cNvSpPr txBox="1"/>
          <p:nvPr/>
        </p:nvSpPr>
        <p:spPr>
          <a:xfrm>
            <a:off x="5138928" y="3227832"/>
            <a:ext cx="1737360" cy="841248"/>
          </a:xfrm>
          <a:prstGeom prst="rect">
            <a:avLst/>
          </a:prstGeom>
          <a:noFill/>
        </p:spPr>
        <p:txBody>
          <a:bodyPr wrap="none" lIns="0" rIns="0" tIns="0" bIns="0" anchor="t">
            <a:spAutoFit/>
          </a:bodyPr>
          <a:lstStyle/>
          <a:p>
            <a:pPr algn="l"/>
            <a:r>
              <a:rPr sz="1060" b="0">
                <a:solidFill>
                  <a:srgbClr val="C8C5CD"/>
                </a:solidFill>
                <a:latin typeface="Inter"/>
              </a:rPr>
              <a:t>See dancers the guest previously connected with in MyDancr.</a:t>
            </a:r>
          </a:p>
        </p:txBody>
      </p:sp>
      <p:sp>
        <p:nvSpPr>
          <p:cNvPr id="19" name="TextBox 18"/>
          <p:cNvSpPr txBox="1"/>
          <p:nvPr/>
        </p:nvSpPr>
        <p:spPr>
          <a:xfrm>
            <a:off x="7031736" y="3182112"/>
            <a:ext cx="164592" cy="237744"/>
          </a:xfrm>
          <a:prstGeom prst="rect">
            <a:avLst/>
          </a:prstGeom>
          <a:noFill/>
        </p:spPr>
        <p:txBody>
          <a:bodyPr wrap="none" lIns="0" rIns="0" tIns="0" bIns="0" anchor="ctr">
            <a:spAutoFit/>
          </a:bodyPr>
          <a:lstStyle/>
          <a:p>
            <a:pPr algn="ctr"/>
            <a:r>
              <a:rPr sz="2000" b="1">
                <a:solidFill>
                  <a:srgbClr val="1ED59B"/>
                </a:solidFill>
                <a:latin typeface="Inter Display"/>
              </a:rPr>
              <a:t>›</a:t>
            </a:r>
          </a:p>
        </p:txBody>
      </p:sp>
      <p:sp>
        <p:nvSpPr>
          <p:cNvPr id="20" name="Rounded Rectangle 19"/>
          <p:cNvSpPr/>
          <p:nvPr/>
        </p:nvSpPr>
        <p:spPr>
          <a:xfrm>
            <a:off x="7205472" y="2331720"/>
            <a:ext cx="2029968" cy="1947672"/>
          </a:xfrm>
          <a:prstGeom prst="roundRect">
            <a:avLst/>
          </a:prstGeom>
          <a:solidFill>
            <a:srgbClr val="131018"/>
          </a:solidFill>
          <a:ln w="12700">
            <a:solidFill>
              <a:srgbClr val="4627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351776" y="2478024"/>
            <a:ext cx="493776" cy="256032"/>
          </a:xfrm>
          <a:prstGeom prst="roundRect">
            <a:avLst/>
          </a:prstGeom>
          <a:solidFill>
            <a:srgbClr val="1B1028"/>
          </a:solidFill>
          <a:ln w="10160">
            <a:solidFill>
              <a:srgbClr val="46276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C8A7FF"/>
                </a:solidFill>
                <a:latin typeface="Inter"/>
              </a:rPr>
              <a:t>04</a:t>
            </a:r>
          </a:p>
        </p:txBody>
      </p:sp>
      <p:sp>
        <p:nvSpPr>
          <p:cNvPr id="22" name="TextBox 21"/>
          <p:cNvSpPr txBox="1"/>
          <p:nvPr/>
        </p:nvSpPr>
        <p:spPr>
          <a:xfrm>
            <a:off x="7351776" y="2862072"/>
            <a:ext cx="1737360" cy="274320"/>
          </a:xfrm>
          <a:prstGeom prst="rect">
            <a:avLst/>
          </a:prstGeom>
          <a:noFill/>
        </p:spPr>
        <p:txBody>
          <a:bodyPr wrap="none" lIns="0" rIns="0" tIns="0" bIns="0" anchor="t">
            <a:spAutoFit/>
          </a:bodyPr>
          <a:lstStyle/>
          <a:p>
            <a:pPr algn="l"/>
            <a:r>
              <a:rPr sz="1140" b="1">
                <a:solidFill>
                  <a:srgbClr val="F7F7FA"/>
                </a:solidFill>
                <a:latin typeface="Inter Display"/>
              </a:rPr>
              <a:t>“I’M COMING IN”</a:t>
            </a:r>
          </a:p>
        </p:txBody>
      </p:sp>
      <p:sp>
        <p:nvSpPr>
          <p:cNvPr id="23" name="TextBox 22"/>
          <p:cNvSpPr txBox="1"/>
          <p:nvPr/>
        </p:nvSpPr>
        <p:spPr>
          <a:xfrm>
            <a:off x="7351776" y="3227832"/>
            <a:ext cx="1737360" cy="841248"/>
          </a:xfrm>
          <a:prstGeom prst="rect">
            <a:avLst/>
          </a:prstGeom>
          <a:noFill/>
        </p:spPr>
        <p:txBody>
          <a:bodyPr wrap="none" lIns="0" rIns="0" tIns="0" bIns="0" anchor="t">
            <a:spAutoFit/>
          </a:bodyPr>
          <a:lstStyle/>
          <a:p>
            <a:pPr algn="l"/>
            <a:r>
              <a:rPr sz="1060" b="0">
                <a:solidFill>
                  <a:srgbClr val="C8C5CD"/>
                </a:solidFill>
                <a:latin typeface="Inter"/>
              </a:rPr>
              <a:t>VIP signals that they plan to visit the club.</a:t>
            </a:r>
          </a:p>
        </p:txBody>
      </p:sp>
      <p:sp>
        <p:nvSpPr>
          <p:cNvPr id="24" name="TextBox 23"/>
          <p:cNvSpPr txBox="1"/>
          <p:nvPr/>
        </p:nvSpPr>
        <p:spPr>
          <a:xfrm>
            <a:off x="9244584" y="3182112"/>
            <a:ext cx="164592" cy="237744"/>
          </a:xfrm>
          <a:prstGeom prst="rect">
            <a:avLst/>
          </a:prstGeom>
          <a:noFill/>
        </p:spPr>
        <p:txBody>
          <a:bodyPr wrap="none" lIns="0" rIns="0" tIns="0" bIns="0" anchor="ctr">
            <a:spAutoFit/>
          </a:bodyPr>
          <a:lstStyle/>
          <a:p>
            <a:pPr algn="ctr"/>
            <a:r>
              <a:rPr sz="2000" b="1">
                <a:solidFill>
                  <a:srgbClr val="1ED59B"/>
                </a:solidFill>
                <a:latin typeface="Inter Display"/>
              </a:rPr>
              <a:t>›</a:t>
            </a:r>
          </a:p>
        </p:txBody>
      </p:sp>
      <p:sp>
        <p:nvSpPr>
          <p:cNvPr id="25" name="Rounded Rectangle 24"/>
          <p:cNvSpPr/>
          <p:nvPr/>
        </p:nvSpPr>
        <p:spPr>
          <a:xfrm>
            <a:off x="9418320" y="2331720"/>
            <a:ext cx="2029968" cy="1947672"/>
          </a:xfrm>
          <a:prstGeom prst="roundRect">
            <a:avLst/>
          </a:prstGeom>
          <a:solidFill>
            <a:srgbClr val="131018"/>
          </a:solidFill>
          <a:ln w="12700">
            <a:solidFill>
              <a:srgbClr val="4627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564624" y="2478024"/>
            <a:ext cx="493776" cy="256032"/>
          </a:xfrm>
          <a:prstGeom prst="roundRect">
            <a:avLst/>
          </a:prstGeom>
          <a:solidFill>
            <a:srgbClr val="1B1028"/>
          </a:solidFill>
          <a:ln w="10160">
            <a:solidFill>
              <a:srgbClr val="46276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C8A7FF"/>
                </a:solidFill>
                <a:latin typeface="Inter"/>
              </a:rPr>
              <a:t>05</a:t>
            </a:r>
          </a:p>
        </p:txBody>
      </p:sp>
      <p:sp>
        <p:nvSpPr>
          <p:cNvPr id="27" name="TextBox 26"/>
          <p:cNvSpPr txBox="1"/>
          <p:nvPr/>
        </p:nvSpPr>
        <p:spPr>
          <a:xfrm>
            <a:off x="9564624" y="2862072"/>
            <a:ext cx="1737360" cy="274320"/>
          </a:xfrm>
          <a:prstGeom prst="rect">
            <a:avLst/>
          </a:prstGeom>
          <a:noFill/>
        </p:spPr>
        <p:txBody>
          <a:bodyPr wrap="none" lIns="0" rIns="0" tIns="0" bIns="0" anchor="t">
            <a:spAutoFit/>
          </a:bodyPr>
          <a:lstStyle/>
          <a:p>
            <a:pPr algn="l"/>
            <a:r>
              <a:rPr sz="1140" b="1">
                <a:solidFill>
                  <a:srgbClr val="F7F7FA"/>
                </a:solidFill>
                <a:latin typeface="Inter Display"/>
              </a:rPr>
              <a:t>DANCER ALERT</a:t>
            </a:r>
          </a:p>
        </p:txBody>
      </p:sp>
      <p:sp>
        <p:nvSpPr>
          <p:cNvPr id="28" name="TextBox 27"/>
          <p:cNvSpPr txBox="1"/>
          <p:nvPr/>
        </p:nvSpPr>
        <p:spPr>
          <a:xfrm>
            <a:off x="9564624" y="3227832"/>
            <a:ext cx="1737360" cy="841248"/>
          </a:xfrm>
          <a:prstGeom prst="rect">
            <a:avLst/>
          </a:prstGeom>
          <a:noFill/>
        </p:spPr>
        <p:txBody>
          <a:bodyPr wrap="none" lIns="0" rIns="0" tIns="0" bIns="0" anchor="t">
            <a:spAutoFit/>
          </a:bodyPr>
          <a:lstStyle/>
          <a:p>
            <a:pPr algn="l"/>
            <a:r>
              <a:rPr sz="1060" b="0">
                <a:solidFill>
                  <a:srgbClr val="C8C5CD"/>
                </a:solidFill>
                <a:latin typeface="Inter"/>
              </a:rPr>
              <a:t>Eligible prior connections can receive the arrival signal.</a:t>
            </a:r>
          </a:p>
        </p:txBody>
      </p:sp>
      <p:sp>
        <p:nvSpPr>
          <p:cNvPr id="29" name="TextBox 28"/>
          <p:cNvSpPr txBox="1"/>
          <p:nvPr/>
        </p:nvSpPr>
        <p:spPr>
          <a:xfrm>
            <a:off x="566928" y="4663440"/>
            <a:ext cx="3017520" cy="219456"/>
          </a:xfrm>
          <a:prstGeom prst="rect">
            <a:avLst/>
          </a:prstGeom>
          <a:noFill/>
        </p:spPr>
        <p:txBody>
          <a:bodyPr wrap="none" lIns="0" rIns="0" tIns="0" bIns="0" anchor="t">
            <a:spAutoFit/>
          </a:bodyPr>
          <a:lstStyle/>
          <a:p>
            <a:pPr algn="l"/>
            <a:r>
              <a:rPr sz="1080" b="1">
                <a:solidFill>
                  <a:srgbClr val="A855F7"/>
                </a:solidFill>
                <a:latin typeface="Inter"/>
              </a:rPr>
              <a:t>WHY THIS MATTERS</a:t>
            </a:r>
          </a:p>
        </p:txBody>
      </p:sp>
      <p:sp>
        <p:nvSpPr>
          <p:cNvPr id="30" name="Rounded Rectangle 29"/>
          <p:cNvSpPr/>
          <p:nvPr/>
        </p:nvSpPr>
        <p:spPr>
          <a:xfrm>
            <a:off x="566928" y="4983480"/>
            <a:ext cx="3291840" cy="1097280"/>
          </a:xfrm>
          <a:prstGeom prst="roundRect">
            <a:avLst/>
          </a:prstGeom>
          <a:solidFill>
            <a:srgbClr val="111118"/>
          </a:solidFill>
          <a:ln w="10160">
            <a:solidFill>
              <a:srgbClr val="2D2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983480"/>
            <a:ext cx="45720" cy="109728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5157216"/>
            <a:ext cx="2834640" cy="228600"/>
          </a:xfrm>
          <a:prstGeom prst="rect">
            <a:avLst/>
          </a:prstGeom>
          <a:noFill/>
        </p:spPr>
        <p:txBody>
          <a:bodyPr wrap="none" lIns="0" rIns="0" tIns="0" bIns="0" anchor="t">
            <a:spAutoFit/>
          </a:bodyPr>
          <a:lstStyle/>
          <a:p>
            <a:pPr algn="l"/>
            <a:r>
              <a:rPr sz="1080" b="1">
                <a:solidFill>
                  <a:srgbClr val="F7F7FA"/>
                </a:solidFill>
                <a:latin typeface="Inter Display"/>
              </a:rPr>
              <a:t>CLUB-CONTROLLED ACCESS</a:t>
            </a:r>
          </a:p>
        </p:txBody>
      </p:sp>
      <p:sp>
        <p:nvSpPr>
          <p:cNvPr id="33" name="TextBox 32"/>
          <p:cNvSpPr txBox="1"/>
          <p:nvPr/>
        </p:nvSpPr>
        <p:spPr>
          <a:xfrm>
            <a:off x="768096" y="5468112"/>
            <a:ext cx="2834640" cy="475488"/>
          </a:xfrm>
          <a:prstGeom prst="rect">
            <a:avLst/>
          </a:prstGeom>
          <a:noFill/>
        </p:spPr>
        <p:txBody>
          <a:bodyPr wrap="none" lIns="0" rIns="0" tIns="0" bIns="0" anchor="t">
            <a:spAutoFit/>
          </a:bodyPr>
          <a:lstStyle/>
          <a:p>
            <a:pPr algn="l"/>
            <a:r>
              <a:rPr sz="990" b="0">
                <a:solidFill>
                  <a:srgbClr val="C8C5CD"/>
                </a:solidFill>
                <a:latin typeface="Inter"/>
              </a:rPr>
              <a:t>Managers decide which high-value customers receive the invite-only link.</a:t>
            </a:r>
          </a:p>
        </p:txBody>
      </p:sp>
      <p:sp>
        <p:nvSpPr>
          <p:cNvPr id="34" name="Rounded Rectangle 33"/>
          <p:cNvSpPr/>
          <p:nvPr/>
        </p:nvSpPr>
        <p:spPr>
          <a:xfrm>
            <a:off x="4453128" y="4983480"/>
            <a:ext cx="3291840" cy="1097280"/>
          </a:xfrm>
          <a:prstGeom prst="roundRect">
            <a:avLst/>
          </a:prstGeom>
          <a:solidFill>
            <a:srgbClr val="111118"/>
          </a:solidFill>
          <a:ln w="10160">
            <a:solidFill>
              <a:srgbClr val="2D2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453128" y="4983480"/>
            <a:ext cx="45720" cy="1097280"/>
          </a:xfrm>
          <a:prstGeom prst="rect">
            <a:avLst/>
          </a:prstGeom>
          <a:solidFill>
            <a:srgbClr val="1ED5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54296" y="5157216"/>
            <a:ext cx="2834640" cy="228600"/>
          </a:xfrm>
          <a:prstGeom prst="rect">
            <a:avLst/>
          </a:prstGeom>
          <a:noFill/>
        </p:spPr>
        <p:txBody>
          <a:bodyPr wrap="none" lIns="0" rIns="0" tIns="0" bIns="0" anchor="t">
            <a:spAutoFit/>
          </a:bodyPr>
          <a:lstStyle/>
          <a:p>
            <a:pPr algn="l"/>
            <a:r>
              <a:rPr sz="1080" b="1">
                <a:solidFill>
                  <a:srgbClr val="F7F7FA"/>
                </a:solidFill>
                <a:latin typeface="Inter Display"/>
              </a:rPr>
              <a:t>EXISTING RELATIONSHIPS</a:t>
            </a:r>
          </a:p>
        </p:txBody>
      </p:sp>
      <p:sp>
        <p:nvSpPr>
          <p:cNvPr id="37" name="TextBox 36"/>
          <p:cNvSpPr txBox="1"/>
          <p:nvPr/>
        </p:nvSpPr>
        <p:spPr>
          <a:xfrm>
            <a:off x="4654296" y="5468112"/>
            <a:ext cx="2834640" cy="475488"/>
          </a:xfrm>
          <a:prstGeom prst="rect">
            <a:avLst/>
          </a:prstGeom>
          <a:noFill/>
        </p:spPr>
        <p:txBody>
          <a:bodyPr wrap="none" lIns="0" rIns="0" tIns="0" bIns="0" anchor="t">
            <a:spAutoFit/>
          </a:bodyPr>
          <a:lstStyle/>
          <a:p>
            <a:pPr algn="l"/>
            <a:r>
              <a:rPr sz="990" b="0">
                <a:solidFill>
                  <a:srgbClr val="C8C5CD"/>
                </a:solidFill>
                <a:latin typeface="Inter"/>
              </a:rPr>
              <a:t>The arrival signal is limited to dancers the VIP already has a prior MyDancr connection with.</a:t>
            </a:r>
          </a:p>
        </p:txBody>
      </p:sp>
      <p:sp>
        <p:nvSpPr>
          <p:cNvPr id="38" name="Rounded Rectangle 37"/>
          <p:cNvSpPr/>
          <p:nvPr/>
        </p:nvSpPr>
        <p:spPr>
          <a:xfrm>
            <a:off x="8339327" y="4983480"/>
            <a:ext cx="3291840" cy="1097280"/>
          </a:xfrm>
          <a:prstGeom prst="roundRect">
            <a:avLst/>
          </a:prstGeom>
          <a:solidFill>
            <a:srgbClr val="111118"/>
          </a:solidFill>
          <a:ln w="10160">
            <a:solidFill>
              <a:srgbClr val="2D2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339327" y="4983480"/>
            <a:ext cx="45720" cy="1097280"/>
          </a:xfrm>
          <a:prstGeom prst="rect">
            <a:avLst/>
          </a:prstGeom>
          <a:solidFill>
            <a:srgbClr val="C8A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40496" y="5157216"/>
            <a:ext cx="2834640" cy="228600"/>
          </a:xfrm>
          <a:prstGeom prst="rect">
            <a:avLst/>
          </a:prstGeom>
          <a:noFill/>
        </p:spPr>
        <p:txBody>
          <a:bodyPr wrap="none" lIns="0" rIns="0" tIns="0" bIns="0" anchor="t">
            <a:spAutoFit/>
          </a:bodyPr>
          <a:lstStyle/>
          <a:p>
            <a:pPr algn="l"/>
            <a:r>
              <a:rPr sz="1080" b="1">
                <a:solidFill>
                  <a:srgbClr val="F7F7FA"/>
                </a:solidFill>
                <a:latin typeface="Inter Display"/>
              </a:rPr>
              <a:t>A SIGNAL — NOT A CHAT</a:t>
            </a:r>
          </a:p>
        </p:txBody>
      </p:sp>
      <p:sp>
        <p:nvSpPr>
          <p:cNvPr id="41" name="TextBox 40"/>
          <p:cNvSpPr txBox="1"/>
          <p:nvPr/>
        </p:nvSpPr>
        <p:spPr>
          <a:xfrm>
            <a:off x="8540496" y="5468112"/>
            <a:ext cx="2834640" cy="475488"/>
          </a:xfrm>
          <a:prstGeom prst="rect">
            <a:avLst/>
          </a:prstGeom>
          <a:noFill/>
        </p:spPr>
        <p:txBody>
          <a:bodyPr wrap="none" lIns="0" rIns="0" tIns="0" bIns="0" anchor="t">
            <a:spAutoFit/>
          </a:bodyPr>
          <a:lstStyle/>
          <a:p>
            <a:pPr algn="l"/>
            <a:r>
              <a:rPr sz="990" b="0">
                <a:solidFill>
                  <a:srgbClr val="C8C5CD"/>
                </a:solidFill>
                <a:latin typeface="Inter"/>
              </a:rPr>
              <a:t>The VIP can indicate they are coming to the club without direct customer-to-dancer messaging or contact details.</a:t>
            </a:r>
          </a:p>
        </p:txBody>
      </p:sp>
      <p:sp>
        <p:nvSpPr>
          <p:cNvPr id="42" name="TextBox 41"/>
          <p:cNvSpPr txBox="1"/>
          <p:nvPr/>
        </p:nvSpPr>
        <p:spPr>
          <a:xfrm>
            <a:off x="713232" y="6291072"/>
            <a:ext cx="10881360" cy="237744"/>
          </a:xfrm>
          <a:prstGeom prst="rect">
            <a:avLst/>
          </a:prstGeom>
          <a:noFill/>
        </p:spPr>
        <p:txBody>
          <a:bodyPr wrap="none" lIns="0" rIns="0" tIns="0" bIns="0" anchor="t">
            <a:spAutoFit/>
          </a:bodyPr>
          <a:lstStyle/>
          <a:p>
            <a:pPr algn="l"/>
            <a:r>
              <a:rPr sz="869" b="0">
                <a:solidFill>
                  <a:srgbClr val="8A8494"/>
                </a:solidFill>
                <a:latin typeface="Inter"/>
              </a:rPr>
              <a:t>Proposed VIP capability. Participation and notifications would remain opt-in, club-mediated and subject to platform safety and privacy controls.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2026-10-02T17:58:40.4020000Z</dcterms:created>
  <dcterms:modified xsi:type="dcterms:W3CDTF">2026-10-02T17:58:40.4020000Z</dcterms:modified>
</coreProperties>
</file>