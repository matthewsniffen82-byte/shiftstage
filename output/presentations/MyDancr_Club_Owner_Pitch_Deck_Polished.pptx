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7bdbe907b16418d" /><Relationship Type="http://schemas.openxmlformats.org/officeDocument/2006/relationships/extended-properties" Target="/docProps/app.xml" Id="R3c69f5228ef84bb5" /><Relationship Type="http://schemas.openxmlformats.org/officeDocument/2006/relationships/officeDocument" Target="/ppt/presentation.xml" Id="R926ade3b62b44eff" /></Relationships>
</file>

<file path=ppt/presentation.xml><?xml version="1.0" encoding="utf-8"?>
<p:presentation xmlns:p="http://schemas.openxmlformats.org/presentationml/2006/main">
  <p:sldMasterIdLst>
    <p:sldMasterId xmlns:r="http://schemas.openxmlformats.org/officeDocument/2006/relationships" id="2147483648" r:id="Recf50877d5474cdb"/>
  </p:sldMasterIdLst>
  <p:notesMasterIdLst>
    <p:notesMasterId xmlns:r="http://schemas.openxmlformats.org/officeDocument/2006/relationships" r:id="R123aa0e382bd4540"/>
  </p:notesMasterIdLst>
  <p:sldIdLst>
    <p:sldId xmlns:r="http://schemas.openxmlformats.org/officeDocument/2006/relationships" id="256" r:id="Rcdc4c7f80389469b"/>
    <p:sldId xmlns:r="http://schemas.openxmlformats.org/officeDocument/2006/relationships" id="257" r:id="Ra1564027c5284b03"/>
    <p:sldId xmlns:r="http://schemas.openxmlformats.org/officeDocument/2006/relationships" id="258" r:id="Rd90bc2d505a64a49"/>
    <p:sldId xmlns:r="http://schemas.openxmlformats.org/officeDocument/2006/relationships" id="259" r:id="R5bae396f03bc409e"/>
    <p:sldId xmlns:r="http://schemas.openxmlformats.org/officeDocument/2006/relationships" id="260" r:id="R4d7c76bca6a14f82"/>
    <p:sldId xmlns:r="http://schemas.openxmlformats.org/officeDocument/2006/relationships" id="261" r:id="R96daf375a45148b3"/>
    <p:sldId xmlns:r="http://schemas.openxmlformats.org/officeDocument/2006/relationships" id="262" r:id="Rf0d2737cb3154a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9766bac329488e" /><Relationship Type="http://schemas.openxmlformats.org/officeDocument/2006/relationships/slideMaster" Target="/ppt/slideMasters/slideMaster1.xml" Id="Recf50877d5474cdb" /><Relationship Type="http://schemas.openxmlformats.org/officeDocument/2006/relationships/notesMaster" Target="/ppt/notesMasters/notesMaster1.xml" Id="R123aa0e382bd4540" /><Relationship Type="http://schemas.openxmlformats.org/officeDocument/2006/relationships/presProps" Target="/ppt/presProps.xml" Id="R5aacd3e3e46d41c3" /><Relationship Type="http://schemas.openxmlformats.org/officeDocument/2006/relationships/tableStyles" Target="/ppt/tableStyles.xml" Id="Rc07cf53b754e4047" /><Relationship Type="http://schemas.openxmlformats.org/officeDocument/2006/relationships/slide" Target="/ppt/slides/slide1.xml" Id="Rcdc4c7f80389469b" /><Relationship Type="http://schemas.openxmlformats.org/officeDocument/2006/relationships/slide" Target="/ppt/slides/slide2.xml" Id="Ra1564027c5284b03" /><Relationship Type="http://schemas.openxmlformats.org/officeDocument/2006/relationships/slide" Target="/ppt/slides/slide3.xml" Id="Rd90bc2d505a64a49" /><Relationship Type="http://schemas.openxmlformats.org/officeDocument/2006/relationships/slide" Target="/ppt/slides/slide4.xml" Id="R5bae396f03bc409e" /><Relationship Type="http://schemas.openxmlformats.org/officeDocument/2006/relationships/slide" Target="/ppt/slides/slide5.xml" Id="R4d7c76bca6a14f82" /><Relationship Type="http://schemas.openxmlformats.org/officeDocument/2006/relationships/slide" Target="/ppt/slides/slide6.xml" Id="R96daf375a45148b3" /><Relationship Type="http://schemas.openxmlformats.org/officeDocument/2006/relationships/slide" Target="/ppt/slides/slide7.xml" Id="Rf0d2737cb3154a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da8743e55143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ea4581a4144cce" /><Relationship Type="http://schemas.openxmlformats.org/officeDocument/2006/relationships/notesMaster" Target="/ppt/notesMasters/notesMaster1.xml" Id="Rae76ec441a0844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22f565228241ae" /><Relationship Type="http://schemas.openxmlformats.org/officeDocument/2006/relationships/notesMaster" Target="/ppt/notesMasters/notesMaster1.xml" Id="Rdaab48a4c6e043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586d13978d4c0e" /><Relationship Type="http://schemas.openxmlformats.org/officeDocument/2006/relationships/notesMaster" Target="/ppt/notesMasters/notesMaster1.xml" Id="R2fcbb82eec8b4e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df636640144a7" /><Relationship Type="http://schemas.openxmlformats.org/officeDocument/2006/relationships/notesMaster" Target="/ppt/notesMasters/notesMaster1.xml" Id="Rd53456c6d2bb4d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5e958f47ff4404" /><Relationship Type="http://schemas.openxmlformats.org/officeDocument/2006/relationships/notesMaster" Target="/ppt/notesMasters/notesMaster1.xml" Id="R39fb03e0f60340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c40aba156d4204" /><Relationship Type="http://schemas.openxmlformats.org/officeDocument/2006/relationships/notesMaster" Target="/ppt/notesMasters/notesMaster1.xml" Id="Rc89c170646064b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957f46fb1b4311" /><Relationship Type="http://schemas.openxmlformats.org/officeDocument/2006/relationships/notesMaster" Target="/ppt/notesMasters/notesMaster1.xml" Id="Ree4c19e629e847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provides public discovery and guest actions alongside venue-scoped operational tools and reporting. This presentation contains seven slides. Product screens use fictional demo venues and profiles. The analytics examples are invented for illustration and are not operating results or promises of financial return. Corporate comparison is a management reporting example; do not present a consolidated corporate dashboard or a single-login multi-venue switcher as an implemented feature.</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D:\Codex\MyDancr-clean-2026-09-11\app\dashboard\VenueDashboardPanels.tsx</a:t>
            </a:r>
          </a:p>
          <a:p xmlns:a="http://schemas.openxmlformats.org/drawingml/2006/main">
            <a:r>
              <a:t>D:\Codex\MyDancr-clean-2026-09-11\src\lib\dancr\venue-access.ts</a:t>
            </a:r>
          </a:p>
          <a:p xmlns:a="http://schemas.openxmlformats.org/drawingml/2006/main">
            <a:r>
              <a:t>D:\Codex\MyDancr-clean-2026-09-11\public\dancr-brand-tokens.v1.css</a:t>
            </a:r>
          </a:p>
          <a:p xmlns:a="http://schemas.openxmlformats.org/drawingml/2006/main">
            <a:r>
              <a:t>D:\Codex\MyDancr-clean-2026-09-11\outputs\dancr-hero.png</a:t>
            </a:r>
          </a:p>
          <a:p xmlns:a="http://schemas.openxmlformats.org/drawingml/2006/main">
            <a:r>
              <a:t>D:\Codex\MyDancr-clean-2026-09-11\outputs\mydancr-logo-current.png</a:t>
            </a:r>
          </a:p>
          <a:p xmlns:a="http://schemas.openxmlformats.org/drawingml/2006/main">
            <a:r>
              <a:t/>
            </a:r>
          </a:p>
          <a:p xmlns:a="http://schemas.openxmlformats.org/drawingml/2006/main">
            <a:r>
              <a:t>The cover artwork is conceptual and was generated with the built-in image generation tool. It does not depict an actual customer venue. Asset: output/presentations/assets/polished-deck/lounge-cover.png. Prompt: output/presentations/assets/polished-deck/cover-prompt.txt. The seven-slide presentation uses illustrative reporting data throughout. No revenue, ROI, adoption or live operating results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demo capture, not live business performance; details of styling may differ from the current app. Free Entry includes independent arrival-method, transport and guest-list paths. Guest-list submission sends contact information to the venue and issues an entry pass. Pickup availability depends on the club. A saved I’m Going choice is intent, not a confirmed arrival. Following and saved offers are customer features; do not promise guaranteed repeat visits.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D:\Codex\MyDancr-clean-2026-09-11\src\live-shell\app\02-venue-interactions.js</a:t>
            </a:r>
          </a:p>
          <a:p xmlns:a="http://schemas.openxmlformats.org/drawingml/2006/main">
            <a:r>
              <a:t>D:\Codex\MyDancr-clean-2026-09-11\app\dashboard\CustomerDashboardPanels.tsx</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D:\Codex\MyDancr-clean-2026-09-11\tmp\aesthetic-review\clubs-mobile.png</a:t>
            </a:r>
          </a:p>
          <a:p xmlns:a="http://schemas.openxmlformats.org/drawingml/2006/main">
            <a:r>
              <a:t/>
            </a:r>
          </a:p>
          <a:p xmlns:a="http://schemas.openxmlformats.org/drawingml/2006/main">
            <a:r>
              <a:t>Measurement detail: venue reporting separates actions by venue scroll card, venue detail page, dancer profile and MyDancr TV. It tracks directions, offer and transport clicks, planned visits, claims and admissions. TV reporting includes impressions, engaged views, completions, completion rate, shares and club/profile clicks. Repeat video events count once per browser and day. A club-page click can attribute subsequent venue actions for 30 minutes in that browser; a new pass keeps video credit through admission. These are attribution rules, not proof of incremental sales. Source: 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 fictional demo table roster. NFC check-in sets working status and dancers choose internal and external visibility. Guests browse full profiles and send table requests. Staff coordinate requests and confirm availability. A request does not guarantee a booking or assignment.</a:t>
            </a:r>
          </a:p>
          <a:p xmlns:a="http://schemas.openxmlformats.org/drawingml/2006/main">
            <a:r>
              <a:t/>
            </a:r>
          </a:p>
          <a:p xmlns:a="http://schemas.openxmlformats.org/drawingml/2006/main">
            <a:r>
              <a:t>Product source references:</a:t>
            </a:r>
          </a:p>
          <a:p xmlns:a="http://schemas.openxmlformats.org/drawingml/2006/main">
            <a:r>
              <a:t>D:\Codex\MyDancr-clean-2026-09-11\app\internal\InternalRoster.tsx</a:t>
            </a:r>
          </a:p>
          <a:p xmlns:a="http://schemas.openxmlformats.org/drawingml/2006/main">
            <a:r>
              <a:t>D:\Codex\MyDancr-clean-2026-09-11\app\dashboard\VenueNfcTagPanel.tsx</a:t>
            </a:r>
          </a:p>
          <a:p xmlns:a="http://schemas.openxmlformats.org/drawingml/2006/main">
            <a:r>
              <a:t>D:\Codex\MyDancr-clean-2026-09-11\app\dashboard\VenueDashboardPanels.tsx</a:t>
            </a:r>
          </a:p>
          <a:p xmlns:a="http://schemas.openxmlformats.org/drawingml/2006/main">
            <a:r>
              <a:t>D:\Codex\MyDancr-clean-2026-09-11\.qa\internal-brightness\live-desktop.png</a:t>
            </a:r>
          </a:p>
          <a:p xmlns:a="http://schemas.openxmlformats.org/drawingml/2006/main">
            <a:r>
              <a:t/>
            </a:r>
          </a:p>
          <a:p xmlns:a="http://schemas.openxmlformats.org/drawingml/2006/main">
            <a:r>
              <a:t>Request state detail: a new request is pending; staff acknowledgment marks it seen; completion closes it. Dismissal is a cancellation. The guest can cancel pending or acknowledged requests. Internal roster/profile views use the same dancer identity and media, with table request controls. A request identifies the table but is not a guaranteed booking or assignment. Source: app/internal/InternalRoster.tsx, including REQUEST_STATUS_LABELS and request_status mutations.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capabilities come from the existing deck and the current venue dashboard. Pickup service depends on the club. Owner, manager and staff permissions differ. MyDancr prepares the club page and manages Club Deals; venue users review their page and request changes. This slide makes no claim of a corporate multi-venue dashboard.</a:t>
            </a:r>
          </a:p>
          <a:p xmlns:a="http://schemas.openxmlformats.org/drawingml/2006/main">
            <a:r>
              <a:t/>
            </a:r>
          </a:p>
          <a:p xmlns:a="http://schemas.openxmlformats.org/drawingml/2006/main">
            <a:r>
              <a:t>Product source references:</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D:\Codex\MyDancr-clean-2026-09-11\app\dashboard\VenueTeamPanel.tsx</a:t>
            </a:r>
          </a:p>
          <a:p xmlns:a="http://schemas.openxmlformats.org/drawingml/2006/main">
            <a:r>
              <a:t>D:\Codex\MyDancr-clean-2026-09-11\app\dashboard\VenueDashboardPanels.tsx</a:t>
            </a:r>
          </a:p>
          <a:p xmlns:a="http://schemas.openxmlformats.org/drawingml/2006/main">
            <a:r>
              <a:t>D:\Codex\MyDancr-clean-2026-09-11\src\lib\dancr\venue-access.ts</a:t>
            </a:r>
          </a:p>
          <a:p xmlns:a="http://schemas.openxmlformats.org/drawingml/2006/main">
            <a:r>
              <a:t/>
            </a:r>
          </a:p>
          <a:p xmlns:a="http://schemas.openxmlformats.org/drawingml/2006/main">
            <a:r>
              <a:t>The permission matrix is a selected subset of the implemented access model, not an exhaustive list. Owner and manager can manage_profile and manage_roster and view_finance. Only the owner can manage_team. Staff can view_analytics, view_roster, view_nfc, view_deals and request_nfc_support, but cannot manage the venue profile, roster or team. Source reviewed October 2, 2026: src/lib/dancr/venue-access.ts, ROLE_PERMISSIONS. These permissions do not establish employment roles or responsibilities outside the 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illustrative. Current: claims 480, confirmed pass uses 312, pickups 96, impressions 18,400, unique browsers 4,200, directions 640, new followers 185. Previous 30 days: claims 400, pass uses 240, pickups 80. Changes are (current / previous - 1): 20%, 30%, 20%. Conversion is cohort redemptions / passes claimed = 312 / 480 = 65%; the example deliberately assumes period admissions and cohort redemptions coincide. Real data can differ. The product supports Tonight, 7 days and 30 days; this slide uses an illustrative closed 30-day report, not an existing custom-date picker. Current per-club reports include customer actions by source, activity tied to individual dancers, and attributed TV video activity. Cost per admission is unavailable until subscription cost for the same period is connected. No revenue or ROI estimate is presented.</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D:\Codex\MyDancr-clean-2026-09-11\src\lib\dancr\venue.ts</a:t>
            </a:r>
          </a:p>
          <a:p xmlns:a="http://schemas.openxmlformats.org/drawingml/2006/main">
            <a:r>
              <a:t/>
            </a:r>
          </a:p>
          <a:p xmlns:a="http://schemas.openxmlformats.org/drawingml/2006/main">
            <a:r>
              <a:t>Additional derived comparison: prior claim-to-use rate = 240 / 400 = 60%; current = 312 / 480 = 65%; the change is +5 percentage points, not +5%. Every figure remains illustrative. The native chart and its source workbook retain the original 400/480 claims, 240/312 pass uses and 80/96 pickups. Audience counts are 18,400 card impressions, 4,200 unique browsers, 640 direction opens and 185 new followers. Reporting source: app/dashboard/VenueValueAnalytics.tsx and src/lib/dancr/venue-analytics.ts.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figure is invented for demonstration. Pass claims sum to 1,240; confirmed pass uses sum to 784; pickups sum to 228; new followers sum to 455. Group conversion is the weighted ratio 784 / 1,240 = 63.2258%, shown as 63.2%, not the unweighted average of venue percentages. As on slide 5, each venue assumes the same-period confirmed pass uses belong to that period’s claims. New follower totals are venue follows, not deduplicated group customers. Suggested management questions are hypotheses for review, not causal conclusions or guaranteed performance gains. The current application resolves access per venue; the comparison shown here is an illustrative assembled report and does not claim an implemented corporate roll-up dashboard, portfolio login or automatic consolidated export. Use common reporting windows, local operating context and consistent metric definitions when comparing locations.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D:\Codex\MyDancr-clean-2026-09-11\src\lib\dancr\venue-access.ts</a:t>
            </a:r>
          </a:p>
          <a:p xmlns:a="http://schemas.openxmlformats.org/drawingml/2006/main">
            <a:r>
              <a:t/>
            </a:r>
          </a:p>
          <a:p xmlns:a="http://schemas.openxmlformats.org/drawingml/2006/main">
            <a:r>
              <a:t>Rich comparison detail: Club A contributes 312/784 = 39.8% of group pass uses, Club B 28.1%, Club C 32.1%. The spread between the highest and lowest pass-use rates is 70% - 55% = 15 percentage points. The +40 scenario assumes Club B increases from 55% to 65% on the same 400 claims, giving 260 uses versus 220. This is a transparent hypothetical calculation, not a causal prediction or promise. All underlying venue and group figures remain illustrative. The group rate is the weighted total 784/1,240, not a simple average of venue rates. New followers are venue follows, not deduplicated group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pilot discussion, not a committed offer or implementation timetable. Agree scope, responsibilities and commercial terms separately. Do not promise a specific financial result. Review each venue with consistent reporting periods and the metric definitions shown on slides 5 and 6.</a:t>
            </a:r>
          </a:p>
          <a:p xmlns:a="http://schemas.openxmlformats.org/drawingml/2006/main">
            <a:r>
              <a:t/>
            </a:r>
          </a:p>
          <a:p xmlns:a="http://schemas.openxmlformats.org/drawingml/2006/main">
            <a:r>
              <a:t>The pilot scorecard is a proposed management review plan, not a claim that the application currently provides a consolidated pilot scorecard or automatic repeat-customer reporting. Existing tools provide venue actions, claims, pass use, pickups, new followers and operational request states. Review repeat engagement and staff feedback separately as appropriate. Agree the duration, success criteria and commercial terms with the venue. No fixed launch timetable, pricing or performance guarantee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5059950aa940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02c0bdf7da43a1" /><Relationship Type="http://schemas.openxmlformats.org/officeDocument/2006/relationships/slideLayout" Target="/ppt/slideLayouts/slideLayout1.xml" Id="Rbf8a030e849648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8a030e849648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956088268e47df" /><Relationship Type="http://schemas.openxmlformats.org/officeDocument/2006/relationships/image" Target="/ppt/media/image.png" Id="R8a34ea31382b44e1" /><Relationship Type="http://schemas.openxmlformats.org/officeDocument/2006/relationships/image" Target="/ppt/media/image2.png" Id="R500393d5dd6a484b" /><Relationship Type="http://schemas.openxmlformats.org/officeDocument/2006/relationships/notesSlide" Target="/ppt/notesSlides/notesSlide1.xml" Id="R73c640ef042640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f871fc71714704" /><Relationship Type="http://schemas.openxmlformats.org/officeDocument/2006/relationships/image" Target="/ppt/media/image3.png" Id="Re01dadf63f1a42ba" /><Relationship Type="http://schemas.openxmlformats.org/officeDocument/2006/relationships/notesSlide" Target="/ppt/notesSlides/notesSlide2.xml" Id="Rbfe95dcb43844c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25167dd0994d8f" /><Relationship Type="http://schemas.openxmlformats.org/officeDocument/2006/relationships/image" Target="/ppt/media/image4.png" Id="R6458d1b9671c4035" /><Relationship Type="http://schemas.openxmlformats.org/officeDocument/2006/relationships/notesSlide" Target="/ppt/notesSlides/notesSlide3.xml" Id="R25945ed66ab04a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5df24804c545f2" /><Relationship Type="http://schemas.openxmlformats.org/officeDocument/2006/relationships/notesSlide" Target="/ppt/notesSlides/notesSlide4.xml" Id="R4034d4edc34341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4589a9181c47bb" /><Relationship Type="http://schemas.openxmlformats.org/officeDocument/2006/relationships/chart" Target="/ppt/slides/charts/chart1.xml" Id="R90349a31afba4956" /><Relationship Type="http://schemas.openxmlformats.org/officeDocument/2006/relationships/notesSlide" Target="/ppt/notesSlides/notesSlide5.xml" Id="R5a8cdbb473244d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2141c980714a2a" /><Relationship Type="http://schemas.openxmlformats.org/officeDocument/2006/relationships/notesSlide" Target="/ppt/notesSlides/notesSlide6.xml" Id="R476a7d4e076449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3a8e01c8b646e7" /><Relationship Type="http://schemas.openxmlformats.org/officeDocument/2006/relationships/notesSlide" Target="/ppt/notesSlides/notesSlide7.xml" Id="Rcce0e4b49a41414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Previous 30 days</c:v>
          </c:tx>
          <c:spPr>
            <a:solidFill xmlns:a="http://schemas.openxmlformats.org/drawingml/2006/main">
              <a:srgbClr val="67557C"/>
            </a:solidFill>
          </c:spPr>
          <c:cat>
            <c:strRef>
              <c:f>'Chart Data'!$A$2:$A$4</c:f>
              <c:strCache>
                <c:ptCount val="3"/>
                <c:pt idx="0">
                  <c:v>Pass claims</c:v>
                </c:pt>
                <c:pt idx="1">
                  <c:v>QR pass uses</c:v>
                </c:pt>
                <c:pt idx="2">
                  <c:v>Pickup requests</c:v>
                </c:pt>
              </c:strCache>
            </c:strRef>
          </c:cat>
          <c:val>
            <c:numRef>
              <c:f>'Chart Data'!$B$2:$B$4</c:f>
              <c:numCache>
                <c:formatCode>General</c:formatCode>
                <c:ptCount val="3"/>
                <c:pt idx="0">
                  <c:v>400</c:v>
                </c:pt>
                <c:pt idx="1">
                  <c:v>240</c:v>
                </c:pt>
                <c:pt idx="2">
                  <c:v>80</c:v>
                </c:pt>
              </c:numCache>
            </c:numRef>
          </c:val>
        </c:ser>
        <c:ser>
          <c:idx val="1"/>
          <c:order val="1"/>
          <c:tx>
            <c:v>September</c:v>
          </c:tx>
          <c:spPr>
            <a:solidFill xmlns:a="http://schemas.openxmlformats.org/drawingml/2006/main">
              <a:srgbClr val="B88AFF"/>
            </a:solidFill>
          </c:spPr>
          <c:cat>
            <c:strRef>
              <c:f>'Chart Data'!$C$2:$C$4</c:f>
              <c:strCache>
                <c:ptCount val="3"/>
                <c:pt idx="0">
                  <c:v>Pass claims</c:v>
                </c:pt>
                <c:pt idx="1">
                  <c:v>QR pass uses</c:v>
                </c:pt>
                <c:pt idx="2">
                  <c:v>Pickup requests</c:v>
                </c:pt>
              </c:strCache>
            </c:strRef>
          </c:cat>
          <c:val>
            <c:numRef>
              <c:f>'Chart Data'!$D$2:$D$4</c:f>
              <c:numCache>
                <c:formatCode>General</c:formatCode>
                <c:ptCount val="3"/>
                <c:pt idx="0">
                  <c:v>480</c:v>
                </c:pt>
                <c:pt idx="1">
                  <c:v>312</c:v>
                </c:pt>
                <c:pt idx="2">
                  <c:v>96</c:v>
                </c:pt>
              </c:numCache>
            </c:numRef>
          </c:val>
        </c:ser>
        <c:dLbls>
          <c:txPr>
            <a:bodyPr xmlns:a="http://schemas.openxmlformats.org/drawingml/2006/main" anchorCtr="1"/>
            <a:lstStyle xmlns:a="http://schemas.openxmlformats.org/drawingml/2006/main"/>
            <a:p xmlns:a="http://schemas.openxmlformats.org/drawingml/2006/main">
              <a:pPr>
                <a:defRPr sz="1200">
                  <a:solidFill>
                    <a:srgbClr val="FAF8FF"/>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44365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C6C1D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FAF8FF"/>
                </a:solidFill>
                <a:latin typeface="Arial"/>
                <a:ea typeface="Arial"/>
                <a:cs typeface="Arial"/>
              </a:defRPr>
            </a:pPr>
          </a:p>
        </c:txPr>
        <c:crossAx val="48650112"/>
        <c:crossBetween val="between"/>
      </c:valAx>
      <c:spPr>
        <a:solidFill xmlns:a="http://schemas.openxmlformats.org/drawingml/2006/main">
          <a:srgbClr val="09070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C6C1D1"/>
              </a:solidFill>
              <a:latin typeface="Arial"/>
              <a:ea typeface="Arial"/>
              <a:cs typeface="Arial"/>
            </a:defRPr>
          </a:pPr>
        </a:p>
      </c:txPr>
    </c:legend>
    <c:plotVisOnly val="1"/>
  </c:chart>
  <c:spPr>
    <a:solidFill xmlns:a="http://schemas.openxmlformats.org/drawingml/2006/main">
      <a:srgbClr val="09070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a34ea31382b44e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00393d5dd6a484b"/>
          <a:stretch xmlns:a="http://schemas.openxmlformats.org/drawingml/2006/main"/>
        </p:blipFill>
        <p:spPr>
          <a:xfrm xmlns:a="http://schemas.openxmlformats.org/drawingml/2006/main">
            <a:off x="533400" y="468135"/>
            <a:ext cx="2133600" cy="66393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FC0146A-AD0A-42DB-A384-4B7A4B3987D9}"/>
              </a:ext>
            </a:extLst>
          </p:cNvPr>
          <p:cNvSpPr>
            <a:spLocks xmlns:a="http://schemas.openxmlformats.org/drawingml/2006/main" noGrp="1"/>
          </p:cNvSpPr>
          <p:nvPr/>
        </p:nvSpPr>
        <p:spPr>
          <a:xfrm xmlns:a="http://schemas.openxmlformats.org/drawingml/2006/main">
            <a:off x="609600" y="2143125"/>
            <a:ext cx="7334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950" b="1">
                <a:solidFill>
                  <a:srgbClr val="FAF8FF"/>
                </a:solidFill>
                <a:latin typeface="Arial"/>
                <a:ea typeface="Arial"/>
                <a:cs typeface="Arial"/>
              </a:defRPr>
            </a:pPr>
            <a:r>
              <a:rPr sz="4950" b="1">
                <a:solidFill>
                  <a:srgbClr val="FAF8FF"/>
                </a:solidFill>
                <a:latin typeface="Arial"/>
                <a:ea typeface="Arial"/>
                <a:cs typeface="Arial"/>
              </a:rPr>
              <a:t>Guest discovery &amp;</a:t>
            </a:r>
          </a:p>
          <a:p xmlns:a="http://schemas.openxmlformats.org/drawingml/2006/main">
            <a:pPr>
              <a:defRPr sz="4950" b="1">
                <a:solidFill>
                  <a:srgbClr val="FAF8FF"/>
                </a:solidFill>
                <a:latin typeface="Arial"/>
                <a:ea typeface="Arial"/>
                <a:cs typeface="Arial"/>
              </a:defRPr>
            </a:pPr>
            <a:r>
              <a:rPr sz="4950" b="1">
                <a:solidFill>
                  <a:srgbClr val="FAF8FF"/>
                </a:solidFill>
                <a:latin typeface="Arial"/>
                <a:ea typeface="Arial"/>
                <a:cs typeface="Arial"/>
              </a:rPr>
              <a:t>club operations</a:t>
            </a:r>
          </a:p>
        </p:txBody>
      </p:sp>
      <p:sp>
        <p:nvSpPr>
          <p:cNvPr id="4" name="">
            <a:extLst xmlns:a="http://schemas.openxmlformats.org/drawingml/2006/main">
              <a:ext uri="{FF2B5EF4-FFF2-40B4-BE49-F238E27FC236}">
                <a16:creationId xmlns:a16="http://schemas.microsoft.com/office/drawing/2014/main" id="{89F313C1-46DB-45E2-BC97-385339DF3981}"/>
              </a:ext>
            </a:extLst>
          </p:cNvPr>
          <p:cNvSpPr>
            <a:spLocks xmlns:a="http://schemas.openxmlformats.org/drawingml/2006/main" noGrp="1"/>
          </p:cNvSpPr>
          <p:nvPr/>
        </p:nvSpPr>
        <p:spPr>
          <a:xfrm xmlns:a="http://schemas.openxmlformats.org/drawingml/2006/main">
            <a:off x="647700" y="4181475"/>
            <a:ext cx="628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BBB8C9"/>
                </a:solidFill>
                <a:latin typeface="Arial"/>
                <a:ea typeface="Arial"/>
                <a:cs typeface="Arial"/>
              </a:defRPr>
            </a:pPr>
            <a:r>
              <a:rPr sz="2100" b="0">
                <a:solidFill>
                  <a:srgbClr val="BBB8C9"/>
                </a:solidFill>
                <a:latin typeface="Arial"/>
                <a:ea typeface="Arial"/>
                <a:cs typeface="Arial"/>
              </a:rPr>
              <a:t>A connected guest experience for clubs</a:t>
            </a:r>
          </a:p>
          <a:p xmlns:a="http://schemas.openxmlformats.org/drawingml/2006/main">
            <a:pPr>
              <a:defRPr sz="2100" b="0">
                <a:solidFill>
                  <a:srgbClr val="BBB8C9"/>
                </a:solidFill>
                <a:latin typeface="Arial"/>
                <a:ea typeface="Arial"/>
                <a:cs typeface="Arial"/>
              </a:defRPr>
            </a:pPr>
            <a:r>
              <a:rPr sz="2100" b="0">
                <a:solidFill>
                  <a:srgbClr val="BBB8C9"/>
                </a:solidFill>
                <a:latin typeface="Arial"/>
                <a:ea typeface="Arial"/>
                <a:cs typeface="Arial"/>
              </a:rPr>
              <a:t>and venue groups</a:t>
            </a:r>
          </a:p>
        </p:txBody>
      </p:sp>
      <p:sp>
        <p:nvSpPr>
          <p:cNvPr id="5" name="">
            <a:extLst xmlns:a="http://schemas.openxmlformats.org/drawingml/2006/main">
              <a:ext uri="{FF2B5EF4-FFF2-40B4-BE49-F238E27FC236}">
                <a16:creationId xmlns:a16="http://schemas.microsoft.com/office/drawing/2014/main" id="{1BF991D2-F125-45D8-AF86-4A26BE641DAE}"/>
              </a:ext>
            </a:extLst>
          </p:cNvPr>
          <p:cNvSpPr>
            <a:spLocks xmlns:a="http://schemas.openxmlformats.org/drawingml/2006/main" noGrp="1"/>
          </p:cNvSpPr>
          <p:nvPr/>
        </p:nvSpPr>
        <p:spPr>
          <a:xfrm xmlns:a="http://schemas.openxmlformats.org/drawingml/2006/main">
            <a:off x="647700" y="5848350"/>
            <a:ext cx="700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D3C3E9"/>
                </a:solidFill>
                <a:latin typeface="Arial"/>
                <a:ea typeface="Arial"/>
                <a:cs typeface="Arial"/>
              </a:defRPr>
            </a:pPr>
            <a:r>
              <a:rPr sz="1575" b="0">
                <a:solidFill>
                  <a:srgbClr val="D3C3E9"/>
                </a:solidFill>
                <a:latin typeface="Arial"/>
                <a:ea typeface="Arial"/>
                <a:cs typeface="Arial"/>
              </a:rPr>
              <a:t>Public discovery, table requests and venue reporting</a:t>
            </a:r>
          </a:p>
        </p:txBody>
      </p:sp>
      <p:sp>
        <p:nvSpPr>
          <p:cNvPr id="6" name="">
            <a:extLst xmlns:a="http://schemas.openxmlformats.org/drawingml/2006/main">
              <a:ext uri="{FF2B5EF4-FFF2-40B4-BE49-F238E27FC236}">
                <a16:creationId xmlns:a16="http://schemas.microsoft.com/office/drawing/2014/main" id="{D114FAE0-2055-4B29-ABC1-BA4CFAC8F878}"/>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B8B0C4"/>
                </a:solidFill>
                <a:latin typeface="Arial"/>
                <a:ea typeface="Arial"/>
                <a:cs typeface="Arial"/>
              </a:defRPr>
            </a:pPr>
            <a:r>
              <a:rPr sz="1125" b="0">
                <a:solidFill>
                  <a:srgbClr val="B8B0C4"/>
                </a:solidFill>
                <a:latin typeface="Arial"/>
                <a:ea typeface="Arial"/>
                <a:cs typeface="Arial"/>
              </a:rPr>
              <a:t>01 / 07</a:t>
            </a:r>
          </a:p>
        </p:txBody>
      </p:sp>
    </p:spTree>
    <p:extLst>
      <p:ext uri="{BB962C8B-B14F-4D97-AF65-F5344CB8AC3E}">
        <p14:creationId xmlns:p14="http://schemas.microsoft.com/office/powerpoint/2010/main" val="1808670197"/>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01dadf63f1a42ba"/>
          <a:stretch xmlns:a="http://schemas.openxmlformats.org/drawingml/2006/main"/>
        </p:blipFill>
        <p:spPr>
          <a:xfrm xmlns:a="http://schemas.openxmlformats.org/drawingml/2006/main">
            <a:off x="8724900" y="790575"/>
            <a:ext cx="2543175" cy="5514975"/>
          </a:xfrm>
          <a:prstGeom xmlns:a="http://schemas.openxmlformats.org/drawingml/2006/main" prst="rect">
            <a:avLst/>
          </a:prstGeom>
        </p:spPr>
      </p:pic>
      <p:sp>
        <p:nvSpPr>
          <p:cNvPr id="14" name="Demo venue label Club D">
            <a:extLst xmlns:a="http://schemas.openxmlformats.org/drawingml/2006/main">
              <a:ext uri="{FF2B5EF4-FFF2-40B4-BE49-F238E27FC236}">
                <a16:creationId xmlns:a16="http://schemas.microsoft.com/office/drawing/2014/main" id="{80269E64-4683-4590-AA51-7124D0058E89}"/>
              </a:ext>
            </a:extLst>
          </p:cNvPr>
          <p:cNvSpPr>
            <a:spLocks xmlns:a="http://schemas.openxmlformats.org/drawingml/2006/main" noGrp="1"/>
          </p:cNvSpPr>
          <p:nvPr/>
        </p:nvSpPr>
        <p:spPr>
          <a:xfrm xmlns:a="http://schemas.openxmlformats.org/drawingml/2006/main">
            <a:off x="9812095" y="1444376"/>
            <a:ext cx="750620" cy="129467"/>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78" b="1">
                <a:solidFill>
                  <a:srgbClr val="FFFFFF"/>
                </a:solidFill>
                <a:latin typeface="Arial"/>
                <a:ea typeface="Arial"/>
                <a:cs typeface="Arial"/>
              </a:defRPr>
            </a:pPr>
            <a:r>
              <a:rPr sz="713" b="1">
                <a:solidFill>
                  <a:srgbClr val="FFFFFF"/>
                </a:solidFill>
                <a:latin typeface="Arial"/>
                <a:ea typeface="Arial"/>
                <a:cs typeface="Arial"/>
              </a:rPr>
              <a:t>CLUB D</a:t>
            </a:r>
          </a:p>
        </p:txBody>
      </p:sp>
      <p:sp>
        <p:nvSpPr>
          <p:cNvPr id="15" name="Demo venue label Club A">
            <a:extLst xmlns:a="http://schemas.openxmlformats.org/drawingml/2006/main">
              <a:ext uri="{FF2B5EF4-FFF2-40B4-BE49-F238E27FC236}">
                <a16:creationId xmlns:a16="http://schemas.microsoft.com/office/drawing/2014/main" id="{00C00396-70F0-4982-A01A-5EC00F74D0B4}"/>
              </a:ext>
            </a:extLst>
          </p:cNvPr>
          <p:cNvSpPr>
            <a:spLocks xmlns:a="http://schemas.openxmlformats.org/drawingml/2006/main" noGrp="1"/>
          </p:cNvSpPr>
          <p:nvPr/>
        </p:nvSpPr>
        <p:spPr>
          <a:xfrm xmlns:a="http://schemas.openxmlformats.org/drawingml/2006/main">
            <a:off x="9812095" y="3496323"/>
            <a:ext cx="757086" cy="135934"/>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19" b="1">
                <a:solidFill>
                  <a:srgbClr val="FFFFFF"/>
                </a:solidFill>
                <a:latin typeface="Arial"/>
                <a:ea typeface="Arial"/>
                <a:cs typeface="Arial"/>
              </a:defRPr>
            </a:pPr>
            <a:r>
              <a:rPr sz="764" b="1">
                <a:solidFill>
                  <a:srgbClr val="FFFFFF"/>
                </a:solidFill>
                <a:latin typeface="Arial"/>
                <a:ea typeface="Arial"/>
                <a:cs typeface="Arial"/>
              </a:rPr>
              <a:t>CLUB A</a:t>
            </a:r>
          </a:p>
        </p:txBody>
      </p:sp>
      <p:sp>
        <p:nvSpPr>
          <p:cNvPr id="16" name="Demo venue label Club E">
            <a:extLst xmlns:a="http://schemas.openxmlformats.org/drawingml/2006/main">
              <a:ext uri="{FF2B5EF4-FFF2-40B4-BE49-F238E27FC236}">
                <a16:creationId xmlns:a16="http://schemas.microsoft.com/office/drawing/2014/main" id="{326192C6-BC80-4229-82D8-903727AEC660}"/>
              </a:ext>
            </a:extLst>
          </p:cNvPr>
          <p:cNvSpPr>
            <a:spLocks xmlns:a="http://schemas.openxmlformats.org/drawingml/2006/main" noGrp="1"/>
          </p:cNvSpPr>
          <p:nvPr/>
        </p:nvSpPr>
        <p:spPr>
          <a:xfrm xmlns:a="http://schemas.openxmlformats.org/drawingml/2006/main">
            <a:off x="9812095" y="5567672"/>
            <a:ext cx="776601" cy="129467"/>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78" b="1">
                <a:solidFill>
                  <a:srgbClr val="FFFFFF"/>
                </a:solidFill>
                <a:latin typeface="Arial"/>
                <a:ea typeface="Arial"/>
                <a:cs typeface="Arial"/>
              </a:defRPr>
            </a:pPr>
            <a:r>
              <a:rPr sz="713" b="1">
                <a:solidFill>
                  <a:srgbClr val="FFFFFF"/>
                </a:solidFill>
                <a:latin typeface="Arial"/>
                <a:ea typeface="Arial"/>
                <a:cs typeface="Arial"/>
              </a:rPr>
              <a:t>CLUB E</a:t>
            </a:r>
          </a:p>
        </p:txBody>
      </p:sp>
      <p:sp>
        <p:nvSpPr>
          <p:cNvPr id="18" name="">
            <a:extLst xmlns:a="http://schemas.openxmlformats.org/drawingml/2006/main">
              <a:ext uri="{FF2B5EF4-FFF2-40B4-BE49-F238E27FC236}">
                <a16:creationId xmlns:a16="http://schemas.microsoft.com/office/drawing/2014/main" id="{2063C553-80A1-48C3-BF12-1C9E41AFC9C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The guest journey</a:t>
            </a:r>
          </a:p>
        </p:txBody>
      </p:sp>
      <p:sp>
        <p:nvSpPr>
          <p:cNvPr id="19" name="">
            <a:extLst xmlns:a="http://schemas.openxmlformats.org/drawingml/2006/main">
              <a:ext uri="{FF2B5EF4-FFF2-40B4-BE49-F238E27FC236}">
                <a16:creationId xmlns:a16="http://schemas.microsoft.com/office/drawing/2014/main" id="{F489CC52-F687-4BE4-82C6-F8F44B19DD99}"/>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Discovery, entry and an ongoing connection to the club</a:t>
            </a:r>
          </a:p>
        </p:txBody>
      </p:sp>
      <p:sp>
        <p:nvSpPr>
          <p:cNvPr id="20" name="">
            <a:extLst xmlns:a="http://schemas.openxmlformats.org/drawingml/2006/main">
              <a:ext uri="{FF2B5EF4-FFF2-40B4-BE49-F238E27FC236}">
                <a16:creationId xmlns:a16="http://schemas.microsoft.com/office/drawing/2014/main" id="{18E514AF-14DE-4D2B-ABD9-27EB0C1DF155}"/>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1" name="">
            <a:extLst xmlns:a="http://schemas.openxmlformats.org/drawingml/2006/main">
              <a:ext uri="{FF2B5EF4-FFF2-40B4-BE49-F238E27FC236}">
                <a16:creationId xmlns:a16="http://schemas.microsoft.com/office/drawing/2014/main" id="{8FF04AD3-0351-4543-B11F-4080046BFA4D}"/>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02 / 07</a:t>
            </a:r>
          </a:p>
        </p:txBody>
      </p:sp>
      <p:sp>
        <p:nvSpPr>
          <p:cNvPr id="22" name="">
            <a:extLst xmlns:a="http://schemas.openxmlformats.org/drawingml/2006/main">
              <a:ext uri="{FF2B5EF4-FFF2-40B4-BE49-F238E27FC236}">
                <a16:creationId xmlns:a16="http://schemas.microsoft.com/office/drawing/2014/main" id="{B44F6927-12A2-4989-92F6-7E482C2B8921}"/>
              </a:ext>
            </a:extLst>
          </p:cNvPr>
          <p:cNvSpPr>
            <a:spLocks xmlns:a="http://schemas.openxmlformats.org/drawingml/2006/main" noGrp="1"/>
          </p:cNvSpPr>
          <p:nvPr/>
        </p:nvSpPr>
        <p:spPr>
          <a:xfrm xmlns:a="http://schemas.openxmlformats.org/drawingml/2006/main">
            <a:off x="609600" y="1962150"/>
            <a:ext cx="7105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Discovery before the visit</a:t>
            </a:r>
          </a:p>
        </p:txBody>
      </p:sp>
      <p:sp>
        <p:nvSpPr>
          <p:cNvPr id="23" name="">
            <a:extLst xmlns:a="http://schemas.openxmlformats.org/drawingml/2006/main">
              <a:ext uri="{FF2B5EF4-FFF2-40B4-BE49-F238E27FC236}">
                <a16:creationId xmlns:a16="http://schemas.microsoft.com/office/drawing/2014/main" id="{C25CCD2F-41E5-42CF-86A4-C5485B90E854}"/>
              </a:ext>
            </a:extLst>
          </p:cNvPr>
          <p:cNvSpPr>
            <a:spLocks xmlns:a="http://schemas.openxmlformats.org/drawingml/2006/main" noGrp="1"/>
          </p:cNvSpPr>
          <p:nvPr/>
        </p:nvSpPr>
        <p:spPr>
          <a:xfrm xmlns:a="http://schemas.openxmlformats.org/drawingml/2006/main">
            <a:off x="609600" y="2390775"/>
            <a:ext cx="710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City search, dancer profiles and schedules help</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choose a club. MyDancr TV adds video discovery.</a:t>
            </a:r>
          </a:p>
        </p:txBody>
      </p:sp>
      <p:sp>
        <p:nvSpPr>
          <p:cNvPr id="24" name="">
            <a:extLst xmlns:a="http://schemas.openxmlformats.org/drawingml/2006/main">
              <a:ext uri="{FF2B5EF4-FFF2-40B4-BE49-F238E27FC236}">
                <a16:creationId xmlns:a16="http://schemas.microsoft.com/office/drawing/2014/main" id="{36DC4DD8-E0A2-4C25-ACC5-F1253D3316E5}"/>
              </a:ext>
            </a:extLst>
          </p:cNvPr>
          <p:cNvSpPr>
            <a:spLocks xmlns:a="http://schemas.openxmlformats.org/drawingml/2006/main" noGrp="1"/>
          </p:cNvSpPr>
          <p:nvPr/>
        </p:nvSpPr>
        <p:spPr>
          <a:xfrm xmlns:a="http://schemas.openxmlformats.org/drawingml/2006/main">
            <a:off x="609600" y="3381375"/>
            <a:ext cx="7105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 clear arrival path</a:t>
            </a:r>
          </a:p>
        </p:txBody>
      </p:sp>
      <p:sp>
        <p:nvSpPr>
          <p:cNvPr id="25" name="">
            <a:extLst xmlns:a="http://schemas.openxmlformats.org/drawingml/2006/main">
              <a:ext uri="{FF2B5EF4-FFF2-40B4-BE49-F238E27FC236}">
                <a16:creationId xmlns:a16="http://schemas.microsoft.com/office/drawing/2014/main" id="{05B4DEB3-BCFF-4F7C-A00B-C1C2C974B98D}"/>
              </a:ext>
            </a:extLst>
          </p:cNvPr>
          <p:cNvSpPr>
            <a:spLocks xmlns:a="http://schemas.openxmlformats.org/drawingml/2006/main" noGrp="1"/>
          </p:cNvSpPr>
          <p:nvPr/>
        </p:nvSpPr>
        <p:spPr>
          <a:xfrm xmlns:a="http://schemas.openxmlformats.org/drawingml/2006/main">
            <a:off x="609600" y="3810000"/>
            <a:ext cx="710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choose an offer, claim an entry pass or submit</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guest-list details. Club pickup is available where offered.</a:t>
            </a:r>
          </a:p>
        </p:txBody>
      </p:sp>
      <p:sp>
        <p:nvSpPr>
          <p:cNvPr id="26" name="">
            <a:extLst xmlns:a="http://schemas.openxmlformats.org/drawingml/2006/main">
              <a:ext uri="{FF2B5EF4-FFF2-40B4-BE49-F238E27FC236}">
                <a16:creationId xmlns:a16="http://schemas.microsoft.com/office/drawing/2014/main" id="{BF39D254-1510-49DD-BF78-55DB5E92B4C5}"/>
              </a:ext>
            </a:extLst>
          </p:cNvPr>
          <p:cNvSpPr>
            <a:spLocks xmlns:a="http://schemas.openxmlformats.org/drawingml/2006/main" noGrp="1"/>
          </p:cNvSpPr>
          <p:nvPr/>
        </p:nvSpPr>
        <p:spPr>
          <a:xfrm xmlns:a="http://schemas.openxmlformats.org/drawingml/2006/main">
            <a:off x="609600" y="4800600"/>
            <a:ext cx="7105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 reason to return</a:t>
            </a:r>
          </a:p>
        </p:txBody>
      </p:sp>
      <p:sp>
        <p:nvSpPr>
          <p:cNvPr id="27" name="">
            <a:extLst xmlns:a="http://schemas.openxmlformats.org/drawingml/2006/main">
              <a:ext uri="{FF2B5EF4-FFF2-40B4-BE49-F238E27FC236}">
                <a16:creationId xmlns:a16="http://schemas.microsoft.com/office/drawing/2014/main" id="{B207F8C9-68F9-4A17-B260-8CD4F9525348}"/>
              </a:ext>
            </a:extLst>
          </p:cNvPr>
          <p:cNvSpPr>
            <a:spLocks xmlns:a="http://schemas.openxmlformats.org/drawingml/2006/main" noGrp="1"/>
          </p:cNvSpPr>
          <p:nvPr/>
        </p:nvSpPr>
        <p:spPr>
          <a:xfrm xmlns:a="http://schemas.openxmlformats.org/drawingml/2006/main">
            <a:off x="609600" y="5229225"/>
            <a:ext cx="710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follow clubs and dancers, save offers and</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mark “I’m Going” to signal a planned visit.</a:t>
            </a:r>
          </a:p>
        </p:txBody>
      </p:sp>
    </p:spTree>
    <p:extLst>
      <p:ext uri="{BB962C8B-B14F-4D97-AF65-F5344CB8AC3E}">
        <p14:creationId xmlns:p14="http://schemas.microsoft.com/office/powerpoint/2010/main" val="416010741"/>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58d1b9671c4035"/>
          <a:stretch xmlns:a="http://schemas.openxmlformats.org/drawingml/2006/main"/>
        </p:blipFill>
        <p:spPr>
          <a:xfrm xmlns:a="http://schemas.openxmlformats.org/drawingml/2006/main">
            <a:off x="7229475" y="1571625"/>
            <a:ext cx="4286250" cy="4798600"/>
          </a:xfrm>
          <a:prstGeom xmlns:a="http://schemas.openxmlformats.org/drawingml/2006/main" prst="rect">
            <a:avLst/>
          </a:prstGeom>
        </p:spPr>
      </p:pic>
      <p:sp>
        <p:nvSpPr>
          <p:cNvPr id="17" name="Demo venue label Club A">
            <a:extLst xmlns:a="http://schemas.openxmlformats.org/drawingml/2006/main">
              <a:ext uri="{FF2B5EF4-FFF2-40B4-BE49-F238E27FC236}">
                <a16:creationId xmlns:a16="http://schemas.microsoft.com/office/drawing/2014/main" id="{3E7FC25D-CBC5-4590-8FFD-9A9B51B93E8C}"/>
              </a:ext>
            </a:extLst>
          </p:cNvPr>
          <p:cNvSpPr>
            <a:spLocks xmlns:a="http://schemas.openxmlformats.org/drawingml/2006/main" noGrp="1"/>
          </p:cNvSpPr>
          <p:nvPr/>
        </p:nvSpPr>
        <p:spPr>
          <a:xfrm xmlns:a="http://schemas.openxmlformats.org/drawingml/2006/main">
            <a:off x="7925991" y="1842865"/>
            <a:ext cx="264542" cy="56927"/>
          </a:xfrm>
          <a:prstGeom xmlns:a="http://schemas.openxmlformats.org/drawingml/2006/main" prst="rect">
            <a:avLst/>
          </a:prstGeom>
          <a:solidFill xmlns:a="http://schemas.openxmlformats.org/drawingml/2006/main">
            <a:srgbClr val="09090B"/>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8" b="1">
                <a:solidFill>
                  <a:srgbClr val="FFFFFF"/>
                </a:solidFill>
                <a:latin typeface="Arial"/>
                <a:ea typeface="Arial"/>
                <a:cs typeface="Arial"/>
              </a:defRPr>
            </a:pPr>
            <a:r>
              <a:rPr sz="290" b="1">
                <a:solidFill>
                  <a:srgbClr val="FFFFFF"/>
                </a:solidFill>
                <a:latin typeface="Arial"/>
                <a:ea typeface="Arial"/>
                <a:cs typeface="Arial"/>
              </a:rPr>
              <a:t>CLUB A</a:t>
            </a:r>
          </a:p>
        </p:txBody>
      </p:sp>
      <p:sp>
        <p:nvSpPr>
          <p:cNvPr id="19" name="">
            <a:extLst xmlns:a="http://schemas.openxmlformats.org/drawingml/2006/main">
              <a:ext uri="{FF2B5EF4-FFF2-40B4-BE49-F238E27FC236}">
                <a16:creationId xmlns:a16="http://schemas.microsoft.com/office/drawing/2014/main" id="{4CE78ACD-1180-4990-8C7D-5B81AC5E8D46}"/>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Requests at the table</a:t>
            </a:r>
          </a:p>
        </p:txBody>
      </p:sp>
      <p:sp>
        <p:nvSpPr>
          <p:cNvPr id="20" name="">
            <a:extLst xmlns:a="http://schemas.openxmlformats.org/drawingml/2006/main">
              <a:ext uri="{FF2B5EF4-FFF2-40B4-BE49-F238E27FC236}">
                <a16:creationId xmlns:a16="http://schemas.microsoft.com/office/drawing/2014/main" id="{E73DF958-6FED-4644-BD7A-8229FE9C7B07}"/>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A live roster connected to each table’s QR code</a:t>
            </a:r>
          </a:p>
        </p:txBody>
      </p:sp>
      <p:sp>
        <p:nvSpPr>
          <p:cNvPr id="21" name="">
            <a:extLst xmlns:a="http://schemas.openxmlformats.org/drawingml/2006/main">
              <a:ext uri="{FF2B5EF4-FFF2-40B4-BE49-F238E27FC236}">
                <a16:creationId xmlns:a16="http://schemas.microsoft.com/office/drawing/2014/main" id="{7B82B9F4-92AC-492B-B4CA-B78B0CCD8759}"/>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2" name="">
            <a:extLst xmlns:a="http://schemas.openxmlformats.org/drawingml/2006/main">
              <a:ext uri="{FF2B5EF4-FFF2-40B4-BE49-F238E27FC236}">
                <a16:creationId xmlns:a16="http://schemas.microsoft.com/office/drawing/2014/main" id="{45CFB12B-B8FC-4EE3-AB21-9D3424FA6EE5}"/>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03 / 07</a:t>
            </a:r>
          </a:p>
        </p:txBody>
      </p:sp>
      <p:sp>
        <p:nvSpPr>
          <p:cNvPr id="23" name="">
            <a:extLst xmlns:a="http://schemas.openxmlformats.org/drawingml/2006/main">
              <a:ext uri="{FF2B5EF4-FFF2-40B4-BE49-F238E27FC236}">
                <a16:creationId xmlns:a16="http://schemas.microsoft.com/office/drawing/2014/main" id="{B8E7B5CF-62EC-42B0-B9E2-EC0B87497F96}"/>
              </a:ext>
            </a:extLst>
          </p:cNvPr>
          <p:cNvSpPr>
            <a:spLocks xmlns:a="http://schemas.openxmlformats.org/drawingml/2006/main" noGrp="1"/>
          </p:cNvSpPr>
          <p:nvPr/>
        </p:nvSpPr>
        <p:spPr>
          <a:xfrm xmlns:a="http://schemas.openxmlformats.org/drawingml/2006/main">
            <a:off x="609600" y="19621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Dancers control their visibility</a:t>
            </a:r>
          </a:p>
        </p:txBody>
      </p:sp>
      <p:sp>
        <p:nvSpPr>
          <p:cNvPr id="24" name="">
            <a:extLst xmlns:a="http://schemas.openxmlformats.org/drawingml/2006/main">
              <a:ext uri="{FF2B5EF4-FFF2-40B4-BE49-F238E27FC236}">
                <a16:creationId xmlns:a16="http://schemas.microsoft.com/office/drawing/2014/main" id="{6554B6A3-0222-4743-973D-3C3544A6B101}"/>
              </a:ext>
            </a:extLst>
          </p:cNvPr>
          <p:cNvSpPr>
            <a:spLocks xmlns:a="http://schemas.openxmlformats.org/drawingml/2006/main" noGrp="1"/>
          </p:cNvSpPr>
          <p:nvPr/>
        </p:nvSpPr>
        <p:spPr>
          <a:xfrm xmlns:a="http://schemas.openxmlformats.org/drawingml/2006/main">
            <a:off x="609600" y="2390775"/>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NFC check-in sets working status. Dancers choose</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internal, external or both visibility options.</a:t>
            </a:r>
          </a:p>
        </p:txBody>
      </p:sp>
      <p:sp>
        <p:nvSpPr>
          <p:cNvPr id="25" name="">
            <a:extLst xmlns:a="http://schemas.openxmlformats.org/drawingml/2006/main">
              <a:ext uri="{FF2B5EF4-FFF2-40B4-BE49-F238E27FC236}">
                <a16:creationId xmlns:a16="http://schemas.microsoft.com/office/drawing/2014/main" id="{06E8D6B2-E915-4D00-B184-D9F68BDECE3C}"/>
              </a:ext>
            </a:extLst>
          </p:cNvPr>
          <p:cNvSpPr>
            <a:spLocks xmlns:a="http://schemas.openxmlformats.org/drawingml/2006/main" noGrp="1"/>
          </p:cNvSpPr>
          <p:nvPr/>
        </p:nvSpPr>
        <p:spPr>
          <a:xfrm xmlns:a="http://schemas.openxmlformats.org/drawingml/2006/main">
            <a:off x="609600" y="33337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Guests browse before requesting</a:t>
            </a:r>
          </a:p>
        </p:txBody>
      </p:sp>
      <p:sp>
        <p:nvSpPr>
          <p:cNvPr id="26" name="">
            <a:extLst xmlns:a="http://schemas.openxmlformats.org/drawingml/2006/main">
              <a:ext uri="{FF2B5EF4-FFF2-40B4-BE49-F238E27FC236}">
                <a16:creationId xmlns:a16="http://schemas.microsoft.com/office/drawing/2014/main" id="{BB0A64EE-41EB-40C5-B4C2-6A55EC3AF60F}"/>
              </a:ext>
            </a:extLst>
          </p:cNvPr>
          <p:cNvSpPr>
            <a:spLocks xmlns:a="http://schemas.openxmlformats.org/drawingml/2006/main" noGrp="1"/>
          </p:cNvSpPr>
          <p:nvPr/>
        </p:nvSpPr>
        <p:spPr>
          <a:xfrm xmlns:a="http://schemas.openxmlformats.org/drawingml/2006/main">
            <a:off x="609600" y="3762375"/>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A table QR code opens the available roster.</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Guests see full profiles and send a table request.</a:t>
            </a:r>
          </a:p>
        </p:txBody>
      </p:sp>
      <p:sp>
        <p:nvSpPr>
          <p:cNvPr id="27" name="">
            <a:extLst xmlns:a="http://schemas.openxmlformats.org/drawingml/2006/main">
              <a:ext uri="{FF2B5EF4-FFF2-40B4-BE49-F238E27FC236}">
                <a16:creationId xmlns:a16="http://schemas.microsoft.com/office/drawing/2014/main" id="{78BC6155-7A47-4E9E-A874-BE340BB91E77}"/>
              </a:ext>
            </a:extLst>
          </p:cNvPr>
          <p:cNvSpPr>
            <a:spLocks xmlns:a="http://schemas.openxmlformats.org/drawingml/2006/main" noGrp="1"/>
          </p:cNvSpPr>
          <p:nvPr/>
        </p:nvSpPr>
        <p:spPr>
          <a:xfrm xmlns:a="http://schemas.openxmlformats.org/drawingml/2006/main">
            <a:off x="609600" y="47053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Staff coordinate the next step</a:t>
            </a:r>
          </a:p>
        </p:txBody>
      </p:sp>
      <p:sp>
        <p:nvSpPr>
          <p:cNvPr id="28" name="">
            <a:extLst xmlns:a="http://schemas.openxmlformats.org/drawingml/2006/main">
              <a:ext uri="{FF2B5EF4-FFF2-40B4-BE49-F238E27FC236}">
                <a16:creationId xmlns:a16="http://schemas.microsoft.com/office/drawing/2014/main" id="{CB311348-93A8-412C-84D4-AF377FD48CBD}"/>
              </a:ext>
            </a:extLst>
          </p:cNvPr>
          <p:cNvSpPr>
            <a:spLocks xmlns:a="http://schemas.openxmlformats.org/drawingml/2006/main" noGrp="1"/>
          </p:cNvSpPr>
          <p:nvPr/>
        </p:nvSpPr>
        <p:spPr>
          <a:xfrm xmlns:a="http://schemas.openxmlformats.org/drawingml/2006/main">
            <a:off x="609600" y="5133975"/>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Staff acknowledge, complete or dismiss requests.</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Guests can cancel an open request.</a:t>
            </a:r>
          </a:p>
        </p:txBody>
      </p:sp>
      <p:sp>
        <p:nvSpPr>
          <p:cNvPr id="29" name="">
            <a:extLst xmlns:a="http://schemas.openxmlformats.org/drawingml/2006/main">
              <a:ext uri="{FF2B5EF4-FFF2-40B4-BE49-F238E27FC236}">
                <a16:creationId xmlns:a16="http://schemas.microsoft.com/office/drawing/2014/main" id="{6EA4B96D-63D1-4CC9-A66E-8E3489F01A02}"/>
              </a:ext>
            </a:extLst>
          </p:cNvPr>
          <p:cNvSpPr>
            <a:spLocks xmlns:a="http://schemas.openxmlformats.org/drawingml/2006/main" noGrp="1"/>
          </p:cNvSpPr>
          <p:nvPr/>
        </p:nvSpPr>
        <p:spPr>
          <a:xfrm xmlns:a="http://schemas.openxmlformats.org/drawingml/2006/main">
            <a:off x="609600" y="6067425"/>
            <a:ext cx="628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D4C4E8"/>
                </a:solidFill>
                <a:latin typeface="Arial"/>
                <a:ea typeface="Arial"/>
                <a:cs typeface="Arial"/>
              </a:defRPr>
            </a:pPr>
            <a:r>
              <a:rPr sz="1350" b="0">
                <a:solidFill>
                  <a:srgbClr val="D4C4E8"/>
                </a:solidFill>
                <a:latin typeface="Arial"/>
                <a:ea typeface="Arial"/>
                <a:cs typeface="Arial"/>
              </a:rPr>
              <a:t>Availability remains subject to staff confirmation.</a:t>
            </a:r>
          </a:p>
        </p:txBody>
      </p:sp>
    </p:spTree>
    <p:extLst>
      <p:ext uri="{BB962C8B-B14F-4D97-AF65-F5344CB8AC3E}">
        <p14:creationId xmlns:p14="http://schemas.microsoft.com/office/powerpoint/2010/main" val="1612359973"/>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50872D-03EC-4DEA-89B9-76E7456F80CA}"/>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Operations with clear ownership</a:t>
            </a:r>
          </a:p>
        </p:txBody>
      </p:sp>
      <p:sp>
        <p:nvSpPr>
          <p:cNvPr id="2" name="">
            <a:extLst xmlns:a="http://schemas.openxmlformats.org/drawingml/2006/main">
              <a:ext uri="{FF2B5EF4-FFF2-40B4-BE49-F238E27FC236}">
                <a16:creationId xmlns:a16="http://schemas.microsoft.com/office/drawing/2014/main" id="{7B227477-5D49-44D0-9CDF-E1D5077D88F7}"/>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Venue workflows supported by different owner, manager and staff permissions</a:t>
            </a:r>
          </a:p>
        </p:txBody>
      </p:sp>
      <p:sp>
        <p:nvSpPr>
          <p:cNvPr id="3" name="">
            <a:extLst xmlns:a="http://schemas.openxmlformats.org/drawingml/2006/main">
              <a:ext uri="{FF2B5EF4-FFF2-40B4-BE49-F238E27FC236}">
                <a16:creationId xmlns:a16="http://schemas.microsoft.com/office/drawing/2014/main" id="{200118D3-CE3B-4815-9696-18002EB73D7E}"/>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1C17CE8D-61BE-4B6D-9F84-C27ADFC0A78E}"/>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04 / 07</a:t>
            </a:r>
          </a:p>
        </p:txBody>
      </p:sp>
      <p:sp>
        <p:nvSpPr>
          <p:cNvPr id="5" name="">
            <a:extLst xmlns:a="http://schemas.openxmlformats.org/drawingml/2006/main">
              <a:ext uri="{FF2B5EF4-FFF2-40B4-BE49-F238E27FC236}">
                <a16:creationId xmlns:a16="http://schemas.microsoft.com/office/drawing/2014/main" id="{3A199823-FF04-4728-A03F-E1A9F8CBE36C}"/>
              </a:ext>
            </a:extLst>
          </p:cNvPr>
          <p:cNvSpPr>
            <a:spLocks xmlns:a="http://schemas.openxmlformats.org/drawingml/2006/main" noGrp="1"/>
          </p:cNvSpPr>
          <p:nvPr/>
        </p:nvSpPr>
        <p:spPr>
          <a:xfrm xmlns:a="http://schemas.openxmlformats.org/drawingml/2006/main">
            <a:off x="609600" y="191452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Guest arrivals</a:t>
            </a:r>
          </a:p>
        </p:txBody>
      </p:sp>
      <p:sp>
        <p:nvSpPr>
          <p:cNvPr id="6" name="">
            <a:extLst xmlns:a="http://schemas.openxmlformats.org/drawingml/2006/main">
              <a:ext uri="{FF2B5EF4-FFF2-40B4-BE49-F238E27FC236}">
                <a16:creationId xmlns:a16="http://schemas.microsoft.com/office/drawing/2014/main" id="{540DB3E3-157C-4DD6-96E0-BC9ABC01C597}"/>
              </a:ext>
            </a:extLst>
          </p:cNvPr>
          <p:cNvSpPr>
            <a:spLocks xmlns:a="http://schemas.openxmlformats.org/drawingml/2006/main" noGrp="1"/>
          </p:cNvSpPr>
          <p:nvPr/>
        </p:nvSpPr>
        <p:spPr>
          <a:xfrm xmlns:a="http://schemas.openxmlformats.org/drawingml/2006/main">
            <a:off x="609600" y="2343150"/>
            <a:ext cx="5334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Review guest-list details. Door staff verify</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admission requirements and scan entry passes.</a:t>
            </a:r>
          </a:p>
        </p:txBody>
      </p:sp>
      <p:sp>
        <p:nvSpPr>
          <p:cNvPr id="7" name="">
            <a:extLst xmlns:a="http://schemas.openxmlformats.org/drawingml/2006/main">
              <a:ext uri="{FF2B5EF4-FFF2-40B4-BE49-F238E27FC236}">
                <a16:creationId xmlns:a16="http://schemas.microsoft.com/office/drawing/2014/main" id="{889D2368-3B10-4255-BB98-FBBD1E118091}"/>
              </a:ext>
            </a:extLst>
          </p:cNvPr>
          <p:cNvSpPr>
            <a:spLocks xmlns:a="http://schemas.openxmlformats.org/drawingml/2006/main" noGrp="1"/>
          </p:cNvSpPr>
          <p:nvPr/>
        </p:nvSpPr>
        <p:spPr>
          <a:xfrm xmlns:a="http://schemas.openxmlformats.org/drawingml/2006/main">
            <a:off x="609600" y="33813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Pickup coordination</a:t>
            </a:r>
          </a:p>
        </p:txBody>
      </p:sp>
      <p:sp>
        <p:nvSpPr>
          <p:cNvPr id="8" name="">
            <a:extLst xmlns:a="http://schemas.openxmlformats.org/drawingml/2006/main">
              <a:ext uri="{FF2B5EF4-FFF2-40B4-BE49-F238E27FC236}">
                <a16:creationId xmlns:a16="http://schemas.microsoft.com/office/drawing/2014/main" id="{BC9A5E61-2345-4DBB-A862-1E9BF30B10B5}"/>
              </a:ext>
            </a:extLst>
          </p:cNvPr>
          <p:cNvSpPr>
            <a:spLocks xmlns:a="http://schemas.openxmlformats.org/drawingml/2006/main" noGrp="1"/>
          </p:cNvSpPr>
          <p:nvPr/>
        </p:nvSpPr>
        <p:spPr>
          <a:xfrm xmlns:a="http://schemas.openxmlformats.org/drawingml/2006/main">
            <a:off x="609600" y="3810000"/>
            <a:ext cx="5334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Review pickup requests and contact guests</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through the inbox to arrange their ride.</a:t>
            </a:r>
          </a:p>
        </p:txBody>
      </p:sp>
      <p:sp>
        <p:nvSpPr>
          <p:cNvPr id="9" name="">
            <a:extLst xmlns:a="http://schemas.openxmlformats.org/drawingml/2006/main">
              <a:ext uri="{FF2B5EF4-FFF2-40B4-BE49-F238E27FC236}">
                <a16:creationId xmlns:a16="http://schemas.microsoft.com/office/drawing/2014/main" id="{60900E98-70C0-40BA-9F79-9A10195F6C44}"/>
              </a:ext>
            </a:extLst>
          </p:cNvPr>
          <p:cNvSpPr>
            <a:spLocks xmlns:a="http://schemas.openxmlformats.org/drawingml/2006/main" noGrp="1"/>
          </p:cNvSpPr>
          <p:nvPr/>
        </p:nvSpPr>
        <p:spPr>
          <a:xfrm xmlns:a="http://schemas.openxmlformats.org/drawingml/2006/main">
            <a:off x="609600" y="484822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Club page &amp; offers</a:t>
            </a:r>
          </a:p>
        </p:txBody>
      </p:sp>
      <p:sp>
        <p:nvSpPr>
          <p:cNvPr id="10" name="">
            <a:extLst xmlns:a="http://schemas.openxmlformats.org/drawingml/2006/main">
              <a:ext uri="{FF2B5EF4-FFF2-40B4-BE49-F238E27FC236}">
                <a16:creationId xmlns:a16="http://schemas.microsoft.com/office/drawing/2014/main" id="{F23FF86D-309C-4086-95DA-5E2405AE01FC}"/>
              </a:ext>
            </a:extLst>
          </p:cNvPr>
          <p:cNvSpPr>
            <a:spLocks xmlns:a="http://schemas.openxmlformats.org/drawingml/2006/main" noGrp="1"/>
          </p:cNvSpPr>
          <p:nvPr/>
        </p:nvSpPr>
        <p:spPr>
          <a:xfrm xmlns:a="http://schemas.openxmlformats.org/drawingml/2006/main">
            <a:off x="609600" y="5276850"/>
            <a:ext cx="5334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Approve the prepared club page and request</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offer changes through the venue workflow.</a:t>
            </a:r>
          </a:p>
        </p:txBody>
      </p:sp>
      <p:sp>
        <p:nvSpPr>
          <p:cNvPr id="11" name="">
            <a:extLst xmlns:a="http://schemas.openxmlformats.org/drawingml/2006/main">
              <a:ext uri="{FF2B5EF4-FFF2-40B4-BE49-F238E27FC236}">
                <a16:creationId xmlns:a16="http://schemas.microsoft.com/office/drawing/2014/main" id="{140734DC-6F52-4756-8FF7-5FFF619EEE44}"/>
              </a:ext>
            </a:extLst>
          </p:cNvPr>
          <p:cNvSpPr>
            <a:spLocks xmlns:a="http://schemas.openxmlformats.org/drawingml/2006/main" noGrp="1"/>
          </p:cNvSpPr>
          <p:nvPr/>
        </p:nvSpPr>
        <p:spPr>
          <a:xfrm xmlns:a="http://schemas.openxmlformats.org/drawingml/2006/main">
            <a:off x="6372225" y="1962150"/>
            <a:ext cx="5200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B88AFF"/>
                </a:solidFill>
                <a:latin typeface="Arial"/>
                <a:ea typeface="Arial"/>
                <a:cs typeface="Arial"/>
              </a:defRPr>
            </a:pPr>
            <a:r>
              <a:rPr sz="1950" b="1">
                <a:solidFill>
                  <a:srgbClr val="B88AFF"/>
                </a:solidFill>
                <a:latin typeface="Arial"/>
                <a:ea typeface="Arial"/>
                <a:cs typeface="Arial"/>
              </a:rPr>
              <a:t>Selected access by role</a:t>
            </a:r>
          </a:p>
        </p:txBody>
      </p:sp>
      <p:graphicFrame>
        <p:nvGraphicFramePr>
          <p:cNvPr id="25" name=""/>
          <p:cNvGraphicFramePr/>
          <p:nvPr/>
        </p:nvGraphicFramePr>
        <p:xfrm>
          <a:off xmlns:a="http://schemas.openxmlformats.org/drawingml/2006/main" x="6372225" y="2457450"/>
          <a:ext xmlns:a="http://schemas.openxmlformats.org/drawingml/2006/main" cx="5200650" cy="3124200"/>
        </p:xfrm>
        <a:graphic xmlns:a="http://schemas.openxmlformats.org/drawingml/2006/main">
          <a:graphicData uri="http://schemas.openxmlformats.org/drawingml/2006/table">
            <a:tbl>
              <a:tblPr/>
              <a:tblGrid>
                <a:gridCol w="2314575"/>
                <a:gridCol w="914400"/>
                <a:gridCol w="1057275"/>
                <a:gridCol w="914400"/>
              </a:tblGrid>
              <a:tr h="624840">
                <a:tc>
                  <a:txBody>
                    <a:bodyPr>
                      <a:noAutofit/>
                    </a:bodyPr>
                    <a:lstStyle/>
                    <a:p>
                      <a:pPr algn="l"/>
                      <a:r>
                        <a:rPr sz="1425" b="1">
                          <a:solidFill>
                            <a:srgbClr val="D6C6F0"/>
                          </a:solidFill>
                          <a:latin typeface="Arial"/>
                          <a:ea typeface="Arial"/>
                          <a:cs typeface="Arial"/>
                        </a:rPr>
                        <a:t>Capability</a:t>
                      </a:r>
                    </a:p>
                  </a:txBody>
                  <a:tcPr marL="91440" marR="91440" marT="45720" marB="45720" anchor="ctr">
                    <a:solidFill>
                      <a:srgbClr val="261C37"/>
                    </a:solidFill>
                  </a:tcPr>
                </a:tc>
                <a:tc>
                  <a:txBody>
                    <a:bodyPr>
                      <a:noAutofit/>
                    </a:bodyPr>
                    <a:lstStyle/>
                    <a:p>
                      <a:pPr algn="r"/>
                      <a:r>
                        <a:rPr sz="1425" b="1">
                          <a:solidFill>
                            <a:srgbClr val="D6C6F0"/>
                          </a:solidFill>
                          <a:latin typeface="Arial"/>
                          <a:ea typeface="Arial"/>
                          <a:cs typeface="Arial"/>
                        </a:rPr>
                        <a:t>Owner</a:t>
                      </a:r>
                    </a:p>
                  </a:txBody>
                  <a:tcPr marL="91440" marR="91440" marT="45720" marB="45720" anchor="ctr">
                    <a:solidFill>
                      <a:srgbClr val="261C37"/>
                    </a:solidFill>
                  </a:tcPr>
                </a:tc>
                <a:tc>
                  <a:txBody>
                    <a:bodyPr>
                      <a:noAutofit/>
                    </a:bodyPr>
                    <a:lstStyle/>
                    <a:p>
                      <a:pPr algn="r"/>
                      <a:r>
                        <a:rPr sz="1425" b="1">
                          <a:solidFill>
                            <a:srgbClr val="D6C6F0"/>
                          </a:solidFill>
                          <a:latin typeface="Arial"/>
                          <a:ea typeface="Arial"/>
                          <a:cs typeface="Arial"/>
                        </a:rPr>
                        <a:t>Manager</a:t>
                      </a:r>
                    </a:p>
                  </a:txBody>
                  <a:tcPr marL="91440" marR="91440" marT="45720" marB="45720" anchor="ctr">
                    <a:solidFill>
                      <a:srgbClr val="261C37"/>
                    </a:solidFill>
                  </a:tcPr>
                </a:tc>
                <a:tc>
                  <a:txBody>
                    <a:bodyPr>
                      <a:noAutofit/>
                    </a:bodyPr>
                    <a:lstStyle/>
                    <a:p>
                      <a:pPr algn="r"/>
                      <a:r>
                        <a:rPr sz="1425" b="1">
                          <a:solidFill>
                            <a:srgbClr val="D6C6F0"/>
                          </a:solidFill>
                          <a:latin typeface="Arial"/>
                          <a:ea typeface="Arial"/>
                          <a:cs typeface="Arial"/>
                        </a:rPr>
                        <a:t>Staff</a:t>
                      </a:r>
                    </a:p>
                  </a:txBody>
                  <a:tcPr marL="91440" marR="91440" marT="45720" marB="45720" anchor="ctr">
                    <a:solidFill>
                      <a:srgbClr val="261C37"/>
                    </a:solidFill>
                  </a:tcPr>
                </a:tc>
              </a:tr>
              <a:tr h="624840">
                <a:tc>
                  <a:txBody>
                    <a:bodyPr>
                      <a:noAutofit/>
                    </a:bodyPr>
                    <a:lstStyle/>
                    <a:p>
                      <a:pPr algn="l"/>
                      <a:r>
                        <a:rPr sz="1650" b="1">
                          <a:solidFill>
                            <a:srgbClr val="FAF8FF"/>
                          </a:solidFill>
                          <a:latin typeface="Arial"/>
                          <a:ea typeface="Arial"/>
                          <a:cs typeface="Arial"/>
                        </a:rPr>
                        <a:t>View analytics</a:t>
                      </a:r>
                    </a:p>
                  </a:txBody>
                  <a:tcPr marL="91440" marR="91440" marT="45720" marB="45720" anchor="ctr">
                    <a:solidFill>
                      <a:srgbClr val="110E19"/>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10E19"/>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10E19"/>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10E19"/>
                    </a:solidFill>
                  </a:tcPr>
                </a:tc>
              </a:tr>
              <a:tr h="624840">
                <a:tc>
                  <a:txBody>
                    <a:bodyPr>
                      <a:noAutofit/>
                    </a:bodyPr>
                    <a:lstStyle/>
                    <a:p>
                      <a:pPr algn="l"/>
                      <a:r>
                        <a:rPr sz="1650" b="1">
                          <a:solidFill>
                            <a:srgbClr val="FAF8FF"/>
                          </a:solidFill>
                          <a:latin typeface="Arial"/>
                          <a:ea typeface="Arial"/>
                          <a:cs typeface="Arial"/>
                        </a:rPr>
                        <a:t>View finance</a:t>
                      </a:r>
                    </a:p>
                  </a:txBody>
                  <a:tcPr marL="91440" marR="91440" marT="45720" marB="45720" anchor="ctr">
                    <a:solidFill>
                      <a:srgbClr val="171220"/>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71220"/>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71220"/>
                    </a:solidFill>
                  </a:tcPr>
                </a:tc>
                <a:tc>
                  <a:txBody>
                    <a:bodyPr>
                      <a:noAutofit/>
                    </a:bodyPr>
                    <a:lstStyle/>
                    <a:p>
                      <a:pPr algn="r"/>
                      <a:r>
                        <a:rPr sz="1650" b="0">
                          <a:solidFill>
                            <a:srgbClr val="FAF8FF"/>
                          </a:solidFill>
                          <a:latin typeface="Arial"/>
                          <a:ea typeface="Arial"/>
                          <a:cs typeface="Arial"/>
                        </a:rPr>
                        <a:t>No</a:t>
                      </a:r>
                    </a:p>
                  </a:txBody>
                  <a:tcPr marL="91440" marR="91440" marT="45720" marB="45720" anchor="ctr">
                    <a:solidFill>
                      <a:srgbClr val="171220"/>
                    </a:solidFill>
                  </a:tcPr>
                </a:tc>
              </a:tr>
              <a:tr h="624840">
                <a:tc>
                  <a:txBody>
                    <a:bodyPr>
                      <a:noAutofit/>
                    </a:bodyPr>
                    <a:lstStyle/>
                    <a:p>
                      <a:pPr algn="l"/>
                      <a:r>
                        <a:rPr sz="1650" b="1">
                          <a:solidFill>
                            <a:srgbClr val="FAF8FF"/>
                          </a:solidFill>
                          <a:latin typeface="Arial"/>
                          <a:ea typeface="Arial"/>
                          <a:cs typeface="Arial"/>
                        </a:rPr>
                        <a:t>Manage club</a:t>
                      </a:r>
                    </a:p>
                    <a:p>
                      <a:pPr algn="l"/>
                      <a:r>
                        <a:rPr sz="1650" b="1">
                          <a:solidFill>
                            <a:srgbClr val="FAF8FF"/>
                          </a:solidFill>
                          <a:latin typeface="Arial"/>
                          <a:ea typeface="Arial"/>
                          <a:cs typeface="Arial"/>
                        </a:rPr>
                        <a:t>profile &amp; roster</a:t>
                      </a:r>
                    </a:p>
                  </a:txBody>
                  <a:tcPr marL="91440" marR="91440" marT="45720" marB="45720" anchor="ctr">
                    <a:solidFill>
                      <a:srgbClr val="110E19"/>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10E19"/>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10E19"/>
                    </a:solidFill>
                  </a:tcPr>
                </a:tc>
                <a:tc>
                  <a:txBody>
                    <a:bodyPr>
                      <a:noAutofit/>
                    </a:bodyPr>
                    <a:lstStyle/>
                    <a:p>
                      <a:pPr algn="r"/>
                      <a:r>
                        <a:rPr sz="1650" b="0">
                          <a:solidFill>
                            <a:srgbClr val="FAF8FF"/>
                          </a:solidFill>
                          <a:latin typeface="Arial"/>
                          <a:ea typeface="Arial"/>
                          <a:cs typeface="Arial"/>
                        </a:rPr>
                        <a:t>No</a:t>
                      </a:r>
                    </a:p>
                  </a:txBody>
                  <a:tcPr marL="91440" marR="91440" marT="45720" marB="45720" anchor="ctr">
                    <a:solidFill>
                      <a:srgbClr val="110E19"/>
                    </a:solidFill>
                  </a:tcPr>
                </a:tc>
              </a:tr>
              <a:tr h="624840">
                <a:tc>
                  <a:txBody>
                    <a:bodyPr>
                      <a:noAutofit/>
                    </a:bodyPr>
                    <a:lstStyle/>
                    <a:p>
                      <a:pPr algn="l"/>
                      <a:r>
                        <a:rPr sz="1650" b="1">
                          <a:solidFill>
                            <a:srgbClr val="FAF8FF"/>
                          </a:solidFill>
                          <a:latin typeface="Arial"/>
                          <a:ea typeface="Arial"/>
                          <a:cs typeface="Arial"/>
                        </a:rPr>
                        <a:t>Manage team</a:t>
                      </a:r>
                    </a:p>
                  </a:txBody>
                  <a:tcPr marL="91440" marR="91440" marT="45720" marB="45720" anchor="ctr">
                    <a:solidFill>
                      <a:srgbClr val="171220"/>
                    </a:solidFill>
                  </a:tcPr>
                </a:tc>
                <a:tc>
                  <a:txBody>
                    <a:bodyPr>
                      <a:noAutofit/>
                    </a:bodyPr>
                    <a:lstStyle/>
                    <a:p>
                      <a:pPr algn="r"/>
                      <a:r>
                        <a:rPr sz="1650" b="0">
                          <a:solidFill>
                            <a:srgbClr val="FAF8FF"/>
                          </a:solidFill>
                          <a:latin typeface="Arial"/>
                          <a:ea typeface="Arial"/>
                          <a:cs typeface="Arial"/>
                        </a:rPr>
                        <a:t>Yes</a:t>
                      </a:r>
                    </a:p>
                  </a:txBody>
                  <a:tcPr marL="91440" marR="91440" marT="45720" marB="45720" anchor="ctr">
                    <a:solidFill>
                      <a:srgbClr val="171220"/>
                    </a:solidFill>
                  </a:tcPr>
                </a:tc>
                <a:tc>
                  <a:txBody>
                    <a:bodyPr>
                      <a:noAutofit/>
                    </a:bodyPr>
                    <a:lstStyle/>
                    <a:p>
                      <a:pPr algn="r"/>
                      <a:r>
                        <a:rPr sz="1650" b="0">
                          <a:solidFill>
                            <a:srgbClr val="FAF8FF"/>
                          </a:solidFill>
                          <a:latin typeface="Arial"/>
                          <a:ea typeface="Arial"/>
                          <a:cs typeface="Arial"/>
                        </a:rPr>
                        <a:t>No</a:t>
                      </a:r>
                    </a:p>
                  </a:txBody>
                  <a:tcPr marL="91440" marR="91440" marT="45720" marB="45720" anchor="ctr">
                    <a:solidFill>
                      <a:srgbClr val="171220"/>
                    </a:solidFill>
                  </a:tcPr>
                </a:tc>
                <a:tc>
                  <a:txBody>
                    <a:bodyPr>
                      <a:noAutofit/>
                    </a:bodyPr>
                    <a:lstStyle/>
                    <a:p>
                      <a:pPr algn="r"/>
                      <a:r>
                        <a:rPr sz="1650" b="0">
                          <a:solidFill>
                            <a:srgbClr val="FAF8FF"/>
                          </a:solidFill>
                          <a:latin typeface="Arial"/>
                          <a:ea typeface="Arial"/>
                          <a:cs typeface="Arial"/>
                        </a:rPr>
                        <a:t>No</a:t>
                      </a:r>
                    </a:p>
                  </a:txBody>
                  <a:tcPr marL="91440" marR="91440" marT="45720" marB="45720" anchor="ctr">
                    <a:solidFill>
                      <a:srgbClr val="171220"/>
                    </a:solidFill>
                  </a:tcPr>
                </a:tc>
              </a:tr>
            </a:tbl>
          </a:graphicData>
        </a:graphic>
      </p:graphicFrame>
      <p:sp>
        <p:nvSpPr>
          <p:cNvPr id="13" name="">
            <a:extLst xmlns:a="http://schemas.openxmlformats.org/drawingml/2006/main">
              <a:ext uri="{FF2B5EF4-FFF2-40B4-BE49-F238E27FC236}">
                <a16:creationId xmlns:a16="http://schemas.microsoft.com/office/drawing/2014/main" id="{FBA0B01C-3D76-4981-9DC7-A3F215104A11}"/>
              </a:ext>
            </a:extLst>
          </p:cNvPr>
          <p:cNvSpPr>
            <a:spLocks xmlns:a="http://schemas.openxmlformats.org/drawingml/2006/main" noGrp="1"/>
          </p:cNvSpPr>
          <p:nvPr/>
        </p:nvSpPr>
        <p:spPr>
          <a:xfrm xmlns:a="http://schemas.openxmlformats.org/drawingml/2006/main">
            <a:off x="6372225" y="5800725"/>
            <a:ext cx="5200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BB8C9"/>
                </a:solidFill>
                <a:latin typeface="Arial"/>
                <a:ea typeface="Arial"/>
                <a:cs typeface="Arial"/>
              </a:defRPr>
            </a:pPr>
            <a:r>
              <a:rPr sz="1350" b="0">
                <a:solidFill>
                  <a:srgbClr val="BBB8C9"/>
                </a:solidFill>
                <a:latin typeface="Arial"/>
                <a:ea typeface="Arial"/>
                <a:cs typeface="Arial"/>
              </a:rPr>
              <a:t>Owners invite the team. Permissions stay scoped to the venue.</a:t>
            </a:r>
          </a:p>
        </p:txBody>
      </p:sp>
    </p:spTree>
    <p:extLst>
      <p:ext uri="{BB962C8B-B14F-4D97-AF65-F5344CB8AC3E}">
        <p14:creationId xmlns:p14="http://schemas.microsoft.com/office/powerpoint/2010/main" val="1080678236"/>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40" name="Chart"/>
          <p:cNvGraphicFramePr/>
          <p:nvPr/>
        </p:nvGraphicFramePr>
        <p:xfrm>
          <a:off xmlns:a="http://schemas.openxmlformats.org/drawingml/2006/main" x="609600" y="3333750"/>
          <a:ext xmlns:a="http://schemas.openxmlformats.org/drawingml/2006/main" cx="6419850" cy="2276475"/>
        </p:xfrm>
        <a:graphic xmlns:a="http://schemas.openxmlformats.org/drawingml/2006/main">
          <a:graphicData uri="http://schemas.openxmlformats.org/drawingml/2006/chart">
            <c:chart xmlns:r="http://schemas.openxmlformats.org/officeDocument/2006/relationships" xmlns:c="http://schemas.openxmlformats.org/drawingml/2006/chart" r:id="R90349a31afba4956"/>
          </a:graphicData>
        </a:graphic>
      </p:graphicFrame>
      <p:graphicFrame>
        <p:nvGraphicFramePr>
          <p:cNvPr id="41" name=""/>
          <p:cNvGraphicFramePr/>
          <p:nvPr/>
        </p:nvGraphicFramePr>
        <p:xfrm>
          <a:off xmlns:a="http://schemas.openxmlformats.org/drawingml/2006/main" x="7429500" y="3371850"/>
          <a:ext xmlns:a="http://schemas.openxmlformats.org/drawingml/2006/main" cx="4143375" cy="2228850"/>
        </p:xfrm>
        <a:graphic xmlns:a="http://schemas.openxmlformats.org/drawingml/2006/main">
          <a:graphicData uri="http://schemas.openxmlformats.org/drawingml/2006/table">
            <a:tbl>
              <a:tblPr/>
              <a:tblGrid>
                <a:gridCol w="2876550"/>
                <a:gridCol w="1266825"/>
              </a:tblGrid>
              <a:tr h="445770">
                <a:tc>
                  <a:txBody>
                    <a:bodyPr>
                      <a:noAutofit/>
                    </a:bodyPr>
                    <a:lstStyle/>
                    <a:p>
                      <a:pPr algn="l"/>
                      <a:r>
                        <a:rPr sz="1500" b="1">
                          <a:solidFill>
                            <a:srgbClr val="D6C6F0"/>
                          </a:solidFill>
                          <a:latin typeface="Arial"/>
                          <a:ea typeface="Arial"/>
                          <a:cs typeface="Arial"/>
                        </a:rPr>
                        <a:t>Audience &amp; intent</a:t>
                      </a:r>
                    </a:p>
                  </a:txBody>
                  <a:tcPr marL="91440" marR="91440" marT="45720" marB="45720" anchor="ctr">
                    <a:solidFill>
                      <a:srgbClr val="261C37"/>
                    </a:solidFill>
                  </a:tcPr>
                </a:tc>
                <a:tc>
                  <a:txBody>
                    <a:bodyPr>
                      <a:noAutofit/>
                    </a:bodyPr>
                    <a:lstStyle/>
                    <a:p>
                      <a:pPr algn="r"/>
                      <a:r>
                        <a:rPr sz="1500" b="1">
                          <a:solidFill>
                            <a:srgbClr val="D6C6F0"/>
                          </a:solidFill>
                          <a:latin typeface="Arial"/>
                          <a:ea typeface="Arial"/>
                          <a:cs typeface="Arial"/>
                        </a:rPr>
                        <a:t>Count</a:t>
                      </a:r>
                    </a:p>
                  </a:txBody>
                  <a:tcPr marL="91440" marR="91440" marT="45720" marB="45720" anchor="ctr">
                    <a:solidFill>
                      <a:srgbClr val="261C37"/>
                    </a:solidFill>
                  </a:tcPr>
                </a:tc>
              </a:tr>
              <a:tr h="445770">
                <a:tc>
                  <a:txBody>
                    <a:bodyPr>
                      <a:noAutofit/>
                    </a:bodyPr>
                    <a:lstStyle/>
                    <a:p>
                      <a:pPr algn="l"/>
                      <a:r>
                        <a:rPr sz="1575" b="1">
                          <a:solidFill>
                            <a:srgbClr val="FAF8FF"/>
                          </a:solidFill>
                          <a:latin typeface="Arial"/>
                          <a:ea typeface="Arial"/>
                          <a:cs typeface="Arial"/>
                        </a:rPr>
                        <a:t>Card impressions</a:t>
                      </a:r>
                    </a:p>
                  </a:txBody>
                  <a:tcPr marL="91440" marR="91440" marT="45720" marB="45720" anchor="ctr">
                    <a:solidFill>
                      <a:srgbClr val="110E19"/>
                    </a:solidFill>
                  </a:tcPr>
                </a:tc>
                <a:tc>
                  <a:txBody>
                    <a:bodyPr>
                      <a:noAutofit/>
                    </a:bodyPr>
                    <a:lstStyle/>
                    <a:p>
                      <a:pPr algn="r"/>
                      <a:r>
                        <a:rPr sz="1575" b="0">
                          <a:solidFill>
                            <a:srgbClr val="FAF8FF"/>
                          </a:solidFill>
                          <a:latin typeface="Arial"/>
                          <a:ea typeface="Arial"/>
                          <a:cs typeface="Arial"/>
                        </a:rPr>
                        <a:t>18,400</a:t>
                      </a:r>
                    </a:p>
                  </a:txBody>
                  <a:tcPr marL="91440" marR="91440" marT="45720" marB="45720" anchor="ctr">
                    <a:solidFill>
                      <a:srgbClr val="110E19"/>
                    </a:solidFill>
                  </a:tcPr>
                </a:tc>
              </a:tr>
              <a:tr h="445770">
                <a:tc>
                  <a:txBody>
                    <a:bodyPr>
                      <a:noAutofit/>
                    </a:bodyPr>
                    <a:lstStyle/>
                    <a:p>
                      <a:pPr algn="l"/>
                      <a:r>
                        <a:rPr sz="1575" b="1">
                          <a:solidFill>
                            <a:srgbClr val="FAF8FF"/>
                          </a:solidFill>
                          <a:latin typeface="Arial"/>
                          <a:ea typeface="Arial"/>
                          <a:cs typeface="Arial"/>
                        </a:rPr>
                        <a:t>Unique browsers</a:t>
                      </a:r>
                    </a:p>
                  </a:txBody>
                  <a:tcPr marL="91440" marR="91440" marT="45720" marB="45720" anchor="ctr">
                    <a:solidFill>
                      <a:srgbClr val="171220"/>
                    </a:solidFill>
                  </a:tcPr>
                </a:tc>
                <a:tc>
                  <a:txBody>
                    <a:bodyPr>
                      <a:noAutofit/>
                    </a:bodyPr>
                    <a:lstStyle/>
                    <a:p>
                      <a:pPr algn="r"/>
                      <a:r>
                        <a:rPr sz="1575" b="0">
                          <a:solidFill>
                            <a:srgbClr val="FAF8FF"/>
                          </a:solidFill>
                          <a:latin typeface="Arial"/>
                          <a:ea typeface="Arial"/>
                          <a:cs typeface="Arial"/>
                        </a:rPr>
                        <a:t>4,200</a:t>
                      </a:r>
                    </a:p>
                  </a:txBody>
                  <a:tcPr marL="91440" marR="91440" marT="45720" marB="45720" anchor="ctr">
                    <a:solidFill>
                      <a:srgbClr val="171220"/>
                    </a:solidFill>
                  </a:tcPr>
                </a:tc>
              </a:tr>
              <a:tr h="445770">
                <a:tc>
                  <a:txBody>
                    <a:bodyPr>
                      <a:noAutofit/>
                    </a:bodyPr>
                    <a:lstStyle/>
                    <a:p>
                      <a:pPr algn="l"/>
                      <a:r>
                        <a:rPr sz="1575" b="1">
                          <a:solidFill>
                            <a:srgbClr val="FAF8FF"/>
                          </a:solidFill>
                          <a:latin typeface="Arial"/>
                          <a:ea typeface="Arial"/>
                          <a:cs typeface="Arial"/>
                        </a:rPr>
                        <a:t>Directions opened</a:t>
                      </a:r>
                    </a:p>
                  </a:txBody>
                  <a:tcPr marL="91440" marR="91440" marT="45720" marB="45720" anchor="ctr">
                    <a:solidFill>
                      <a:srgbClr val="110E19"/>
                    </a:solidFill>
                  </a:tcPr>
                </a:tc>
                <a:tc>
                  <a:txBody>
                    <a:bodyPr>
                      <a:noAutofit/>
                    </a:bodyPr>
                    <a:lstStyle/>
                    <a:p>
                      <a:pPr algn="r"/>
                      <a:r>
                        <a:rPr sz="1575" b="0">
                          <a:solidFill>
                            <a:srgbClr val="FAF8FF"/>
                          </a:solidFill>
                          <a:latin typeface="Arial"/>
                          <a:ea typeface="Arial"/>
                          <a:cs typeface="Arial"/>
                        </a:rPr>
                        <a:t>640</a:t>
                      </a:r>
                    </a:p>
                  </a:txBody>
                  <a:tcPr marL="91440" marR="91440" marT="45720" marB="45720" anchor="ctr">
                    <a:solidFill>
                      <a:srgbClr val="110E19"/>
                    </a:solidFill>
                  </a:tcPr>
                </a:tc>
              </a:tr>
              <a:tr h="445770">
                <a:tc>
                  <a:txBody>
                    <a:bodyPr>
                      <a:noAutofit/>
                    </a:bodyPr>
                    <a:lstStyle/>
                    <a:p>
                      <a:pPr algn="l"/>
                      <a:r>
                        <a:rPr sz="1575" b="1">
                          <a:solidFill>
                            <a:srgbClr val="FAF8FF"/>
                          </a:solidFill>
                          <a:latin typeface="Arial"/>
                          <a:ea typeface="Arial"/>
                          <a:cs typeface="Arial"/>
                        </a:rPr>
                        <a:t>New followers</a:t>
                      </a:r>
                    </a:p>
                  </a:txBody>
                  <a:tcPr marL="91440" marR="91440" marT="45720" marB="45720" anchor="ctr">
                    <a:solidFill>
                      <a:srgbClr val="171220"/>
                    </a:solidFill>
                  </a:tcPr>
                </a:tc>
                <a:tc>
                  <a:txBody>
                    <a:bodyPr>
                      <a:noAutofit/>
                    </a:bodyPr>
                    <a:lstStyle/>
                    <a:p>
                      <a:pPr algn="r"/>
                      <a:r>
                        <a:rPr sz="1575" b="0">
                          <a:solidFill>
                            <a:srgbClr val="FAF8FF"/>
                          </a:solidFill>
                          <a:latin typeface="Arial"/>
                          <a:ea typeface="Arial"/>
                          <a:cs typeface="Arial"/>
                        </a:rPr>
                        <a:t>185</a:t>
                      </a:r>
                    </a:p>
                  </a:txBody>
                  <a:tcPr marL="91440" marR="91440" marT="45720" marB="45720" anchor="ctr">
                    <a:solidFill>
                      <a:srgbClr val="171220"/>
                    </a:solidFill>
                  </a:tcPr>
                </a:tc>
              </a:tr>
            </a:tbl>
          </a:graphicData>
        </a:graphic>
      </p:graphicFrame>
      <p:sp>
        <p:nvSpPr>
          <p:cNvPr id="23" name="">
            <a:extLst xmlns:a="http://schemas.openxmlformats.org/drawingml/2006/main">
              <a:ext uri="{FF2B5EF4-FFF2-40B4-BE49-F238E27FC236}">
                <a16:creationId xmlns:a16="http://schemas.microsoft.com/office/drawing/2014/main" id="{9295A4A5-FC19-4D86-A870-4D76C0198765}"/>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Club A performance</a:t>
            </a:r>
          </a:p>
        </p:txBody>
      </p:sp>
      <p:sp>
        <p:nvSpPr>
          <p:cNvPr id="24" name="">
            <a:extLst xmlns:a="http://schemas.openxmlformats.org/drawingml/2006/main">
              <a:ext uri="{FF2B5EF4-FFF2-40B4-BE49-F238E27FC236}">
                <a16:creationId xmlns:a16="http://schemas.microsoft.com/office/drawing/2014/main" id="{1FCDBDB0-9738-4ECF-84B0-8B99F09E390A}"/>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Illustrative 30-day report for September 2026, compared with the previous 30 days</a:t>
            </a:r>
          </a:p>
        </p:txBody>
      </p:sp>
      <p:sp>
        <p:nvSpPr>
          <p:cNvPr id="25" name="">
            <a:extLst xmlns:a="http://schemas.openxmlformats.org/drawingml/2006/main">
              <a:ext uri="{FF2B5EF4-FFF2-40B4-BE49-F238E27FC236}">
                <a16:creationId xmlns:a16="http://schemas.microsoft.com/office/drawing/2014/main" id="{A626ADE4-82C9-4550-9023-AF4F7ECA11EA}"/>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6" name="">
            <a:extLst xmlns:a="http://schemas.openxmlformats.org/drawingml/2006/main">
              <a:ext uri="{FF2B5EF4-FFF2-40B4-BE49-F238E27FC236}">
                <a16:creationId xmlns:a16="http://schemas.microsoft.com/office/drawing/2014/main" id="{E64A3C25-5381-4800-BE22-9BC5B04607AA}"/>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05 / 07</a:t>
            </a:r>
          </a:p>
        </p:txBody>
      </p:sp>
      <p:sp>
        <p:nvSpPr>
          <p:cNvPr id="27" name="">
            <a:extLst xmlns:a="http://schemas.openxmlformats.org/drawingml/2006/main">
              <a:ext uri="{FF2B5EF4-FFF2-40B4-BE49-F238E27FC236}">
                <a16:creationId xmlns:a16="http://schemas.microsoft.com/office/drawing/2014/main" id="{38023542-7ECF-44B7-BBF9-F1685D461845}"/>
              </a:ext>
            </a:extLst>
          </p:cNvPr>
          <p:cNvSpPr>
            <a:spLocks xmlns:a="http://schemas.openxmlformats.org/drawingml/2006/main" noGrp="1"/>
          </p:cNvSpPr>
          <p:nvPr/>
        </p:nvSpPr>
        <p:spPr>
          <a:xfrm xmlns:a="http://schemas.openxmlformats.org/drawingml/2006/main">
            <a:off x="609600"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480</a:t>
            </a:r>
          </a:p>
        </p:txBody>
      </p:sp>
      <p:sp>
        <p:nvSpPr>
          <p:cNvPr id="28" name="">
            <a:extLst xmlns:a="http://schemas.openxmlformats.org/drawingml/2006/main">
              <a:ext uri="{FF2B5EF4-FFF2-40B4-BE49-F238E27FC236}">
                <a16:creationId xmlns:a16="http://schemas.microsoft.com/office/drawing/2014/main" id="{340DD25B-E0F3-49D1-BC32-21762BF873D6}"/>
              </a:ext>
            </a:extLst>
          </p:cNvPr>
          <p:cNvSpPr>
            <a:spLocks xmlns:a="http://schemas.openxmlformats.org/drawingml/2006/main" noGrp="1"/>
          </p:cNvSpPr>
          <p:nvPr/>
        </p:nvSpPr>
        <p:spPr>
          <a:xfrm xmlns:a="http://schemas.openxmlformats.org/drawingml/2006/main">
            <a:off x="609600"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Passes claimed</a:t>
            </a:r>
          </a:p>
        </p:txBody>
      </p:sp>
      <p:sp>
        <p:nvSpPr>
          <p:cNvPr id="29" name="">
            <a:extLst xmlns:a="http://schemas.openxmlformats.org/drawingml/2006/main">
              <a:ext uri="{FF2B5EF4-FFF2-40B4-BE49-F238E27FC236}">
                <a16:creationId xmlns:a16="http://schemas.microsoft.com/office/drawing/2014/main" id="{BB0FB301-8AEE-429C-858E-B5C2E184025D}"/>
              </a:ext>
            </a:extLst>
          </p:cNvPr>
          <p:cNvSpPr>
            <a:spLocks xmlns:a="http://schemas.openxmlformats.org/drawingml/2006/main" noGrp="1"/>
          </p:cNvSpPr>
          <p:nvPr/>
        </p:nvSpPr>
        <p:spPr>
          <a:xfrm xmlns:a="http://schemas.openxmlformats.org/drawingml/2006/main">
            <a:off x="609600"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+20% vs prior period</a:t>
            </a:r>
          </a:p>
        </p:txBody>
      </p:sp>
      <p:sp>
        <p:nvSpPr>
          <p:cNvPr id="30" name="">
            <a:extLst xmlns:a="http://schemas.openxmlformats.org/drawingml/2006/main">
              <a:ext uri="{FF2B5EF4-FFF2-40B4-BE49-F238E27FC236}">
                <a16:creationId xmlns:a16="http://schemas.microsoft.com/office/drawing/2014/main" id="{387CAD5F-F04F-4BFD-978A-E572BC70A113}"/>
              </a:ext>
            </a:extLst>
          </p:cNvPr>
          <p:cNvSpPr>
            <a:spLocks xmlns:a="http://schemas.openxmlformats.org/drawingml/2006/main" noGrp="1"/>
          </p:cNvSpPr>
          <p:nvPr/>
        </p:nvSpPr>
        <p:spPr>
          <a:xfrm xmlns:a="http://schemas.openxmlformats.org/drawingml/2006/main">
            <a:off x="3400425"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312</a:t>
            </a:r>
          </a:p>
        </p:txBody>
      </p:sp>
      <p:sp>
        <p:nvSpPr>
          <p:cNvPr id="31" name="">
            <a:extLst xmlns:a="http://schemas.openxmlformats.org/drawingml/2006/main">
              <a:ext uri="{FF2B5EF4-FFF2-40B4-BE49-F238E27FC236}">
                <a16:creationId xmlns:a16="http://schemas.microsoft.com/office/drawing/2014/main" id="{B94C76CC-855A-4D0A-8948-F08A30DE420B}"/>
              </a:ext>
            </a:extLst>
          </p:cNvPr>
          <p:cNvSpPr>
            <a:spLocks xmlns:a="http://schemas.openxmlformats.org/drawingml/2006/main" noGrp="1"/>
          </p:cNvSpPr>
          <p:nvPr/>
        </p:nvSpPr>
        <p:spPr>
          <a:xfrm xmlns:a="http://schemas.openxmlformats.org/drawingml/2006/main">
            <a:off x="3400425"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Confirmed pass uses</a:t>
            </a:r>
          </a:p>
        </p:txBody>
      </p:sp>
      <p:sp>
        <p:nvSpPr>
          <p:cNvPr id="32" name="">
            <a:extLst xmlns:a="http://schemas.openxmlformats.org/drawingml/2006/main">
              <a:ext uri="{FF2B5EF4-FFF2-40B4-BE49-F238E27FC236}">
                <a16:creationId xmlns:a16="http://schemas.microsoft.com/office/drawing/2014/main" id="{6563553B-2386-4E77-B1FC-F5D80549C54E}"/>
              </a:ext>
            </a:extLst>
          </p:cNvPr>
          <p:cNvSpPr>
            <a:spLocks xmlns:a="http://schemas.openxmlformats.org/drawingml/2006/main" noGrp="1"/>
          </p:cNvSpPr>
          <p:nvPr/>
        </p:nvSpPr>
        <p:spPr>
          <a:xfrm xmlns:a="http://schemas.openxmlformats.org/drawingml/2006/main">
            <a:off x="3400425"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+30% vs prior period</a:t>
            </a:r>
          </a:p>
        </p:txBody>
      </p:sp>
      <p:sp>
        <p:nvSpPr>
          <p:cNvPr id="33" name="">
            <a:extLst xmlns:a="http://schemas.openxmlformats.org/drawingml/2006/main">
              <a:ext uri="{FF2B5EF4-FFF2-40B4-BE49-F238E27FC236}">
                <a16:creationId xmlns:a16="http://schemas.microsoft.com/office/drawing/2014/main" id="{791B431D-1E92-480F-8B62-DB2BC61219D6}"/>
              </a:ext>
            </a:extLst>
          </p:cNvPr>
          <p:cNvSpPr>
            <a:spLocks xmlns:a="http://schemas.openxmlformats.org/drawingml/2006/main" noGrp="1"/>
          </p:cNvSpPr>
          <p:nvPr/>
        </p:nvSpPr>
        <p:spPr>
          <a:xfrm xmlns:a="http://schemas.openxmlformats.org/drawingml/2006/main">
            <a:off x="6191250"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65%</a:t>
            </a:r>
          </a:p>
        </p:txBody>
      </p:sp>
      <p:sp>
        <p:nvSpPr>
          <p:cNvPr id="34" name="">
            <a:extLst xmlns:a="http://schemas.openxmlformats.org/drawingml/2006/main">
              <a:ext uri="{FF2B5EF4-FFF2-40B4-BE49-F238E27FC236}">
                <a16:creationId xmlns:a16="http://schemas.microsoft.com/office/drawing/2014/main" id="{688DA374-7199-437B-97D8-3645C0B7D539}"/>
              </a:ext>
            </a:extLst>
          </p:cNvPr>
          <p:cNvSpPr>
            <a:spLocks xmlns:a="http://schemas.openxmlformats.org/drawingml/2006/main" noGrp="1"/>
          </p:cNvSpPr>
          <p:nvPr/>
        </p:nvSpPr>
        <p:spPr>
          <a:xfrm xmlns:a="http://schemas.openxmlformats.org/drawingml/2006/main">
            <a:off x="6191250"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Claim-to-use rate</a:t>
            </a:r>
          </a:p>
        </p:txBody>
      </p:sp>
      <p:sp>
        <p:nvSpPr>
          <p:cNvPr id="35" name="">
            <a:extLst xmlns:a="http://schemas.openxmlformats.org/drawingml/2006/main">
              <a:ext uri="{FF2B5EF4-FFF2-40B4-BE49-F238E27FC236}">
                <a16:creationId xmlns:a16="http://schemas.microsoft.com/office/drawing/2014/main" id="{B78AD0AA-0491-4F1E-BB1F-3A9BAC3C8259}"/>
              </a:ext>
            </a:extLst>
          </p:cNvPr>
          <p:cNvSpPr>
            <a:spLocks xmlns:a="http://schemas.openxmlformats.org/drawingml/2006/main" noGrp="1"/>
          </p:cNvSpPr>
          <p:nvPr/>
        </p:nvSpPr>
        <p:spPr>
          <a:xfrm xmlns:a="http://schemas.openxmlformats.org/drawingml/2006/main">
            <a:off x="6191250"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+5 percentage points</a:t>
            </a:r>
          </a:p>
        </p:txBody>
      </p:sp>
      <p:sp>
        <p:nvSpPr>
          <p:cNvPr id="36" name="">
            <a:extLst xmlns:a="http://schemas.openxmlformats.org/drawingml/2006/main">
              <a:ext uri="{FF2B5EF4-FFF2-40B4-BE49-F238E27FC236}">
                <a16:creationId xmlns:a16="http://schemas.microsoft.com/office/drawing/2014/main" id="{A484E6EE-E3FB-4939-B759-5A840BB8F4A2}"/>
              </a:ext>
            </a:extLst>
          </p:cNvPr>
          <p:cNvSpPr>
            <a:spLocks xmlns:a="http://schemas.openxmlformats.org/drawingml/2006/main" noGrp="1"/>
          </p:cNvSpPr>
          <p:nvPr/>
        </p:nvSpPr>
        <p:spPr>
          <a:xfrm xmlns:a="http://schemas.openxmlformats.org/drawingml/2006/main">
            <a:off x="8982075"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96</a:t>
            </a:r>
          </a:p>
        </p:txBody>
      </p:sp>
      <p:sp>
        <p:nvSpPr>
          <p:cNvPr id="37" name="">
            <a:extLst xmlns:a="http://schemas.openxmlformats.org/drawingml/2006/main">
              <a:ext uri="{FF2B5EF4-FFF2-40B4-BE49-F238E27FC236}">
                <a16:creationId xmlns:a16="http://schemas.microsoft.com/office/drawing/2014/main" id="{FBC58477-102B-4FD7-B65B-9C130296B178}"/>
              </a:ext>
            </a:extLst>
          </p:cNvPr>
          <p:cNvSpPr>
            <a:spLocks xmlns:a="http://schemas.openxmlformats.org/drawingml/2006/main" noGrp="1"/>
          </p:cNvSpPr>
          <p:nvPr/>
        </p:nvSpPr>
        <p:spPr>
          <a:xfrm xmlns:a="http://schemas.openxmlformats.org/drawingml/2006/main">
            <a:off x="8982075"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Pickup requests</a:t>
            </a:r>
          </a:p>
        </p:txBody>
      </p:sp>
      <p:sp>
        <p:nvSpPr>
          <p:cNvPr id="38" name="">
            <a:extLst xmlns:a="http://schemas.openxmlformats.org/drawingml/2006/main">
              <a:ext uri="{FF2B5EF4-FFF2-40B4-BE49-F238E27FC236}">
                <a16:creationId xmlns:a16="http://schemas.microsoft.com/office/drawing/2014/main" id="{D232C7AF-D7A4-4AD0-8056-0167BA9FED05}"/>
              </a:ext>
            </a:extLst>
          </p:cNvPr>
          <p:cNvSpPr>
            <a:spLocks xmlns:a="http://schemas.openxmlformats.org/drawingml/2006/main" noGrp="1"/>
          </p:cNvSpPr>
          <p:nvPr/>
        </p:nvSpPr>
        <p:spPr>
          <a:xfrm xmlns:a="http://schemas.openxmlformats.org/drawingml/2006/main">
            <a:off x="8982075"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+20% vs prior period</a:t>
            </a:r>
          </a:p>
        </p:txBody>
      </p:sp>
      <p:sp>
        <p:nvSpPr>
          <p:cNvPr id="39" name="">
            <a:extLst xmlns:a="http://schemas.openxmlformats.org/drawingml/2006/main">
              <a:ext uri="{FF2B5EF4-FFF2-40B4-BE49-F238E27FC236}">
                <a16:creationId xmlns:a16="http://schemas.microsoft.com/office/drawing/2014/main" id="{BC8279CB-1A26-4651-9ACE-354B598AD049}"/>
              </a:ext>
            </a:extLst>
          </p:cNvPr>
          <p:cNvSpPr>
            <a:spLocks xmlns:a="http://schemas.openxmlformats.org/drawingml/2006/main" noGrp="1"/>
          </p:cNvSpPr>
          <p:nvPr/>
        </p:nvSpPr>
        <p:spPr>
          <a:xfrm xmlns:a="http://schemas.openxmlformats.org/drawingml/2006/main">
            <a:off x="609600" y="592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Sample figures. Pass uses are not total attendance. The 65% rate uses the same 480-pass cohort.</a:t>
            </a:r>
          </a:p>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Unique browsers represent browser identities, not an exact count of people.</a:t>
            </a:r>
          </a:p>
        </p:txBody>
      </p:sp>
    </p:spTree>
    <p:extLst>
      <p:ext uri="{BB962C8B-B14F-4D97-AF65-F5344CB8AC3E}">
        <p14:creationId xmlns:p14="http://schemas.microsoft.com/office/powerpoint/2010/main" val="2071491846"/>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24" name=""/>
          <p:cNvGraphicFramePr/>
          <p:nvPr/>
        </p:nvGraphicFramePr>
        <p:xfrm>
          <a:off xmlns:a="http://schemas.openxmlformats.org/drawingml/2006/main" x="619125" y="1905000"/>
          <a:ext xmlns:a="http://schemas.openxmlformats.org/drawingml/2006/main" cx="10953750" cy="2714625"/>
        </p:xfrm>
        <a:graphic xmlns:a="http://schemas.openxmlformats.org/drawingml/2006/main">
          <a:graphicData uri="http://schemas.openxmlformats.org/drawingml/2006/table">
            <a:tbl>
              <a:tblPr/>
              <a:tblGrid>
                <a:gridCol w="2333625"/>
                <a:gridCol w="1647825"/>
                <a:gridCol w="1647825"/>
                <a:gridCol w="1857375"/>
                <a:gridCol w="1752600"/>
                <a:gridCol w="1714500"/>
              </a:tblGrid>
              <a:tr h="542925">
                <a:tc>
                  <a:txBody>
                    <a:bodyPr>
                      <a:noAutofit/>
                    </a:bodyPr>
                    <a:lstStyle/>
                    <a:p>
                      <a:pPr algn="l"/>
                      <a:r>
                        <a:rPr sz="1650" b="1">
                          <a:solidFill>
                            <a:srgbClr val="D6C6F0"/>
                          </a:solidFill>
                          <a:latin typeface="Arial"/>
                          <a:ea typeface="Arial"/>
                          <a:cs typeface="Arial"/>
                        </a:rPr>
                        <a:t>Club</a:t>
                      </a:r>
                    </a:p>
                  </a:txBody>
                  <a:tcPr marL="91440" marR="91440" marT="45720" marB="45720" anchor="ctr">
                    <a:solidFill>
                      <a:srgbClr val="261C37"/>
                    </a:solidFill>
                  </a:tcPr>
                </a:tc>
                <a:tc>
                  <a:txBody>
                    <a:bodyPr>
                      <a:noAutofit/>
                    </a:bodyPr>
                    <a:lstStyle/>
                    <a:p>
                      <a:pPr algn="r"/>
                      <a:r>
                        <a:rPr sz="1650" b="1">
                          <a:solidFill>
                            <a:srgbClr val="D6C6F0"/>
                          </a:solidFill>
                          <a:latin typeface="Arial"/>
                          <a:ea typeface="Arial"/>
                          <a:cs typeface="Arial"/>
                        </a:rPr>
                        <a:t>Passes</a:t>
                      </a:r>
                    </a:p>
                    <a:p>
                      <a:pPr algn="r"/>
                      <a:r>
                        <a:rPr sz="1650" b="1">
                          <a:solidFill>
                            <a:srgbClr val="D6C6F0"/>
                          </a:solidFill>
                          <a:latin typeface="Arial"/>
                          <a:ea typeface="Arial"/>
                          <a:cs typeface="Arial"/>
                        </a:rPr>
                        <a:t>claimed</a:t>
                      </a:r>
                    </a:p>
                  </a:txBody>
                  <a:tcPr marL="91440" marR="91440" marT="45720" marB="45720" anchor="ctr">
                    <a:solidFill>
                      <a:srgbClr val="261C37"/>
                    </a:solidFill>
                  </a:tcPr>
                </a:tc>
                <a:tc>
                  <a:txBody>
                    <a:bodyPr>
                      <a:noAutofit/>
                    </a:bodyPr>
                    <a:lstStyle/>
                    <a:p>
                      <a:pPr algn="r"/>
                      <a:r>
                        <a:rPr sz="1650" b="1">
                          <a:solidFill>
                            <a:srgbClr val="D6C6F0"/>
                          </a:solidFill>
                          <a:latin typeface="Arial"/>
                          <a:ea typeface="Arial"/>
                          <a:cs typeface="Arial"/>
                        </a:rPr>
                        <a:t>Passes</a:t>
                      </a:r>
                    </a:p>
                    <a:p>
                      <a:pPr algn="r"/>
                      <a:r>
                        <a:rPr sz="1650" b="1">
                          <a:solidFill>
                            <a:srgbClr val="D6C6F0"/>
                          </a:solidFill>
                          <a:latin typeface="Arial"/>
                          <a:ea typeface="Arial"/>
                          <a:cs typeface="Arial"/>
                        </a:rPr>
                        <a:t>used</a:t>
                      </a:r>
                    </a:p>
                  </a:txBody>
                  <a:tcPr marL="91440" marR="91440" marT="45720" marB="45720" anchor="ctr">
                    <a:solidFill>
                      <a:srgbClr val="261C37"/>
                    </a:solidFill>
                  </a:tcPr>
                </a:tc>
                <a:tc>
                  <a:txBody>
                    <a:bodyPr>
                      <a:noAutofit/>
                    </a:bodyPr>
                    <a:lstStyle/>
                    <a:p>
                      <a:pPr algn="r"/>
                      <a:r>
                        <a:rPr sz="1650" b="1">
                          <a:solidFill>
                            <a:srgbClr val="D6C6F0"/>
                          </a:solidFill>
                          <a:latin typeface="Arial"/>
                          <a:ea typeface="Arial"/>
                          <a:cs typeface="Arial"/>
                        </a:rPr>
                        <a:t>Pass-use</a:t>
                      </a:r>
                    </a:p>
                    <a:p>
                      <a:pPr algn="r"/>
                      <a:r>
                        <a:rPr sz="1650" b="1">
                          <a:solidFill>
                            <a:srgbClr val="D6C6F0"/>
                          </a:solidFill>
                          <a:latin typeface="Arial"/>
                          <a:ea typeface="Arial"/>
                          <a:cs typeface="Arial"/>
                        </a:rPr>
                        <a:t>rate</a:t>
                      </a:r>
                    </a:p>
                  </a:txBody>
                  <a:tcPr marL="91440" marR="91440" marT="45720" marB="45720" anchor="ctr">
                    <a:solidFill>
                      <a:srgbClr val="261C37"/>
                    </a:solidFill>
                  </a:tcPr>
                </a:tc>
                <a:tc>
                  <a:txBody>
                    <a:bodyPr>
                      <a:noAutofit/>
                    </a:bodyPr>
                    <a:lstStyle/>
                    <a:p>
                      <a:pPr algn="r"/>
                      <a:r>
                        <a:rPr sz="1650" b="1">
                          <a:solidFill>
                            <a:srgbClr val="D6C6F0"/>
                          </a:solidFill>
                          <a:latin typeface="Arial"/>
                          <a:ea typeface="Arial"/>
                          <a:cs typeface="Arial"/>
                        </a:rPr>
                        <a:t>Pickup</a:t>
                      </a:r>
                    </a:p>
                    <a:p>
                      <a:pPr algn="r"/>
                      <a:r>
                        <a:rPr sz="1650" b="1">
                          <a:solidFill>
                            <a:srgbClr val="D6C6F0"/>
                          </a:solidFill>
                          <a:latin typeface="Arial"/>
                          <a:ea typeface="Arial"/>
                          <a:cs typeface="Arial"/>
                        </a:rPr>
                        <a:t>requests</a:t>
                      </a:r>
                    </a:p>
                  </a:txBody>
                  <a:tcPr marL="91440" marR="91440" marT="45720" marB="45720" anchor="ctr">
                    <a:solidFill>
                      <a:srgbClr val="261C37"/>
                    </a:solidFill>
                  </a:tcPr>
                </a:tc>
                <a:tc>
                  <a:txBody>
                    <a:bodyPr>
                      <a:noAutofit/>
                    </a:bodyPr>
                    <a:lstStyle/>
                    <a:p>
                      <a:pPr algn="r"/>
                      <a:r>
                        <a:rPr sz="1650" b="1">
                          <a:solidFill>
                            <a:srgbClr val="D6C6F0"/>
                          </a:solidFill>
                          <a:latin typeface="Arial"/>
                          <a:ea typeface="Arial"/>
                          <a:cs typeface="Arial"/>
                        </a:rPr>
                        <a:t>New</a:t>
                      </a:r>
                    </a:p>
                    <a:p>
                      <a:pPr algn="r"/>
                      <a:r>
                        <a:rPr sz="1650" b="1">
                          <a:solidFill>
                            <a:srgbClr val="D6C6F0"/>
                          </a:solidFill>
                          <a:latin typeface="Arial"/>
                          <a:ea typeface="Arial"/>
                          <a:cs typeface="Arial"/>
                        </a:rPr>
                        <a:t>followers</a:t>
                      </a:r>
                    </a:p>
                  </a:txBody>
                  <a:tcPr marL="91440" marR="91440" marT="45720" marB="45720" anchor="ctr">
                    <a:solidFill>
                      <a:srgbClr val="261C37"/>
                    </a:solidFill>
                  </a:tcPr>
                </a:tc>
              </a:tr>
              <a:tr h="542925">
                <a:tc>
                  <a:txBody>
                    <a:bodyPr>
                      <a:noAutofit/>
                    </a:bodyPr>
                    <a:lstStyle/>
                    <a:p>
                      <a:pPr algn="l"/>
                      <a:r>
                        <a:rPr sz="1800" b="1">
                          <a:solidFill>
                            <a:srgbClr val="FAF8FF"/>
                          </a:solidFill>
                          <a:latin typeface="Arial"/>
                          <a:ea typeface="Arial"/>
                          <a:cs typeface="Arial"/>
                        </a:rPr>
                        <a:t>Club A</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480</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312</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65.0%</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96</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185</a:t>
                      </a:r>
                    </a:p>
                  </a:txBody>
                  <a:tcPr marL="91440" marR="91440" marT="45720" marB="45720" anchor="ctr">
                    <a:solidFill>
                      <a:srgbClr val="110E19"/>
                    </a:solidFill>
                  </a:tcPr>
                </a:tc>
              </a:tr>
              <a:tr h="542925">
                <a:tc>
                  <a:txBody>
                    <a:bodyPr>
                      <a:noAutofit/>
                    </a:bodyPr>
                    <a:lstStyle/>
                    <a:p>
                      <a:pPr algn="l"/>
                      <a:r>
                        <a:rPr sz="1800" b="1">
                          <a:solidFill>
                            <a:srgbClr val="FAF8FF"/>
                          </a:solidFill>
                          <a:latin typeface="Arial"/>
                          <a:ea typeface="Arial"/>
                          <a:cs typeface="Arial"/>
                        </a:rPr>
                        <a:t>Club B</a:t>
                      </a:r>
                    </a:p>
                  </a:txBody>
                  <a:tcPr marL="91440" marR="91440" marT="45720" marB="45720" anchor="ctr">
                    <a:solidFill>
                      <a:srgbClr val="171220"/>
                    </a:solidFill>
                  </a:tcPr>
                </a:tc>
                <a:tc>
                  <a:txBody>
                    <a:bodyPr>
                      <a:noAutofit/>
                    </a:bodyPr>
                    <a:lstStyle/>
                    <a:p>
                      <a:pPr algn="r"/>
                      <a:r>
                        <a:rPr sz="1800" b="0">
                          <a:solidFill>
                            <a:srgbClr val="FAF8FF"/>
                          </a:solidFill>
                          <a:latin typeface="Arial"/>
                          <a:ea typeface="Arial"/>
                          <a:cs typeface="Arial"/>
                        </a:rPr>
                        <a:t>400</a:t>
                      </a:r>
                    </a:p>
                  </a:txBody>
                  <a:tcPr marL="91440" marR="91440" marT="45720" marB="45720" anchor="ctr">
                    <a:solidFill>
                      <a:srgbClr val="171220"/>
                    </a:solidFill>
                  </a:tcPr>
                </a:tc>
                <a:tc>
                  <a:txBody>
                    <a:bodyPr>
                      <a:noAutofit/>
                    </a:bodyPr>
                    <a:lstStyle/>
                    <a:p>
                      <a:pPr algn="r"/>
                      <a:r>
                        <a:rPr sz="1800" b="0">
                          <a:solidFill>
                            <a:srgbClr val="FAF8FF"/>
                          </a:solidFill>
                          <a:latin typeface="Arial"/>
                          <a:ea typeface="Arial"/>
                          <a:cs typeface="Arial"/>
                        </a:rPr>
                        <a:t>220</a:t>
                      </a:r>
                    </a:p>
                  </a:txBody>
                  <a:tcPr marL="91440" marR="91440" marT="45720" marB="45720" anchor="ctr">
                    <a:solidFill>
                      <a:srgbClr val="171220"/>
                    </a:solidFill>
                  </a:tcPr>
                </a:tc>
                <a:tc>
                  <a:txBody>
                    <a:bodyPr>
                      <a:noAutofit/>
                    </a:bodyPr>
                    <a:lstStyle/>
                    <a:p>
                      <a:pPr algn="r"/>
                      <a:r>
                        <a:rPr sz="1800" b="0">
                          <a:solidFill>
                            <a:srgbClr val="FAF8FF"/>
                          </a:solidFill>
                          <a:latin typeface="Arial"/>
                          <a:ea typeface="Arial"/>
                          <a:cs typeface="Arial"/>
                        </a:rPr>
                        <a:t>55.0%</a:t>
                      </a:r>
                    </a:p>
                  </a:txBody>
                  <a:tcPr marL="91440" marR="91440" marT="45720" marB="45720" anchor="ctr">
                    <a:solidFill>
                      <a:srgbClr val="171220"/>
                    </a:solidFill>
                  </a:tcPr>
                </a:tc>
                <a:tc>
                  <a:txBody>
                    <a:bodyPr>
                      <a:noAutofit/>
                    </a:bodyPr>
                    <a:lstStyle/>
                    <a:p>
                      <a:pPr algn="r"/>
                      <a:r>
                        <a:rPr sz="1800" b="0">
                          <a:solidFill>
                            <a:srgbClr val="FAF8FF"/>
                          </a:solidFill>
                          <a:latin typeface="Arial"/>
                          <a:ea typeface="Arial"/>
                          <a:cs typeface="Arial"/>
                        </a:rPr>
                        <a:t>72</a:t>
                      </a:r>
                    </a:p>
                  </a:txBody>
                  <a:tcPr marL="91440" marR="91440" marT="45720" marB="45720" anchor="ctr">
                    <a:solidFill>
                      <a:srgbClr val="171220"/>
                    </a:solidFill>
                  </a:tcPr>
                </a:tc>
                <a:tc>
                  <a:txBody>
                    <a:bodyPr>
                      <a:noAutofit/>
                    </a:bodyPr>
                    <a:lstStyle/>
                    <a:p>
                      <a:pPr algn="r"/>
                      <a:r>
                        <a:rPr sz="1800" b="0">
                          <a:solidFill>
                            <a:srgbClr val="FAF8FF"/>
                          </a:solidFill>
                          <a:latin typeface="Arial"/>
                          <a:ea typeface="Arial"/>
                          <a:cs typeface="Arial"/>
                        </a:rPr>
                        <a:t>150</a:t>
                      </a:r>
                    </a:p>
                  </a:txBody>
                  <a:tcPr marL="91440" marR="91440" marT="45720" marB="45720" anchor="ctr">
                    <a:solidFill>
                      <a:srgbClr val="171220"/>
                    </a:solidFill>
                  </a:tcPr>
                </a:tc>
              </a:tr>
              <a:tr h="542925">
                <a:tc>
                  <a:txBody>
                    <a:bodyPr>
                      <a:noAutofit/>
                    </a:bodyPr>
                    <a:lstStyle/>
                    <a:p>
                      <a:pPr algn="l"/>
                      <a:r>
                        <a:rPr sz="1800" b="1">
                          <a:solidFill>
                            <a:srgbClr val="FAF8FF"/>
                          </a:solidFill>
                          <a:latin typeface="Arial"/>
                          <a:ea typeface="Arial"/>
                          <a:cs typeface="Arial"/>
                        </a:rPr>
                        <a:t>Club C</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360</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252</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70.0%</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60</a:t>
                      </a:r>
                    </a:p>
                  </a:txBody>
                  <a:tcPr marL="91440" marR="91440" marT="45720" marB="45720" anchor="ctr">
                    <a:solidFill>
                      <a:srgbClr val="110E19"/>
                    </a:solidFill>
                  </a:tcPr>
                </a:tc>
                <a:tc>
                  <a:txBody>
                    <a:bodyPr>
                      <a:noAutofit/>
                    </a:bodyPr>
                    <a:lstStyle/>
                    <a:p>
                      <a:pPr algn="r"/>
                      <a:r>
                        <a:rPr sz="1800" b="0">
                          <a:solidFill>
                            <a:srgbClr val="FAF8FF"/>
                          </a:solidFill>
                          <a:latin typeface="Arial"/>
                          <a:ea typeface="Arial"/>
                          <a:cs typeface="Arial"/>
                        </a:rPr>
                        <a:t>120</a:t>
                      </a:r>
                    </a:p>
                  </a:txBody>
                  <a:tcPr marL="91440" marR="91440" marT="45720" marB="45720" anchor="ctr">
                    <a:solidFill>
                      <a:srgbClr val="110E19"/>
                    </a:solidFill>
                  </a:tcPr>
                </a:tc>
              </a:tr>
              <a:tr h="542925">
                <a:tc>
                  <a:txBody>
                    <a:bodyPr>
                      <a:noAutofit/>
                    </a:bodyPr>
                    <a:lstStyle/>
                    <a:p>
                      <a:pPr algn="l"/>
                      <a:r>
                        <a:rPr sz="1800" b="1">
                          <a:solidFill>
                            <a:srgbClr val="FAF8FF"/>
                          </a:solidFill>
                          <a:latin typeface="Arial"/>
                          <a:ea typeface="Arial"/>
                          <a:cs typeface="Arial"/>
                        </a:rPr>
                        <a:t>Group total</a:t>
                      </a:r>
                    </a:p>
                  </a:txBody>
                  <a:tcPr marL="91440" marR="91440" marT="45720" marB="45720" anchor="ctr">
                    <a:solidFill>
                      <a:srgbClr val="241A32"/>
                    </a:solidFill>
                  </a:tcPr>
                </a:tc>
                <a:tc>
                  <a:txBody>
                    <a:bodyPr>
                      <a:noAutofit/>
                    </a:bodyPr>
                    <a:lstStyle/>
                    <a:p>
                      <a:pPr algn="r"/>
                      <a:r>
                        <a:rPr sz="1800" b="1">
                          <a:solidFill>
                            <a:srgbClr val="FAF8FF"/>
                          </a:solidFill>
                          <a:latin typeface="Arial"/>
                          <a:ea typeface="Arial"/>
                          <a:cs typeface="Arial"/>
                        </a:rPr>
                        <a:t>1,240</a:t>
                      </a:r>
                    </a:p>
                  </a:txBody>
                  <a:tcPr marL="91440" marR="91440" marT="45720" marB="45720" anchor="ctr">
                    <a:solidFill>
                      <a:srgbClr val="241A32"/>
                    </a:solidFill>
                  </a:tcPr>
                </a:tc>
                <a:tc>
                  <a:txBody>
                    <a:bodyPr>
                      <a:noAutofit/>
                    </a:bodyPr>
                    <a:lstStyle/>
                    <a:p>
                      <a:pPr algn="r"/>
                      <a:r>
                        <a:rPr sz="1800" b="1">
                          <a:solidFill>
                            <a:srgbClr val="FAF8FF"/>
                          </a:solidFill>
                          <a:latin typeface="Arial"/>
                          <a:ea typeface="Arial"/>
                          <a:cs typeface="Arial"/>
                        </a:rPr>
                        <a:t>784</a:t>
                      </a:r>
                    </a:p>
                  </a:txBody>
                  <a:tcPr marL="91440" marR="91440" marT="45720" marB="45720" anchor="ctr">
                    <a:solidFill>
                      <a:srgbClr val="241A32"/>
                    </a:solidFill>
                  </a:tcPr>
                </a:tc>
                <a:tc>
                  <a:txBody>
                    <a:bodyPr>
                      <a:noAutofit/>
                    </a:bodyPr>
                    <a:lstStyle/>
                    <a:p>
                      <a:pPr algn="r"/>
                      <a:r>
                        <a:rPr sz="1800" b="1">
                          <a:solidFill>
                            <a:srgbClr val="FAF8FF"/>
                          </a:solidFill>
                          <a:latin typeface="Arial"/>
                          <a:ea typeface="Arial"/>
                          <a:cs typeface="Arial"/>
                        </a:rPr>
                        <a:t>63.2%</a:t>
                      </a:r>
                    </a:p>
                  </a:txBody>
                  <a:tcPr marL="91440" marR="91440" marT="45720" marB="45720" anchor="ctr">
                    <a:solidFill>
                      <a:srgbClr val="241A32"/>
                    </a:solidFill>
                  </a:tcPr>
                </a:tc>
                <a:tc>
                  <a:txBody>
                    <a:bodyPr>
                      <a:noAutofit/>
                    </a:bodyPr>
                    <a:lstStyle/>
                    <a:p>
                      <a:pPr algn="r"/>
                      <a:r>
                        <a:rPr sz="1800" b="1">
                          <a:solidFill>
                            <a:srgbClr val="FAF8FF"/>
                          </a:solidFill>
                          <a:latin typeface="Arial"/>
                          <a:ea typeface="Arial"/>
                          <a:cs typeface="Arial"/>
                        </a:rPr>
                        <a:t>228</a:t>
                      </a:r>
                    </a:p>
                  </a:txBody>
                  <a:tcPr marL="91440" marR="91440" marT="45720" marB="45720" anchor="ctr">
                    <a:solidFill>
                      <a:srgbClr val="241A32"/>
                    </a:solidFill>
                  </a:tcPr>
                </a:tc>
                <a:tc>
                  <a:txBody>
                    <a:bodyPr>
                      <a:noAutofit/>
                    </a:bodyPr>
                    <a:lstStyle/>
                    <a:p>
                      <a:pPr algn="r"/>
                      <a:r>
                        <a:rPr sz="1800" b="1">
                          <a:solidFill>
                            <a:srgbClr val="FAF8FF"/>
                          </a:solidFill>
                          <a:latin typeface="Arial"/>
                          <a:ea typeface="Arial"/>
                          <a:cs typeface="Arial"/>
                        </a:rPr>
                        <a:t>455</a:t>
                      </a:r>
                    </a:p>
                  </a:txBody>
                  <a:tcPr marL="91440" marR="91440" marT="45720" marB="45720" anchor="ctr">
                    <a:solidFill>
                      <a:srgbClr val="241A32"/>
                    </a:solidFill>
                  </a:tcPr>
                </a:tc>
              </a:tr>
            </a:tbl>
          </a:graphicData>
        </a:graphic>
      </p:graphicFrame>
      <p:sp>
        <p:nvSpPr>
          <p:cNvPr id="13" name="">
            <a:extLst xmlns:a="http://schemas.openxmlformats.org/drawingml/2006/main">
              <a:ext uri="{FF2B5EF4-FFF2-40B4-BE49-F238E27FC236}">
                <a16:creationId xmlns:a16="http://schemas.microsoft.com/office/drawing/2014/main" id="{9905E586-DDD5-405C-B9AC-59B38E16785F}"/>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Portfolio comparison</a:t>
            </a:r>
          </a:p>
        </p:txBody>
      </p:sp>
      <p:sp>
        <p:nvSpPr>
          <p:cNvPr id="14" name="">
            <a:extLst xmlns:a="http://schemas.openxmlformats.org/drawingml/2006/main">
              <a:ext uri="{FF2B5EF4-FFF2-40B4-BE49-F238E27FC236}">
                <a16:creationId xmlns:a16="http://schemas.microsoft.com/office/drawing/2014/main" id="{AC816902-445A-4FE7-9848-02E42AF4D2DE}"/>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Illustrative report compiled from per-club metrics for the same 30-day period</a:t>
            </a:r>
          </a:p>
        </p:txBody>
      </p:sp>
      <p:sp>
        <p:nvSpPr>
          <p:cNvPr id="15" name="">
            <a:extLst xmlns:a="http://schemas.openxmlformats.org/drawingml/2006/main">
              <a:ext uri="{FF2B5EF4-FFF2-40B4-BE49-F238E27FC236}">
                <a16:creationId xmlns:a16="http://schemas.microsoft.com/office/drawing/2014/main" id="{D28C6ADC-2D8E-46D9-A452-966EB17B5186}"/>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16" name="">
            <a:extLst xmlns:a="http://schemas.openxmlformats.org/drawingml/2006/main">
              <a:ext uri="{FF2B5EF4-FFF2-40B4-BE49-F238E27FC236}">
                <a16:creationId xmlns:a16="http://schemas.microsoft.com/office/drawing/2014/main" id="{F9656859-EADA-46C4-99D1-8C80676E31B5}"/>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06 / 07</a:t>
            </a:r>
          </a:p>
        </p:txBody>
      </p:sp>
      <p:sp>
        <p:nvSpPr>
          <p:cNvPr id="17" name="">
            <a:extLst xmlns:a="http://schemas.openxmlformats.org/drawingml/2006/main">
              <a:ext uri="{FF2B5EF4-FFF2-40B4-BE49-F238E27FC236}">
                <a16:creationId xmlns:a16="http://schemas.microsoft.com/office/drawing/2014/main" id="{E9994882-9E4F-462D-99F2-C627080E8701}"/>
              </a:ext>
            </a:extLst>
          </p:cNvPr>
          <p:cNvSpPr>
            <a:spLocks xmlns:a="http://schemas.openxmlformats.org/drawingml/2006/main" noGrp="1"/>
          </p:cNvSpPr>
          <p:nvPr/>
        </p:nvSpPr>
        <p:spPr>
          <a:xfrm xmlns:a="http://schemas.openxmlformats.org/drawingml/2006/main">
            <a:off x="609600" y="48958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150" b="1">
                <a:solidFill>
                  <a:srgbClr val="B88AFF"/>
                </a:solidFill>
                <a:latin typeface="Arial"/>
                <a:ea typeface="Arial"/>
                <a:cs typeface="Arial"/>
              </a:defRPr>
            </a:pPr>
            <a:r>
              <a:rPr sz="3150" b="1">
                <a:solidFill>
                  <a:srgbClr val="B88AFF"/>
                </a:solidFill>
                <a:latin typeface="Arial"/>
                <a:ea typeface="Arial"/>
                <a:cs typeface="Arial"/>
              </a:rPr>
              <a:t>15 pp</a:t>
            </a:r>
          </a:p>
        </p:txBody>
      </p:sp>
      <p:sp>
        <p:nvSpPr>
          <p:cNvPr id="18" name="">
            <a:extLst xmlns:a="http://schemas.openxmlformats.org/drawingml/2006/main">
              <a:ext uri="{FF2B5EF4-FFF2-40B4-BE49-F238E27FC236}">
                <a16:creationId xmlns:a16="http://schemas.microsoft.com/office/drawing/2014/main" id="{C972DA64-8205-4F46-A8EE-2D3F4E98BF70}"/>
              </a:ext>
            </a:extLst>
          </p:cNvPr>
          <p:cNvSpPr>
            <a:spLocks xmlns:a="http://schemas.openxmlformats.org/drawingml/2006/main" noGrp="1"/>
          </p:cNvSpPr>
          <p:nvPr/>
        </p:nvSpPr>
        <p:spPr>
          <a:xfrm xmlns:a="http://schemas.openxmlformats.org/drawingml/2006/main">
            <a:off x="609600" y="54102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AF8FF"/>
                </a:solidFill>
                <a:latin typeface="Arial"/>
                <a:ea typeface="Arial"/>
                <a:cs typeface="Arial"/>
              </a:defRPr>
            </a:pPr>
            <a:r>
              <a:rPr sz="1725" b="1">
                <a:solidFill>
                  <a:srgbClr val="FAF8FF"/>
                </a:solidFill>
                <a:latin typeface="Arial"/>
                <a:ea typeface="Arial"/>
                <a:cs typeface="Arial"/>
              </a:rPr>
              <a:t>Pass-use rate spread</a:t>
            </a:r>
          </a:p>
        </p:txBody>
      </p:sp>
      <p:sp>
        <p:nvSpPr>
          <p:cNvPr id="19" name="">
            <a:extLst xmlns:a="http://schemas.openxmlformats.org/drawingml/2006/main">
              <a:ext uri="{FF2B5EF4-FFF2-40B4-BE49-F238E27FC236}">
                <a16:creationId xmlns:a16="http://schemas.microsoft.com/office/drawing/2014/main" id="{DB8DFEB4-D385-40A2-BE44-CC45657515D7}"/>
              </a:ext>
            </a:extLst>
          </p:cNvPr>
          <p:cNvSpPr>
            <a:spLocks xmlns:a="http://schemas.openxmlformats.org/drawingml/2006/main" noGrp="1"/>
          </p:cNvSpPr>
          <p:nvPr/>
        </p:nvSpPr>
        <p:spPr>
          <a:xfrm xmlns:a="http://schemas.openxmlformats.org/drawingml/2006/main">
            <a:off x="609600" y="5781675"/>
            <a:ext cx="504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55% at Club B versus 70% at Club C.</a:t>
            </a:r>
          </a:p>
        </p:txBody>
      </p:sp>
      <p:sp>
        <p:nvSpPr>
          <p:cNvPr id="20" name="">
            <a:extLst xmlns:a="http://schemas.openxmlformats.org/drawingml/2006/main">
              <a:ext uri="{FF2B5EF4-FFF2-40B4-BE49-F238E27FC236}">
                <a16:creationId xmlns:a16="http://schemas.microsoft.com/office/drawing/2014/main" id="{68B287B8-4DF3-4C4B-9FFD-0CD2111444EA}"/>
              </a:ext>
            </a:extLst>
          </p:cNvPr>
          <p:cNvSpPr>
            <a:spLocks xmlns:a="http://schemas.openxmlformats.org/drawingml/2006/main" noGrp="1"/>
          </p:cNvSpPr>
          <p:nvPr/>
        </p:nvSpPr>
        <p:spPr>
          <a:xfrm xmlns:a="http://schemas.openxmlformats.org/drawingml/2006/main">
            <a:off x="6429375" y="48958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150" b="1">
                <a:solidFill>
                  <a:srgbClr val="B88AFF"/>
                </a:solidFill>
                <a:latin typeface="Arial"/>
                <a:ea typeface="Arial"/>
                <a:cs typeface="Arial"/>
              </a:defRPr>
            </a:pPr>
            <a:r>
              <a:rPr sz="3150" b="1">
                <a:solidFill>
                  <a:srgbClr val="B88AFF"/>
                </a:solidFill>
                <a:latin typeface="Arial"/>
                <a:ea typeface="Arial"/>
                <a:cs typeface="Arial"/>
              </a:rPr>
              <a:t>+40</a:t>
            </a:r>
          </a:p>
        </p:txBody>
      </p:sp>
      <p:sp>
        <p:nvSpPr>
          <p:cNvPr id="21" name="">
            <a:extLst xmlns:a="http://schemas.openxmlformats.org/drawingml/2006/main">
              <a:ext uri="{FF2B5EF4-FFF2-40B4-BE49-F238E27FC236}">
                <a16:creationId xmlns:a16="http://schemas.microsoft.com/office/drawing/2014/main" id="{C03722D7-66AB-4086-A265-72669BF9F0AF}"/>
              </a:ext>
            </a:extLst>
          </p:cNvPr>
          <p:cNvSpPr>
            <a:spLocks xmlns:a="http://schemas.openxmlformats.org/drawingml/2006/main" noGrp="1"/>
          </p:cNvSpPr>
          <p:nvPr/>
        </p:nvSpPr>
        <p:spPr>
          <a:xfrm xmlns:a="http://schemas.openxmlformats.org/drawingml/2006/main">
            <a:off x="6429375" y="5410200"/>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AF8FF"/>
                </a:solidFill>
                <a:latin typeface="Arial"/>
                <a:ea typeface="Arial"/>
                <a:cs typeface="Arial"/>
              </a:defRPr>
            </a:pPr>
            <a:r>
              <a:rPr sz="1725" b="1">
                <a:solidFill>
                  <a:srgbClr val="FAF8FF"/>
                </a:solidFill>
                <a:latin typeface="Arial"/>
                <a:ea typeface="Arial"/>
                <a:cs typeface="Arial"/>
              </a:rPr>
              <a:t>Pass uses in a +10-point scenario</a:t>
            </a:r>
          </a:p>
        </p:txBody>
      </p:sp>
      <p:sp>
        <p:nvSpPr>
          <p:cNvPr id="22" name="">
            <a:extLst xmlns:a="http://schemas.openxmlformats.org/drawingml/2006/main">
              <a:ext uri="{FF2B5EF4-FFF2-40B4-BE49-F238E27FC236}">
                <a16:creationId xmlns:a16="http://schemas.microsoft.com/office/drawing/2014/main" id="{B45B1152-A842-49C6-AB5B-CC858E7EECE8}"/>
              </a:ext>
            </a:extLst>
          </p:cNvPr>
          <p:cNvSpPr>
            <a:spLocks xmlns:a="http://schemas.openxmlformats.org/drawingml/2006/main" noGrp="1"/>
          </p:cNvSpPr>
          <p:nvPr/>
        </p:nvSpPr>
        <p:spPr>
          <a:xfrm xmlns:a="http://schemas.openxmlformats.org/drawingml/2006/main">
            <a:off x="6429375" y="5781675"/>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400 claims at Club B. A scenario, not a forecast.</a:t>
            </a:r>
          </a:p>
        </p:txBody>
      </p:sp>
      <p:sp>
        <p:nvSpPr>
          <p:cNvPr id="23" name="">
            <a:extLst xmlns:a="http://schemas.openxmlformats.org/drawingml/2006/main">
              <a:ext uri="{FF2B5EF4-FFF2-40B4-BE49-F238E27FC236}">
                <a16:creationId xmlns:a16="http://schemas.microsoft.com/office/drawing/2014/main" id="{E46FF7AA-91E3-43DF-8C02-53BE8CBF3D2F}"/>
              </a:ext>
            </a:extLst>
          </p:cNvPr>
          <p:cNvSpPr>
            <a:spLocks xmlns:a="http://schemas.openxmlformats.org/drawingml/2006/main" noGrp="1"/>
          </p:cNvSpPr>
          <p:nvPr/>
        </p:nvSpPr>
        <p:spPr>
          <a:xfrm xmlns:a="http://schemas.openxmlformats.org/drawingml/2006/main">
            <a:off x="609600" y="61626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Sample roll-up, not an existing corporate dashboard. Group rate: 784 ÷ 1,240 = 63.2%.</a:t>
            </a:r>
          </a:p>
        </p:txBody>
      </p:sp>
    </p:spTree>
    <p:extLst>
      <p:ext uri="{BB962C8B-B14F-4D97-AF65-F5344CB8AC3E}">
        <p14:creationId xmlns:p14="http://schemas.microsoft.com/office/powerpoint/2010/main" val="1415057821"/>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AE54849-EA70-46A3-9B50-A25013D46988}"/>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A measured pilot</a:t>
            </a:r>
          </a:p>
        </p:txBody>
      </p:sp>
      <p:sp>
        <p:nvSpPr>
          <p:cNvPr id="2" name="">
            <a:extLst xmlns:a="http://schemas.openxmlformats.org/drawingml/2006/main">
              <a:ext uri="{FF2B5EF4-FFF2-40B4-BE49-F238E27FC236}">
                <a16:creationId xmlns:a16="http://schemas.microsoft.com/office/drawing/2014/main" id="{438399A1-547B-4886-94BA-29A40E72AF6E}"/>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A proposed rollout at one venue before wider adoption</a:t>
            </a:r>
          </a:p>
        </p:txBody>
      </p:sp>
      <p:sp>
        <p:nvSpPr>
          <p:cNvPr id="3" name="">
            <a:extLst xmlns:a="http://schemas.openxmlformats.org/drawingml/2006/main">
              <a:ext uri="{FF2B5EF4-FFF2-40B4-BE49-F238E27FC236}">
                <a16:creationId xmlns:a16="http://schemas.microsoft.com/office/drawing/2014/main" id="{F7814DEB-738F-4EAF-8A63-B062769053AA}"/>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E07AC843-6265-438A-826B-CCDD17015EEB}"/>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07 / 07</a:t>
            </a:r>
          </a:p>
        </p:txBody>
      </p:sp>
      <p:sp>
        <p:nvSpPr>
          <p:cNvPr id="5" name="">
            <a:extLst xmlns:a="http://schemas.openxmlformats.org/drawingml/2006/main">
              <a:ext uri="{FF2B5EF4-FFF2-40B4-BE49-F238E27FC236}">
                <a16:creationId xmlns:a16="http://schemas.microsoft.com/office/drawing/2014/main" id="{B5C30CEE-1AEA-4714-AF64-A3EB30920DFC}"/>
              </a:ext>
            </a:extLst>
          </p:cNvPr>
          <p:cNvSpPr>
            <a:spLocks xmlns:a="http://schemas.openxmlformats.org/drawingml/2006/main" noGrp="1"/>
          </p:cNvSpPr>
          <p:nvPr/>
        </p:nvSpPr>
        <p:spPr>
          <a:xfrm xmlns:a="http://schemas.openxmlformats.org/drawingml/2006/main">
            <a:off x="609600" y="1952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7E6152E-8E44-4AB0-AFAB-DA2F420B4999}"/>
              </a:ext>
            </a:extLst>
          </p:cNvPr>
          <p:cNvSpPr>
            <a:spLocks xmlns:a="http://schemas.openxmlformats.org/drawingml/2006/main" noGrp="1"/>
          </p:cNvSpPr>
          <p:nvPr/>
        </p:nvSpPr>
        <p:spPr>
          <a:xfrm xmlns:a="http://schemas.openxmlformats.org/drawingml/2006/main">
            <a:off x="1190625" y="1933575"/>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Choose the venue and lead</a:t>
            </a:r>
          </a:p>
        </p:txBody>
      </p:sp>
      <p:sp>
        <p:nvSpPr>
          <p:cNvPr id="7" name="">
            <a:extLst xmlns:a="http://schemas.openxmlformats.org/drawingml/2006/main">
              <a:ext uri="{FF2B5EF4-FFF2-40B4-BE49-F238E27FC236}">
                <a16:creationId xmlns:a16="http://schemas.microsoft.com/office/drawing/2014/main" id="{A54CD401-E774-4367-AAAE-ECB7BCA795E1}"/>
              </a:ext>
            </a:extLst>
          </p:cNvPr>
          <p:cNvSpPr>
            <a:spLocks xmlns:a="http://schemas.openxmlformats.org/drawingml/2006/main" noGrp="1"/>
          </p:cNvSpPr>
          <p:nvPr/>
        </p:nvSpPr>
        <p:spPr>
          <a:xfrm xmlns:a="http://schemas.openxmlformats.org/drawingml/2006/main">
            <a:off x="1190625" y="2305050"/>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Agree the scope and who owns the rollout.</a:t>
            </a:r>
          </a:p>
        </p:txBody>
      </p:sp>
      <p:sp>
        <p:nvSpPr>
          <p:cNvPr id="8" name="">
            <a:extLst xmlns:a="http://schemas.openxmlformats.org/drawingml/2006/main">
              <a:ext uri="{FF2B5EF4-FFF2-40B4-BE49-F238E27FC236}">
                <a16:creationId xmlns:a16="http://schemas.microsoft.com/office/drawing/2014/main" id="{A641D1EB-CE9A-4280-9251-3FECCA92F0D4}"/>
              </a:ext>
            </a:extLst>
          </p:cNvPr>
          <p:cNvSpPr>
            <a:spLocks xmlns:a="http://schemas.openxmlformats.org/drawingml/2006/main" noGrp="1"/>
          </p:cNvSpPr>
          <p:nvPr/>
        </p:nvSpPr>
        <p:spPr>
          <a:xfrm xmlns:a="http://schemas.openxmlformats.org/drawingml/2006/main">
            <a:off x="609600" y="29241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ACB4EFA-B398-4D12-8B8C-EBF005C88706}"/>
              </a:ext>
            </a:extLst>
          </p:cNvPr>
          <p:cNvSpPr>
            <a:spLocks xmlns:a="http://schemas.openxmlformats.org/drawingml/2006/main" noGrp="1"/>
          </p:cNvSpPr>
          <p:nvPr/>
        </p:nvSpPr>
        <p:spPr>
          <a:xfrm xmlns:a="http://schemas.openxmlformats.org/drawingml/2006/main">
            <a:off x="1190625" y="2905125"/>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Prepare the guest experience</a:t>
            </a:r>
          </a:p>
        </p:txBody>
      </p:sp>
      <p:sp>
        <p:nvSpPr>
          <p:cNvPr id="10" name="">
            <a:extLst xmlns:a="http://schemas.openxmlformats.org/drawingml/2006/main">
              <a:ext uri="{FF2B5EF4-FFF2-40B4-BE49-F238E27FC236}">
                <a16:creationId xmlns:a16="http://schemas.microsoft.com/office/drawing/2014/main" id="{418D0B15-6885-4968-8100-19B89B329D99}"/>
              </a:ext>
            </a:extLst>
          </p:cNvPr>
          <p:cNvSpPr>
            <a:spLocks xmlns:a="http://schemas.openxmlformats.org/drawingml/2006/main" noGrp="1"/>
          </p:cNvSpPr>
          <p:nvPr/>
        </p:nvSpPr>
        <p:spPr>
          <a:xfrm xmlns:a="http://schemas.openxmlformats.org/drawingml/2006/main">
            <a:off x="1190625" y="3276600"/>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Confirm the club page, offers, NFC and table QR codes.</a:t>
            </a:r>
          </a:p>
        </p:txBody>
      </p:sp>
      <p:sp>
        <p:nvSpPr>
          <p:cNvPr id="11" name="">
            <a:extLst xmlns:a="http://schemas.openxmlformats.org/drawingml/2006/main">
              <a:ext uri="{FF2B5EF4-FFF2-40B4-BE49-F238E27FC236}">
                <a16:creationId xmlns:a16="http://schemas.microsoft.com/office/drawing/2014/main" id="{98D63D64-8A7A-4C65-90D0-E431E027A6E5}"/>
              </a:ext>
            </a:extLst>
          </p:cNvPr>
          <p:cNvSpPr>
            <a:spLocks xmlns:a="http://schemas.openxmlformats.org/drawingml/2006/main" noGrp="1"/>
          </p:cNvSpPr>
          <p:nvPr/>
        </p:nvSpPr>
        <p:spPr>
          <a:xfrm xmlns:a="http://schemas.openxmlformats.org/drawingml/2006/main">
            <a:off x="609600"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F19FDFE-4694-4D91-B8B1-C2D6941A6979}"/>
              </a:ext>
            </a:extLst>
          </p:cNvPr>
          <p:cNvSpPr>
            <a:spLocks xmlns:a="http://schemas.openxmlformats.org/drawingml/2006/main" noGrp="1"/>
          </p:cNvSpPr>
          <p:nvPr/>
        </p:nvSpPr>
        <p:spPr>
          <a:xfrm xmlns:a="http://schemas.openxmlformats.org/drawingml/2006/main">
            <a:off x="1190625" y="3876675"/>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Train the operating team</a:t>
            </a:r>
          </a:p>
        </p:txBody>
      </p:sp>
      <p:sp>
        <p:nvSpPr>
          <p:cNvPr id="13" name="">
            <a:extLst xmlns:a="http://schemas.openxmlformats.org/drawingml/2006/main">
              <a:ext uri="{FF2B5EF4-FFF2-40B4-BE49-F238E27FC236}">
                <a16:creationId xmlns:a16="http://schemas.microsoft.com/office/drawing/2014/main" id="{E67FADE1-A4A1-474C-96FC-19BC03F5D1CC}"/>
              </a:ext>
            </a:extLst>
          </p:cNvPr>
          <p:cNvSpPr>
            <a:spLocks xmlns:a="http://schemas.openxmlformats.org/drawingml/2006/main" noGrp="1"/>
          </p:cNvSpPr>
          <p:nvPr/>
        </p:nvSpPr>
        <p:spPr>
          <a:xfrm xmlns:a="http://schemas.openxmlformats.org/drawingml/2006/main">
            <a:off x="1190625" y="4248150"/>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Cover pass scans, pickup handling and table requests.</a:t>
            </a:r>
          </a:p>
        </p:txBody>
      </p:sp>
      <p:sp>
        <p:nvSpPr>
          <p:cNvPr id="14" name="">
            <a:extLst xmlns:a="http://schemas.openxmlformats.org/drawingml/2006/main">
              <a:ext uri="{FF2B5EF4-FFF2-40B4-BE49-F238E27FC236}">
                <a16:creationId xmlns:a16="http://schemas.microsoft.com/office/drawing/2014/main" id="{6C750F6F-A260-46A9-871C-ECB56C8DE94B}"/>
              </a:ext>
            </a:extLst>
          </p:cNvPr>
          <p:cNvSpPr>
            <a:spLocks xmlns:a="http://schemas.openxmlformats.org/drawingml/2006/main" noGrp="1"/>
          </p:cNvSpPr>
          <p:nvPr/>
        </p:nvSpPr>
        <p:spPr>
          <a:xfrm xmlns:a="http://schemas.openxmlformats.org/drawingml/2006/main">
            <a:off x="609600" y="48672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89C90C49-E8D7-4D23-A5F3-D56C168F6F84}"/>
              </a:ext>
            </a:extLst>
          </p:cNvPr>
          <p:cNvSpPr>
            <a:spLocks xmlns:a="http://schemas.openxmlformats.org/drawingml/2006/main" noGrp="1"/>
          </p:cNvSpPr>
          <p:nvPr/>
        </p:nvSpPr>
        <p:spPr>
          <a:xfrm xmlns:a="http://schemas.openxmlformats.org/drawingml/2006/main">
            <a:off x="1190625" y="4848225"/>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Review after an agreed trial</a:t>
            </a:r>
          </a:p>
        </p:txBody>
      </p:sp>
      <p:sp>
        <p:nvSpPr>
          <p:cNvPr id="16" name="">
            <a:extLst xmlns:a="http://schemas.openxmlformats.org/drawingml/2006/main">
              <a:ext uri="{FF2B5EF4-FFF2-40B4-BE49-F238E27FC236}">
                <a16:creationId xmlns:a16="http://schemas.microsoft.com/office/drawing/2014/main" id="{7584CB6D-1022-4CF8-8CED-CB2293C18E1A}"/>
              </a:ext>
            </a:extLst>
          </p:cNvPr>
          <p:cNvSpPr>
            <a:spLocks xmlns:a="http://schemas.openxmlformats.org/drawingml/2006/main" noGrp="1"/>
          </p:cNvSpPr>
          <p:nvPr/>
        </p:nvSpPr>
        <p:spPr>
          <a:xfrm xmlns:a="http://schemas.openxmlformats.org/drawingml/2006/main">
            <a:off x="1190625" y="5219700"/>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Use the same reporting period and collect staff feedback.</a:t>
            </a:r>
          </a:p>
        </p:txBody>
      </p:sp>
      <p:sp>
        <p:nvSpPr>
          <p:cNvPr id="17" name="">
            <a:extLst xmlns:a="http://schemas.openxmlformats.org/drawingml/2006/main">
              <a:ext uri="{FF2B5EF4-FFF2-40B4-BE49-F238E27FC236}">
                <a16:creationId xmlns:a16="http://schemas.microsoft.com/office/drawing/2014/main" id="{9C85BD0B-CCF6-457D-8010-B46AA2175A90}"/>
              </a:ext>
            </a:extLst>
          </p:cNvPr>
          <p:cNvSpPr>
            <a:spLocks xmlns:a="http://schemas.openxmlformats.org/drawingml/2006/main" noGrp="1"/>
          </p:cNvSpPr>
          <p:nvPr/>
        </p:nvSpPr>
        <p:spPr>
          <a:xfrm xmlns:a="http://schemas.openxmlformats.org/drawingml/2006/main">
            <a:off x="6477000" y="195262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B88AFF"/>
                </a:solidFill>
                <a:latin typeface="Arial"/>
                <a:ea typeface="Arial"/>
                <a:cs typeface="Arial"/>
              </a:defRPr>
            </a:pPr>
            <a:r>
              <a:rPr sz="1950" b="1">
                <a:solidFill>
                  <a:srgbClr val="B88AFF"/>
                </a:solidFill>
                <a:latin typeface="Arial"/>
                <a:ea typeface="Arial"/>
                <a:cs typeface="Arial"/>
              </a:rPr>
              <a:t>Pilot review scorecard</a:t>
            </a:r>
          </a:p>
        </p:txBody>
      </p:sp>
      <p:graphicFrame>
        <p:nvGraphicFramePr>
          <p:cNvPr id="37" name=""/>
          <p:cNvGraphicFramePr/>
          <p:nvPr/>
        </p:nvGraphicFramePr>
        <p:xfrm>
          <a:off xmlns:a="http://schemas.openxmlformats.org/drawingml/2006/main" x="6477000" y="2447925"/>
          <a:ext xmlns:a="http://schemas.openxmlformats.org/drawingml/2006/main" cx="5105400" cy="3095625"/>
        </p:xfrm>
        <a:graphic xmlns:a="http://schemas.openxmlformats.org/drawingml/2006/main">
          <a:graphicData uri="http://schemas.openxmlformats.org/drawingml/2006/table">
            <a:tbl>
              <a:tblPr/>
              <a:tblGrid>
                <a:gridCol w="1762125"/>
                <a:gridCol w="3343275"/>
              </a:tblGrid>
              <a:tr h="619125">
                <a:tc>
                  <a:txBody>
                    <a:bodyPr>
                      <a:noAutofit/>
                    </a:bodyPr>
                    <a:lstStyle/>
                    <a:p>
                      <a:pPr algn="l"/>
                      <a:r>
                        <a:rPr sz="1500" b="1">
                          <a:solidFill>
                            <a:srgbClr val="D6C6F0"/>
                          </a:solidFill>
                          <a:latin typeface="Arial"/>
                          <a:ea typeface="Arial"/>
                          <a:cs typeface="Arial"/>
                        </a:rPr>
                        <a:t>Review area</a:t>
                      </a:r>
                    </a:p>
                  </a:txBody>
                  <a:tcPr marL="91440" marR="91440" marT="45720" marB="45720" anchor="ctr">
                    <a:solidFill>
                      <a:srgbClr val="261C37"/>
                    </a:solidFill>
                  </a:tcPr>
                </a:tc>
                <a:tc>
                  <a:txBody>
                    <a:bodyPr>
                      <a:noAutofit/>
                    </a:bodyPr>
                    <a:lstStyle/>
                    <a:p>
                      <a:pPr algn="l"/>
                      <a:r>
                        <a:rPr sz="1500" b="1">
                          <a:solidFill>
                            <a:srgbClr val="D6C6F0"/>
                          </a:solidFill>
                          <a:latin typeface="Arial"/>
                          <a:ea typeface="Arial"/>
                          <a:cs typeface="Arial"/>
                        </a:rPr>
                        <a:t>Measures to review</a:t>
                      </a:r>
                    </a:p>
                  </a:txBody>
                  <a:tcPr marL="91440" marR="91440" marT="45720" marB="45720" anchor="ctr">
                    <a:solidFill>
                      <a:srgbClr val="261C37"/>
                    </a:solidFill>
                  </a:tcPr>
                </a:tc>
              </a:tr>
              <a:tr h="619125">
                <a:tc>
                  <a:txBody>
                    <a:bodyPr>
                      <a:noAutofit/>
                    </a:bodyPr>
                    <a:lstStyle/>
                    <a:p>
                      <a:pPr algn="l"/>
                      <a:r>
                        <a:rPr sz="1575" b="1">
                          <a:solidFill>
                            <a:srgbClr val="FAF8FF"/>
                          </a:solidFill>
                          <a:latin typeface="Arial"/>
                          <a:ea typeface="Arial"/>
                          <a:cs typeface="Arial"/>
                        </a:rPr>
                        <a:t>Acquisition</a:t>
                      </a:r>
                    </a:p>
                  </a:txBody>
                  <a:tcPr marL="91440" marR="91440" marT="45720" marB="45720" anchor="ctr">
                    <a:solidFill>
                      <a:srgbClr val="110E19"/>
                    </a:solidFill>
                  </a:tcPr>
                </a:tc>
                <a:tc>
                  <a:txBody>
                    <a:bodyPr>
                      <a:noAutofit/>
                    </a:bodyPr>
                    <a:lstStyle/>
                    <a:p>
                      <a:pPr algn="l"/>
                      <a:r>
                        <a:rPr sz="1575" b="0">
                          <a:solidFill>
                            <a:srgbClr val="FAF8FF"/>
                          </a:solidFill>
                          <a:latin typeface="Arial"/>
                          <a:ea typeface="Arial"/>
                          <a:cs typeface="Arial"/>
                        </a:rPr>
                        <a:t>Pass claims and directions</a:t>
                      </a:r>
                    </a:p>
                    <a:p>
                      <a:pPr algn="l"/>
                      <a:r>
                        <a:rPr sz="1575" b="0">
                          <a:solidFill>
                            <a:srgbClr val="FAF8FF"/>
                          </a:solidFill>
                          <a:latin typeface="Arial"/>
                          <a:ea typeface="Arial"/>
                          <a:cs typeface="Arial"/>
                        </a:rPr>
                        <a:t>by source</a:t>
                      </a:r>
                    </a:p>
                  </a:txBody>
                  <a:tcPr marL="91440" marR="91440" marT="45720" marB="45720" anchor="ctr">
                    <a:solidFill>
                      <a:srgbClr val="110E19"/>
                    </a:solidFill>
                  </a:tcPr>
                </a:tc>
              </a:tr>
              <a:tr h="619125">
                <a:tc>
                  <a:txBody>
                    <a:bodyPr>
                      <a:noAutofit/>
                    </a:bodyPr>
                    <a:lstStyle/>
                    <a:p>
                      <a:pPr algn="l"/>
                      <a:r>
                        <a:rPr sz="1575" b="1">
                          <a:solidFill>
                            <a:srgbClr val="FAF8FF"/>
                          </a:solidFill>
                          <a:latin typeface="Arial"/>
                          <a:ea typeface="Arial"/>
                          <a:cs typeface="Arial"/>
                        </a:rPr>
                        <a:t>Arrival</a:t>
                      </a:r>
                    </a:p>
                  </a:txBody>
                  <a:tcPr marL="91440" marR="91440" marT="45720" marB="45720" anchor="ctr">
                    <a:solidFill>
                      <a:srgbClr val="171220"/>
                    </a:solidFill>
                  </a:tcPr>
                </a:tc>
                <a:tc>
                  <a:txBody>
                    <a:bodyPr>
                      <a:noAutofit/>
                    </a:bodyPr>
                    <a:lstStyle/>
                    <a:p>
                      <a:pPr algn="l"/>
                      <a:r>
                        <a:rPr sz="1575" b="0">
                          <a:solidFill>
                            <a:srgbClr val="FAF8FF"/>
                          </a:solidFill>
                          <a:latin typeface="Arial"/>
                          <a:ea typeface="Arial"/>
                          <a:cs typeface="Arial"/>
                        </a:rPr>
                        <a:t>Pass-use rate and</a:t>
                      </a:r>
                    </a:p>
                    <a:p>
                      <a:pPr algn="l"/>
                      <a:r>
                        <a:rPr sz="1575" b="0">
                          <a:solidFill>
                            <a:srgbClr val="FAF8FF"/>
                          </a:solidFill>
                          <a:latin typeface="Arial"/>
                          <a:ea typeface="Arial"/>
                          <a:cs typeface="Arial"/>
                        </a:rPr>
                        <a:t>pickup activity</a:t>
                      </a:r>
                    </a:p>
                  </a:txBody>
                  <a:tcPr marL="91440" marR="91440" marT="45720" marB="45720" anchor="ctr">
                    <a:solidFill>
                      <a:srgbClr val="171220"/>
                    </a:solidFill>
                  </a:tcPr>
                </a:tc>
              </a:tr>
              <a:tr h="619125">
                <a:tc>
                  <a:txBody>
                    <a:bodyPr>
                      <a:noAutofit/>
                    </a:bodyPr>
                    <a:lstStyle/>
                    <a:p>
                      <a:pPr algn="l"/>
                      <a:r>
                        <a:rPr sz="1575" b="1">
                          <a:solidFill>
                            <a:srgbClr val="FAF8FF"/>
                          </a:solidFill>
                          <a:latin typeface="Arial"/>
                          <a:ea typeface="Arial"/>
                          <a:cs typeface="Arial"/>
                        </a:rPr>
                        <a:t>Club floor</a:t>
                      </a:r>
                    </a:p>
                  </a:txBody>
                  <a:tcPr marL="91440" marR="91440" marT="45720" marB="45720" anchor="ctr">
                    <a:solidFill>
                      <a:srgbClr val="110E19"/>
                    </a:solidFill>
                  </a:tcPr>
                </a:tc>
                <a:tc>
                  <a:txBody>
                    <a:bodyPr>
                      <a:noAutofit/>
                    </a:bodyPr>
                    <a:lstStyle/>
                    <a:p>
                      <a:pPr algn="l"/>
                      <a:r>
                        <a:rPr sz="1575" b="0">
                          <a:solidFill>
                            <a:srgbClr val="FAF8FF"/>
                          </a:solidFill>
                          <a:latin typeface="Arial"/>
                          <a:ea typeface="Arial"/>
                          <a:cs typeface="Arial"/>
                        </a:rPr>
                        <a:t>Open / completed requests</a:t>
                      </a:r>
                    </a:p>
                    <a:p>
                      <a:pPr algn="l"/>
                      <a:r>
                        <a:rPr sz="1575" b="0">
                          <a:solidFill>
                            <a:srgbClr val="FAF8FF"/>
                          </a:solidFill>
                          <a:latin typeface="Arial"/>
                          <a:ea typeface="Arial"/>
                          <a:cs typeface="Arial"/>
                        </a:rPr>
                        <a:t>and staff feedback</a:t>
                      </a:r>
                    </a:p>
                  </a:txBody>
                  <a:tcPr marL="91440" marR="91440" marT="45720" marB="45720" anchor="ctr">
                    <a:solidFill>
                      <a:srgbClr val="110E19"/>
                    </a:solidFill>
                  </a:tcPr>
                </a:tc>
              </a:tr>
              <a:tr h="619125">
                <a:tc>
                  <a:txBody>
                    <a:bodyPr>
                      <a:noAutofit/>
                    </a:bodyPr>
                    <a:lstStyle/>
                    <a:p>
                      <a:pPr algn="l"/>
                      <a:r>
                        <a:rPr sz="1575" b="1">
                          <a:solidFill>
                            <a:srgbClr val="FAF8FF"/>
                          </a:solidFill>
                          <a:latin typeface="Arial"/>
                          <a:ea typeface="Arial"/>
                          <a:cs typeface="Arial"/>
                        </a:rPr>
                        <a:t>Ongoing interest</a:t>
                      </a:r>
                    </a:p>
                  </a:txBody>
                  <a:tcPr marL="91440" marR="91440" marT="45720" marB="45720" anchor="ctr">
                    <a:solidFill>
                      <a:srgbClr val="171220"/>
                    </a:solidFill>
                  </a:tcPr>
                </a:tc>
                <a:tc>
                  <a:txBody>
                    <a:bodyPr>
                      <a:noAutofit/>
                    </a:bodyPr>
                    <a:lstStyle/>
                    <a:p>
                      <a:pPr algn="l"/>
                      <a:r>
                        <a:rPr sz="1575" b="0">
                          <a:solidFill>
                            <a:srgbClr val="FAF8FF"/>
                          </a:solidFill>
                          <a:latin typeface="Arial"/>
                          <a:ea typeface="Arial"/>
                          <a:cs typeface="Arial"/>
                        </a:rPr>
                        <a:t>New club follows and</a:t>
                      </a:r>
                    </a:p>
                    <a:p>
                      <a:pPr algn="l"/>
                      <a:r>
                        <a:rPr sz="1575" b="0">
                          <a:solidFill>
                            <a:srgbClr val="FAF8FF"/>
                          </a:solidFill>
                          <a:latin typeface="Arial"/>
                          <a:ea typeface="Arial"/>
                          <a:cs typeface="Arial"/>
                        </a:rPr>
                        <a:t>repeat engagement</a:t>
                      </a:r>
                    </a:p>
                  </a:txBody>
                  <a:tcPr marL="91440" marR="91440" marT="45720" marB="45720" anchor="ctr">
                    <a:solidFill>
                      <a:srgbClr val="171220"/>
                    </a:solidFill>
                  </a:tcPr>
                </a:tc>
              </a:tr>
            </a:tbl>
          </a:graphicData>
        </a:graphic>
      </p:graphicFrame>
      <p:sp>
        <p:nvSpPr>
          <p:cNvPr id="19" name="">
            <a:extLst xmlns:a="http://schemas.openxmlformats.org/drawingml/2006/main">
              <a:ext uri="{FF2B5EF4-FFF2-40B4-BE49-F238E27FC236}">
                <a16:creationId xmlns:a16="http://schemas.microsoft.com/office/drawing/2014/main" id="{60102B9B-80FC-492E-9B56-B8B692FDD7D3}"/>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Pilot decision: agree the venue, lead and review date.</a:t>
            </a:r>
          </a:p>
        </p:txBody>
      </p:sp>
    </p:spTree>
    <p:extLst>
      <p:ext uri="{BB962C8B-B14F-4D97-AF65-F5344CB8AC3E}">
        <p14:creationId xmlns:p14="http://schemas.microsoft.com/office/powerpoint/2010/main" val="966410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2026-10-02T08:28:03.1540000Z</dcterms:created>
  <dcterms:modified xsi:type="dcterms:W3CDTF">2026-10-02T08:28:03.1540000Z</dcterms:modified>
</coreProperties>
</file>